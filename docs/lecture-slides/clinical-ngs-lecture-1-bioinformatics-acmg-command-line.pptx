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4826aed9b74bd4" /><Relationship Type="http://schemas.openxmlformats.org/officeDocument/2006/relationships/extended-properties" Target="/docProps/app.xml" Id="R58659124cd75404e" /><Relationship Type="http://schemas.openxmlformats.org/officeDocument/2006/relationships/officeDocument" Target="/ppt/presentation.xml" Id="R676f235fc0a94038" /></Relationships>
</file>

<file path=ppt/presentation.xml><?xml version="1.0" encoding="utf-8"?>
<p:presentation xmlns:p="http://schemas.openxmlformats.org/presentationml/2006/main">
  <p:sldMasterIdLst>
    <p:sldMasterId xmlns:r="http://schemas.openxmlformats.org/officeDocument/2006/relationships" id="2147483648" r:id="Rf9406f41a654438e"/>
  </p:sldMasterIdLst>
  <p:notesMasterIdLst>
    <p:notesMasterId xmlns:r="http://schemas.openxmlformats.org/officeDocument/2006/relationships" r:id="Rd3c59c39f835456a"/>
  </p:notesMasterIdLst>
  <p:sldIdLst>
    <p:sldId xmlns:r="http://schemas.openxmlformats.org/officeDocument/2006/relationships" id="256" r:id="R76967d9d70424178"/>
    <p:sldId xmlns:r="http://schemas.openxmlformats.org/officeDocument/2006/relationships" id="257" r:id="R31c2d14dcf9f41a5"/>
    <p:sldId xmlns:r="http://schemas.openxmlformats.org/officeDocument/2006/relationships" id="258" r:id="R668c08ca3bc8492a"/>
    <p:sldId xmlns:r="http://schemas.openxmlformats.org/officeDocument/2006/relationships" id="259" r:id="Rbeed3392e41f40aa"/>
    <p:sldId xmlns:r="http://schemas.openxmlformats.org/officeDocument/2006/relationships" id="260" r:id="R08abe03ca7a448d9"/>
    <p:sldId xmlns:r="http://schemas.openxmlformats.org/officeDocument/2006/relationships" id="261" r:id="R6b3ea3683e4c461c"/>
    <p:sldId xmlns:r="http://schemas.openxmlformats.org/officeDocument/2006/relationships" id="262" r:id="Re40a504de9f646f4"/>
    <p:sldId xmlns:r="http://schemas.openxmlformats.org/officeDocument/2006/relationships" id="263" r:id="Rbb702e6e9cc04aa3"/>
    <p:sldId xmlns:r="http://schemas.openxmlformats.org/officeDocument/2006/relationships" id="264" r:id="R8c7bd249f3c94feb"/>
    <p:sldId xmlns:r="http://schemas.openxmlformats.org/officeDocument/2006/relationships" id="265" r:id="R55f6fbf427ae4450"/>
    <p:sldId xmlns:r="http://schemas.openxmlformats.org/officeDocument/2006/relationships" id="266" r:id="R1c08dc4f77754bd1"/>
    <p:sldId xmlns:r="http://schemas.openxmlformats.org/officeDocument/2006/relationships" id="267" r:id="R540b61f1c3474302"/>
    <p:sldId xmlns:r="http://schemas.openxmlformats.org/officeDocument/2006/relationships" id="268" r:id="R45a97ea823134b80"/>
    <p:sldId xmlns:r="http://schemas.openxmlformats.org/officeDocument/2006/relationships" id="269" r:id="Rcbfd67ef07f444b2"/>
    <p:sldId xmlns:r="http://schemas.openxmlformats.org/officeDocument/2006/relationships" id="270" r:id="R12a10cce3a174113"/>
    <p:sldId xmlns:r="http://schemas.openxmlformats.org/officeDocument/2006/relationships" id="271" r:id="R4098d0a2fa644e95"/>
    <p:sldId xmlns:r="http://schemas.openxmlformats.org/officeDocument/2006/relationships" id="272" r:id="R024d7fffc0054b3e"/>
    <p:sldId xmlns:r="http://schemas.openxmlformats.org/officeDocument/2006/relationships" id="273" r:id="R2565c070375646e8"/>
    <p:sldId xmlns:r="http://schemas.openxmlformats.org/officeDocument/2006/relationships" id="274" r:id="R1b7814f6443e4589"/>
    <p:sldId xmlns:r="http://schemas.openxmlformats.org/officeDocument/2006/relationships" id="275" r:id="R67e536cf1b7249cc"/>
    <p:sldId xmlns:r="http://schemas.openxmlformats.org/officeDocument/2006/relationships" id="276" r:id="R433d2ff98f2e4ea3"/>
    <p:sldId xmlns:r="http://schemas.openxmlformats.org/officeDocument/2006/relationships" id="277" r:id="R22efbc021c8d480f"/>
    <p:sldId xmlns:r="http://schemas.openxmlformats.org/officeDocument/2006/relationships" id="278" r:id="Rd119f462b43e42de"/>
    <p:sldId xmlns:r="http://schemas.openxmlformats.org/officeDocument/2006/relationships" id="279" r:id="R477a968c80784e63"/>
    <p:sldId xmlns:r="http://schemas.openxmlformats.org/officeDocument/2006/relationships" id="280" r:id="Rc88859b402544b20"/>
    <p:sldId xmlns:r="http://schemas.openxmlformats.org/officeDocument/2006/relationships" id="281" r:id="R7bb218d81630441b"/>
    <p:sldId xmlns:r="http://schemas.openxmlformats.org/officeDocument/2006/relationships" id="282" r:id="R84e1a6ede59f486e"/>
    <p:sldId xmlns:r="http://schemas.openxmlformats.org/officeDocument/2006/relationships" id="283" r:id="R170fe2298d8449fe"/>
    <p:sldId xmlns:r="http://schemas.openxmlformats.org/officeDocument/2006/relationships" id="284" r:id="R46e6c5b17c994a1e"/>
    <p:sldId xmlns:r="http://schemas.openxmlformats.org/officeDocument/2006/relationships" id="285" r:id="R363ade1b52a64eff"/>
    <p:sldId xmlns:r="http://schemas.openxmlformats.org/officeDocument/2006/relationships" id="286" r:id="Rfefc78ac62ae4d92"/>
    <p:sldId xmlns:r="http://schemas.openxmlformats.org/officeDocument/2006/relationships" id="287" r:id="Rb54d3a87e0994721"/>
    <p:sldId xmlns:r="http://schemas.openxmlformats.org/officeDocument/2006/relationships" id="288" r:id="Rcbbdc2d5487245d4"/>
    <p:sldId xmlns:r="http://schemas.openxmlformats.org/officeDocument/2006/relationships" id="289" r:id="Re0c719ed8b944ad0"/>
    <p:sldId xmlns:r="http://schemas.openxmlformats.org/officeDocument/2006/relationships" id="290" r:id="R1a0c442d1b844a1e"/>
    <p:sldId xmlns:r="http://schemas.openxmlformats.org/officeDocument/2006/relationships" id="291" r:id="R57976ee1c348461e"/>
    <p:sldId xmlns:r="http://schemas.openxmlformats.org/officeDocument/2006/relationships" id="292" r:id="Rbb3e541143a54e16"/>
    <p:sldId xmlns:r="http://schemas.openxmlformats.org/officeDocument/2006/relationships" id="293" r:id="Rb689ae5622e24110"/>
    <p:sldId xmlns:r="http://schemas.openxmlformats.org/officeDocument/2006/relationships" id="294" r:id="R9e945cb1307f43d3"/>
    <p:sldId xmlns:r="http://schemas.openxmlformats.org/officeDocument/2006/relationships" id="295" r:id="Re017085f9b6f4819"/>
    <p:sldId xmlns:r="http://schemas.openxmlformats.org/officeDocument/2006/relationships" id="296" r:id="Rc11c1fd5ff5e4b36"/>
    <p:sldId xmlns:r="http://schemas.openxmlformats.org/officeDocument/2006/relationships" id="297" r:id="R4c613aea03ad4328"/>
    <p:sldId xmlns:r="http://schemas.openxmlformats.org/officeDocument/2006/relationships" id="298" r:id="R2f127e75b2a342e2"/>
    <p:sldId xmlns:r="http://schemas.openxmlformats.org/officeDocument/2006/relationships" id="299" r:id="R60481970d2664573"/>
    <p:sldId xmlns:r="http://schemas.openxmlformats.org/officeDocument/2006/relationships" id="300" r:id="R16ccbe816d7c4bed"/>
    <p:sldId xmlns:r="http://schemas.openxmlformats.org/officeDocument/2006/relationships" id="301" r:id="Rcc251e620c0f41ab"/>
    <p:sldId xmlns:r="http://schemas.openxmlformats.org/officeDocument/2006/relationships" id="302" r:id="Ra096b6275ce741e9"/>
    <p:sldId xmlns:r="http://schemas.openxmlformats.org/officeDocument/2006/relationships" id="303" r:id="R7a5b9a1d28864025"/>
    <p:sldId xmlns:r="http://schemas.openxmlformats.org/officeDocument/2006/relationships" id="304" r:id="R3eff49606da64da0"/>
    <p:sldId xmlns:r="http://schemas.openxmlformats.org/officeDocument/2006/relationships" id="305" r:id="R7aef6053954d4fa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03734ecca3484b" /><Relationship Type="http://schemas.openxmlformats.org/officeDocument/2006/relationships/slideMaster" Target="/ppt/slideMasters/slideMaster1.xml" Id="Rf9406f41a654438e" /><Relationship Type="http://schemas.openxmlformats.org/officeDocument/2006/relationships/notesMaster" Target="/ppt/notesMasters/notesMaster1.xml" Id="Rd3c59c39f835456a" /><Relationship Type="http://schemas.openxmlformats.org/officeDocument/2006/relationships/presProps" Target="/ppt/presProps.xml" Id="Rbd6c6a288b664809" /><Relationship Type="http://schemas.openxmlformats.org/officeDocument/2006/relationships/tableStyles" Target="/ppt/tableStyles.xml" Id="R0d86fbef400744e1" /><Relationship Type="http://schemas.openxmlformats.org/officeDocument/2006/relationships/slide" Target="/ppt/slides/slide1.xml" Id="R76967d9d70424178" /><Relationship Type="http://schemas.openxmlformats.org/officeDocument/2006/relationships/slide" Target="/ppt/slides/slide2.xml" Id="R31c2d14dcf9f41a5" /><Relationship Type="http://schemas.openxmlformats.org/officeDocument/2006/relationships/slide" Target="/ppt/slides/slide3.xml" Id="R668c08ca3bc8492a" /><Relationship Type="http://schemas.openxmlformats.org/officeDocument/2006/relationships/slide" Target="/ppt/slides/slide4.xml" Id="Rbeed3392e41f40aa" /><Relationship Type="http://schemas.openxmlformats.org/officeDocument/2006/relationships/slide" Target="/ppt/slides/slide5.xml" Id="R08abe03ca7a448d9" /><Relationship Type="http://schemas.openxmlformats.org/officeDocument/2006/relationships/slide" Target="/ppt/slides/slide6.xml" Id="R6b3ea3683e4c461c" /><Relationship Type="http://schemas.openxmlformats.org/officeDocument/2006/relationships/slide" Target="/ppt/slides/slide7.xml" Id="Re40a504de9f646f4" /><Relationship Type="http://schemas.openxmlformats.org/officeDocument/2006/relationships/slide" Target="/ppt/slides/slide8.xml" Id="Rbb702e6e9cc04aa3" /><Relationship Type="http://schemas.openxmlformats.org/officeDocument/2006/relationships/slide" Target="/ppt/slides/slide9.xml" Id="R8c7bd249f3c94feb" /><Relationship Type="http://schemas.openxmlformats.org/officeDocument/2006/relationships/slide" Target="/ppt/slides/slide10.xml" Id="R55f6fbf427ae4450" /><Relationship Type="http://schemas.openxmlformats.org/officeDocument/2006/relationships/slide" Target="/ppt/slides/slide11.xml" Id="R1c08dc4f77754bd1" /><Relationship Type="http://schemas.openxmlformats.org/officeDocument/2006/relationships/slide" Target="/ppt/slides/slide12.xml" Id="R540b61f1c3474302" /><Relationship Type="http://schemas.openxmlformats.org/officeDocument/2006/relationships/slide" Target="/ppt/slides/slide13.xml" Id="R45a97ea823134b80" /><Relationship Type="http://schemas.openxmlformats.org/officeDocument/2006/relationships/slide" Target="/ppt/slides/slide14.xml" Id="Rcbfd67ef07f444b2" /><Relationship Type="http://schemas.openxmlformats.org/officeDocument/2006/relationships/slide" Target="/ppt/slides/slide15.xml" Id="R12a10cce3a174113" /><Relationship Type="http://schemas.openxmlformats.org/officeDocument/2006/relationships/slide" Target="/ppt/slides/slide16.xml" Id="R4098d0a2fa644e95" /><Relationship Type="http://schemas.openxmlformats.org/officeDocument/2006/relationships/slide" Target="/ppt/slides/slide17.xml" Id="R024d7fffc0054b3e" /><Relationship Type="http://schemas.openxmlformats.org/officeDocument/2006/relationships/slide" Target="/ppt/slides/slide18.xml" Id="R2565c070375646e8" /><Relationship Type="http://schemas.openxmlformats.org/officeDocument/2006/relationships/slide" Target="/ppt/slides/slide19.xml" Id="R1b7814f6443e4589" /><Relationship Type="http://schemas.openxmlformats.org/officeDocument/2006/relationships/slide" Target="/ppt/slides/slide20.xml" Id="R67e536cf1b7249cc" /><Relationship Type="http://schemas.openxmlformats.org/officeDocument/2006/relationships/slide" Target="/ppt/slides/slide21.xml" Id="R433d2ff98f2e4ea3" /><Relationship Type="http://schemas.openxmlformats.org/officeDocument/2006/relationships/slide" Target="/ppt/slides/slide22.xml" Id="R22efbc021c8d480f" /><Relationship Type="http://schemas.openxmlformats.org/officeDocument/2006/relationships/slide" Target="/ppt/slides/slide23.xml" Id="Rd119f462b43e42de" /><Relationship Type="http://schemas.openxmlformats.org/officeDocument/2006/relationships/slide" Target="/ppt/slides/slide24.xml" Id="R477a968c80784e63" /><Relationship Type="http://schemas.openxmlformats.org/officeDocument/2006/relationships/slide" Target="/ppt/slides/slide25.xml" Id="Rc88859b402544b20" /><Relationship Type="http://schemas.openxmlformats.org/officeDocument/2006/relationships/slide" Target="/ppt/slides/slide26.xml" Id="R7bb218d81630441b" /><Relationship Type="http://schemas.openxmlformats.org/officeDocument/2006/relationships/slide" Target="/ppt/slides/slide27.xml" Id="R84e1a6ede59f486e" /><Relationship Type="http://schemas.openxmlformats.org/officeDocument/2006/relationships/slide" Target="/ppt/slides/slide28.xml" Id="R170fe2298d8449fe" /><Relationship Type="http://schemas.openxmlformats.org/officeDocument/2006/relationships/slide" Target="/ppt/slides/slide29.xml" Id="R46e6c5b17c994a1e" /><Relationship Type="http://schemas.openxmlformats.org/officeDocument/2006/relationships/slide" Target="/ppt/slides/slide30.xml" Id="R363ade1b52a64eff" /><Relationship Type="http://schemas.openxmlformats.org/officeDocument/2006/relationships/slide" Target="/ppt/slides/slide31.xml" Id="Rfefc78ac62ae4d92" /><Relationship Type="http://schemas.openxmlformats.org/officeDocument/2006/relationships/slide" Target="/ppt/slides/slide32.xml" Id="Rb54d3a87e0994721" /><Relationship Type="http://schemas.openxmlformats.org/officeDocument/2006/relationships/slide" Target="/ppt/slides/slide33.xml" Id="Rcbbdc2d5487245d4" /><Relationship Type="http://schemas.openxmlformats.org/officeDocument/2006/relationships/slide" Target="/ppt/slides/slide34.xml" Id="Re0c719ed8b944ad0" /><Relationship Type="http://schemas.openxmlformats.org/officeDocument/2006/relationships/slide" Target="/ppt/slides/slide35.xml" Id="R1a0c442d1b844a1e" /><Relationship Type="http://schemas.openxmlformats.org/officeDocument/2006/relationships/slide" Target="/ppt/slides/slide36.xml" Id="R57976ee1c348461e" /><Relationship Type="http://schemas.openxmlformats.org/officeDocument/2006/relationships/slide" Target="/ppt/slides/slide37.xml" Id="Rbb3e541143a54e16" /><Relationship Type="http://schemas.openxmlformats.org/officeDocument/2006/relationships/slide" Target="/ppt/slides/slide38.xml" Id="Rb689ae5622e24110" /><Relationship Type="http://schemas.openxmlformats.org/officeDocument/2006/relationships/slide" Target="/ppt/slides/slide39.xml" Id="R9e945cb1307f43d3" /><Relationship Type="http://schemas.openxmlformats.org/officeDocument/2006/relationships/slide" Target="/ppt/slides/slide40.xml" Id="Re017085f9b6f4819" /><Relationship Type="http://schemas.openxmlformats.org/officeDocument/2006/relationships/slide" Target="/ppt/slides/slide41.xml" Id="Rc11c1fd5ff5e4b36" /><Relationship Type="http://schemas.openxmlformats.org/officeDocument/2006/relationships/slide" Target="/ppt/slides/slide42.xml" Id="R4c613aea03ad4328" /><Relationship Type="http://schemas.openxmlformats.org/officeDocument/2006/relationships/slide" Target="/ppt/slides/slide43.xml" Id="R2f127e75b2a342e2" /><Relationship Type="http://schemas.openxmlformats.org/officeDocument/2006/relationships/slide" Target="/ppt/slides/slide44.xml" Id="R60481970d2664573" /><Relationship Type="http://schemas.openxmlformats.org/officeDocument/2006/relationships/slide" Target="/ppt/slides/slide45.xml" Id="R16ccbe816d7c4bed" /><Relationship Type="http://schemas.openxmlformats.org/officeDocument/2006/relationships/slide" Target="/ppt/slides/slide46.xml" Id="Rcc251e620c0f41ab" /><Relationship Type="http://schemas.openxmlformats.org/officeDocument/2006/relationships/slide" Target="/ppt/slides/slide47.xml" Id="Ra096b6275ce741e9" /><Relationship Type="http://schemas.openxmlformats.org/officeDocument/2006/relationships/slide" Target="/ppt/slides/slide48.xml" Id="R7a5b9a1d28864025" /><Relationship Type="http://schemas.openxmlformats.org/officeDocument/2006/relationships/slide" Target="/ppt/slides/slide49.xml" Id="R3eff49606da64da0" /><Relationship Type="http://schemas.openxmlformats.org/officeDocument/2006/relationships/slide" Target="/ppt/slides/slide50.xml" Id="R7aef6053954d4f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a410365deb43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f27af5da174b5e" /><Relationship Type="http://schemas.openxmlformats.org/officeDocument/2006/relationships/notesMaster" Target="/ppt/notesMasters/notesMaster1.xml" Id="Re72d4912cdda44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26c49afe3046fb" /><Relationship Type="http://schemas.openxmlformats.org/officeDocument/2006/relationships/notesMaster" Target="/ppt/notesMasters/notesMaster1.xml" Id="R83279d8725a042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098952ce82484e" /><Relationship Type="http://schemas.openxmlformats.org/officeDocument/2006/relationships/notesMaster" Target="/ppt/notesMasters/notesMaster1.xml" Id="Ree521451b91e42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08f43e4f4046fc" /><Relationship Type="http://schemas.openxmlformats.org/officeDocument/2006/relationships/notesMaster" Target="/ppt/notesMasters/notesMaster1.xml" Id="R079ce73b508b4a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fa1bed87634ebc" /><Relationship Type="http://schemas.openxmlformats.org/officeDocument/2006/relationships/notesMaster" Target="/ppt/notesMasters/notesMaster1.xml" Id="Rde103dac9bcc4b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91f09d26014a3e" /><Relationship Type="http://schemas.openxmlformats.org/officeDocument/2006/relationships/notesMaster" Target="/ppt/notesMasters/notesMaster1.xml" Id="Rc1eb9e6e62814b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e8bd1f0a0540d2" /><Relationship Type="http://schemas.openxmlformats.org/officeDocument/2006/relationships/notesMaster" Target="/ppt/notesMasters/notesMaster1.xml" Id="R17e568a63b6d49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3fdb7a25234881" /><Relationship Type="http://schemas.openxmlformats.org/officeDocument/2006/relationships/notesMaster" Target="/ppt/notesMasters/notesMaster1.xml" Id="R592e2d29d62a4b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4b1003f0934e50" /><Relationship Type="http://schemas.openxmlformats.org/officeDocument/2006/relationships/notesMaster" Target="/ppt/notesMasters/notesMaster1.xml" Id="R81de34a9990448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0bbeb260444369" /><Relationship Type="http://schemas.openxmlformats.org/officeDocument/2006/relationships/notesMaster" Target="/ppt/notesMasters/notesMaster1.xml" Id="R2769099d644141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8186a4415f4a6a" /><Relationship Type="http://schemas.openxmlformats.org/officeDocument/2006/relationships/notesMaster" Target="/ppt/notesMasters/notesMaster1.xml" Id="R77bf61eb22a84a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ac158e7b984410" /><Relationship Type="http://schemas.openxmlformats.org/officeDocument/2006/relationships/notesMaster" Target="/ppt/notesMasters/notesMaster1.xml" Id="Ra6c2a7e1b0b745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fed12b8cba4402" /><Relationship Type="http://schemas.openxmlformats.org/officeDocument/2006/relationships/notesMaster" Target="/ppt/notesMasters/notesMaster1.xml" Id="R12f5c77a260a40a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a2e004a72c4708" /><Relationship Type="http://schemas.openxmlformats.org/officeDocument/2006/relationships/notesMaster" Target="/ppt/notesMasters/notesMaster1.xml" Id="R68a3ab87eb8e4c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baff4da4fe40b4" /><Relationship Type="http://schemas.openxmlformats.org/officeDocument/2006/relationships/notesMaster" Target="/ppt/notesMasters/notesMaster1.xml" Id="Rfe0b7d187b4f46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1e870c64a24a35" /><Relationship Type="http://schemas.openxmlformats.org/officeDocument/2006/relationships/notesMaster" Target="/ppt/notesMasters/notesMaster1.xml" Id="R25a4ce5bd37c4fd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54e9b8c47341e5" /><Relationship Type="http://schemas.openxmlformats.org/officeDocument/2006/relationships/notesMaster" Target="/ppt/notesMasters/notesMaster1.xml" Id="Rcdee43aa638547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5fce360196a4567" /><Relationship Type="http://schemas.openxmlformats.org/officeDocument/2006/relationships/notesMaster" Target="/ppt/notesMasters/notesMaster1.xml" Id="Rbc0811def90642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87edb5d69b458e" /><Relationship Type="http://schemas.openxmlformats.org/officeDocument/2006/relationships/notesMaster" Target="/ppt/notesMasters/notesMaster1.xml" Id="R32c77f76ba7f44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dbbcfccbc774310" /><Relationship Type="http://schemas.openxmlformats.org/officeDocument/2006/relationships/notesMaster" Target="/ppt/notesMasters/notesMaster1.xml" Id="R4b39c57d692f4c9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a540edc5ee4a8c" /><Relationship Type="http://schemas.openxmlformats.org/officeDocument/2006/relationships/notesMaster" Target="/ppt/notesMasters/notesMaster1.xml" Id="R8079921cc4a148e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dc5351f8f84b19" /><Relationship Type="http://schemas.openxmlformats.org/officeDocument/2006/relationships/notesMaster" Target="/ppt/notesMasters/notesMaster1.xml" Id="R6ba331d0de48488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150a55e1c448a3" /><Relationship Type="http://schemas.openxmlformats.org/officeDocument/2006/relationships/notesMaster" Target="/ppt/notesMasters/notesMaster1.xml" Id="Rbd32141724bb4e6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8bf8a3f0a84610" /><Relationship Type="http://schemas.openxmlformats.org/officeDocument/2006/relationships/notesMaster" Target="/ppt/notesMasters/notesMaster1.xml" Id="Re9eda140de224c7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6e76a73bb794455" /><Relationship Type="http://schemas.openxmlformats.org/officeDocument/2006/relationships/notesMaster" Target="/ppt/notesMasters/notesMaster1.xml" Id="Rdc6dc56a32654cf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78b7e82e5b54107" /><Relationship Type="http://schemas.openxmlformats.org/officeDocument/2006/relationships/notesMaster" Target="/ppt/notesMasters/notesMaster1.xml" Id="R508ea56e1bb24bd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340b71bb35c4715" /><Relationship Type="http://schemas.openxmlformats.org/officeDocument/2006/relationships/notesMaster" Target="/ppt/notesMasters/notesMaster1.xml" Id="R4c8ffd1bc1a74f4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6d92b3f63d04700" /><Relationship Type="http://schemas.openxmlformats.org/officeDocument/2006/relationships/notesMaster" Target="/ppt/notesMasters/notesMaster1.xml" Id="R0ec3e846e3424a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5a4b89b6a9549a1" /><Relationship Type="http://schemas.openxmlformats.org/officeDocument/2006/relationships/notesMaster" Target="/ppt/notesMasters/notesMaster1.xml" Id="R4b3cb2ede63e405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24432de79a494b" /><Relationship Type="http://schemas.openxmlformats.org/officeDocument/2006/relationships/notesMaster" Target="/ppt/notesMasters/notesMaster1.xml" Id="R6ac00066d95a4e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35e9033f65149d6" /><Relationship Type="http://schemas.openxmlformats.org/officeDocument/2006/relationships/notesMaster" Target="/ppt/notesMasters/notesMaster1.xml" Id="R77774952701840f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8efaac2bdd04452" /><Relationship Type="http://schemas.openxmlformats.org/officeDocument/2006/relationships/notesMaster" Target="/ppt/notesMasters/notesMaster1.xml" Id="Rd5d65720f1fa4c4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d0f2c1cc5e74087" /><Relationship Type="http://schemas.openxmlformats.org/officeDocument/2006/relationships/notesMaster" Target="/ppt/notesMasters/notesMaster1.xml" Id="R34d26fd9db4c451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750d2fe889b4940" /><Relationship Type="http://schemas.openxmlformats.org/officeDocument/2006/relationships/notesMaster" Target="/ppt/notesMasters/notesMaster1.xml" Id="Ra8913963551e4bf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fba740780b949d2" /><Relationship Type="http://schemas.openxmlformats.org/officeDocument/2006/relationships/notesMaster" Target="/ppt/notesMasters/notesMaster1.xml" Id="Rbfcd083336fa4ab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8ee940f8d2457b" /><Relationship Type="http://schemas.openxmlformats.org/officeDocument/2006/relationships/notesMaster" Target="/ppt/notesMasters/notesMaster1.xml" Id="R7a1672bdbce94a1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6ac3b4cd7654646" /><Relationship Type="http://schemas.openxmlformats.org/officeDocument/2006/relationships/notesMaster" Target="/ppt/notesMasters/notesMaster1.xml" Id="R4c124676de4448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ecfe7c36c0f44a8" /><Relationship Type="http://schemas.openxmlformats.org/officeDocument/2006/relationships/notesMaster" Target="/ppt/notesMasters/notesMaster1.xml" Id="R215f773b0627428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bba1b7de68c4e5b" /><Relationship Type="http://schemas.openxmlformats.org/officeDocument/2006/relationships/notesMaster" Target="/ppt/notesMasters/notesMaster1.xml" Id="Rce8a2f37047b45f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e4cdf847708481e" /><Relationship Type="http://schemas.openxmlformats.org/officeDocument/2006/relationships/notesMaster" Target="/ppt/notesMasters/notesMaster1.xml" Id="Rfbb3f534579d40a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335822f38ad4a84" /><Relationship Type="http://schemas.openxmlformats.org/officeDocument/2006/relationships/notesMaster" Target="/ppt/notesMasters/notesMaster1.xml" Id="Radfb620b0d604b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511fecf334640a3" /><Relationship Type="http://schemas.openxmlformats.org/officeDocument/2006/relationships/notesMaster" Target="/ppt/notesMasters/notesMaster1.xml" Id="R53e18f2436c54e7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2b82dbdf6de4b54" /><Relationship Type="http://schemas.openxmlformats.org/officeDocument/2006/relationships/notesMaster" Target="/ppt/notesMasters/notesMaster1.xml" Id="Rfdf498ad3e144c8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0bc6045140e4c46" /><Relationship Type="http://schemas.openxmlformats.org/officeDocument/2006/relationships/notesMaster" Target="/ppt/notesMasters/notesMaster1.xml" Id="Rcabe08dc3953444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3b79af06570450e" /><Relationship Type="http://schemas.openxmlformats.org/officeDocument/2006/relationships/notesMaster" Target="/ppt/notesMasters/notesMaster1.xml" Id="R508af01a589d4a2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a8b04a3f24547bf" /><Relationship Type="http://schemas.openxmlformats.org/officeDocument/2006/relationships/notesMaster" Target="/ppt/notesMasters/notesMaster1.xml" Id="R7809d0c111ed4f5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470e7d236ae4910" /><Relationship Type="http://schemas.openxmlformats.org/officeDocument/2006/relationships/notesMaster" Target="/ppt/notesMasters/notesMaster1.xml" Id="Rb3bbf1f38b2541c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b3a95274bc94cc2" /><Relationship Type="http://schemas.openxmlformats.org/officeDocument/2006/relationships/notesMaster" Target="/ppt/notesMasters/notesMaster1.xml" Id="Rf1bcb28bdce1487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ca590d16844426a" /><Relationship Type="http://schemas.openxmlformats.org/officeDocument/2006/relationships/notesMaster" Target="/ppt/notesMasters/notesMaster1.xml" Id="Ra476cc672f62453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e0e321420f949cc" /><Relationship Type="http://schemas.openxmlformats.org/officeDocument/2006/relationships/notesMaster" Target="/ppt/notesMasters/notesMaster1.xml" Id="R7013696e555045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script:</a:t>
            </a:r>
          </a:p>
          <a:p xmlns:a="http://schemas.openxmlformats.org/drawingml/2006/main">
            <a:r>
              <a:t>“Good morning. The sequencing instrument can read DNA, but it cannot by itself tell us which variant explains a patient’s disease. Today we will follow the journey from millions of raw observations to a structured clinical interpretation.”</a:t>
            </a:r>
          </a:p>
          <a:p xmlns:a="http://schemas.openxmlformats.org/drawingml/2006/main">
            <a:r>
              <a:t/>
            </a:r>
          </a:p>
          <a:p xmlns:a="http://schemas.openxmlformats.org/drawingml/2006/main">
            <a:r>
              <a:t>“By the end, you should understand three things: why bioinformatics is essential, why laboratories needed a common language for variant classification, and why the command line remains one of the most useful ways to run reproducible analyses.”</a:t>
            </a:r>
          </a:p>
          <a:p xmlns:a="http://schemas.openxmlformats.org/drawingml/2006/main">
            <a:r>
              <a:t/>
            </a:r>
          </a:p>
          <a:p xmlns:a="http://schemas.openxmlformats.org/drawingml/2006/main">
            <a:r>
              <a:t>MAHMOOD — SHOW: Keep only this title slide visible while you introduce yourself. Do not begin with definitions. Begin with the clinical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room:</a:t>
            </a:r>
          </a:p>
          <a:p xmlns:a="http://schemas.openxmlformats.org/drawingml/2006/main">
            <a:r>
              <a:t>“What does an NGS machine give us at the end of the run? Does it give us a diagnosis?”</a:t>
            </a:r>
          </a:p>
          <a:p xmlns:a="http://schemas.openxmlformats.org/drawingml/2006/main">
            <a:r>
              <a:t/>
            </a:r>
          </a:p>
          <a:p xmlns:a="http://schemas.openxmlformats.org/drawingml/2006/main">
            <a:r>
              <a:t>Wait for answers. Then say:</a:t>
            </a:r>
          </a:p>
          <a:p xmlns:a="http://schemas.openxmlformats.org/drawingml/2006/main">
            <a:r>
              <a:t>“It gives us data: reads, quality scores and signals. The difficult part is turning those data into evidence. Bioinformatics reduces the search space; clinical interpretation decides what the remaining evidence means.”</a:t>
            </a:r>
          </a:p>
          <a:p xmlns:a="http://schemas.openxmlformats.org/drawingml/2006/main">
            <a:r>
              <a:t/>
            </a:r>
          </a:p>
          <a:p xmlns:a="http://schemas.openxmlformats.org/drawingml/2006/main">
            <a:r>
              <a:t>MAHMOOD — SHOW: Point from left to right. Do not claim that every case ends with one reportable variant. Say that the boxes illustrate the reduction process, not a guaranteed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not separate subjects. They are three layers of one workflow. Bioinformatics detects and prioritizes. Evidence frameworks classify. The command line makes the process scalable and reproducible.”</a:t>
            </a:r>
          </a:p>
          <a:p xmlns:a="http://schemas.openxmlformats.org/drawingml/2006/main">
            <a:r>
              <a:t/>
            </a:r>
          </a:p>
          <a:p xmlns:a="http://schemas.openxmlformats.org/drawingml/2006/main">
            <a:r>
              <a:t>Tell participants that detailed hands-on commands will continue in the practical session. Today they need the mental model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explanation:</a:t>
            </a:r>
          </a:p>
          <a:p xmlns:a="http://schemas.openxmlformats.org/drawingml/2006/main">
            <a:r>
              <a:t>“Bioinformatics is not simply programming, and it is not simply biology on a computer. It is the discipline that combines biological knowledge, computational methods and statistics. In clinical genomics, we must add a fourth element: the patient’s phenotype and clinical context.”</a:t>
            </a:r>
          </a:p>
          <a:p xmlns:a="http://schemas.openxmlformats.org/drawingml/2006/main">
            <a:r>
              <a:t/>
            </a:r>
          </a:p>
          <a:p xmlns:a="http://schemas.openxmlformats.org/drawingml/2006/main">
            <a:r>
              <a:t>Analogy:</a:t>
            </a:r>
          </a:p>
          <a:p xmlns:a="http://schemas.openxmlformats.org/drawingml/2006/main">
            <a:r>
              <a:t>“A microscope makes small objects visible. Bioinformatics makes very large biological datasets understandable.”</a:t>
            </a:r>
          </a:p>
          <a:p xmlns:a="http://schemas.openxmlformats.org/drawingml/2006/main">
            <a:r>
              <a:t/>
            </a:r>
          </a:p>
          <a:p xmlns:a="http://schemas.openxmlformats.org/drawingml/2006/main">
            <a:r>
              <a:t>MAHMOOD — SHOW: Point to the four surrounding disciplines, then to DATA in the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only that the dataset is large. The problem is that every observation has multiple dimensions: quality, genomic position, population frequency, predicted consequence, inheritance and phenotype relevance.”</a:t>
            </a:r>
          </a:p>
          <a:p xmlns:a="http://schemas.openxmlformats.org/drawingml/2006/main">
            <a:r>
              <a:t/>
            </a:r>
          </a:p>
          <a:p xmlns:a="http://schemas.openxmlformats.org/drawingml/2006/main">
            <a:r>
              <a:t>“Manual inspection is slow, inconsistent and difficult to reproduce. Bioinformatics allows us to apply the same rule to every record and preserve an audit trail.”</a:t>
            </a:r>
          </a:p>
          <a:p xmlns:a="http://schemas.openxmlformats.org/drawingml/2006/main">
            <a:r>
              <a:t/>
            </a:r>
          </a:p>
          <a:p xmlns:a="http://schemas.openxmlformats.org/drawingml/2006/main">
            <a:r>
              <a:t>You may use the familiar example: “If a workflow needs 500 clicks for one sample, it becomes impossible for 100 samples. A script can apply the same documented steps to all of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boxes.</a:t>
            </a:r>
          </a:p>
          <a:p xmlns:a="http://schemas.openxmlformats.org/drawingml/2006/main">
            <a:r>
              <a:t/>
            </a:r>
          </a:p>
          <a:p xmlns:a="http://schemas.openxmlformats.org/drawingml/2006/main">
            <a:r>
              <a:t>FASTQ: raw reads plus quality scores.</a:t>
            </a:r>
          </a:p>
          <a:p xmlns:a="http://schemas.openxmlformats.org/drawingml/2006/main">
            <a:r>
              <a:t>BAM/CRAM: reads aligned to a reference genome.</a:t>
            </a:r>
          </a:p>
          <a:p xmlns:a="http://schemas.openxmlformats.org/drawingml/2006/main">
            <a:r>
              <a:t>VCF: called differences from the reference.</a:t>
            </a:r>
          </a:p>
          <a:p xmlns:a="http://schemas.openxmlformats.org/drawingml/2006/main">
            <a:r>
              <a:t>Annotation: consequence, frequency, databases, literature and phenotype context.</a:t>
            </a:r>
          </a:p>
          <a:p xmlns:a="http://schemas.openxmlformats.org/drawingml/2006/main">
            <a:r>
              <a:t>Report: a selected and interpreted result with limitations.</a:t>
            </a:r>
          </a:p>
          <a:p xmlns:a="http://schemas.openxmlformats.org/drawingml/2006/main">
            <a:r>
              <a:t/>
            </a:r>
          </a:p>
          <a:p xmlns:a="http://schemas.openxmlformats.org/drawingml/2006/main">
            <a:r>
              <a:t>Say clearly: “Reaching the VCF is not the end. It is often the beginning of the most difficult reasoning.”</a:t>
            </a:r>
          </a:p>
          <a:p xmlns:a="http://schemas.openxmlformats.org/drawingml/2006/main">
            <a:r>
              <a:t/>
            </a:r>
          </a:p>
          <a:p xmlns:a="http://schemas.openxmlformats.org/drawingml/2006/main">
            <a:r>
              <a:t>MAHMOOD — SHOW: Later in the live demonstration, reopen this slide briefly to orient the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explain these files as abstract extensions. Explain the question each file answers.”</a:t>
            </a:r>
          </a:p>
          <a:p xmlns:a="http://schemas.openxmlformats.org/drawingml/2006/main">
            <a:r>
              <a:t/>
            </a:r>
          </a:p>
          <a:p xmlns:a="http://schemas.openxmlformats.org/drawingml/2006/main">
            <a:r>
              <a:t>MAHMOOD — SHOW: Open a real FASTQ after this slide and show four lines from one record. Then show only the VCF header and one variant row. Do not begin explaining every VCF field yet. Tell them that the practical session will return to these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“Filtering does not prove pathogenicity. A rare, damaging-looking variant may still be benign or uncertain. Likewise, a low-quality call should not be rescued by an exciting clinical story.”</a:t>
            </a:r>
          </a:p>
          <a:p xmlns:a="http://schemas.openxmlformats.org/drawingml/2006/main">
            <a:r>
              <a:t/>
            </a:r>
          </a:p>
          <a:p xmlns:a="http://schemas.openxmlformats.org/drawingml/2006/main">
            <a:r>
              <a:t>Use this sentence:</a:t>
            </a:r>
          </a:p>
          <a:p xmlns:a="http://schemas.openxmlformats.org/drawingml/2006/main">
            <a:r>
              <a:t>“Bioinformatics produces candidates; variant interpretation evaluates evidence.”</a:t>
            </a:r>
          </a:p>
          <a:p xmlns:a="http://schemas.openxmlformats.org/drawingml/2006/main">
            <a:r>
              <a:t/>
            </a:r>
          </a:p>
          <a:p xmlns:a="http://schemas.openxmlformats.org/drawingml/2006/main">
            <a:r>
              <a:t>Transition: “If interpretation depends on evidence, laboratories need a common way to describe and weigh that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a:t>
            </a:r>
          </a:p>
          <a:p xmlns:a="http://schemas.openxmlformats.org/drawingml/2006/main">
            <a:r>
              <a:t>“A shared language became essential”</a:t>
            </a:r>
          </a:p>
          <a:p xmlns:a="http://schemas.openxmlformats.org/drawingml/2006/main">
            <a:r>
              <a:t/>
            </a:r>
          </a:p>
          <a:p xmlns:a="http://schemas.openxmlformats.org/drawingml/2006/main">
            <a:r>
              <a:t>Pause briefly. Tell the audience that the next section answers one question only: Who creates guidance for genetic and molecular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Important correction to explain:</a:t>
            </a:r>
          </a:p>
          <a:p xmlns:a="http://schemas.openxmlformats.org/drawingml/2006/main">
            <a:r>
              <a:t>“There was variant classification before the 2015 paper. ACMG had earlier recommendations, other groups had five-tier schemes, and individual laboratories had internal protocols. The problem was the lack of sufficiently defined, widely shared terminology and detailed weighting rules.”</a:t>
            </a:r>
          </a:p>
          <a:p xmlns:a="http://schemas.openxmlformats.org/drawingml/2006/main">
            <a:r>
              <a:t/>
            </a:r>
          </a:p>
          <a:p xmlns:a="http://schemas.openxmlformats.org/drawingml/2006/main">
            <a:r>
              <a:t>“The paper specifically discouraged using ‘mutation’ and ‘polymorphism’ as if they automatically meant pathogenic and benign. It recommended using the neutral word variant, followed by an evidence-based modifier.”</a:t>
            </a:r>
          </a:p>
          <a:p xmlns:a="http://schemas.openxmlformats.org/drawingml/2006/main">
            <a:r>
              <a:t/>
            </a:r>
          </a:p>
          <a:p xmlns:a="http://schemas.openxmlformats.org/drawingml/2006/main">
            <a:r>
              <a:t>MAHMOOD — SHOW: Emphasize that the labels on this slide are examples of historical or informal language, not a complete historical taxonomy.”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names are often shown together, which creates confusion. They are not interchangeable. ACMG focuses on medical genetics; AMP on molecular pathology; CAP on pathology and laboratory quality; ASCO on oncology; ClinGen on structured curation and refinement.”</a:t>
            </a:r>
          </a:p>
          <a:p xmlns:a="http://schemas.openxmlformats.org/drawingml/2006/main">
            <a:r>
              <a:t/>
            </a:r>
          </a:p>
          <a:p xmlns:a="http://schemas.openxmlformats.org/drawingml/2006/main">
            <a:r>
              <a:t>“Also, do not say that one organization controls all genetic testing worldwide. These organizations issue standards, guidelines, accreditation programs, expert specifications and educational resources. Legal regulation and accreditation vary by country.”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ACMG talk track:</a:t>
            </a:r>
          </a:p>
          <a:p xmlns:a="http://schemas.openxmlformats.org/drawingml/2006/main">
            <a:r>
              <a:t>“Integrates genetics and genomics into medical practice through professional guidance, education, policy and clinical standards.”</a:t>
            </a:r>
          </a:p>
          <a:p xmlns:a="http://schemas.openxmlformats.org/drawingml/2006/main">
            <a:r>
              <a:t/>
            </a:r>
          </a:p>
          <a:p xmlns:a="http://schemas.openxmlformats.org/drawingml/2006/main">
            <a:r>
              <a:t>Then say:</a:t>
            </a:r>
          </a:p>
          <a:p xmlns:a="http://schemas.openxmlformats.org/drawingml/2006/main">
            <a:r>
              <a:t>“ACMG convened the 2013 sequence-variant interpretation workgroup and co-issued the 2015 germline framework.”</a:t>
            </a:r>
          </a:p>
          <a:p xmlns:a="http://schemas.openxmlformats.org/drawingml/2006/main">
            <a:r>
              <a:t/>
            </a:r>
          </a:p>
          <a:p xmlns:a="http://schemas.openxmlformats.org/drawingml/2006/main">
            <a:r>
              <a:t>Keep this distinction clear. Do not describe ACMG as a governmental regulator unless discussing a specific legal role in a specific jurisdiction.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 talk track:</a:t>
            </a:r>
          </a:p>
          <a:p xmlns:a="http://schemas.openxmlformats.org/drawingml/2006/main">
            <a:r>
              <a:t>“Advances the clinical practice, science and quality of molecular diagnostics across inherited disease, oncology, infectious disease and other areas.”</a:t>
            </a:r>
          </a:p>
          <a:p xmlns:a="http://schemas.openxmlformats.org/drawingml/2006/main">
            <a:r>
              <a:t/>
            </a:r>
          </a:p>
          <a:p xmlns:a="http://schemas.openxmlformats.org/drawingml/2006/main">
            <a:r>
              <a:t>Then say:</a:t>
            </a:r>
          </a:p>
          <a:p xmlns:a="http://schemas.openxmlformats.org/drawingml/2006/main">
            <a:r>
              <a:t>“AMP co-issued the 2015 ACMG/AMP guideline and later led major somatic cancer interpretation standards.”</a:t>
            </a:r>
          </a:p>
          <a:p xmlns:a="http://schemas.openxmlformats.org/drawingml/2006/main">
            <a:r>
              <a:t/>
            </a:r>
          </a:p>
          <a:p xmlns:a="http://schemas.openxmlformats.org/drawingml/2006/main">
            <a:r>
              <a:t>Keep this distinction clear. Do not describe AMP as a governmental regulator unless discussing a specific legal role in a specific jurisdiction.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 talk track:</a:t>
            </a:r>
          </a:p>
          <a:p xmlns:a="http://schemas.openxmlformats.org/drawingml/2006/main">
            <a:r>
              <a:t>“Represents pathologists and promotes excellence in pathology and laboratory medicine, including accreditation and proficiency testing.”</a:t>
            </a:r>
          </a:p>
          <a:p xmlns:a="http://schemas.openxmlformats.org/drawingml/2006/main">
            <a:r>
              <a:t/>
            </a:r>
          </a:p>
          <a:p xmlns:a="http://schemas.openxmlformats.org/drawingml/2006/main">
            <a:r>
              <a:t>Then say:</a:t>
            </a:r>
          </a:p>
          <a:p xmlns:a="http://schemas.openxmlformats.org/drawingml/2006/main">
            <a:r>
              <a:t>“CAP members participated in the 2013 workgroup, and CAP standards influence clinical laboratory quality and reporting.”</a:t>
            </a:r>
          </a:p>
          <a:p xmlns:a="http://schemas.openxmlformats.org/drawingml/2006/main">
            <a:r>
              <a:t/>
            </a:r>
          </a:p>
          <a:p xmlns:a="http://schemas.openxmlformats.org/drawingml/2006/main">
            <a:r>
              <a:t>Keep this distinction clear. Do not describe CAP as a governmental regulator unless discussing a specific legal role in a specific jurisdiction.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ASCO talk track:</a:t>
            </a:r>
          </a:p>
          <a:p xmlns:a="http://schemas.openxmlformats.org/drawingml/2006/main">
            <a:r>
              <a:t>“Supports oncology research, education and high-quality cancer care for oncology professionals and patients.”</a:t>
            </a:r>
          </a:p>
          <a:p xmlns:a="http://schemas.openxmlformats.org/drawingml/2006/main">
            <a:r>
              <a:t/>
            </a:r>
          </a:p>
          <a:p xmlns:a="http://schemas.openxmlformats.org/drawingml/2006/main">
            <a:r>
              <a:t>Then say:</a:t>
            </a:r>
          </a:p>
          <a:p xmlns:a="http://schemas.openxmlformats.org/drawingml/2006/main">
            <a:r>
              <a:t>“ASCO was not part of the 2015 germline paper; it co-developed the 2017 somatic cancer clinical-significance guideline with AMP and CAP.”</a:t>
            </a:r>
          </a:p>
          <a:p xmlns:a="http://schemas.openxmlformats.org/drawingml/2006/main">
            <a:r>
              <a:t/>
            </a:r>
          </a:p>
          <a:p xmlns:a="http://schemas.openxmlformats.org/drawingml/2006/main">
            <a:r>
              <a:t>Keep this distinction clear. Do not describe ASCO as a governmental regulator unless discussing a specific legal role in a specific jurisdiction.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ClinGen talk track:</a:t>
            </a:r>
          </a:p>
          <a:p xmlns:a="http://schemas.openxmlformats.org/drawingml/2006/main">
            <a:r>
              <a:t>“Builds publicly available expert knowledge about gene–disease validity, variant pathogenicity, dosage sensitivity and clinical actionability.”</a:t>
            </a:r>
          </a:p>
          <a:p xmlns:a="http://schemas.openxmlformats.org/drawingml/2006/main">
            <a:r>
              <a:t/>
            </a:r>
          </a:p>
          <a:p xmlns:a="http://schemas.openxmlformats.org/drawingml/2006/main">
            <a:r>
              <a:t>Then say:</a:t>
            </a:r>
          </a:p>
          <a:p xmlns:a="http://schemas.openxmlformats.org/drawingml/2006/main">
            <a:r>
              <a:t>“ClinGen refines how ACMG/AMP criteria are applied and develops gene- and disease-specific specifications.”</a:t>
            </a:r>
          </a:p>
          <a:p xmlns:a="http://schemas.openxmlformats.org/drawingml/2006/main">
            <a:r>
              <a:t/>
            </a:r>
          </a:p>
          <a:p xmlns:a="http://schemas.openxmlformats.org/drawingml/2006/main">
            <a:r>
              <a:t>Keep this distinction clear. Do not describe ClinGen as a governmental regulator unless discussing a specific legal role in a specific jurisdiction.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title names ACMG and AMP. The methods state that the 2013 workgroup consisted of ACMG, AMP and CAP members representing clinical laboratory directors and clinicians.”</a:t>
            </a:r>
          </a:p>
          <a:p xmlns:a="http://schemas.openxmlformats.org/drawingml/2006/main">
            <a:r>
              <a:t/>
            </a:r>
          </a:p>
          <a:p xmlns:a="http://schemas.openxmlformats.org/drawingml/2006/main">
            <a:r>
              <a:t>“ASCO is important, but it belongs to a different later story: somatic cancer variant interpretation and clinical significance.”</a:t>
            </a:r>
          </a:p>
          <a:p xmlns:a="http://schemas.openxmlformats.org/drawingml/2006/main">
            <a:r>
              <a:t/>
            </a:r>
          </a:p>
          <a:p xmlns:a="http://schemas.openxmlformats.org/drawingml/2006/main">
            <a:r>
              <a:t>MAHMOOD — SHOW: Point to the ASCO note only after you explain the 2015 group. This prevents participants from placing ASCO in the wrong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teaching international participants, avoid saying ACMG controls genetic testing worldwide. The 2015 document itself describes the recommendations as educational and voluntary. It also strongly recommends qualified clinical laboratories and appropriately trained professionals.”</a:t>
            </a:r>
          </a:p>
          <a:p xmlns:a="http://schemas.openxmlformats.org/drawingml/2006/main">
            <a:r>
              <a:t/>
            </a:r>
          </a:p>
          <a:p xmlns:a="http://schemas.openxmlformats.org/drawingml/2006/main">
            <a:r>
              <a:t>“The safe wording is: these frameworks promote consistency and quality; implementation, accreditation and legal requirements depend on the laboratory and jurisdiction.”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a:t>
            </a:r>
          </a:p>
          <a:p xmlns:a="http://schemas.openxmlformats.org/drawingml/2006/main">
            <a:r>
              <a:t>“The final class is built from weighted evidence”</a:t>
            </a:r>
          </a:p>
          <a:p xmlns:a="http://schemas.openxmlformats.org/drawingml/2006/main">
            <a:r>
              <a:t/>
            </a:r>
          </a:p>
          <a:p xmlns:a="http://schemas.openxmlformats.org/drawingml/2006/main">
            <a:r>
              <a:t>Pause briefly. Tell the audience that the next section answers one question only: How did the workgroup create a common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MAHMOOD — SHOW: Open the actual paper PDF beside this slide. Show the title, authors and the disclaimer at the beginning.</a:t>
            </a:r>
          </a:p>
          <a:p xmlns:a="http://schemas.openxmlformats.org/drawingml/2006/main">
            <a:r>
              <a:t/>
            </a:r>
          </a:p>
          <a:p xmlns:a="http://schemas.openxmlformats.org/drawingml/2006/main">
            <a:r>
              <a:t>Say:</a:t>
            </a:r>
          </a:p>
          <a:p xmlns:a="http://schemas.openxmlformats.org/drawingml/2006/main">
            <a:r>
              <a:t>“This is not a laboratory experiment in the usual sense. It is a professional consensus process informed by surveys, laboratory protocols, expert testing, workshops and community feedback.”</a:t>
            </a:r>
          </a:p>
          <a:p xmlns:a="http://schemas.openxmlformats.org/drawingml/2006/main">
            <a:r>
              <a:t/>
            </a:r>
          </a:p>
          <a:p xmlns:a="http://schemas.openxmlformats.org/drawingml/2006/main">
            <a:r>
              <a:t>“The workgroup standardized both the final terminology and the way evidence is weighted.”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history accurately:</a:t>
            </a:r>
          </a:p>
          <a:p xmlns:a="http://schemas.openxmlformats.org/drawingml/2006/main">
            <a:r>
              <a:t>“In February 2013, surveys were sent to more than 100 sequencing laboratories in the United States and Canada. Respondents represented more than 45 laboratories. The five-term system was preferred and already used by the majority.”</a:t>
            </a:r>
          </a:p>
          <a:p xmlns:a="http://schemas.openxmlformats.org/drawingml/2006/main">
            <a:r>
              <a:t/>
            </a:r>
          </a:p>
          <a:p xmlns:a="http://schemas.openxmlformats.org/drawingml/2006/main">
            <a:r>
              <a:t>“Eleven laboratories shared their protocols. The workgroup analyzed them, created weighted criteria and combination rules, and tested the approach for several weeks.”</a:t>
            </a:r>
          </a:p>
          <a:p xmlns:a="http://schemas.openxmlformats.org/drawingml/2006/main">
            <a:r>
              <a:t/>
            </a:r>
          </a:p>
          <a:p xmlns:a="http://schemas.openxmlformats.org/drawingml/2006/main">
            <a:r>
              <a:t>“A second feedback round received responses from more than 33 laboratories. Further open forums and workshops refined the approach before approval and publication.”</a:t>
            </a:r>
          </a:p>
          <a:p xmlns:a="http://schemas.openxmlformats.org/drawingml/2006/main">
            <a:r>
              <a:t/>
            </a:r>
          </a:p>
          <a:p xmlns:a="http://schemas.openxmlformats.org/drawingml/2006/main">
            <a:r>
              <a:t>Do not say that only 33 laboratories answered the first survey; that number belongs to the later feedback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wording:</a:t>
            </a:r>
          </a:p>
          <a:p xmlns:a="http://schemas.openxmlformats.org/drawingml/2006/main">
            <a:r>
              <a:t>“A DNA change is first a variant. We should not decide its clinical effect from the word mutation or from its rarity. We describe the variant precisely, then classify it using evidence.”</a:t>
            </a:r>
          </a:p>
          <a:p xmlns:a="http://schemas.openxmlformats.org/drawingml/2006/main">
            <a:r>
              <a:t/>
            </a:r>
          </a:p>
          <a:p xmlns:a="http://schemas.openxmlformats.org/drawingml/2006/main">
            <a:r>
              <a:t>“Pathogenicity is not an absolute label floating alone. It is asserted with respect to a disease and an inheritance pattern.”</a:t>
            </a:r>
          </a:p>
          <a:p xmlns:a="http://schemas.openxmlformats.org/drawingml/2006/main">
            <a:r>
              <a:t/>
            </a:r>
          </a:p>
          <a:p xmlns:a="http://schemas.openxmlformats.org/drawingml/2006/main">
            <a:r>
              <a:t>Example to say aloud: “A loss-of-function variant may be pathogenic for one gene–disease mechanism but irrelevant for another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each category in plain language.</a:t>
            </a:r>
          </a:p>
          <a:p xmlns:a="http://schemas.openxmlformats.org/drawingml/2006/main">
            <a:r>
              <a:t/>
            </a:r>
          </a:p>
          <a:p xmlns:a="http://schemas.openxmlformats.org/drawingml/2006/main">
            <a:r>
              <a:t>Benign: sufficient evidence that it is not the cause in the specified context.</a:t>
            </a:r>
          </a:p>
          <a:p xmlns:a="http://schemas.openxmlformats.org/drawingml/2006/main">
            <a:r>
              <a:t>Likely benign: strong evidence toward benignity, but not absolute certainty.</a:t>
            </a:r>
          </a:p>
          <a:p xmlns:a="http://schemas.openxmlformats.org/drawingml/2006/main">
            <a:r>
              <a:t>VUS: evidence is insufficient or conflicting.</a:t>
            </a:r>
          </a:p>
          <a:p xmlns:a="http://schemas.openxmlformats.org/drawingml/2006/main">
            <a:r>
              <a:t>Likely pathogenic: strong evidence toward disease causation.</a:t>
            </a:r>
          </a:p>
          <a:p xmlns:a="http://schemas.openxmlformats.org/drawingml/2006/main">
            <a:r>
              <a:t>Pathogenic: sufficient evidence supporting disease causation.</a:t>
            </a:r>
          </a:p>
          <a:p xmlns:a="http://schemas.openxmlformats.org/drawingml/2006/main">
            <a:r>
              <a:t/>
            </a:r>
          </a:p>
          <a:p xmlns:a="http://schemas.openxmlformats.org/drawingml/2006/main">
            <a:r>
              <a:t>Emphasize: “These are classification categories, not five laboratory quality levels.”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workgroup proposed that ‘likely pathogenic’ and ‘likely benign’ should mean greater than 90% certainty. This was intended to reduce the wide variation in how laboratories used the word likely.”</a:t>
            </a:r>
          </a:p>
          <a:p xmlns:a="http://schemas.openxmlformats.org/drawingml/2006/main">
            <a:r>
              <a:t/>
            </a:r>
          </a:p>
          <a:p xmlns:a="http://schemas.openxmlformats.org/drawingml/2006/main">
            <a:r>
              <a:t>“Do not tell the audience that every laboratory literally calculates a 90% probability for every variant. The paper explicitly noted that most variants did not have enough quantitative data for a direct probability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answers the user’s central confusion. Say slowly:</a:t>
            </a:r>
          </a:p>
          <a:p xmlns:a="http://schemas.openxmlformats.org/drawingml/2006/main">
            <a:r>
              <a:t>“PS1 is not a sixth class. PM2 is not another tier. They are evidence criteria. We collect applicable criteria, assign their strengths, and combine them to reach one of the five final classes.”</a:t>
            </a:r>
          </a:p>
          <a:p xmlns:a="http://schemas.openxmlformats.org/drawingml/2006/main">
            <a:r>
              <a:t/>
            </a:r>
          </a:p>
          <a:p xmlns:a="http://schemas.openxmlformats.org/drawingml/2006/main">
            <a:r>
              <a:t>Analogy:</a:t>
            </a:r>
          </a:p>
          <a:p xmlns:a="http://schemas.openxmlformats.org/drawingml/2006/main">
            <a:r>
              <a:t>“Think of a court case. The final verdict is not the same thing as an individual witness. Each code describes one piece of evidence and how much weight it deserves.”</a:t>
            </a:r>
          </a:p>
          <a:p xmlns:a="http://schemas.openxmlformats.org/drawingml/2006/main">
            <a:r>
              <a:t/>
            </a:r>
          </a:p>
          <a:p xmlns:a="http://schemas.openxmlformats.org/drawingml/2006/main">
            <a:r>
              <a:t>MAHMOOD — SHOW: Pause here and ask one participant to repeat the distinction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decoder aloud once.</a:t>
            </a:r>
          </a:p>
          <a:p xmlns:a="http://schemas.openxmlformats.org/drawingml/2006/main">
            <a:r>
              <a:t/>
            </a:r>
          </a:p>
          <a:p xmlns:a="http://schemas.openxmlformats.org/drawingml/2006/main">
            <a:r>
              <a:t>Then emphasize:</a:t>
            </a:r>
          </a:p>
          <a:p xmlns:a="http://schemas.openxmlformats.org/drawingml/2006/main">
            <a:r>
              <a:t>“PS1 is not stronger than PS4. Both are Strong. The numbers are identifiers only. Likewise, PM1 and PM6 have the same default moderate strength in the original framework, although later guidance may modify strength based on evidence.”</a:t>
            </a:r>
          </a:p>
          <a:p xmlns:a="http://schemas.openxmlformats.org/drawingml/2006/main">
            <a:r>
              <a:t/>
            </a:r>
          </a:p>
          <a:p xmlns:a="http://schemas.openxmlformats.org/drawingml/2006/main">
            <a:r>
              <a:t>A useful memory aid:</a:t>
            </a:r>
          </a:p>
          <a:p xmlns:a="http://schemas.openxmlformats.org/drawingml/2006/main">
            <a:r>
              <a:t>P = pathogenic direction; B = benign direction.</a:t>
            </a:r>
          </a:p>
          <a:p xmlns:a="http://schemas.openxmlformats.org/drawingml/2006/main">
            <a:r>
              <a:t>VS/S/M/P describe strength for pathogenic evidence.</a:t>
            </a:r>
          </a:p>
          <a:p xmlns:a="http://schemas.openxmlformats.org/drawingml/2006/main">
            <a:r>
              <a:t>A/S/P describe strength for benign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strong classification normally comes from converging evidence, not from repeatedly measuring the same idea.”</a:t>
            </a:r>
          </a:p>
          <a:p xmlns:a="http://schemas.openxmlformats.org/drawingml/2006/main">
            <a:r>
              <a:t/>
            </a:r>
          </a:p>
          <a:p xmlns:a="http://schemas.openxmlformats.org/drawingml/2006/main">
            <a:r>
              <a:t>Explain double counting:</a:t>
            </a:r>
          </a:p>
          <a:p xmlns:a="http://schemas.openxmlformats.org/drawingml/2006/main">
            <a:r>
              <a:t>“Several computational predictors may all use evolutionary conservation. We do not count each tool as independent evidence. The 2015 guideline allows PP3 only once.”</a:t>
            </a:r>
          </a:p>
          <a:p xmlns:a="http://schemas.openxmlformats.org/drawingml/2006/main">
            <a:r>
              <a:t/>
            </a:r>
          </a:p>
          <a:p xmlns:a="http://schemas.openxmlformats.org/drawingml/2006/main">
            <a:r>
              <a:t>Tell participants that the next slides group the codes by strength for memory, while this slide groups evidence by scientific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“PVS1 does not mean every stop-gain variant is pathogenic. First ask: is loss of function an established disease mechanism for this gene and disease? Is the transcript clinically relevant? Is the variant near the 3′ end? Could it escape nonsense-mediated decay? Does the exon matter?”</a:t>
            </a:r>
          </a:p>
          <a:p xmlns:a="http://schemas.openxmlformats.org/drawingml/2006/main">
            <a:r>
              <a:t/>
            </a:r>
          </a:p>
          <a:p xmlns:a="http://schemas.openxmlformats.org/drawingml/2006/main">
            <a:r>
              <a:t>Use the contrast from the paper:</a:t>
            </a:r>
          </a:p>
          <a:p xmlns:a="http://schemas.openxmlformats.org/drawingml/2006/main">
            <a:r>
              <a:t>“A truncating variant cannot be interpreted without knowing the gene’s disease mechanism. Some diseases are caused primarily by missense gain-of-function or dominant-negative effects.”</a:t>
            </a:r>
          </a:p>
          <a:p xmlns:a="http://schemas.openxmlformats.org/drawingml/2006/main">
            <a:r>
              <a:t/>
            </a:r>
          </a:p>
          <a:p xmlns:a="http://schemas.openxmlformats.org/drawingml/2006/main">
            <a:r>
              <a:t>MAHMOOD — SHOW: Point to the red caution box after listing variant types.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in one sentence, then give the key caution.</a:t>
            </a:r>
          </a:p>
          <a:p xmlns:a="http://schemas.openxmlformats.org/drawingml/2006/main">
            <a:r>
              <a:t/>
            </a:r>
          </a:p>
          <a:p xmlns:a="http://schemas.openxmlformats.org/drawingml/2006/main">
            <a:r>
              <a:t>PS1: same protein change, but verify the DNA change does not alter splicing differently.</a:t>
            </a:r>
          </a:p>
          <a:p xmlns:a="http://schemas.openxmlformats.org/drawingml/2006/main">
            <a:r>
              <a:t>PS2: confirmed biological parents and a phenotype consistent with the gene.</a:t>
            </a:r>
          </a:p>
          <a:p xmlns:a="http://schemas.openxmlformats.org/drawingml/2006/main">
            <a:r>
              <a:t>PS3: not every published experiment is “well established.”</a:t>
            </a:r>
          </a:p>
          <a:p xmlns:a="http://schemas.openxmlformats.org/drawingml/2006/main">
            <a:r>
              <a:t>PS4: affected enrichment requires appropriate comparison and statistical or strong case evidence.</a:t>
            </a:r>
          </a:p>
          <a:p xmlns:a="http://schemas.openxmlformats.org/drawingml/2006/main">
            <a:r>
              <a:t/>
            </a:r>
          </a:p>
          <a:p xmlns:a="http://schemas.openxmlformats.org/drawingml/2006/main">
            <a:r>
              <a:t>Tell the audience: “Strong evidence is not synonymous with famous database entry. It describes the quality and relevance of the underlying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codes with short examples.</a:t>
            </a:r>
          </a:p>
          <a:p xmlns:a="http://schemas.openxmlformats.org/drawingml/2006/main">
            <a:r>
              <a:t/>
            </a:r>
          </a:p>
          <a:p xmlns:a="http://schemas.openxmlformats.org/drawingml/2006/main">
            <a:r>
              <a:t>Spend extra time on PM2:</a:t>
            </a:r>
          </a:p>
          <a:p xmlns:a="http://schemas.openxmlformats.org/drawingml/2006/main">
            <a:r>
              <a:t>“Absence from gnomAD or another population database does not prove pathogenicity. Many benign variants are private. Population ancestry, coverage, disease prevalence, penetrance and inheritance all matter.”</a:t>
            </a:r>
          </a:p>
          <a:p xmlns:a="http://schemas.openxmlformats.org/drawingml/2006/main">
            <a:r>
              <a:t/>
            </a:r>
          </a:p>
          <a:p xmlns:a="http://schemas.openxmlformats.org/drawingml/2006/main">
            <a:r>
              <a:t>Modern practice note:</a:t>
            </a:r>
          </a:p>
          <a:p xmlns:a="http://schemas.openxmlformats.org/drawingml/2006/main">
            <a:r>
              <a:t>“ClinGen guidance commonly uses PM2 at supporting strength. Today we must consult the current ClinGen guidance or a disease-specific specification rather than applying the 2015 table mechanically.”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“Supporting does not mean unimportant. It means the evidence has a smaller default weight.”</a:t>
            </a:r>
          </a:p>
          <a:p xmlns:a="http://schemas.openxmlformats.org/drawingml/2006/main">
            <a:r>
              <a:t/>
            </a:r>
          </a:p>
          <a:p xmlns:a="http://schemas.openxmlformats.org/drawingml/2006/main">
            <a:r>
              <a:t>PP3: multiple algorithms do not become multiple criteria; use calibrated tools and avoid correlated double counting.</a:t>
            </a:r>
          </a:p>
          <a:p xmlns:a="http://schemas.openxmlformats.org/drawingml/2006/main">
            <a:r>
              <a:t>PP4: a common nonspecific phenotype such as developmental delay usually does not satisfy a highly specific phenotype criterion.</a:t>
            </a:r>
          </a:p>
          <a:p xmlns:a="http://schemas.openxmlformats.org/drawingml/2006/main">
            <a:r>
              <a:t>PP5: current ClinGen guidance recommends not using PP5 because a classification without visible evidence should not be counted as evidence itself. Evaluate the underlying data whenever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“BA1 can be sufficient by itself when a variant is far too common to cause the rare Mendelian disorder under consideration. But the original 5% threshold is not a universal modern shortcut; there are exceptions and disease-specific thresholds.”</a:t>
            </a:r>
          </a:p>
          <a:p xmlns:a="http://schemas.openxmlformats.org/drawingml/2006/main">
            <a:r>
              <a:t/>
            </a:r>
          </a:p>
          <a:p xmlns:a="http://schemas.openxmlformats.org/drawingml/2006/main">
            <a:r>
              <a:t>For BS2 and BS4, discuss penetrance, age of onset and phenocopies.</a:t>
            </a:r>
          </a:p>
          <a:p xmlns:a="http://schemas.openxmlformats.org/drawingml/2006/main">
            <a:r>
              <a:t>For BS3, the same assay-quality principles used for PS3 apply in the benign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these are supporting arguments, not automatic dismissal rules.</a:t>
            </a:r>
          </a:p>
          <a:p xmlns:a="http://schemas.openxmlformats.org/drawingml/2006/main">
            <a:r>
              <a:t/>
            </a:r>
          </a:p>
          <a:p xmlns:a="http://schemas.openxmlformats.org/drawingml/2006/main">
            <a:r>
              <a:t>BP5 caution: dual diagnoses can occur, especially in exome/genome testing.</a:t>
            </a:r>
          </a:p>
          <a:p xmlns:a="http://schemas.openxmlformats.org/drawingml/2006/main">
            <a:r>
              <a:t>BP7 caution: synonymous variants can affect splicing; modern splice prediction guidance is more sophisticated than a simple “silent equals benign” assumption.</a:t>
            </a:r>
          </a:p>
          <a:p xmlns:a="http://schemas.openxmlformats.org/drawingml/2006/main">
            <a:r>
              <a:t>BP6: like PP5, it is no longer recommended when the evidence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workgroup did not merely list criteria. It provided rules for combining them.”</a:t>
            </a:r>
          </a:p>
          <a:p xmlns:a="http://schemas.openxmlformats.org/drawingml/2006/main">
            <a:r>
              <a:t/>
            </a:r>
          </a:p>
          <a:p xmlns:a="http://schemas.openxmlformats.org/drawingml/2006/main">
            <a:r>
              <a:t>Tell the audience that this slide shows memorable examples, not every combination.</a:t>
            </a:r>
          </a:p>
          <a:p xmlns:a="http://schemas.openxmlformats.org/drawingml/2006/main">
            <a:r>
              <a:t/>
            </a:r>
          </a:p>
          <a:p xmlns:a="http://schemas.openxmlformats.org/drawingml/2006/main">
            <a:r>
              <a:t>MAHMOOD — SHOW: Open Table 5 from the paper after explaining this simplified slide. Let them see the full combinations, but do not ask beginners to memorize all of them. The learning goal is to understand that stronger and multiple independent evidence produces a stronger final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VUS is not halfway pathogenic. It can result because evidence is weak, missing or contradictory.”</a:t>
            </a:r>
          </a:p>
          <a:p xmlns:a="http://schemas.openxmlformats.org/drawingml/2006/main">
            <a:r>
              <a:t/>
            </a:r>
          </a:p>
          <a:p xmlns:a="http://schemas.openxmlformats.org/drawingml/2006/main">
            <a:r>
              <a:t>“Never ignore benign evidence because the variant looks interesting. The framework explicitly requires us to consider both directions.”</a:t>
            </a:r>
          </a:p>
          <a:p xmlns:a="http://schemas.openxmlformats.org/drawingml/2006/main">
            <a:r>
              <a:t/>
            </a:r>
          </a:p>
          <a:p xmlns:a="http://schemas.openxmlformats.org/drawingml/2006/main">
            <a:r>
              <a:t>Ask the audience: “If PP3 says damaging but population frequency is far too high for the disease, which evidence deserves more weight?” Use the discussion to reinforce that calibrated population evidence can outweigh a computational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participants this is a hypothetical teaching case, not a clinical assertion.</a:t>
            </a:r>
          </a:p>
          <a:p xmlns:a="http://schemas.openxmlformats.org/drawingml/2006/main">
            <a:r>
              <a:t/>
            </a:r>
          </a:p>
          <a:p xmlns:a="http://schemas.openxmlformats.org/drawingml/2006/main">
            <a:r>
              <a:t>Reason aloud:</a:t>
            </a:r>
          </a:p>
          <a:p xmlns:a="http://schemas.openxmlformats.org/drawingml/2006/main">
            <a:r>
              <a:t>“PVS1 applies only because loss of function is an established mechanism and the transcript/exon context is appropriate. Population rarity adds PM2 at supporting strength under current ClinGen practice. The phenotype is compatible, but we do not claim PP4 because it is not highly specific.”</a:t>
            </a:r>
          </a:p>
          <a:p xmlns:a="http://schemas.openxmlformats.org/drawingml/2006/main">
            <a:r>
              <a:t/>
            </a:r>
          </a:p>
          <a:p xmlns:a="http://schemas.openxmlformats.org/drawingml/2006/main">
            <a:r>
              <a:t>“In the ClinGen-endorsed Bayesian point framework, full-strength PVS1 contributes 8 points and PM2_supporting contributes 1 point. A total of 9 illustrates the likely pathogenic range. This depends on the evidence genuinely meeting those strengths.”</a:t>
            </a:r>
          </a:p>
          <a:p xmlns:a="http://schemas.openxmlformats.org/drawingml/2006/main">
            <a:r>
              <a:t/>
            </a:r>
          </a:p>
          <a:p xmlns:a="http://schemas.openxmlformats.org/drawingml/2006/main">
            <a:r>
              <a:t>“Then we apply the current framework, gene-specific specifications and professional judgment. We document both the criteria and the evidence supporting each criterion.”</a:t>
            </a:r>
          </a:p>
          <a:p xmlns:a="http://schemas.openxmlformats.org/drawingml/2006/main">
            <a:r>
              <a:t/>
            </a:r>
          </a:p>
          <a:p xmlns:a="http://schemas.openxmlformats.org/drawingml/2006/main">
            <a:r>
              <a:t>Ask: “What additional evidence would strengthen this case?” Expected answers: segregation, phase, functional data, additional affected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sentence from the guideline in plain language:</a:t>
            </a:r>
          </a:p>
          <a:p xmlns:a="http://schemas.openxmlformats.org/drawingml/2006/main">
            <a:r>
              <a:t>“A variant of uncertain significance should not be used by itself in clinical decision-making.”</a:t>
            </a:r>
          </a:p>
          <a:p xmlns:a="http://schemas.openxmlformats.org/drawingml/2006/main">
            <a:r>
              <a:t/>
            </a:r>
          </a:p>
          <a:p xmlns:a="http://schemas.openxmlformats.org/drawingml/2006/main">
            <a:r>
              <a:t>Explain that follow-up may include segregation, parental testing, phenotype refinement, functional work or later reanalysis.</a:t>
            </a:r>
          </a:p>
          <a:p xmlns:a="http://schemas.openxmlformats.org/drawingml/2006/main">
            <a:r>
              <a:t/>
            </a:r>
          </a:p>
          <a:p xmlns:a="http://schemas.openxmlformats.org/drawingml/2006/main">
            <a:r>
              <a:t>“A VUS is not a failure. It is an honest statement about the current evidence.”</a:t>
            </a:r>
          </a:p>
          <a:p xmlns:a="http://schemas.openxmlformats.org/drawingml/2006/main">
            <a:r>
              <a:t/>
            </a:r>
          </a:p>
          <a:p xmlns:a="http://schemas.openxmlformats.org/drawingml/2006/main">
            <a:r>
              <a:t>Do not imply that every VUS will eventually become pathogenic; many are reclassified toward benignity as population and other evidence improves.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an interactive slide. Read the bold statement and ask “true or false?” before revealing the explanation verbally.</a:t>
            </a:r>
          </a:p>
          <a:p xmlns:a="http://schemas.openxmlformats.org/drawingml/2006/main">
            <a:r>
              <a:t/>
            </a:r>
          </a:p>
          <a:p xmlns:a="http://schemas.openxmlformats.org/drawingml/2006/main">
            <a:r>
              <a:t>Key message:</a:t>
            </a:r>
          </a:p>
          <a:p xmlns:a="http://schemas.openxmlformats.org/drawingml/2006/main">
            <a:r>
              <a:t>“The framework is structured, but it is not a checkbox game. Every applied criterion requires a documented rationale, and evidence should not be counted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 approach is not to discard the 2015 paper. It remains the foundation. But we must not freeze practice in 2015.”</a:t>
            </a:r>
          </a:p>
          <a:p xmlns:a="http://schemas.openxmlformats.org/drawingml/2006/main">
            <a:r>
              <a:t/>
            </a:r>
          </a:p>
          <a:p xmlns:a="http://schemas.openxmlformats.org/drawingml/2006/main">
            <a:r>
              <a:t>“ClinGen now aggregates current guidance. Variant Curation Expert Panels develop gene- and disease-specific criteria. Evidence strengths may be modified when justified. PP5 and BP6 are avoided; PM2 is commonly supporting; Bayesian point approaches help formalize combinations.”</a:t>
            </a:r>
          </a:p>
          <a:p xmlns:a="http://schemas.openxmlformats.org/drawingml/2006/main">
            <a:r>
              <a:t/>
            </a:r>
          </a:p>
          <a:p xmlns:a="http://schemas.openxmlformats.org/drawingml/2006/main">
            <a:r>
              <a:t>MAHMOOD — SHOW: Open the ClinGen Variant Classification Guidance page and show the list of criteria-specific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prevents a major conceptual error: applying the germline five-class framework directly to every tumor finding.”</a:t>
            </a:r>
          </a:p>
          <a:p xmlns:a="http://schemas.openxmlformats.org/drawingml/2006/main">
            <a:r>
              <a:t/>
            </a:r>
          </a:p>
          <a:p xmlns:a="http://schemas.openxmlformats.org/drawingml/2006/main">
            <a:r>
              <a:t>“In cancer, oncogenicity and clinical significance are related but not identical. A variant may be oncogenic without a current therapy. A therapy may be relevant only in a specific tumor type.”</a:t>
            </a:r>
          </a:p>
          <a:p xmlns:a="http://schemas.openxmlformats.org/drawingml/2006/main">
            <a:r>
              <a:t/>
            </a:r>
          </a:p>
          <a:p xmlns:a="http://schemas.openxmlformats.org/drawingml/2006/main">
            <a:r>
              <a:t>“Tumor-only sequencing can also detect potential germline variants; paired normal testing or appropriate follow-up may be necessary.”</a:t>
            </a:r>
          </a:p>
          <a:p xmlns:a="http://schemas.openxmlformats.org/drawingml/2006/main">
            <a:r>
              <a:t/>
            </a:r>
          </a:p>
          <a:p xmlns:a="http://schemas.openxmlformats.org/drawingml/2006/main">
            <a:r>
              <a:t>Keep this slide introductory. The detailed somatic framework belongs in a separate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a:t>
            </a:r>
          </a:p>
          <a:p xmlns:a="http://schemas.openxmlformats.org/drawingml/2006/main">
            <a:r>
              <a:t>“A reproducible conversation with the computer”</a:t>
            </a:r>
          </a:p>
          <a:p xmlns:a="http://schemas.openxmlformats.org/drawingml/2006/main">
            <a:r>
              <a:t/>
            </a:r>
          </a:p>
          <a:p xmlns:a="http://schemas.openxmlformats.org/drawingml/2006/main">
            <a:r>
              <a:t>Pause briefly. Tell the audience that the next section answers one question only: How do we tell the computer exactly what to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line is a text interface. We type an instruction, the shell interprets it, a program runs, and the computer returns output or an error.”</a:t>
            </a:r>
          </a:p>
          <a:p xmlns:a="http://schemas.openxmlformats.org/drawingml/2006/main">
            <a:r>
              <a:t/>
            </a:r>
          </a:p>
          <a:p xmlns:a="http://schemas.openxmlformats.org/drawingml/2006/main">
            <a:r>
              <a:t>“Unlike clicking through many windows, the command itself can be copied, documented, repeated and placed into a script.”</a:t>
            </a:r>
          </a:p>
          <a:p xmlns:a="http://schemas.openxmlformats.org/drawingml/2006/main">
            <a:r>
              <a:t/>
            </a:r>
          </a:p>
          <a:p xmlns:a="http://schemas.openxmlformats.org/drawingml/2006/main">
            <a:r>
              <a:t>MAHMOOD — SHOW: Open Terminal now. Type pwd and press Enter. Then return to the slide and identify the prompt, command and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not use the command line because graphical interfaces are bad. IGV, Franklin, ClinVar and many laboratory platforms are graphical and extremely useful.”</a:t>
            </a:r>
          </a:p>
          <a:p xmlns:a="http://schemas.openxmlformats.org/drawingml/2006/main">
            <a:r>
              <a:t/>
            </a:r>
          </a:p>
          <a:p xmlns:a="http://schemas.openxmlformats.org/drawingml/2006/main">
            <a:r>
              <a:t>“We use the command line when we need to repeat the same operations, preserve exact parameters, process many samples, work remotely or combine tools.”</a:t>
            </a:r>
          </a:p>
          <a:p xmlns:a="http://schemas.openxmlformats.org/drawingml/2006/main">
            <a:r>
              <a:t/>
            </a:r>
          </a:p>
          <a:p xmlns:a="http://schemas.openxmlformats.org/drawingml/2006/main">
            <a:r>
              <a:t>Use the clicking example: “If one analysis needs 500 clicks, ten samples need 5,000 opportunities for inconsistency. A script can apply the same documented logic to all ten.”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command from left to right.</a:t>
            </a:r>
          </a:p>
          <a:p xmlns:a="http://schemas.openxmlformats.org/drawingml/2006/main">
            <a:r>
              <a:t/>
            </a:r>
          </a:p>
          <a:p xmlns:a="http://schemas.openxmlformats.org/drawingml/2006/main">
            <a:r>
              <a:t>“bcftools is the program. view is the subcommand. -i introduces an inclusion expression. The quoted expression defines the rule. sample.vcf.gz is the input.”</a:t>
            </a:r>
          </a:p>
          <a:p xmlns:a="http://schemas.openxmlformats.org/drawingml/2006/main">
            <a:r>
              <a:t/>
            </a:r>
          </a:p>
          <a:p xmlns:a="http://schemas.openxmlformats.org/drawingml/2006/main">
            <a:r>
              <a:t>Clarify that QUAL and DP are technical fields, and thresholds are illustrative. They should not be presented as universal clinical filters.</a:t>
            </a:r>
          </a:p>
          <a:p xmlns:a="http://schemas.openxmlformats.org/drawingml/2006/main">
            <a:r>
              <a:t/>
            </a:r>
          </a:p>
          <a:p xmlns:a="http://schemas.openxmlformats.org/drawingml/2006/main">
            <a:r>
              <a:t>MAHMOOD — SHOW: Do not run this command yet unless the prepared VCF contains these fields. First teach the grammar.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MAHMOOD — SHOW: Run each command in a prepared workshop folder. After every command, ask the audience what changed.</a:t>
            </a:r>
          </a:p>
          <a:p xmlns:a="http://schemas.openxmlformats.org/drawingml/2006/main">
            <a:r>
              <a:t/>
            </a:r>
          </a:p>
          <a:p xmlns:a="http://schemas.openxmlformats.org/drawingml/2006/main">
            <a:r>
              <a:t>For wc -l, explain that dividing by four works for standard unwrapped FASTQ records, but compressed FASTQ requires decompression-aware commands such as zcat or gzip -cd. Keep the first demonstration simple.</a:t>
            </a:r>
          </a:p>
          <a:p xmlns:a="http://schemas.openxmlformats.org/drawingml/2006/main">
            <a:r>
              <a:t/>
            </a:r>
          </a:p>
          <a:p xmlns:a="http://schemas.openxmlformats.org/drawingml/2006/main">
            <a:r>
              <a:t>For grep, explain that ^ means “beginning of the line.” This is only an introduction to 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Live-demo script:</a:t>
            </a:r>
          </a:p>
          <a:p xmlns:a="http://schemas.openxmlformats.org/drawingml/2006/main">
            <a:r>
              <a:t>1. “First, I need to know where I am.” Run pwd.</a:t>
            </a:r>
          </a:p>
          <a:p xmlns:a="http://schemas.openxmlformats.org/drawingml/2006/main">
            <a:r>
              <a:t>2. “Now I need to see what is available.” Run ls -lh.</a:t>
            </a:r>
          </a:p>
          <a:p xmlns:a="http://schemas.openxmlformats.org/drawingml/2006/main">
            <a:r>
              <a:t>3. Inspect the first FASTQ record.</a:t>
            </a:r>
          </a:p>
          <a:p xmlns:a="http://schemas.openxmlformats.org/drawingml/2006/main">
            <a:r>
              <a:t>4. Show prepared BAM and VCF checkpoints so participants see the file progression.</a:t>
            </a:r>
          </a:p>
          <a:p xmlns:a="http://schemas.openxmlformats.org/drawingml/2006/main">
            <a:r>
              <a:t>5. Show the VCF header and one record.</a:t>
            </a:r>
          </a:p>
          <a:p xmlns:a="http://schemas.openxmlformats.org/drawingml/2006/main">
            <a:r>
              <a:t>6. Apply one simple technical filter and compare record counts.</a:t>
            </a:r>
          </a:p>
          <a:p xmlns:a="http://schemas.openxmlformats.org/drawingml/2006/main">
            <a:r>
              <a:t>7. Finish: “This filter narrows calls. It does not classify pathogenicity.”</a:t>
            </a:r>
          </a:p>
          <a:p xmlns:a="http://schemas.openxmlformats.org/drawingml/2006/main">
            <a:r>
              <a:t/>
            </a:r>
          </a:p>
          <a:p xmlns:a="http://schemas.openxmlformats.org/drawingml/2006/main">
            <a:r>
              <a:t>Have every intermediate file prepared in advance. A full WES run is inappropriate for this short live segment.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opening problem.</a:t>
            </a:r>
          </a:p>
          <a:p xmlns:a="http://schemas.openxmlformats.org/drawingml/2006/main">
            <a:r>
              <a:t/>
            </a:r>
          </a:p>
          <a:p xmlns:a="http://schemas.openxmlformats.org/drawingml/2006/main">
            <a:r>
              <a:t>“The sequencer generates observations. Bioinformatics processes and prioritizes them. ACMG/AMP structures germline evidence. Qualified professionals integrate the result with phenotype, inheritance and test limitations. The command line makes the computational part reproducible.”</a:t>
            </a:r>
          </a:p>
          <a:p xmlns:a="http://schemas.openxmlformats.org/drawingml/2006/main">
            <a:r>
              <a:t/>
            </a:r>
          </a:p>
          <a:p xmlns:a="http://schemas.openxmlformats.org/drawingml/2006/main">
            <a:r>
              <a:t>Ask the final question:</a:t>
            </a:r>
          </a:p>
          <a:p xmlns:a="http://schemas.openxmlformats.org/drawingml/2006/main">
            <a:r>
              <a:t>“At which point does a variant become a diagnosis?”</a:t>
            </a:r>
          </a:p>
          <a:p xmlns:a="http://schemas.openxmlformats.org/drawingml/2006/main">
            <a:r>
              <a:t/>
            </a:r>
          </a:p>
          <a:p xmlns:a="http://schemas.openxmlformats.org/drawingml/2006/main">
            <a:r>
              <a:t>Expected discussion: a variant alone does not become a diagnosis automatically; diagnosis requires valid testing, interpretation and clinical correlation.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 bold opening words of each message rather than repeating the full lecture.</a:t>
            </a:r>
          </a:p>
          <a:p xmlns:a="http://schemas.openxmlformats.org/drawingml/2006/main">
            <a:r>
              <a:t/>
            </a:r>
          </a:p>
          <a:p xmlns:a="http://schemas.openxmlformats.org/drawingml/2006/main">
            <a:r>
              <a:t>Invite participants to choose one idea they could explain to a colleague tomorrow. This is an effective exit ticket and shows whether the central distinctions were understood.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participants that the 2015 paper should be read together with current ClinGen guidance. Encourage them to preserve the exact evidence and rationale used for every classification rather than recording only the final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script:</a:t>
            </a:r>
          </a:p>
          <a:p xmlns:a="http://schemas.openxmlformats.org/drawingml/2006/main">
            <a:r>
              <a:t>“Variant interpretation is not only about assigning a label. It is about making the reasoning transparent. A strong report should allow another qualified professional to see which evidence was used, how strongly it was weighted, and what new evidence could change the conclusion.”</a:t>
            </a:r>
          </a:p>
          <a:p xmlns:a="http://schemas.openxmlformats.org/drawingml/2006/main">
            <a:r>
              <a:t/>
            </a:r>
          </a:p>
          <a:p xmlns:a="http://schemas.openxmlformats.org/drawingml/2006/main">
            <a:r>
              <a:t>Invite questions. If no one begins, ask:</a:t>
            </a:r>
          </a:p>
          <a:p xmlns:a="http://schemas.openxmlformats.org/drawingml/2006/main">
            <a:r>
              <a:t>“Which code still feels least clear: PVS1, PM2, PP3, or one of the benign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cd54fd91b344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c5e21c137e4074" /><Relationship Type="http://schemas.openxmlformats.org/officeDocument/2006/relationships/slideLayout" Target="/ppt/slideLayouts/slideLayout1.xml" Id="R14206b09cad941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206b09cad941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5fed867599474a" /><Relationship Type="http://schemas.openxmlformats.org/officeDocument/2006/relationships/notesSlide" Target="/ppt/notesSlides/notesSlide1.xml" Id="Rb5e839d5bfcd49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021f0840b248bd" /><Relationship Type="http://schemas.openxmlformats.org/officeDocument/2006/relationships/notesSlide" Target="/ppt/notesSlides/notesSlide2.xml" Id="R6bc1cad2ca4946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081c5a2dae43aa" /><Relationship Type="http://schemas.openxmlformats.org/officeDocument/2006/relationships/notesSlide" Target="/ppt/notesSlides/notesSlide3.xml" Id="Rc353d016009f4a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007a19019a4f51" /><Relationship Type="http://schemas.openxmlformats.org/officeDocument/2006/relationships/notesSlide" Target="/ppt/notesSlides/notesSlide4.xml" Id="Re16c320bd71d45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055b5133e34436" /><Relationship Type="http://schemas.openxmlformats.org/officeDocument/2006/relationships/notesSlide" Target="/ppt/notesSlides/notesSlide5.xml" Id="R6b1432cc4fd847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a2c635914b44c2f" /><Relationship Type="http://schemas.openxmlformats.org/officeDocument/2006/relationships/notesSlide" Target="/ppt/notesSlides/notesSlide6.xml" Id="R6334e0ed14ab4c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54beb89fcc457a" /><Relationship Type="http://schemas.openxmlformats.org/officeDocument/2006/relationships/notesSlide" Target="/ppt/notesSlides/notesSlide7.xml" Id="Rdfaa3d6431d646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b47f801d4d4c78" /><Relationship Type="http://schemas.openxmlformats.org/officeDocument/2006/relationships/notesSlide" Target="/ppt/notesSlides/notesSlide8.xml" Id="R324581e9522a4e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9ff28e08e14318" /><Relationship Type="http://schemas.openxmlformats.org/officeDocument/2006/relationships/notesSlide" Target="/ppt/notesSlides/notesSlide9.xml" Id="Rd1c49e2e5aeb49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77abf99d204a75" /><Relationship Type="http://schemas.openxmlformats.org/officeDocument/2006/relationships/notesSlide" Target="/ppt/notesSlides/notesSlide10.xml" Id="Re2b05c2b254240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e95790e47d41a7" /><Relationship Type="http://schemas.openxmlformats.org/officeDocument/2006/relationships/notesSlide" Target="/ppt/notesSlides/notesSlide11.xml" Id="Rd0570022720e42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2c6cbacd4c49b2" /><Relationship Type="http://schemas.openxmlformats.org/officeDocument/2006/relationships/notesSlide" Target="/ppt/notesSlides/notesSlide12.xml" Id="R84319097918340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69e5e58eac4876" /><Relationship Type="http://schemas.openxmlformats.org/officeDocument/2006/relationships/notesSlide" Target="/ppt/notesSlides/notesSlide13.xml" Id="R205023201ce44e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5d88d239d54164" /><Relationship Type="http://schemas.openxmlformats.org/officeDocument/2006/relationships/notesSlide" Target="/ppt/notesSlides/notesSlide14.xml" Id="R950d5c7aff5240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20d6036e6724a9e" /><Relationship Type="http://schemas.openxmlformats.org/officeDocument/2006/relationships/notesSlide" Target="/ppt/notesSlides/notesSlide15.xml" Id="R5245836ae84e45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d56620872840ec" /><Relationship Type="http://schemas.openxmlformats.org/officeDocument/2006/relationships/notesSlide" Target="/ppt/notesSlides/notesSlide16.xml" Id="Rd3a24df2d81243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d3023de6d3444b" /><Relationship Type="http://schemas.openxmlformats.org/officeDocument/2006/relationships/notesSlide" Target="/ppt/notesSlides/notesSlide17.xml" Id="R053bc007145740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fd17554ae0b4c9a" /><Relationship Type="http://schemas.openxmlformats.org/officeDocument/2006/relationships/notesSlide" Target="/ppt/notesSlides/notesSlide18.xml" Id="Rf72ffba8f6444b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e2c9f7551e441c" /><Relationship Type="http://schemas.openxmlformats.org/officeDocument/2006/relationships/notesSlide" Target="/ppt/notesSlides/notesSlide19.xml" Id="R82246cdfcd0a419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09aca0516e84a3e" /><Relationship Type="http://schemas.openxmlformats.org/officeDocument/2006/relationships/notesSlide" Target="/ppt/notesSlides/notesSlide20.xml" Id="R54bb6efe6ba24c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1cf727419c64b94" /><Relationship Type="http://schemas.openxmlformats.org/officeDocument/2006/relationships/notesSlide" Target="/ppt/notesSlides/notesSlide21.xml" Id="R54775d49d666464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612250c64664879" /><Relationship Type="http://schemas.openxmlformats.org/officeDocument/2006/relationships/notesSlide" Target="/ppt/notesSlides/notesSlide22.xml" Id="R8c7faee3f3d94b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f86059bffb14daf" /><Relationship Type="http://schemas.openxmlformats.org/officeDocument/2006/relationships/notesSlide" Target="/ppt/notesSlides/notesSlide23.xml" Id="Rf40240cbe097442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6c00307b50e42e3" /><Relationship Type="http://schemas.openxmlformats.org/officeDocument/2006/relationships/notesSlide" Target="/ppt/notesSlides/notesSlide24.xml" Id="R89858ac7318d41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fcdd442dd9c4192" /><Relationship Type="http://schemas.openxmlformats.org/officeDocument/2006/relationships/notesSlide" Target="/ppt/notesSlides/notesSlide25.xml" Id="Rd208e176013b43f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f2494af7d4247df" /><Relationship Type="http://schemas.openxmlformats.org/officeDocument/2006/relationships/notesSlide" Target="/ppt/notesSlides/notesSlide26.xml" Id="R7798b52ed4fa492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9ca4e627d9c4968" /><Relationship Type="http://schemas.openxmlformats.org/officeDocument/2006/relationships/notesSlide" Target="/ppt/notesSlides/notesSlide27.xml" Id="Ra63f1db75213420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763229960d643b8" /><Relationship Type="http://schemas.openxmlformats.org/officeDocument/2006/relationships/notesSlide" Target="/ppt/notesSlides/notesSlide28.xml" Id="R8f0f7ce8a8324ec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63013a5e2704a32" /><Relationship Type="http://schemas.openxmlformats.org/officeDocument/2006/relationships/notesSlide" Target="/ppt/notesSlides/notesSlide29.xml" Id="R128240f1ba8143d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f127842c4334528" /><Relationship Type="http://schemas.openxmlformats.org/officeDocument/2006/relationships/notesSlide" Target="/ppt/notesSlides/notesSlide30.xml" Id="R92d3f15de91349e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375c704754d4950" /><Relationship Type="http://schemas.openxmlformats.org/officeDocument/2006/relationships/notesSlide" Target="/ppt/notesSlides/notesSlide31.xml" Id="R0171bbb6f62c4ea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fc57e3b5b4a4891" /><Relationship Type="http://schemas.openxmlformats.org/officeDocument/2006/relationships/notesSlide" Target="/ppt/notesSlides/notesSlide32.xml" Id="Rbf2efe6af6e443b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004b3d192e5442a" /><Relationship Type="http://schemas.openxmlformats.org/officeDocument/2006/relationships/notesSlide" Target="/ppt/notesSlides/notesSlide33.xml" Id="Ra24024c97dda4b6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ebc85f658a14469" /><Relationship Type="http://schemas.openxmlformats.org/officeDocument/2006/relationships/notesSlide" Target="/ppt/notesSlides/notesSlide34.xml" Id="Rba73c6800acb4fa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b65bff89e054d54" /><Relationship Type="http://schemas.openxmlformats.org/officeDocument/2006/relationships/notesSlide" Target="/ppt/notesSlides/notesSlide35.xml" Id="Rd4e6f044afaa40e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972c8dce5d649b6" /><Relationship Type="http://schemas.openxmlformats.org/officeDocument/2006/relationships/notesSlide" Target="/ppt/notesSlides/notesSlide36.xml" Id="Rdf210fc764334b7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b5f985fbeed47ad" /><Relationship Type="http://schemas.openxmlformats.org/officeDocument/2006/relationships/notesSlide" Target="/ppt/notesSlides/notesSlide37.xml" Id="R2c45f45cb1d343e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f90c4f619e64737" /><Relationship Type="http://schemas.openxmlformats.org/officeDocument/2006/relationships/notesSlide" Target="/ppt/notesSlides/notesSlide38.xml" Id="Rbf7a163d083747b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656e5a5536c4a2d" /><Relationship Type="http://schemas.openxmlformats.org/officeDocument/2006/relationships/notesSlide" Target="/ppt/notesSlides/notesSlide39.xml" Id="R5c3d36f04b51453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38986ed309e40dd" /><Relationship Type="http://schemas.openxmlformats.org/officeDocument/2006/relationships/notesSlide" Target="/ppt/notesSlides/notesSlide40.xml" Id="R031afc0af9024f2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17728c9f93e42a0" /><Relationship Type="http://schemas.openxmlformats.org/officeDocument/2006/relationships/notesSlide" Target="/ppt/notesSlides/notesSlide41.xml" Id="R8edeb1c7523a4bd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12a4cdb1a8a4219" /><Relationship Type="http://schemas.openxmlformats.org/officeDocument/2006/relationships/notesSlide" Target="/ppt/notesSlides/notesSlide42.xml" Id="R423425ddfae743c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35da5718f9e474c" /><Relationship Type="http://schemas.openxmlformats.org/officeDocument/2006/relationships/notesSlide" Target="/ppt/notesSlides/notesSlide43.xml" Id="R4a74f12f62df477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68e984016294237" /><Relationship Type="http://schemas.openxmlformats.org/officeDocument/2006/relationships/notesSlide" Target="/ppt/notesSlides/notesSlide44.xml" Id="R636efb2233ff4a6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d2a2ba3f0dd4761" /><Relationship Type="http://schemas.openxmlformats.org/officeDocument/2006/relationships/notesSlide" Target="/ppt/notesSlides/notesSlide45.xml" Id="Rc2536760d1d1469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492a6e46de542c8" /><Relationship Type="http://schemas.openxmlformats.org/officeDocument/2006/relationships/notesSlide" Target="/ppt/notesSlides/notesSlide46.xml" Id="Rc1867cd701c54d2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501f7e58ca940d0" /><Relationship Type="http://schemas.openxmlformats.org/officeDocument/2006/relationships/notesSlide" Target="/ppt/notesSlides/notesSlide47.xml" Id="Rb45d105a0e424d5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93284607329449f" /><Relationship Type="http://schemas.openxmlformats.org/officeDocument/2006/relationships/notesSlide" Target="/ppt/notesSlides/notesSlide48.xml" Id="Rf46bec596f98485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725c1ac40d44bcf" /><Relationship Type="http://schemas.openxmlformats.org/officeDocument/2006/relationships/notesSlide" Target="/ppt/notesSlides/notesSlide49.xml" Id="R660403b1bfab430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e2c9f75b87b42f1" /><Relationship Type="http://schemas.openxmlformats.org/officeDocument/2006/relationships/notesSlide" Target="/ppt/notesSlides/notesSlide50.xml" Id="Ref98c0e1684441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57C935-83C4-4EAE-B863-3997859CCA2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6CDF"/>
          </a:solidFill>
          <a:ln xmlns:a="http://schemas.openxmlformats.org/drawingml/2006/main" w="0">
            <a:solidFill>
              <a:srgbClr val="2D6CDF"/>
            </a:solidFill>
            <a:prstDash val="solid"/>
          </a:ln>
        </p:spPr>
      </p:sp>
      <p:sp>
        <p:nvSpPr>
          <p:cNvPr id="2" name="">
            <a:extLst xmlns:a="http://schemas.openxmlformats.org/drawingml/2006/main">
              <a:ext uri="{FF2B5EF4-FFF2-40B4-BE49-F238E27FC236}">
                <a16:creationId xmlns:a16="http://schemas.microsoft.com/office/drawing/2014/main" id="{E00FCB75-4B3D-4964-866F-0BE974E270C9}"/>
              </a:ext>
            </a:extLst>
          </p:cNvPr>
          <p:cNvSpPr>
            <a:spLocks xmlns:a="http://schemas.openxmlformats.org/drawingml/2006/main" noGrp="1"/>
          </p:cNvSpPr>
          <p:nvPr/>
        </p:nvSpPr>
        <p:spPr>
          <a:xfrm xmlns:a="http://schemas.openxmlformats.org/drawingml/2006/main">
            <a:off x="552450" y="4572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D6CDF"/>
                </a:solidFill>
                <a:latin typeface="Arial"/>
                <a:ea typeface="Arial"/>
                <a:cs typeface="Arial"/>
              </a:defRPr>
            </a:pPr>
            <a:r>
              <a:rPr sz="1050" b="1" i="0">
                <a:solidFill>
                  <a:srgbClr val="2D6CDF"/>
                </a:solidFill>
                <a:latin typeface="Arial"/>
                <a:ea typeface="Arial"/>
                <a:cs typeface="Arial"/>
              </a:rPr>
              <a:t>CLINICAL NGS • LECTURE 1</a:t>
            </a:r>
          </a:p>
        </p:txBody>
      </p:sp>
      <p:sp>
        <p:nvSpPr>
          <p:cNvPr id="3" name="">
            <a:extLst xmlns:a="http://schemas.openxmlformats.org/drawingml/2006/main">
              <a:ext uri="{FF2B5EF4-FFF2-40B4-BE49-F238E27FC236}">
                <a16:creationId xmlns:a16="http://schemas.microsoft.com/office/drawing/2014/main" id="{AD84A973-4344-4871-A331-D3859277D2C5}"/>
              </a:ext>
            </a:extLst>
          </p:cNvPr>
          <p:cNvSpPr>
            <a:spLocks xmlns:a="http://schemas.openxmlformats.org/drawingml/2006/main" noGrp="1"/>
          </p:cNvSpPr>
          <p:nvPr/>
        </p:nvSpPr>
        <p:spPr>
          <a:xfrm xmlns:a="http://schemas.openxmlformats.org/drawingml/2006/main">
            <a:off x="552450" y="1466850"/>
            <a:ext cx="9906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0B1F33"/>
                </a:solidFill>
                <a:latin typeface="Arial"/>
                <a:ea typeface="Arial"/>
                <a:cs typeface="Arial"/>
              </a:defRPr>
            </a:pPr>
            <a:r>
              <a:rPr sz="4050" b="1" i="0">
                <a:solidFill>
                  <a:srgbClr val="0B1F33"/>
                </a:solidFill>
                <a:latin typeface="Arial"/>
                <a:ea typeface="Arial"/>
                <a:cs typeface="Arial"/>
              </a:rPr>
              <a:t>Bioinformatics, variant classification and the command line</a:t>
            </a:r>
          </a:p>
        </p:txBody>
      </p:sp>
      <p:sp>
        <p:nvSpPr>
          <p:cNvPr id="4" name="">
            <a:extLst xmlns:a="http://schemas.openxmlformats.org/drawingml/2006/main">
              <a:ext uri="{FF2B5EF4-FFF2-40B4-BE49-F238E27FC236}">
                <a16:creationId xmlns:a16="http://schemas.microsoft.com/office/drawing/2014/main" id="{0EEE66A7-2980-452D-86E2-B7E7BA1F4BDC}"/>
              </a:ext>
            </a:extLst>
          </p:cNvPr>
          <p:cNvSpPr>
            <a:spLocks xmlns:a="http://schemas.openxmlformats.org/drawingml/2006/main" noGrp="1"/>
          </p:cNvSpPr>
          <p:nvPr/>
        </p:nvSpPr>
        <p:spPr>
          <a:xfrm xmlns:a="http://schemas.openxmlformats.org/drawingml/2006/main">
            <a:off x="552450" y="38290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536273"/>
                </a:solidFill>
                <a:latin typeface="Arial"/>
                <a:ea typeface="Arial"/>
                <a:cs typeface="Arial"/>
              </a:defRPr>
            </a:pPr>
            <a:r>
              <a:rPr sz="1875" b="0" i="0">
                <a:solidFill>
                  <a:srgbClr val="536273"/>
                </a:solidFill>
                <a:latin typeface="Arial"/>
                <a:ea typeface="Arial"/>
                <a:cs typeface="Arial"/>
              </a:rPr>
              <a:t>How sequencing data becomes interpretable clinical evidence</a:t>
            </a:r>
          </a:p>
        </p:txBody>
      </p:sp>
      <p:sp>
        <p:nvSpPr>
          <p:cNvPr id="5" name="">
            <a:extLst xmlns:a="http://schemas.openxmlformats.org/drawingml/2006/main">
              <a:ext uri="{FF2B5EF4-FFF2-40B4-BE49-F238E27FC236}">
                <a16:creationId xmlns:a16="http://schemas.microsoft.com/office/drawing/2014/main" id="{F0CD6550-FEF3-458B-BAC8-481158CAD9DE}"/>
              </a:ext>
            </a:extLst>
          </p:cNvPr>
          <p:cNvSpPr>
            <a:spLocks xmlns:a="http://schemas.openxmlformats.org/drawingml/2006/main" noGrp="1"/>
          </p:cNvSpPr>
          <p:nvPr/>
        </p:nvSpPr>
        <p:spPr>
          <a:xfrm xmlns:a="http://schemas.openxmlformats.org/drawingml/2006/main">
            <a:off x="552450" y="5334000"/>
            <a:ext cx="18097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6" name="">
            <a:extLst xmlns:a="http://schemas.openxmlformats.org/drawingml/2006/main">
              <a:ext uri="{FF2B5EF4-FFF2-40B4-BE49-F238E27FC236}">
                <a16:creationId xmlns:a16="http://schemas.microsoft.com/office/drawing/2014/main" id="{FD20AF79-1BA1-437F-B69F-6C5A232645DB}"/>
              </a:ext>
            </a:extLst>
          </p:cNvPr>
          <p:cNvSpPr>
            <a:spLocks xmlns:a="http://schemas.openxmlformats.org/drawingml/2006/main" noGrp="1"/>
          </p:cNvSpPr>
          <p:nvPr/>
        </p:nvSpPr>
        <p:spPr>
          <a:xfrm xmlns:a="http://schemas.openxmlformats.org/drawingml/2006/main">
            <a:off x="552450" y="54006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BIOINFORMATICS</a:t>
            </a:r>
          </a:p>
        </p:txBody>
      </p:sp>
      <p:sp>
        <p:nvSpPr>
          <p:cNvPr id="7" name="">
            <a:extLst xmlns:a="http://schemas.openxmlformats.org/drawingml/2006/main">
              <a:ext uri="{FF2B5EF4-FFF2-40B4-BE49-F238E27FC236}">
                <a16:creationId xmlns:a16="http://schemas.microsoft.com/office/drawing/2014/main" id="{10BB0737-63B3-4845-BC04-B5CCDA58FD89}"/>
              </a:ext>
            </a:extLst>
          </p:cNvPr>
          <p:cNvSpPr>
            <a:spLocks xmlns:a="http://schemas.openxmlformats.org/drawingml/2006/main" noGrp="1"/>
          </p:cNvSpPr>
          <p:nvPr/>
        </p:nvSpPr>
        <p:spPr>
          <a:xfrm xmlns:a="http://schemas.openxmlformats.org/drawingml/2006/main">
            <a:off x="2495550" y="5334000"/>
            <a:ext cx="1657350" cy="323850"/>
          </a:xfrm>
          <a:prstGeom xmlns:a="http://schemas.openxmlformats.org/drawingml/2006/main" prst="roundRect">
            <a:avLst>
              <a:gd name="adj" fmla="val 23529"/>
            </a:avLst>
          </a:prstGeom>
          <a:solidFill xmlns:a="http://schemas.openxmlformats.org/drawingml/2006/main">
            <a:srgbClr val="DDF5F3"/>
          </a:solidFill>
          <a:ln xmlns:a="http://schemas.openxmlformats.org/drawingml/2006/main" w="0">
            <a:solidFill>
              <a:srgbClr val="DDF5F3"/>
            </a:solidFill>
            <a:prstDash val="solid"/>
          </a:ln>
        </p:spPr>
      </p:sp>
      <p:sp>
        <p:nvSpPr>
          <p:cNvPr id="8" name="">
            <a:extLst xmlns:a="http://schemas.openxmlformats.org/drawingml/2006/main">
              <a:ext uri="{FF2B5EF4-FFF2-40B4-BE49-F238E27FC236}">
                <a16:creationId xmlns:a16="http://schemas.microsoft.com/office/drawing/2014/main" id="{5BA0623D-30D1-47EF-9104-0C84A346B3B4}"/>
              </a:ext>
            </a:extLst>
          </p:cNvPr>
          <p:cNvSpPr>
            <a:spLocks xmlns:a="http://schemas.openxmlformats.org/drawingml/2006/main" noGrp="1"/>
          </p:cNvSpPr>
          <p:nvPr/>
        </p:nvSpPr>
        <p:spPr>
          <a:xfrm xmlns:a="http://schemas.openxmlformats.org/drawingml/2006/main">
            <a:off x="2495550" y="5400675"/>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069C9C"/>
                </a:solidFill>
                <a:latin typeface="Arial"/>
                <a:ea typeface="Arial"/>
                <a:cs typeface="Arial"/>
              </a:defRPr>
            </a:pPr>
            <a:r>
              <a:rPr sz="975" b="1" i="0">
                <a:solidFill>
                  <a:srgbClr val="069C9C"/>
                </a:solidFill>
                <a:latin typeface="Arial"/>
                <a:ea typeface="Arial"/>
                <a:cs typeface="Arial"/>
              </a:rPr>
              <a:t>ACMG / AMP</a:t>
            </a:r>
          </a:p>
        </p:txBody>
      </p:sp>
      <p:sp>
        <p:nvSpPr>
          <p:cNvPr id="9" name="">
            <a:extLst xmlns:a="http://schemas.openxmlformats.org/drawingml/2006/main">
              <a:ext uri="{FF2B5EF4-FFF2-40B4-BE49-F238E27FC236}">
                <a16:creationId xmlns:a16="http://schemas.microsoft.com/office/drawing/2014/main" id="{A0A3415E-90AC-4A52-AFA3-1715DD51AB80}"/>
              </a:ext>
            </a:extLst>
          </p:cNvPr>
          <p:cNvSpPr>
            <a:spLocks xmlns:a="http://schemas.openxmlformats.org/drawingml/2006/main" noGrp="1"/>
          </p:cNvSpPr>
          <p:nvPr/>
        </p:nvSpPr>
        <p:spPr>
          <a:xfrm xmlns:a="http://schemas.openxmlformats.org/drawingml/2006/main">
            <a:off x="4286250" y="5334000"/>
            <a:ext cx="1809750" cy="323850"/>
          </a:xfrm>
          <a:prstGeom xmlns:a="http://schemas.openxmlformats.org/drawingml/2006/main" prst="roundRect">
            <a:avLst>
              <a:gd name="adj" fmla="val 23529"/>
            </a:avLst>
          </a:prstGeom>
          <a:solidFill xmlns:a="http://schemas.openxmlformats.org/drawingml/2006/main">
            <a:srgbClr val="EEE8FB"/>
          </a:solidFill>
          <a:ln xmlns:a="http://schemas.openxmlformats.org/drawingml/2006/main" w="0">
            <a:solidFill>
              <a:srgbClr val="EEE8FB"/>
            </a:solidFill>
            <a:prstDash val="solid"/>
          </a:ln>
        </p:spPr>
      </p:sp>
      <p:sp>
        <p:nvSpPr>
          <p:cNvPr id="10" name="">
            <a:extLst xmlns:a="http://schemas.openxmlformats.org/drawingml/2006/main">
              <a:ext uri="{FF2B5EF4-FFF2-40B4-BE49-F238E27FC236}">
                <a16:creationId xmlns:a16="http://schemas.microsoft.com/office/drawing/2014/main" id="{70290DF2-E9FA-412F-B11F-8072F5C6D6DE}"/>
              </a:ext>
            </a:extLst>
          </p:cNvPr>
          <p:cNvSpPr>
            <a:spLocks xmlns:a="http://schemas.openxmlformats.org/drawingml/2006/main" noGrp="1"/>
          </p:cNvSpPr>
          <p:nvPr/>
        </p:nvSpPr>
        <p:spPr>
          <a:xfrm xmlns:a="http://schemas.openxmlformats.org/drawingml/2006/main">
            <a:off x="4286250" y="54006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COMMAND LINE</a:t>
            </a:r>
          </a:p>
        </p:txBody>
      </p:sp>
      <p:sp>
        <p:nvSpPr>
          <p:cNvPr id="11" name="">
            <a:extLst xmlns:a="http://schemas.openxmlformats.org/drawingml/2006/main">
              <a:ext uri="{FF2B5EF4-FFF2-40B4-BE49-F238E27FC236}">
                <a16:creationId xmlns:a16="http://schemas.microsoft.com/office/drawing/2014/main" id="{ADD37D10-154B-4267-AD35-D27E5527AC93}"/>
              </a:ext>
            </a:extLst>
          </p:cNvPr>
          <p:cNvSpPr>
            <a:spLocks xmlns:a="http://schemas.openxmlformats.org/drawingml/2006/main" noGrp="1"/>
          </p:cNvSpPr>
          <p:nvPr/>
        </p:nvSpPr>
        <p:spPr>
          <a:xfrm xmlns:a="http://schemas.openxmlformats.org/drawingml/2006/main">
            <a:off x="552450" y="5962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Dr. Mahmood Al-Mualm</a:t>
            </a:r>
          </a:p>
        </p:txBody>
      </p:sp>
      <p:sp>
        <p:nvSpPr>
          <p:cNvPr id="12" name="">
            <a:extLst xmlns:a="http://schemas.openxmlformats.org/drawingml/2006/main">
              <a:ext uri="{FF2B5EF4-FFF2-40B4-BE49-F238E27FC236}">
                <a16:creationId xmlns:a16="http://schemas.microsoft.com/office/drawing/2014/main" id="{6E21E58F-6F96-4C6B-AA6B-FE523375FB90}"/>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01</a:t>
            </a:r>
          </a:p>
        </p:txBody>
      </p:sp>
    </p:spTree>
    <p:extLst>
      <p:ext uri="{BB962C8B-B14F-4D97-AF65-F5344CB8AC3E}">
        <p14:creationId xmlns:p14="http://schemas.microsoft.com/office/powerpoint/2010/main" val="13989531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63D618-E114-4598-8FE5-0BAC5733FB4F}"/>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OPENING QUESTION</a:t>
            </a:r>
          </a:p>
        </p:txBody>
      </p:sp>
      <p:sp>
        <p:nvSpPr>
          <p:cNvPr id="2" name="">
            <a:extLst xmlns:a="http://schemas.openxmlformats.org/drawingml/2006/main">
              <a:ext uri="{FF2B5EF4-FFF2-40B4-BE49-F238E27FC236}">
                <a16:creationId xmlns:a16="http://schemas.microsoft.com/office/drawing/2014/main" id="{039EDEBA-D1AE-4165-A587-7992EC0B75FB}"/>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sequencer does not produce a diagnosis</a:t>
            </a:r>
          </a:p>
        </p:txBody>
      </p:sp>
      <p:cxnSp>
        <p:nvCxnSpPr>
          <p:cNvPr id="2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1B4A889C-4AFF-4B7B-8BD9-30F85305A59D}"/>
              </a:ext>
            </a:extLst>
          </p:cNvPr>
          <p:cNvSpPr>
            <a:spLocks xmlns:a="http://schemas.openxmlformats.org/drawingml/2006/main" noGrp="1"/>
          </p:cNvSpPr>
          <p:nvPr/>
        </p:nvSpPr>
        <p:spPr>
          <a:xfrm xmlns:a="http://schemas.openxmlformats.org/drawingml/2006/main">
            <a:off x="590550" y="2324100"/>
            <a:ext cx="2400300" cy="2000250"/>
          </a:xfrm>
          <a:prstGeom xmlns:a="http://schemas.openxmlformats.org/drawingml/2006/main" prst="roundRect">
            <a:avLst>
              <a:gd name="adj" fmla="val 3810"/>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F8251014-7D52-4EB3-9AE9-73EC5FE7E8D3}"/>
              </a:ext>
            </a:extLst>
          </p:cNvPr>
          <p:cNvSpPr>
            <a:spLocks xmlns:a="http://schemas.openxmlformats.org/drawingml/2006/main" noGrp="1"/>
          </p:cNvSpPr>
          <p:nvPr/>
        </p:nvSpPr>
        <p:spPr>
          <a:xfrm xmlns:a="http://schemas.openxmlformats.org/drawingml/2006/main">
            <a:off x="800100" y="259080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2D6CDF"/>
                </a:solidFill>
                <a:latin typeface="Arial"/>
                <a:ea typeface="Arial"/>
                <a:cs typeface="Arial"/>
              </a:defRPr>
            </a:pPr>
            <a:r>
              <a:rPr sz="2850" b="1" i="0">
                <a:solidFill>
                  <a:srgbClr val="2D6CDF"/>
                </a:solidFill>
                <a:latin typeface="Arial"/>
                <a:ea typeface="Arial"/>
                <a:cs typeface="Arial"/>
              </a:rPr>
              <a:t>Millions</a:t>
            </a:r>
          </a:p>
        </p:txBody>
      </p:sp>
      <p:sp>
        <p:nvSpPr>
          <p:cNvPr id="6" name="">
            <a:extLst xmlns:a="http://schemas.openxmlformats.org/drawingml/2006/main">
              <a:ext uri="{FF2B5EF4-FFF2-40B4-BE49-F238E27FC236}">
                <a16:creationId xmlns:a16="http://schemas.microsoft.com/office/drawing/2014/main" id="{AAE6A442-B638-4854-BB11-229DF90B907D}"/>
              </a:ext>
            </a:extLst>
          </p:cNvPr>
          <p:cNvSpPr>
            <a:spLocks xmlns:a="http://schemas.openxmlformats.org/drawingml/2006/main" noGrp="1"/>
          </p:cNvSpPr>
          <p:nvPr/>
        </p:nvSpPr>
        <p:spPr>
          <a:xfrm xmlns:a="http://schemas.openxmlformats.org/drawingml/2006/main">
            <a:off x="800100" y="3333750"/>
            <a:ext cx="1981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0B1F33"/>
                </a:solidFill>
                <a:latin typeface="Arial"/>
                <a:ea typeface="Arial"/>
                <a:cs typeface="Arial"/>
              </a:defRPr>
            </a:pPr>
            <a:r>
              <a:rPr sz="1500" b="0" i="0">
                <a:solidFill>
                  <a:srgbClr val="0B1F33"/>
                </a:solidFill>
                <a:latin typeface="Arial"/>
                <a:ea typeface="Arial"/>
                <a:cs typeface="Arial"/>
              </a:rPr>
              <a:t>DNA reads</a:t>
            </a:r>
          </a:p>
        </p:txBody>
      </p:sp>
      <p:sp>
        <p:nvSpPr>
          <p:cNvPr id="7" name="">
            <a:extLst xmlns:a="http://schemas.openxmlformats.org/drawingml/2006/main">
              <a:ext uri="{FF2B5EF4-FFF2-40B4-BE49-F238E27FC236}">
                <a16:creationId xmlns:a16="http://schemas.microsoft.com/office/drawing/2014/main" id="{271806DC-0242-400E-A4A3-D9B83AAAFCC9}"/>
              </a:ext>
            </a:extLst>
          </p:cNvPr>
          <p:cNvSpPr>
            <a:spLocks xmlns:a="http://schemas.openxmlformats.org/drawingml/2006/main" noGrp="1"/>
          </p:cNvSpPr>
          <p:nvPr/>
        </p:nvSpPr>
        <p:spPr>
          <a:xfrm xmlns:a="http://schemas.openxmlformats.org/drawingml/2006/main">
            <a:off x="3009900" y="2952750"/>
            <a:ext cx="400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1" i="0">
                <a:solidFill>
                  <a:srgbClr val="D6DEE7"/>
                </a:solidFill>
                <a:latin typeface="Arial"/>
                <a:ea typeface="Arial"/>
                <a:cs typeface="Arial"/>
              </a:defRPr>
            </a:pPr>
            <a:r>
              <a:rPr sz="3300" b="1" i="0">
                <a:solidFill>
                  <a:srgbClr val="D6DEE7"/>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238924E3-6759-4324-B1CD-044F7D886E63}"/>
              </a:ext>
            </a:extLst>
          </p:cNvPr>
          <p:cNvSpPr>
            <a:spLocks xmlns:a="http://schemas.openxmlformats.org/drawingml/2006/main" noGrp="1"/>
          </p:cNvSpPr>
          <p:nvPr/>
        </p:nvSpPr>
        <p:spPr>
          <a:xfrm xmlns:a="http://schemas.openxmlformats.org/drawingml/2006/main">
            <a:off x="3429000" y="2324100"/>
            <a:ext cx="2400300" cy="2000250"/>
          </a:xfrm>
          <a:prstGeom xmlns:a="http://schemas.openxmlformats.org/drawingml/2006/main" prst="roundRect">
            <a:avLst>
              <a:gd name="adj" fmla="val 3810"/>
            </a:avLst>
          </a:prstGeom>
          <a:solidFill xmlns:a="http://schemas.openxmlformats.org/drawingml/2006/main">
            <a:srgbClr val="DDF5F3"/>
          </a:solidFill>
          <a:ln xmlns:a="http://schemas.openxmlformats.org/drawingml/2006/main" w="0">
            <a:solidFill>
              <a:srgbClr val="DDF5F3"/>
            </a:solidFill>
            <a:prstDash val="solid"/>
          </a:ln>
        </p:spPr>
      </p:sp>
      <p:sp>
        <p:nvSpPr>
          <p:cNvPr id="9" name="">
            <a:extLst xmlns:a="http://schemas.openxmlformats.org/drawingml/2006/main">
              <a:ext uri="{FF2B5EF4-FFF2-40B4-BE49-F238E27FC236}">
                <a16:creationId xmlns:a16="http://schemas.microsoft.com/office/drawing/2014/main" id="{3C78EFA6-D778-4A61-BEEB-F3C2E9254A98}"/>
              </a:ext>
            </a:extLst>
          </p:cNvPr>
          <p:cNvSpPr>
            <a:spLocks xmlns:a="http://schemas.openxmlformats.org/drawingml/2006/main" noGrp="1"/>
          </p:cNvSpPr>
          <p:nvPr/>
        </p:nvSpPr>
        <p:spPr>
          <a:xfrm xmlns:a="http://schemas.openxmlformats.org/drawingml/2006/main">
            <a:off x="3638550" y="259080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069C9C"/>
                </a:solidFill>
                <a:latin typeface="Arial"/>
                <a:ea typeface="Arial"/>
                <a:cs typeface="Arial"/>
              </a:defRPr>
            </a:pPr>
            <a:r>
              <a:rPr sz="2850" b="1" i="0">
                <a:solidFill>
                  <a:srgbClr val="069C9C"/>
                </a:solidFill>
                <a:latin typeface="Arial"/>
                <a:ea typeface="Arial"/>
                <a:cs typeface="Arial"/>
              </a:rPr>
              <a:t>Thousands</a:t>
            </a:r>
          </a:p>
        </p:txBody>
      </p:sp>
      <p:sp>
        <p:nvSpPr>
          <p:cNvPr id="10" name="">
            <a:extLst xmlns:a="http://schemas.openxmlformats.org/drawingml/2006/main">
              <a:ext uri="{FF2B5EF4-FFF2-40B4-BE49-F238E27FC236}">
                <a16:creationId xmlns:a16="http://schemas.microsoft.com/office/drawing/2014/main" id="{5D554E05-6460-4D73-BE1A-A5C03CC43BD7}"/>
              </a:ext>
            </a:extLst>
          </p:cNvPr>
          <p:cNvSpPr>
            <a:spLocks xmlns:a="http://schemas.openxmlformats.org/drawingml/2006/main" noGrp="1"/>
          </p:cNvSpPr>
          <p:nvPr/>
        </p:nvSpPr>
        <p:spPr>
          <a:xfrm xmlns:a="http://schemas.openxmlformats.org/drawingml/2006/main">
            <a:off x="3638550" y="3333750"/>
            <a:ext cx="1981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0B1F33"/>
                </a:solidFill>
                <a:latin typeface="Arial"/>
                <a:ea typeface="Arial"/>
                <a:cs typeface="Arial"/>
              </a:defRPr>
            </a:pPr>
            <a:r>
              <a:rPr sz="1500" b="0" i="0">
                <a:solidFill>
                  <a:srgbClr val="0B1F33"/>
                </a:solidFill>
                <a:latin typeface="Arial"/>
                <a:ea typeface="Arial"/>
                <a:cs typeface="Arial"/>
              </a:rPr>
              <a:t>candidate variants</a:t>
            </a:r>
          </a:p>
        </p:txBody>
      </p:sp>
      <p:sp>
        <p:nvSpPr>
          <p:cNvPr id="11" name="">
            <a:extLst xmlns:a="http://schemas.openxmlformats.org/drawingml/2006/main">
              <a:ext uri="{FF2B5EF4-FFF2-40B4-BE49-F238E27FC236}">
                <a16:creationId xmlns:a16="http://schemas.microsoft.com/office/drawing/2014/main" id="{39823C15-5337-41DC-BA4C-45514BE24EDE}"/>
              </a:ext>
            </a:extLst>
          </p:cNvPr>
          <p:cNvSpPr>
            <a:spLocks xmlns:a="http://schemas.openxmlformats.org/drawingml/2006/main" noGrp="1"/>
          </p:cNvSpPr>
          <p:nvPr/>
        </p:nvSpPr>
        <p:spPr>
          <a:xfrm xmlns:a="http://schemas.openxmlformats.org/drawingml/2006/main">
            <a:off x="5848350" y="2952750"/>
            <a:ext cx="400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1" i="0">
                <a:solidFill>
                  <a:srgbClr val="D6DEE7"/>
                </a:solidFill>
                <a:latin typeface="Arial"/>
                <a:ea typeface="Arial"/>
                <a:cs typeface="Arial"/>
              </a:defRPr>
            </a:pPr>
            <a:r>
              <a:rPr sz="3300" b="1" i="0">
                <a:solidFill>
                  <a:srgbClr val="D6DEE7"/>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477CDCE-49AB-435C-AE06-5F6493139083}"/>
              </a:ext>
            </a:extLst>
          </p:cNvPr>
          <p:cNvSpPr>
            <a:spLocks xmlns:a="http://schemas.openxmlformats.org/drawingml/2006/main" noGrp="1"/>
          </p:cNvSpPr>
          <p:nvPr/>
        </p:nvSpPr>
        <p:spPr>
          <a:xfrm xmlns:a="http://schemas.openxmlformats.org/drawingml/2006/main">
            <a:off x="6267450" y="2324100"/>
            <a:ext cx="2400300" cy="2000250"/>
          </a:xfrm>
          <a:prstGeom xmlns:a="http://schemas.openxmlformats.org/drawingml/2006/main" prst="roundRect">
            <a:avLst>
              <a:gd name="adj" fmla="val 3810"/>
            </a:avLst>
          </a:prstGeom>
          <a:solidFill xmlns:a="http://schemas.openxmlformats.org/drawingml/2006/main">
            <a:srgbClr val="FFF1CF"/>
          </a:solidFill>
          <a:ln xmlns:a="http://schemas.openxmlformats.org/drawingml/2006/main" w="0">
            <a:solidFill>
              <a:srgbClr val="FFF1CF"/>
            </a:solidFill>
            <a:prstDash val="solid"/>
          </a:ln>
        </p:spPr>
      </p:sp>
      <p:sp>
        <p:nvSpPr>
          <p:cNvPr id="13" name="">
            <a:extLst xmlns:a="http://schemas.openxmlformats.org/drawingml/2006/main">
              <a:ext uri="{FF2B5EF4-FFF2-40B4-BE49-F238E27FC236}">
                <a16:creationId xmlns:a16="http://schemas.microsoft.com/office/drawing/2014/main" id="{F79250F5-DBA9-4BA2-B980-825A1A708A68}"/>
              </a:ext>
            </a:extLst>
          </p:cNvPr>
          <p:cNvSpPr>
            <a:spLocks xmlns:a="http://schemas.openxmlformats.org/drawingml/2006/main" noGrp="1"/>
          </p:cNvSpPr>
          <p:nvPr/>
        </p:nvSpPr>
        <p:spPr>
          <a:xfrm xmlns:a="http://schemas.openxmlformats.org/drawingml/2006/main">
            <a:off x="6477000" y="259080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E7A62F"/>
                </a:solidFill>
                <a:latin typeface="Arial"/>
                <a:ea typeface="Arial"/>
                <a:cs typeface="Arial"/>
              </a:defRPr>
            </a:pPr>
            <a:r>
              <a:rPr sz="2850" b="1" i="0">
                <a:solidFill>
                  <a:srgbClr val="E7A62F"/>
                </a:solidFill>
                <a:latin typeface="Arial"/>
                <a:ea typeface="Arial"/>
                <a:cs typeface="Arial"/>
              </a:rPr>
              <a:t>Dozens</a:t>
            </a:r>
          </a:p>
        </p:txBody>
      </p:sp>
      <p:sp>
        <p:nvSpPr>
          <p:cNvPr id="14" name="">
            <a:extLst xmlns:a="http://schemas.openxmlformats.org/drawingml/2006/main">
              <a:ext uri="{FF2B5EF4-FFF2-40B4-BE49-F238E27FC236}">
                <a16:creationId xmlns:a16="http://schemas.microsoft.com/office/drawing/2014/main" id="{04BDEE2D-9639-41C2-8C32-FB7A1E340D1A}"/>
              </a:ext>
            </a:extLst>
          </p:cNvPr>
          <p:cNvSpPr>
            <a:spLocks xmlns:a="http://schemas.openxmlformats.org/drawingml/2006/main" noGrp="1"/>
          </p:cNvSpPr>
          <p:nvPr/>
        </p:nvSpPr>
        <p:spPr>
          <a:xfrm xmlns:a="http://schemas.openxmlformats.org/drawingml/2006/main">
            <a:off x="6477000" y="3333750"/>
            <a:ext cx="1981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0B1F33"/>
                </a:solidFill>
                <a:latin typeface="Arial"/>
                <a:ea typeface="Arial"/>
                <a:cs typeface="Arial"/>
              </a:defRPr>
            </a:pPr>
            <a:r>
              <a:rPr sz="1500" b="0" i="0">
                <a:solidFill>
                  <a:srgbClr val="0B1F33"/>
                </a:solidFill>
                <a:latin typeface="Arial"/>
                <a:ea typeface="Arial"/>
                <a:cs typeface="Arial"/>
              </a:rPr>
              <a:t>reviewed variants</a:t>
            </a:r>
          </a:p>
        </p:txBody>
      </p:sp>
      <p:sp>
        <p:nvSpPr>
          <p:cNvPr id="15" name="">
            <a:extLst xmlns:a="http://schemas.openxmlformats.org/drawingml/2006/main">
              <a:ext uri="{FF2B5EF4-FFF2-40B4-BE49-F238E27FC236}">
                <a16:creationId xmlns:a16="http://schemas.microsoft.com/office/drawing/2014/main" id="{6832915C-DC66-4C5A-9564-2C8AC5B6B3A1}"/>
              </a:ext>
            </a:extLst>
          </p:cNvPr>
          <p:cNvSpPr>
            <a:spLocks xmlns:a="http://schemas.openxmlformats.org/drawingml/2006/main" noGrp="1"/>
          </p:cNvSpPr>
          <p:nvPr/>
        </p:nvSpPr>
        <p:spPr>
          <a:xfrm xmlns:a="http://schemas.openxmlformats.org/drawingml/2006/main">
            <a:off x="8686800" y="2952750"/>
            <a:ext cx="400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300" b="1" i="0">
                <a:solidFill>
                  <a:srgbClr val="D6DEE7"/>
                </a:solidFill>
                <a:latin typeface="Arial"/>
                <a:ea typeface="Arial"/>
                <a:cs typeface="Arial"/>
              </a:defRPr>
            </a:pPr>
            <a:r>
              <a:rPr sz="3300" b="1" i="0">
                <a:solidFill>
                  <a:srgbClr val="D6DEE7"/>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6F3BA487-EA10-4A9F-81DC-E21EE213188E}"/>
              </a:ext>
            </a:extLst>
          </p:cNvPr>
          <p:cNvSpPr>
            <a:spLocks xmlns:a="http://schemas.openxmlformats.org/drawingml/2006/main" noGrp="1"/>
          </p:cNvSpPr>
          <p:nvPr/>
        </p:nvSpPr>
        <p:spPr>
          <a:xfrm xmlns:a="http://schemas.openxmlformats.org/drawingml/2006/main">
            <a:off x="9105900" y="2324100"/>
            <a:ext cx="2400300" cy="2000250"/>
          </a:xfrm>
          <a:prstGeom xmlns:a="http://schemas.openxmlformats.org/drawingml/2006/main" prst="roundRect">
            <a:avLst>
              <a:gd name="adj" fmla="val 3810"/>
            </a:avLst>
          </a:prstGeom>
          <a:solidFill xmlns:a="http://schemas.openxmlformats.org/drawingml/2006/main">
            <a:srgbClr val="DEF3E7"/>
          </a:solidFill>
          <a:ln xmlns:a="http://schemas.openxmlformats.org/drawingml/2006/main" w="0">
            <a:solidFill>
              <a:srgbClr val="DEF3E7"/>
            </a:solidFill>
            <a:prstDash val="solid"/>
          </a:ln>
        </p:spPr>
      </p:sp>
      <p:sp>
        <p:nvSpPr>
          <p:cNvPr id="17" name="">
            <a:extLst xmlns:a="http://schemas.openxmlformats.org/drawingml/2006/main">
              <a:ext uri="{FF2B5EF4-FFF2-40B4-BE49-F238E27FC236}">
                <a16:creationId xmlns:a16="http://schemas.microsoft.com/office/drawing/2014/main" id="{7B11F38F-3BD5-41A4-A10E-55327101B39A}"/>
              </a:ext>
            </a:extLst>
          </p:cNvPr>
          <p:cNvSpPr>
            <a:spLocks xmlns:a="http://schemas.openxmlformats.org/drawingml/2006/main" noGrp="1"/>
          </p:cNvSpPr>
          <p:nvPr/>
        </p:nvSpPr>
        <p:spPr>
          <a:xfrm xmlns:a="http://schemas.openxmlformats.org/drawingml/2006/main">
            <a:off x="9315450" y="2590800"/>
            <a:ext cx="1981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359B64"/>
                </a:solidFill>
                <a:latin typeface="Arial"/>
                <a:ea typeface="Arial"/>
                <a:cs typeface="Arial"/>
              </a:defRPr>
            </a:pPr>
            <a:r>
              <a:rPr sz="2850" b="1" i="0">
                <a:solidFill>
                  <a:srgbClr val="359B64"/>
                </a:solidFill>
                <a:latin typeface="Arial"/>
                <a:ea typeface="Arial"/>
                <a:cs typeface="Arial"/>
              </a:rPr>
              <a:t>Few</a:t>
            </a:r>
          </a:p>
        </p:txBody>
      </p:sp>
      <p:sp>
        <p:nvSpPr>
          <p:cNvPr id="18" name="">
            <a:extLst xmlns:a="http://schemas.openxmlformats.org/drawingml/2006/main">
              <a:ext uri="{FF2B5EF4-FFF2-40B4-BE49-F238E27FC236}">
                <a16:creationId xmlns:a16="http://schemas.microsoft.com/office/drawing/2014/main" id="{C1E0F28E-071D-44C1-B807-C7CFEFDEC9A7}"/>
              </a:ext>
            </a:extLst>
          </p:cNvPr>
          <p:cNvSpPr>
            <a:spLocks xmlns:a="http://schemas.openxmlformats.org/drawingml/2006/main" noGrp="1"/>
          </p:cNvSpPr>
          <p:nvPr/>
        </p:nvSpPr>
        <p:spPr>
          <a:xfrm xmlns:a="http://schemas.openxmlformats.org/drawingml/2006/main">
            <a:off x="9315450" y="3333750"/>
            <a:ext cx="1981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0B1F33"/>
                </a:solidFill>
                <a:latin typeface="Arial"/>
                <a:ea typeface="Arial"/>
                <a:cs typeface="Arial"/>
              </a:defRPr>
            </a:pPr>
            <a:r>
              <a:rPr sz="1500" b="0" i="0">
                <a:solidFill>
                  <a:srgbClr val="0B1F33"/>
                </a:solidFill>
                <a:latin typeface="Arial"/>
                <a:ea typeface="Arial"/>
                <a:cs typeface="Arial"/>
              </a:rPr>
              <a:t>reportable findings</a:t>
            </a:r>
          </a:p>
        </p:txBody>
      </p:sp>
      <p:sp>
        <p:nvSpPr>
          <p:cNvPr id="19" name="">
            <a:extLst xmlns:a="http://schemas.openxmlformats.org/drawingml/2006/main">
              <a:ext uri="{FF2B5EF4-FFF2-40B4-BE49-F238E27FC236}">
                <a16:creationId xmlns:a16="http://schemas.microsoft.com/office/drawing/2014/main" id="{FA8C1505-1657-4CEE-B4DE-CB9F6188B936}"/>
              </a:ext>
            </a:extLst>
          </p:cNvPr>
          <p:cNvSpPr>
            <a:spLocks xmlns:a="http://schemas.openxmlformats.org/drawingml/2006/main" noGrp="1"/>
          </p:cNvSpPr>
          <p:nvPr/>
        </p:nvSpPr>
        <p:spPr>
          <a:xfrm xmlns:a="http://schemas.openxmlformats.org/drawingml/2006/main">
            <a:off x="1809750" y="49530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0B1F33"/>
                </a:solidFill>
                <a:latin typeface="Arial"/>
                <a:ea typeface="Arial"/>
                <a:cs typeface="Arial"/>
              </a:defRPr>
            </a:pPr>
            <a:r>
              <a:rPr sz="2250" b="1" i="0">
                <a:solidFill>
                  <a:srgbClr val="0B1F33"/>
                </a:solidFill>
                <a:latin typeface="Arial"/>
                <a:ea typeface="Arial"/>
                <a:cs typeface="Arial"/>
              </a:rPr>
              <a:t>What transforms the first box into the last one?</a:t>
            </a:r>
          </a:p>
        </p:txBody>
      </p:sp>
      <p:sp>
        <p:nvSpPr>
          <p:cNvPr id="20" name="">
            <a:extLst xmlns:a="http://schemas.openxmlformats.org/drawingml/2006/main">
              <a:ext uri="{FF2B5EF4-FFF2-40B4-BE49-F238E27FC236}">
                <a16:creationId xmlns:a16="http://schemas.microsoft.com/office/drawing/2014/main" id="{A37A18A2-5FFF-4B45-80A0-208235D48213}"/>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02</a:t>
            </a:r>
          </a:p>
        </p:txBody>
      </p:sp>
    </p:spTree>
    <p:extLst>
      <p:ext uri="{BB962C8B-B14F-4D97-AF65-F5344CB8AC3E}">
        <p14:creationId xmlns:p14="http://schemas.microsoft.com/office/powerpoint/2010/main" val="18351488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CC3863-BF4B-407F-81B6-026F9D211447}"/>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LEARNING OUTCOME</a:t>
            </a:r>
          </a:p>
        </p:txBody>
      </p:sp>
      <p:sp>
        <p:nvSpPr>
          <p:cNvPr id="2" name="">
            <a:extLst xmlns:a="http://schemas.openxmlformats.org/drawingml/2006/main">
              <a:ext uri="{FF2B5EF4-FFF2-40B4-BE49-F238E27FC236}">
                <a16:creationId xmlns:a16="http://schemas.microsoft.com/office/drawing/2014/main" id="{E29E1F97-E620-410E-ABA6-69E39A7733D5}"/>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Today we connect three layers of clinical genomics</a:t>
            </a:r>
          </a:p>
        </p:txBody>
      </p:sp>
      <p:cxnSp>
        <p:nvCxnSpPr>
          <p:cNvPr id="22"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6D43A050-36CD-48C4-AF64-61544367807B}"/>
              </a:ext>
            </a:extLst>
          </p:cNvPr>
          <p:cNvSpPr>
            <a:spLocks xmlns:a="http://schemas.openxmlformats.org/drawingml/2006/main" noGrp="1"/>
          </p:cNvSpPr>
          <p:nvPr/>
        </p:nvSpPr>
        <p:spPr>
          <a:xfrm xmlns:a="http://schemas.openxmlformats.org/drawingml/2006/main">
            <a:off x="419100" y="1943100"/>
            <a:ext cx="3562350" cy="3295650"/>
          </a:xfrm>
          <a:prstGeom xmlns:a="http://schemas.openxmlformats.org/drawingml/2006/main" prst="roundRect">
            <a:avLst>
              <a:gd name="adj" fmla="val 2312"/>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E511E86A-7466-4E64-88CB-633C65290DC9}"/>
              </a:ext>
            </a:extLst>
          </p:cNvPr>
          <p:cNvSpPr>
            <a:spLocks xmlns:a="http://schemas.openxmlformats.org/drawingml/2006/main" noGrp="1"/>
          </p:cNvSpPr>
          <p:nvPr/>
        </p:nvSpPr>
        <p:spPr>
          <a:xfrm xmlns:a="http://schemas.openxmlformats.org/drawingml/2006/main">
            <a:off x="666750" y="2190750"/>
            <a:ext cx="495300" cy="495300"/>
          </a:xfrm>
          <a:prstGeom xmlns:a="http://schemas.openxmlformats.org/drawingml/2006/main" prst="roundRect">
            <a:avLst>
              <a:gd name="adj" fmla="val 15385"/>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56B1252E-7811-4E33-8813-1345586B31CB}"/>
              </a:ext>
            </a:extLst>
          </p:cNvPr>
          <p:cNvSpPr>
            <a:spLocks xmlns:a="http://schemas.openxmlformats.org/drawingml/2006/main" noGrp="1"/>
          </p:cNvSpPr>
          <p:nvPr/>
        </p:nvSpPr>
        <p:spPr>
          <a:xfrm xmlns:a="http://schemas.openxmlformats.org/drawingml/2006/main">
            <a:off x="666750" y="220027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BB4CBF51-B98F-45F2-B6D1-3AE4429C53F5}"/>
              </a:ext>
            </a:extLst>
          </p:cNvPr>
          <p:cNvSpPr>
            <a:spLocks xmlns:a="http://schemas.openxmlformats.org/drawingml/2006/main" noGrp="1"/>
          </p:cNvSpPr>
          <p:nvPr/>
        </p:nvSpPr>
        <p:spPr>
          <a:xfrm xmlns:a="http://schemas.openxmlformats.org/drawingml/2006/main">
            <a:off x="666750" y="293370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Process the data</a:t>
            </a:r>
          </a:p>
        </p:txBody>
      </p:sp>
      <p:sp>
        <p:nvSpPr>
          <p:cNvPr id="8" name="">
            <a:extLst xmlns:a="http://schemas.openxmlformats.org/drawingml/2006/main">
              <a:ext uri="{FF2B5EF4-FFF2-40B4-BE49-F238E27FC236}">
                <a16:creationId xmlns:a16="http://schemas.microsoft.com/office/drawing/2014/main" id="{46383511-8BCB-4E83-986A-8F6F32993B7E}"/>
              </a:ext>
            </a:extLst>
          </p:cNvPr>
          <p:cNvSpPr>
            <a:spLocks xmlns:a="http://schemas.openxmlformats.org/drawingml/2006/main" noGrp="1"/>
          </p:cNvSpPr>
          <p:nvPr/>
        </p:nvSpPr>
        <p:spPr>
          <a:xfrm xmlns:a="http://schemas.openxmlformats.org/drawingml/2006/main">
            <a:off x="666750" y="3714750"/>
            <a:ext cx="30670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Bioinformatics converts sequencing output into reliable, searchable variants.</a:t>
            </a:r>
          </a:p>
        </p:txBody>
      </p:sp>
      <p:sp>
        <p:nvSpPr>
          <p:cNvPr id="9" name="">
            <a:extLst xmlns:a="http://schemas.openxmlformats.org/drawingml/2006/main">
              <a:ext uri="{FF2B5EF4-FFF2-40B4-BE49-F238E27FC236}">
                <a16:creationId xmlns:a16="http://schemas.microsoft.com/office/drawing/2014/main" id="{F0E3D793-CC17-44C7-B41D-50CA41AD66B6}"/>
              </a:ext>
            </a:extLst>
          </p:cNvPr>
          <p:cNvSpPr>
            <a:spLocks xmlns:a="http://schemas.openxmlformats.org/drawingml/2006/main" noGrp="1"/>
          </p:cNvSpPr>
          <p:nvPr/>
        </p:nvSpPr>
        <p:spPr>
          <a:xfrm xmlns:a="http://schemas.openxmlformats.org/drawingml/2006/main">
            <a:off x="4286250" y="1943100"/>
            <a:ext cx="3562350" cy="3295650"/>
          </a:xfrm>
          <a:prstGeom xmlns:a="http://schemas.openxmlformats.org/drawingml/2006/main" prst="roundRect">
            <a:avLst>
              <a:gd name="adj" fmla="val 2312"/>
            </a:avLst>
          </a:prstGeom>
          <a:solidFill xmlns:a="http://schemas.openxmlformats.org/drawingml/2006/main">
            <a:srgbClr val="DDF5F3"/>
          </a:solidFill>
          <a:ln xmlns:a="http://schemas.openxmlformats.org/drawingml/2006/main" w="0">
            <a:solidFill>
              <a:srgbClr val="DDF5F3"/>
            </a:solidFill>
            <a:prstDash val="solid"/>
          </a:ln>
        </p:spPr>
      </p:sp>
      <p:sp>
        <p:nvSpPr>
          <p:cNvPr id="10" name="">
            <a:extLst xmlns:a="http://schemas.openxmlformats.org/drawingml/2006/main">
              <a:ext uri="{FF2B5EF4-FFF2-40B4-BE49-F238E27FC236}">
                <a16:creationId xmlns:a16="http://schemas.microsoft.com/office/drawing/2014/main" id="{EB8B152F-AC34-4416-B16F-E39A5F51B3D2}"/>
              </a:ext>
            </a:extLst>
          </p:cNvPr>
          <p:cNvSpPr>
            <a:spLocks xmlns:a="http://schemas.openxmlformats.org/drawingml/2006/main" noGrp="1"/>
          </p:cNvSpPr>
          <p:nvPr/>
        </p:nvSpPr>
        <p:spPr>
          <a:xfrm xmlns:a="http://schemas.openxmlformats.org/drawingml/2006/main">
            <a:off x="4533900" y="2190750"/>
            <a:ext cx="495300" cy="495300"/>
          </a:xfrm>
          <a:prstGeom xmlns:a="http://schemas.openxmlformats.org/drawingml/2006/main" prst="roundRect">
            <a:avLst>
              <a:gd name="adj" fmla="val 15385"/>
            </a:avLst>
          </a:prstGeom>
          <a:solidFill xmlns:a="http://schemas.openxmlformats.org/drawingml/2006/main">
            <a:srgbClr val="069C9C"/>
          </a:solidFill>
          <a:ln xmlns:a="http://schemas.openxmlformats.org/drawingml/2006/main" w="0">
            <a:solidFill>
              <a:srgbClr val="069C9C"/>
            </a:solidFill>
            <a:prstDash val="solid"/>
          </a:ln>
        </p:spPr>
      </p:sp>
      <p:sp>
        <p:nvSpPr>
          <p:cNvPr id="11" name="">
            <a:extLst xmlns:a="http://schemas.openxmlformats.org/drawingml/2006/main">
              <a:ext uri="{FF2B5EF4-FFF2-40B4-BE49-F238E27FC236}">
                <a16:creationId xmlns:a16="http://schemas.microsoft.com/office/drawing/2014/main" id="{CBEBCBF0-AF8E-4B89-8D07-793B36CAA56E}"/>
              </a:ext>
            </a:extLst>
          </p:cNvPr>
          <p:cNvSpPr>
            <a:spLocks xmlns:a="http://schemas.openxmlformats.org/drawingml/2006/main" noGrp="1"/>
          </p:cNvSpPr>
          <p:nvPr/>
        </p:nvSpPr>
        <p:spPr>
          <a:xfrm xmlns:a="http://schemas.openxmlformats.org/drawingml/2006/main">
            <a:off x="4533900" y="220027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AD0B908C-864E-42BA-9705-7A42F2B717E6}"/>
              </a:ext>
            </a:extLst>
          </p:cNvPr>
          <p:cNvSpPr>
            <a:spLocks xmlns:a="http://schemas.openxmlformats.org/drawingml/2006/main" noGrp="1"/>
          </p:cNvSpPr>
          <p:nvPr/>
        </p:nvSpPr>
        <p:spPr>
          <a:xfrm xmlns:a="http://schemas.openxmlformats.org/drawingml/2006/main">
            <a:off x="4533900" y="293370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Evaluate the evidence</a:t>
            </a:r>
          </a:p>
        </p:txBody>
      </p:sp>
      <p:sp>
        <p:nvSpPr>
          <p:cNvPr id="13" name="">
            <a:extLst xmlns:a="http://schemas.openxmlformats.org/drawingml/2006/main">
              <a:ext uri="{FF2B5EF4-FFF2-40B4-BE49-F238E27FC236}">
                <a16:creationId xmlns:a16="http://schemas.microsoft.com/office/drawing/2014/main" id="{3D884E73-D438-4733-B708-18336603F92C}"/>
              </a:ext>
            </a:extLst>
          </p:cNvPr>
          <p:cNvSpPr>
            <a:spLocks xmlns:a="http://schemas.openxmlformats.org/drawingml/2006/main" noGrp="1"/>
          </p:cNvSpPr>
          <p:nvPr/>
        </p:nvSpPr>
        <p:spPr>
          <a:xfrm xmlns:a="http://schemas.openxmlformats.org/drawingml/2006/main">
            <a:off x="4533900" y="3714750"/>
            <a:ext cx="30670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ACMG/AMP provides a structured framework for germline Mendelian variant classification.</a:t>
            </a:r>
          </a:p>
        </p:txBody>
      </p:sp>
      <p:sp>
        <p:nvSpPr>
          <p:cNvPr id="14" name="">
            <a:extLst xmlns:a="http://schemas.openxmlformats.org/drawingml/2006/main">
              <a:ext uri="{FF2B5EF4-FFF2-40B4-BE49-F238E27FC236}">
                <a16:creationId xmlns:a16="http://schemas.microsoft.com/office/drawing/2014/main" id="{70CF4AA1-A1B7-49F8-A61E-D685A6AB9EFD}"/>
              </a:ext>
            </a:extLst>
          </p:cNvPr>
          <p:cNvSpPr>
            <a:spLocks xmlns:a="http://schemas.openxmlformats.org/drawingml/2006/main" noGrp="1"/>
          </p:cNvSpPr>
          <p:nvPr/>
        </p:nvSpPr>
        <p:spPr>
          <a:xfrm xmlns:a="http://schemas.openxmlformats.org/drawingml/2006/main">
            <a:off x="8153400" y="1943100"/>
            <a:ext cx="3562350" cy="3295650"/>
          </a:xfrm>
          <a:prstGeom xmlns:a="http://schemas.openxmlformats.org/drawingml/2006/main" prst="roundRect">
            <a:avLst>
              <a:gd name="adj" fmla="val 2312"/>
            </a:avLst>
          </a:prstGeom>
          <a:solidFill xmlns:a="http://schemas.openxmlformats.org/drawingml/2006/main">
            <a:srgbClr val="EEE8FB"/>
          </a:solidFill>
          <a:ln xmlns:a="http://schemas.openxmlformats.org/drawingml/2006/main" w="0">
            <a:solidFill>
              <a:srgbClr val="EEE8FB"/>
            </a:solidFill>
            <a:prstDash val="solid"/>
          </a:ln>
        </p:spPr>
      </p:sp>
      <p:sp>
        <p:nvSpPr>
          <p:cNvPr id="15" name="">
            <a:extLst xmlns:a="http://schemas.openxmlformats.org/drawingml/2006/main">
              <a:ext uri="{FF2B5EF4-FFF2-40B4-BE49-F238E27FC236}">
                <a16:creationId xmlns:a16="http://schemas.microsoft.com/office/drawing/2014/main" id="{E1D92D04-1A81-4044-828B-8AA041DFAED8}"/>
              </a:ext>
            </a:extLst>
          </p:cNvPr>
          <p:cNvSpPr>
            <a:spLocks xmlns:a="http://schemas.openxmlformats.org/drawingml/2006/main" noGrp="1"/>
          </p:cNvSpPr>
          <p:nvPr/>
        </p:nvSpPr>
        <p:spPr>
          <a:xfrm xmlns:a="http://schemas.openxmlformats.org/drawingml/2006/main">
            <a:off x="8401050" y="2190750"/>
            <a:ext cx="495300" cy="495300"/>
          </a:xfrm>
          <a:prstGeom xmlns:a="http://schemas.openxmlformats.org/drawingml/2006/main" prst="roundRect">
            <a:avLst>
              <a:gd name="adj" fmla="val 15385"/>
            </a:avLst>
          </a:prstGeom>
          <a:solidFill xmlns:a="http://schemas.openxmlformats.org/drawingml/2006/main">
            <a:srgbClr val="7756C2"/>
          </a:solidFill>
          <a:ln xmlns:a="http://schemas.openxmlformats.org/drawingml/2006/main" w="0">
            <a:solidFill>
              <a:srgbClr val="7756C2"/>
            </a:solidFill>
            <a:prstDash val="solid"/>
          </a:ln>
        </p:spPr>
      </p:sp>
      <p:sp>
        <p:nvSpPr>
          <p:cNvPr id="16" name="">
            <a:extLst xmlns:a="http://schemas.openxmlformats.org/drawingml/2006/main">
              <a:ext uri="{FF2B5EF4-FFF2-40B4-BE49-F238E27FC236}">
                <a16:creationId xmlns:a16="http://schemas.microsoft.com/office/drawing/2014/main" id="{802A89D6-4EF7-4A89-A23B-31F4AE460FB9}"/>
              </a:ext>
            </a:extLst>
          </p:cNvPr>
          <p:cNvSpPr>
            <a:spLocks xmlns:a="http://schemas.openxmlformats.org/drawingml/2006/main" noGrp="1"/>
          </p:cNvSpPr>
          <p:nvPr/>
        </p:nvSpPr>
        <p:spPr>
          <a:xfrm xmlns:a="http://schemas.openxmlformats.org/drawingml/2006/main">
            <a:off x="8401050" y="2200275"/>
            <a:ext cx="49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C0527540-10CE-489F-99DD-EC9A1DB51EF9}"/>
              </a:ext>
            </a:extLst>
          </p:cNvPr>
          <p:cNvSpPr>
            <a:spLocks xmlns:a="http://schemas.openxmlformats.org/drawingml/2006/main" noGrp="1"/>
          </p:cNvSpPr>
          <p:nvPr/>
        </p:nvSpPr>
        <p:spPr>
          <a:xfrm xmlns:a="http://schemas.openxmlformats.org/drawingml/2006/main">
            <a:off x="8401050" y="2933700"/>
            <a:ext cx="3067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B1F33"/>
                </a:solidFill>
                <a:latin typeface="Arial"/>
                <a:ea typeface="Arial"/>
                <a:cs typeface="Arial"/>
              </a:defRPr>
            </a:pPr>
            <a:r>
              <a:rPr sz="2025" b="1" i="0">
                <a:solidFill>
                  <a:srgbClr val="0B1F33"/>
                </a:solidFill>
                <a:latin typeface="Arial"/>
                <a:ea typeface="Arial"/>
                <a:cs typeface="Arial"/>
              </a:rPr>
              <a:t>Make it reproducible</a:t>
            </a:r>
          </a:p>
        </p:txBody>
      </p:sp>
      <p:sp>
        <p:nvSpPr>
          <p:cNvPr id="18" name="">
            <a:extLst xmlns:a="http://schemas.openxmlformats.org/drawingml/2006/main">
              <a:ext uri="{FF2B5EF4-FFF2-40B4-BE49-F238E27FC236}">
                <a16:creationId xmlns:a16="http://schemas.microsoft.com/office/drawing/2014/main" id="{E46D688C-A077-4A51-9C37-E606F633E2A5}"/>
              </a:ext>
            </a:extLst>
          </p:cNvPr>
          <p:cNvSpPr>
            <a:spLocks xmlns:a="http://schemas.openxmlformats.org/drawingml/2006/main" noGrp="1"/>
          </p:cNvSpPr>
          <p:nvPr/>
        </p:nvSpPr>
        <p:spPr>
          <a:xfrm xmlns:a="http://schemas.openxmlformats.org/drawingml/2006/main">
            <a:off x="8401050" y="3714750"/>
            <a:ext cx="30670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The command line records the exact operations used to reach the result.</a:t>
            </a:r>
          </a:p>
        </p:txBody>
      </p:sp>
      <p:sp>
        <p:nvSpPr>
          <p:cNvPr id="19" name="">
            <a:extLst xmlns:a="http://schemas.openxmlformats.org/drawingml/2006/main">
              <a:ext uri="{FF2B5EF4-FFF2-40B4-BE49-F238E27FC236}">
                <a16:creationId xmlns:a16="http://schemas.microsoft.com/office/drawing/2014/main" id="{C39460D8-F427-4B1F-B3BF-47474EF34B44}"/>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03</a:t>
            </a:r>
          </a:p>
        </p:txBody>
      </p:sp>
    </p:spTree>
    <p:extLst>
      <p:ext uri="{BB962C8B-B14F-4D97-AF65-F5344CB8AC3E}">
        <p14:creationId xmlns:p14="http://schemas.microsoft.com/office/powerpoint/2010/main" val="8128266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12BF05-DA4E-4D01-8945-DDE8A718826B}"/>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BIOINFORMATICS</a:t>
            </a:r>
          </a:p>
        </p:txBody>
      </p:sp>
      <p:sp>
        <p:nvSpPr>
          <p:cNvPr id="2" name="">
            <a:extLst xmlns:a="http://schemas.openxmlformats.org/drawingml/2006/main">
              <a:ext uri="{FF2B5EF4-FFF2-40B4-BE49-F238E27FC236}">
                <a16:creationId xmlns:a16="http://schemas.microsoft.com/office/drawing/2014/main" id="{F33C1669-685B-44BE-A018-DE0FD87C63C1}"/>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Bioinformatics gives biological data a computable form</a:t>
            </a:r>
          </a:p>
        </p:txBody>
      </p:sp>
      <p:cxnSp>
        <p:nvCxnSpPr>
          <p:cNvPr id="20"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5ADA6237-0772-4BFF-960B-5F3FC4CD1D40}"/>
              </a:ext>
            </a:extLst>
          </p:cNvPr>
          <p:cNvSpPr>
            <a:spLocks xmlns:a="http://schemas.openxmlformats.org/drawingml/2006/main" noGrp="1"/>
          </p:cNvSpPr>
          <p:nvPr/>
        </p:nvSpPr>
        <p:spPr>
          <a:xfrm xmlns:a="http://schemas.openxmlformats.org/drawingml/2006/main">
            <a:off x="552450" y="1866900"/>
            <a:ext cx="4476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i="0">
                <a:solidFill>
                  <a:srgbClr val="2D6CDF"/>
                </a:solidFill>
                <a:latin typeface="Arial"/>
                <a:ea typeface="Arial"/>
                <a:cs typeface="Arial"/>
              </a:defRPr>
            </a:pPr>
            <a:r>
              <a:rPr sz="3150" b="1" i="0">
                <a:solidFill>
                  <a:srgbClr val="2D6CDF"/>
                </a:solidFill>
                <a:latin typeface="Arial"/>
                <a:ea typeface="Arial"/>
                <a:cs typeface="Arial"/>
              </a:rPr>
              <a:t>Bioinformatics</a:t>
            </a:r>
          </a:p>
        </p:txBody>
      </p:sp>
      <p:sp>
        <p:nvSpPr>
          <p:cNvPr id="5" name="">
            <a:extLst xmlns:a="http://schemas.openxmlformats.org/drawingml/2006/main">
              <a:ext uri="{FF2B5EF4-FFF2-40B4-BE49-F238E27FC236}">
                <a16:creationId xmlns:a16="http://schemas.microsoft.com/office/drawing/2014/main" id="{E433226A-1173-4FF0-98A1-8227335B0DC8}"/>
              </a:ext>
            </a:extLst>
          </p:cNvPr>
          <p:cNvSpPr>
            <a:spLocks xmlns:a="http://schemas.openxmlformats.org/drawingml/2006/main" noGrp="1"/>
          </p:cNvSpPr>
          <p:nvPr/>
        </p:nvSpPr>
        <p:spPr>
          <a:xfrm xmlns:a="http://schemas.openxmlformats.org/drawingml/2006/main">
            <a:off x="552450" y="2724150"/>
            <a:ext cx="5143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0B1F33"/>
                </a:solidFill>
                <a:latin typeface="Arial"/>
                <a:ea typeface="Arial"/>
                <a:cs typeface="Arial"/>
              </a:defRPr>
            </a:pPr>
            <a:r>
              <a:rPr sz="2025" b="0" i="0">
                <a:solidFill>
                  <a:srgbClr val="0B1F33"/>
                </a:solidFill>
                <a:latin typeface="Arial"/>
                <a:ea typeface="Arial"/>
                <a:cs typeface="Arial"/>
              </a:rPr>
              <a:t>is the use of computational methods, statistics and biological knowledge to store, process, analyze and interpret biological data.</a:t>
            </a:r>
          </a:p>
        </p:txBody>
      </p:sp>
      <p:sp>
        <p:nvSpPr>
          <p:cNvPr id="6" name="">
            <a:extLst xmlns:a="http://schemas.openxmlformats.org/drawingml/2006/main">
              <a:ext uri="{FF2B5EF4-FFF2-40B4-BE49-F238E27FC236}">
                <a16:creationId xmlns:a16="http://schemas.microsoft.com/office/drawing/2014/main" id="{EBC6B75C-0700-4862-B530-48DDB381CE06}"/>
              </a:ext>
            </a:extLst>
          </p:cNvPr>
          <p:cNvSpPr>
            <a:spLocks xmlns:a="http://schemas.openxmlformats.org/drawingml/2006/main" noGrp="1"/>
          </p:cNvSpPr>
          <p:nvPr/>
        </p:nvSpPr>
        <p:spPr>
          <a:xfrm xmlns:a="http://schemas.openxmlformats.org/drawingml/2006/main">
            <a:off x="6686550" y="1809750"/>
            <a:ext cx="4762500" cy="3143250"/>
          </a:xfrm>
          <a:prstGeom xmlns:a="http://schemas.openxmlformats.org/drawingml/2006/main" prst="roundRect">
            <a:avLst>
              <a:gd name="adj" fmla="val 2424"/>
            </a:avLst>
          </a:prstGeom>
          <a:solidFill xmlns:a="http://schemas.openxmlformats.org/drawingml/2006/main">
            <a:srgbClr val="F3F6F9"/>
          </a:solidFill>
          <a:ln xmlns:a="http://schemas.openxmlformats.org/drawingml/2006/main" w="0">
            <a:solidFill>
              <a:srgbClr val="F3F6F9"/>
            </a:solidFill>
            <a:prstDash val="solid"/>
          </a:ln>
        </p:spPr>
      </p:sp>
      <p:sp>
        <p:nvSpPr>
          <p:cNvPr id="7" name="">
            <a:extLst xmlns:a="http://schemas.openxmlformats.org/drawingml/2006/main">
              <a:ext uri="{FF2B5EF4-FFF2-40B4-BE49-F238E27FC236}">
                <a16:creationId xmlns:a16="http://schemas.microsoft.com/office/drawing/2014/main" id="{46150D68-F212-455F-9705-2BC9B07628F2}"/>
              </a:ext>
            </a:extLst>
          </p:cNvPr>
          <p:cNvSpPr>
            <a:spLocks xmlns:a="http://schemas.openxmlformats.org/drawingml/2006/main" noGrp="1"/>
          </p:cNvSpPr>
          <p:nvPr/>
        </p:nvSpPr>
        <p:spPr>
          <a:xfrm xmlns:a="http://schemas.openxmlformats.org/drawingml/2006/main">
            <a:off x="7239000" y="2305050"/>
            <a:ext cx="1809750" cy="876300"/>
          </a:xfrm>
          <a:prstGeom xmlns:a="http://schemas.openxmlformats.org/drawingml/2006/main" prst="roundRect">
            <a:avLst>
              <a:gd name="adj" fmla="val 8696"/>
            </a:avLst>
          </a:prstGeom>
          <a:solidFill xmlns:a="http://schemas.openxmlformats.org/drawingml/2006/main">
            <a:srgbClr val="DEF3E7"/>
          </a:solidFill>
          <a:ln xmlns:a="http://schemas.openxmlformats.org/drawingml/2006/main" w="0">
            <a:solidFill>
              <a:srgbClr val="DEF3E7"/>
            </a:solidFill>
            <a:prstDash val="solid"/>
          </a:ln>
        </p:spPr>
      </p:sp>
      <p:sp>
        <p:nvSpPr>
          <p:cNvPr id="8" name="">
            <a:extLst xmlns:a="http://schemas.openxmlformats.org/drawingml/2006/main">
              <a:ext uri="{FF2B5EF4-FFF2-40B4-BE49-F238E27FC236}">
                <a16:creationId xmlns:a16="http://schemas.microsoft.com/office/drawing/2014/main" id="{B9F374D4-8F31-4F4D-A2B4-DD4772430CD5}"/>
              </a:ext>
            </a:extLst>
          </p:cNvPr>
          <p:cNvSpPr>
            <a:spLocks xmlns:a="http://schemas.openxmlformats.org/drawingml/2006/main" noGrp="1"/>
          </p:cNvSpPr>
          <p:nvPr/>
        </p:nvSpPr>
        <p:spPr>
          <a:xfrm xmlns:a="http://schemas.openxmlformats.org/drawingml/2006/main">
            <a:off x="7239000" y="26003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359B64"/>
                </a:solidFill>
                <a:latin typeface="Arial"/>
                <a:ea typeface="Arial"/>
                <a:cs typeface="Arial"/>
              </a:defRPr>
            </a:pPr>
            <a:r>
              <a:rPr sz="1275" b="1" i="0">
                <a:solidFill>
                  <a:srgbClr val="359B64"/>
                </a:solidFill>
                <a:latin typeface="Arial"/>
                <a:ea typeface="Arial"/>
                <a:cs typeface="Arial"/>
              </a:rPr>
              <a:t>BIOLOGY</a:t>
            </a:r>
          </a:p>
        </p:txBody>
      </p:sp>
      <p:sp>
        <p:nvSpPr>
          <p:cNvPr id="9" name="">
            <a:extLst xmlns:a="http://schemas.openxmlformats.org/drawingml/2006/main">
              <a:ext uri="{FF2B5EF4-FFF2-40B4-BE49-F238E27FC236}">
                <a16:creationId xmlns:a16="http://schemas.microsoft.com/office/drawing/2014/main" id="{E384CCBC-2DB4-4BED-A65A-DAAAB43A1652}"/>
              </a:ext>
            </a:extLst>
          </p:cNvPr>
          <p:cNvSpPr>
            <a:spLocks xmlns:a="http://schemas.openxmlformats.org/drawingml/2006/main" noGrp="1"/>
          </p:cNvSpPr>
          <p:nvPr/>
        </p:nvSpPr>
        <p:spPr>
          <a:xfrm xmlns:a="http://schemas.openxmlformats.org/drawingml/2006/main">
            <a:off x="8991600" y="2305050"/>
            <a:ext cx="1809750" cy="876300"/>
          </a:xfrm>
          <a:prstGeom xmlns:a="http://schemas.openxmlformats.org/drawingml/2006/main" prst="roundRect">
            <a:avLst>
              <a:gd name="adj" fmla="val 8696"/>
            </a:avLst>
          </a:prstGeom>
          <a:solidFill xmlns:a="http://schemas.openxmlformats.org/drawingml/2006/main">
            <a:srgbClr val="DCE8FF"/>
          </a:solidFill>
          <a:ln xmlns:a="http://schemas.openxmlformats.org/drawingml/2006/main" w="0">
            <a:solidFill>
              <a:srgbClr val="DCE8FF"/>
            </a:solidFill>
            <a:prstDash val="solid"/>
          </a:ln>
        </p:spPr>
      </p:sp>
      <p:sp>
        <p:nvSpPr>
          <p:cNvPr id="10" name="">
            <a:extLst xmlns:a="http://schemas.openxmlformats.org/drawingml/2006/main">
              <a:ext uri="{FF2B5EF4-FFF2-40B4-BE49-F238E27FC236}">
                <a16:creationId xmlns:a16="http://schemas.microsoft.com/office/drawing/2014/main" id="{AF28AF4F-449D-4F26-9798-9510230CD611}"/>
              </a:ext>
            </a:extLst>
          </p:cNvPr>
          <p:cNvSpPr>
            <a:spLocks xmlns:a="http://schemas.openxmlformats.org/drawingml/2006/main" noGrp="1"/>
          </p:cNvSpPr>
          <p:nvPr/>
        </p:nvSpPr>
        <p:spPr>
          <a:xfrm xmlns:a="http://schemas.openxmlformats.org/drawingml/2006/main">
            <a:off x="8991600" y="26003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2D6CDF"/>
                </a:solidFill>
                <a:latin typeface="Arial"/>
                <a:ea typeface="Arial"/>
                <a:cs typeface="Arial"/>
              </a:defRPr>
            </a:pPr>
            <a:r>
              <a:rPr sz="1275" b="1" i="0">
                <a:solidFill>
                  <a:srgbClr val="2D6CDF"/>
                </a:solidFill>
                <a:latin typeface="Arial"/>
                <a:ea typeface="Arial"/>
                <a:cs typeface="Arial"/>
              </a:rPr>
              <a:t>COMPUTATION</a:t>
            </a:r>
          </a:p>
        </p:txBody>
      </p:sp>
      <p:sp>
        <p:nvSpPr>
          <p:cNvPr id="11" name="">
            <a:extLst xmlns:a="http://schemas.openxmlformats.org/drawingml/2006/main">
              <a:ext uri="{FF2B5EF4-FFF2-40B4-BE49-F238E27FC236}">
                <a16:creationId xmlns:a16="http://schemas.microsoft.com/office/drawing/2014/main" id="{D3984BFC-18F7-4A56-9BCF-496639F3D199}"/>
              </a:ext>
            </a:extLst>
          </p:cNvPr>
          <p:cNvSpPr>
            <a:spLocks xmlns:a="http://schemas.openxmlformats.org/drawingml/2006/main" noGrp="1"/>
          </p:cNvSpPr>
          <p:nvPr/>
        </p:nvSpPr>
        <p:spPr>
          <a:xfrm xmlns:a="http://schemas.openxmlformats.org/drawingml/2006/main">
            <a:off x="7239000" y="3790950"/>
            <a:ext cx="1809750" cy="876300"/>
          </a:xfrm>
          <a:prstGeom xmlns:a="http://schemas.openxmlformats.org/drawingml/2006/main" prst="roundRect">
            <a:avLst>
              <a:gd name="adj" fmla="val 8696"/>
            </a:avLst>
          </a:prstGeom>
          <a:solidFill xmlns:a="http://schemas.openxmlformats.org/drawingml/2006/main">
            <a:srgbClr val="FFF1CF"/>
          </a:solidFill>
          <a:ln xmlns:a="http://schemas.openxmlformats.org/drawingml/2006/main" w="0">
            <a:solidFill>
              <a:srgbClr val="FFF1CF"/>
            </a:solidFill>
            <a:prstDash val="solid"/>
          </a:ln>
        </p:spPr>
      </p:sp>
      <p:sp>
        <p:nvSpPr>
          <p:cNvPr id="12" name="">
            <a:extLst xmlns:a="http://schemas.openxmlformats.org/drawingml/2006/main">
              <a:ext uri="{FF2B5EF4-FFF2-40B4-BE49-F238E27FC236}">
                <a16:creationId xmlns:a16="http://schemas.microsoft.com/office/drawing/2014/main" id="{D97E790E-D19E-4FAD-866D-6DA769E9E157}"/>
              </a:ext>
            </a:extLst>
          </p:cNvPr>
          <p:cNvSpPr>
            <a:spLocks xmlns:a="http://schemas.openxmlformats.org/drawingml/2006/main" noGrp="1"/>
          </p:cNvSpPr>
          <p:nvPr/>
        </p:nvSpPr>
        <p:spPr>
          <a:xfrm xmlns:a="http://schemas.openxmlformats.org/drawingml/2006/main">
            <a:off x="7239000" y="40862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E7A62F"/>
                </a:solidFill>
                <a:latin typeface="Arial"/>
                <a:ea typeface="Arial"/>
                <a:cs typeface="Arial"/>
              </a:defRPr>
            </a:pPr>
            <a:r>
              <a:rPr sz="1275" b="1" i="0">
                <a:solidFill>
                  <a:srgbClr val="E7A62F"/>
                </a:solidFill>
                <a:latin typeface="Arial"/>
                <a:ea typeface="Arial"/>
                <a:cs typeface="Arial"/>
              </a:rPr>
              <a:t>STATISTICS</a:t>
            </a:r>
          </a:p>
        </p:txBody>
      </p:sp>
      <p:sp>
        <p:nvSpPr>
          <p:cNvPr id="13" name="">
            <a:extLst xmlns:a="http://schemas.openxmlformats.org/drawingml/2006/main">
              <a:ext uri="{FF2B5EF4-FFF2-40B4-BE49-F238E27FC236}">
                <a16:creationId xmlns:a16="http://schemas.microsoft.com/office/drawing/2014/main" id="{BE897698-951B-4453-B230-B9ACBC8B3E18}"/>
              </a:ext>
            </a:extLst>
          </p:cNvPr>
          <p:cNvSpPr>
            <a:spLocks xmlns:a="http://schemas.openxmlformats.org/drawingml/2006/main" noGrp="1"/>
          </p:cNvSpPr>
          <p:nvPr/>
        </p:nvSpPr>
        <p:spPr>
          <a:xfrm xmlns:a="http://schemas.openxmlformats.org/drawingml/2006/main">
            <a:off x="8991600" y="3790950"/>
            <a:ext cx="1809750" cy="876300"/>
          </a:xfrm>
          <a:prstGeom xmlns:a="http://schemas.openxmlformats.org/drawingml/2006/main" prst="roundRect">
            <a:avLst>
              <a:gd name="adj" fmla="val 8696"/>
            </a:avLst>
          </a:prstGeom>
          <a:solidFill xmlns:a="http://schemas.openxmlformats.org/drawingml/2006/main">
            <a:srgbClr val="EEE8FB"/>
          </a:solidFill>
          <a:ln xmlns:a="http://schemas.openxmlformats.org/drawingml/2006/main" w="0">
            <a:solidFill>
              <a:srgbClr val="EEE8FB"/>
            </a:solidFill>
            <a:prstDash val="solid"/>
          </a:ln>
        </p:spPr>
      </p:sp>
      <p:sp>
        <p:nvSpPr>
          <p:cNvPr id="14" name="">
            <a:extLst xmlns:a="http://schemas.openxmlformats.org/drawingml/2006/main">
              <a:ext uri="{FF2B5EF4-FFF2-40B4-BE49-F238E27FC236}">
                <a16:creationId xmlns:a16="http://schemas.microsoft.com/office/drawing/2014/main" id="{D2BCC488-0C7B-4E90-B55E-7A3018CEB8F8}"/>
              </a:ext>
            </a:extLst>
          </p:cNvPr>
          <p:cNvSpPr>
            <a:spLocks xmlns:a="http://schemas.openxmlformats.org/drawingml/2006/main" noGrp="1"/>
          </p:cNvSpPr>
          <p:nvPr/>
        </p:nvSpPr>
        <p:spPr>
          <a:xfrm xmlns:a="http://schemas.openxmlformats.org/drawingml/2006/main">
            <a:off x="8991600" y="40862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7756C2"/>
                </a:solidFill>
                <a:latin typeface="Arial"/>
                <a:ea typeface="Arial"/>
                <a:cs typeface="Arial"/>
              </a:defRPr>
            </a:pPr>
            <a:r>
              <a:rPr sz="1275" b="1" i="0">
                <a:solidFill>
                  <a:srgbClr val="7756C2"/>
                </a:solidFill>
                <a:latin typeface="Arial"/>
                <a:ea typeface="Arial"/>
                <a:cs typeface="Arial"/>
              </a:rPr>
              <a:t>CLINICAL CONTEXT</a:t>
            </a:r>
          </a:p>
        </p:txBody>
      </p:sp>
      <p:sp>
        <p:nvSpPr>
          <p:cNvPr id="15" name="">
            <a:extLst xmlns:a="http://schemas.openxmlformats.org/drawingml/2006/main">
              <a:ext uri="{FF2B5EF4-FFF2-40B4-BE49-F238E27FC236}">
                <a16:creationId xmlns:a16="http://schemas.microsoft.com/office/drawing/2014/main" id="{C07CB5CC-C088-4119-88F5-4338C11E17AE}"/>
              </a:ext>
            </a:extLst>
          </p:cNvPr>
          <p:cNvSpPr>
            <a:spLocks xmlns:a="http://schemas.openxmlformats.org/drawingml/2006/main" noGrp="1"/>
          </p:cNvSpPr>
          <p:nvPr/>
        </p:nvSpPr>
        <p:spPr>
          <a:xfrm xmlns:a="http://schemas.openxmlformats.org/drawingml/2006/main">
            <a:off x="8553450" y="3162300"/>
            <a:ext cx="666750" cy="666750"/>
          </a:xfrm>
          <a:prstGeom xmlns:a="http://schemas.openxmlformats.org/drawingml/2006/main" prst="roundRect">
            <a:avLst>
              <a:gd name="adj" fmla="val 11429"/>
            </a:avLst>
          </a:prstGeom>
          <a:solidFill xmlns:a="http://schemas.openxmlformats.org/drawingml/2006/main">
            <a:srgbClr val="0B1F33"/>
          </a:solidFill>
          <a:ln xmlns:a="http://schemas.openxmlformats.org/drawingml/2006/main" w="0">
            <a:solidFill>
              <a:srgbClr val="0B1F33"/>
            </a:solidFill>
            <a:prstDash val="solid"/>
          </a:ln>
        </p:spPr>
      </p:sp>
      <p:sp>
        <p:nvSpPr>
          <p:cNvPr id="16" name="">
            <a:extLst xmlns:a="http://schemas.openxmlformats.org/drawingml/2006/main">
              <a:ext uri="{FF2B5EF4-FFF2-40B4-BE49-F238E27FC236}">
                <a16:creationId xmlns:a16="http://schemas.microsoft.com/office/drawing/2014/main" id="{4A11D2BE-DE9F-4565-B2B5-08CDE03F643A}"/>
              </a:ext>
            </a:extLst>
          </p:cNvPr>
          <p:cNvSpPr>
            <a:spLocks xmlns:a="http://schemas.openxmlformats.org/drawingml/2006/main" noGrp="1"/>
          </p:cNvSpPr>
          <p:nvPr/>
        </p:nvSpPr>
        <p:spPr>
          <a:xfrm xmlns:a="http://schemas.openxmlformats.org/drawingml/2006/main">
            <a:off x="8553450" y="3171825"/>
            <a:ext cx="666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i="0">
                <a:solidFill>
                  <a:srgbClr val="FFFFFF"/>
                </a:solidFill>
                <a:latin typeface="Arial"/>
                <a:ea typeface="Arial"/>
                <a:cs typeface="Arial"/>
              </a:defRPr>
            </a:pPr>
            <a:r>
              <a:rPr sz="1275" b="1" i="0">
                <a:solidFill>
                  <a:srgbClr val="FFFFFF"/>
                </a:solidFill>
                <a:latin typeface="Arial"/>
                <a:ea typeface="Arial"/>
                <a:cs typeface="Arial"/>
              </a:rPr>
              <a:t>DATA</a:t>
            </a:r>
          </a:p>
        </p:txBody>
      </p:sp>
      <p:sp>
        <p:nvSpPr>
          <p:cNvPr id="17" name="">
            <a:extLst xmlns:a="http://schemas.openxmlformats.org/drawingml/2006/main">
              <a:ext uri="{FF2B5EF4-FFF2-40B4-BE49-F238E27FC236}">
                <a16:creationId xmlns:a16="http://schemas.microsoft.com/office/drawing/2014/main" id="{E4AEEC05-C26C-4969-96DB-8F7107651A1F}"/>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04</a:t>
            </a:r>
          </a:p>
        </p:txBody>
      </p:sp>
    </p:spTree>
    <p:extLst>
      <p:ext uri="{BB962C8B-B14F-4D97-AF65-F5344CB8AC3E}">
        <p14:creationId xmlns:p14="http://schemas.microsoft.com/office/powerpoint/2010/main" val="20441462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F442F34-979D-4812-8306-9BE6FBE91E99}"/>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WHY BIOINFORMATICS IS NECESSARY</a:t>
            </a:r>
          </a:p>
        </p:txBody>
      </p:sp>
      <p:sp>
        <p:nvSpPr>
          <p:cNvPr id="2" name="">
            <a:extLst xmlns:a="http://schemas.openxmlformats.org/drawingml/2006/main">
              <a:ext uri="{FF2B5EF4-FFF2-40B4-BE49-F238E27FC236}">
                <a16:creationId xmlns:a16="http://schemas.microsoft.com/office/drawing/2014/main" id="{F19D1219-3E81-4D8D-B8B4-9B729A33EFC9}"/>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NGS creates a scale that manual review cannot handle</a:t>
            </a:r>
          </a:p>
        </p:txBody>
      </p:sp>
      <p:cxnSp>
        <p:nvCxnSpPr>
          <p:cNvPr id="198"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D10BB488-B868-4452-B922-0703A59B8CC2}"/>
              </a:ext>
            </a:extLst>
          </p:cNvPr>
          <p:cNvSpPr>
            <a:spLocks xmlns:a="http://schemas.openxmlformats.org/drawingml/2006/main" noGrp="1"/>
          </p:cNvSpPr>
          <p:nvPr/>
        </p:nvSpPr>
        <p:spPr>
          <a:xfrm xmlns:a="http://schemas.openxmlformats.org/drawingml/2006/main">
            <a:off x="666750" y="1962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 name="">
            <a:extLst xmlns:a="http://schemas.openxmlformats.org/drawingml/2006/main">
              <a:ext uri="{FF2B5EF4-FFF2-40B4-BE49-F238E27FC236}">
                <a16:creationId xmlns:a16="http://schemas.microsoft.com/office/drawing/2014/main" id="{B874E341-AE57-4581-A0A2-2CB3938F23FC}"/>
              </a:ext>
            </a:extLst>
          </p:cNvPr>
          <p:cNvSpPr>
            <a:spLocks xmlns:a="http://schemas.openxmlformats.org/drawingml/2006/main" noGrp="1"/>
          </p:cNvSpPr>
          <p:nvPr/>
        </p:nvSpPr>
        <p:spPr>
          <a:xfrm xmlns:a="http://schemas.openxmlformats.org/drawingml/2006/main">
            <a:off x="904875" y="1962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6" name="">
            <a:extLst xmlns:a="http://schemas.openxmlformats.org/drawingml/2006/main">
              <a:ext uri="{FF2B5EF4-FFF2-40B4-BE49-F238E27FC236}">
                <a16:creationId xmlns:a16="http://schemas.microsoft.com/office/drawing/2014/main" id="{9D5F9C17-A331-4B41-960F-F9BFFA46C076}"/>
              </a:ext>
            </a:extLst>
          </p:cNvPr>
          <p:cNvSpPr>
            <a:spLocks xmlns:a="http://schemas.openxmlformats.org/drawingml/2006/main" noGrp="1"/>
          </p:cNvSpPr>
          <p:nvPr/>
        </p:nvSpPr>
        <p:spPr>
          <a:xfrm xmlns:a="http://schemas.openxmlformats.org/drawingml/2006/main">
            <a:off x="1143000" y="1962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7" name="">
            <a:extLst xmlns:a="http://schemas.openxmlformats.org/drawingml/2006/main">
              <a:ext uri="{FF2B5EF4-FFF2-40B4-BE49-F238E27FC236}">
                <a16:creationId xmlns:a16="http://schemas.microsoft.com/office/drawing/2014/main" id="{07350E63-86C3-46D8-8768-EBF8E38D7B8E}"/>
              </a:ext>
            </a:extLst>
          </p:cNvPr>
          <p:cNvSpPr>
            <a:spLocks xmlns:a="http://schemas.openxmlformats.org/drawingml/2006/main" noGrp="1"/>
          </p:cNvSpPr>
          <p:nvPr/>
        </p:nvSpPr>
        <p:spPr>
          <a:xfrm xmlns:a="http://schemas.openxmlformats.org/drawingml/2006/main">
            <a:off x="1381125" y="1962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8" name="">
            <a:extLst xmlns:a="http://schemas.openxmlformats.org/drawingml/2006/main">
              <a:ext uri="{FF2B5EF4-FFF2-40B4-BE49-F238E27FC236}">
                <a16:creationId xmlns:a16="http://schemas.microsoft.com/office/drawing/2014/main" id="{889483AF-F93C-4FE3-B7BD-501AAA389B64}"/>
              </a:ext>
            </a:extLst>
          </p:cNvPr>
          <p:cNvSpPr>
            <a:spLocks xmlns:a="http://schemas.openxmlformats.org/drawingml/2006/main" noGrp="1"/>
          </p:cNvSpPr>
          <p:nvPr/>
        </p:nvSpPr>
        <p:spPr>
          <a:xfrm xmlns:a="http://schemas.openxmlformats.org/drawingml/2006/main">
            <a:off x="1619250" y="1962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9" name="">
            <a:extLst xmlns:a="http://schemas.openxmlformats.org/drawingml/2006/main">
              <a:ext uri="{FF2B5EF4-FFF2-40B4-BE49-F238E27FC236}">
                <a16:creationId xmlns:a16="http://schemas.microsoft.com/office/drawing/2014/main" id="{60E14128-228D-4140-8D80-7068C21ECA5D}"/>
              </a:ext>
            </a:extLst>
          </p:cNvPr>
          <p:cNvSpPr>
            <a:spLocks xmlns:a="http://schemas.openxmlformats.org/drawingml/2006/main" noGrp="1"/>
          </p:cNvSpPr>
          <p:nvPr/>
        </p:nvSpPr>
        <p:spPr>
          <a:xfrm xmlns:a="http://schemas.openxmlformats.org/drawingml/2006/main">
            <a:off x="1857375" y="1962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0" name="">
            <a:extLst xmlns:a="http://schemas.openxmlformats.org/drawingml/2006/main">
              <a:ext uri="{FF2B5EF4-FFF2-40B4-BE49-F238E27FC236}">
                <a16:creationId xmlns:a16="http://schemas.microsoft.com/office/drawing/2014/main" id="{5D627512-CAEC-4D9C-8F22-7086EF45C0B8}"/>
              </a:ext>
            </a:extLst>
          </p:cNvPr>
          <p:cNvSpPr>
            <a:spLocks xmlns:a="http://schemas.openxmlformats.org/drawingml/2006/main" noGrp="1"/>
          </p:cNvSpPr>
          <p:nvPr/>
        </p:nvSpPr>
        <p:spPr>
          <a:xfrm xmlns:a="http://schemas.openxmlformats.org/drawingml/2006/main">
            <a:off x="2095500" y="1962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1" name="">
            <a:extLst xmlns:a="http://schemas.openxmlformats.org/drawingml/2006/main">
              <a:ext uri="{FF2B5EF4-FFF2-40B4-BE49-F238E27FC236}">
                <a16:creationId xmlns:a16="http://schemas.microsoft.com/office/drawing/2014/main" id="{A93F939F-7E23-4651-989B-48717B0DC17B}"/>
              </a:ext>
            </a:extLst>
          </p:cNvPr>
          <p:cNvSpPr>
            <a:spLocks xmlns:a="http://schemas.openxmlformats.org/drawingml/2006/main" noGrp="1"/>
          </p:cNvSpPr>
          <p:nvPr/>
        </p:nvSpPr>
        <p:spPr>
          <a:xfrm xmlns:a="http://schemas.openxmlformats.org/drawingml/2006/main">
            <a:off x="2333625" y="1962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2" name="">
            <a:extLst xmlns:a="http://schemas.openxmlformats.org/drawingml/2006/main">
              <a:ext uri="{FF2B5EF4-FFF2-40B4-BE49-F238E27FC236}">
                <a16:creationId xmlns:a16="http://schemas.microsoft.com/office/drawing/2014/main" id="{50BFE789-1ABE-49A5-A9BC-A8F0CFBF66AD}"/>
              </a:ext>
            </a:extLst>
          </p:cNvPr>
          <p:cNvSpPr>
            <a:spLocks xmlns:a="http://schemas.openxmlformats.org/drawingml/2006/main" noGrp="1"/>
          </p:cNvSpPr>
          <p:nvPr/>
        </p:nvSpPr>
        <p:spPr>
          <a:xfrm xmlns:a="http://schemas.openxmlformats.org/drawingml/2006/main">
            <a:off x="2571750" y="1962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3" name="">
            <a:extLst xmlns:a="http://schemas.openxmlformats.org/drawingml/2006/main">
              <a:ext uri="{FF2B5EF4-FFF2-40B4-BE49-F238E27FC236}">
                <a16:creationId xmlns:a16="http://schemas.microsoft.com/office/drawing/2014/main" id="{145F4E2F-2F22-4E21-B6D3-91D838FE6F97}"/>
              </a:ext>
            </a:extLst>
          </p:cNvPr>
          <p:cNvSpPr>
            <a:spLocks xmlns:a="http://schemas.openxmlformats.org/drawingml/2006/main" noGrp="1"/>
          </p:cNvSpPr>
          <p:nvPr/>
        </p:nvSpPr>
        <p:spPr>
          <a:xfrm xmlns:a="http://schemas.openxmlformats.org/drawingml/2006/main">
            <a:off x="2809875" y="1962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4" name="">
            <a:extLst xmlns:a="http://schemas.openxmlformats.org/drawingml/2006/main">
              <a:ext uri="{FF2B5EF4-FFF2-40B4-BE49-F238E27FC236}">
                <a16:creationId xmlns:a16="http://schemas.microsoft.com/office/drawing/2014/main" id="{CDE6F22A-418E-445F-91C5-7A25C2D59520}"/>
              </a:ext>
            </a:extLst>
          </p:cNvPr>
          <p:cNvSpPr>
            <a:spLocks xmlns:a="http://schemas.openxmlformats.org/drawingml/2006/main" noGrp="1"/>
          </p:cNvSpPr>
          <p:nvPr/>
        </p:nvSpPr>
        <p:spPr>
          <a:xfrm xmlns:a="http://schemas.openxmlformats.org/drawingml/2006/main">
            <a:off x="3048000" y="1962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5" name="">
            <a:extLst xmlns:a="http://schemas.openxmlformats.org/drawingml/2006/main">
              <a:ext uri="{FF2B5EF4-FFF2-40B4-BE49-F238E27FC236}">
                <a16:creationId xmlns:a16="http://schemas.microsoft.com/office/drawing/2014/main" id="{D0C013A7-23FB-4CBB-80B2-DBAFD98DB9C9}"/>
              </a:ext>
            </a:extLst>
          </p:cNvPr>
          <p:cNvSpPr>
            <a:spLocks xmlns:a="http://schemas.openxmlformats.org/drawingml/2006/main" noGrp="1"/>
          </p:cNvSpPr>
          <p:nvPr/>
        </p:nvSpPr>
        <p:spPr>
          <a:xfrm xmlns:a="http://schemas.openxmlformats.org/drawingml/2006/main">
            <a:off x="3286125" y="1962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6" name="">
            <a:extLst xmlns:a="http://schemas.openxmlformats.org/drawingml/2006/main">
              <a:ext uri="{FF2B5EF4-FFF2-40B4-BE49-F238E27FC236}">
                <a16:creationId xmlns:a16="http://schemas.microsoft.com/office/drawing/2014/main" id="{0548A33A-4634-4CB2-B8AC-7D1A9C470CA8}"/>
              </a:ext>
            </a:extLst>
          </p:cNvPr>
          <p:cNvSpPr>
            <a:spLocks xmlns:a="http://schemas.openxmlformats.org/drawingml/2006/main" noGrp="1"/>
          </p:cNvSpPr>
          <p:nvPr/>
        </p:nvSpPr>
        <p:spPr>
          <a:xfrm xmlns:a="http://schemas.openxmlformats.org/drawingml/2006/main">
            <a:off x="3524250" y="1962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7" name="">
            <a:extLst xmlns:a="http://schemas.openxmlformats.org/drawingml/2006/main">
              <a:ext uri="{FF2B5EF4-FFF2-40B4-BE49-F238E27FC236}">
                <a16:creationId xmlns:a16="http://schemas.microsoft.com/office/drawing/2014/main" id="{57128720-26BC-4182-B9F0-4610B2168162}"/>
              </a:ext>
            </a:extLst>
          </p:cNvPr>
          <p:cNvSpPr>
            <a:spLocks xmlns:a="http://schemas.openxmlformats.org/drawingml/2006/main" noGrp="1"/>
          </p:cNvSpPr>
          <p:nvPr/>
        </p:nvSpPr>
        <p:spPr>
          <a:xfrm xmlns:a="http://schemas.openxmlformats.org/drawingml/2006/main">
            <a:off x="3762375" y="1962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8" name="">
            <a:extLst xmlns:a="http://schemas.openxmlformats.org/drawingml/2006/main">
              <a:ext uri="{FF2B5EF4-FFF2-40B4-BE49-F238E27FC236}">
                <a16:creationId xmlns:a16="http://schemas.microsoft.com/office/drawing/2014/main" id="{7C4CAC73-EA1D-47CC-84F1-82F104085667}"/>
              </a:ext>
            </a:extLst>
          </p:cNvPr>
          <p:cNvSpPr>
            <a:spLocks xmlns:a="http://schemas.openxmlformats.org/drawingml/2006/main" noGrp="1"/>
          </p:cNvSpPr>
          <p:nvPr/>
        </p:nvSpPr>
        <p:spPr>
          <a:xfrm xmlns:a="http://schemas.openxmlformats.org/drawingml/2006/main">
            <a:off x="4000500" y="1962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9" name="">
            <a:extLst xmlns:a="http://schemas.openxmlformats.org/drawingml/2006/main">
              <a:ext uri="{FF2B5EF4-FFF2-40B4-BE49-F238E27FC236}">
                <a16:creationId xmlns:a16="http://schemas.microsoft.com/office/drawing/2014/main" id="{BDD752FA-0E04-420B-A637-E5B3B05E12A0}"/>
              </a:ext>
            </a:extLst>
          </p:cNvPr>
          <p:cNvSpPr>
            <a:spLocks xmlns:a="http://schemas.openxmlformats.org/drawingml/2006/main" noGrp="1"/>
          </p:cNvSpPr>
          <p:nvPr/>
        </p:nvSpPr>
        <p:spPr>
          <a:xfrm xmlns:a="http://schemas.openxmlformats.org/drawingml/2006/main">
            <a:off x="4238625" y="1962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20" name="">
            <a:extLst xmlns:a="http://schemas.openxmlformats.org/drawingml/2006/main">
              <a:ext uri="{FF2B5EF4-FFF2-40B4-BE49-F238E27FC236}">
                <a16:creationId xmlns:a16="http://schemas.microsoft.com/office/drawing/2014/main" id="{501572F4-2C05-48B8-A88C-081DDDC149C5}"/>
              </a:ext>
            </a:extLst>
          </p:cNvPr>
          <p:cNvSpPr>
            <a:spLocks xmlns:a="http://schemas.openxmlformats.org/drawingml/2006/main" noGrp="1"/>
          </p:cNvSpPr>
          <p:nvPr/>
        </p:nvSpPr>
        <p:spPr>
          <a:xfrm xmlns:a="http://schemas.openxmlformats.org/drawingml/2006/main">
            <a:off x="4476750" y="1962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21" name="">
            <a:extLst xmlns:a="http://schemas.openxmlformats.org/drawingml/2006/main">
              <a:ext uri="{FF2B5EF4-FFF2-40B4-BE49-F238E27FC236}">
                <a16:creationId xmlns:a16="http://schemas.microsoft.com/office/drawing/2014/main" id="{4B23236F-AF94-4A5E-A5FA-0953317623B0}"/>
              </a:ext>
            </a:extLst>
          </p:cNvPr>
          <p:cNvSpPr>
            <a:spLocks xmlns:a="http://schemas.openxmlformats.org/drawingml/2006/main" noGrp="1"/>
          </p:cNvSpPr>
          <p:nvPr/>
        </p:nvSpPr>
        <p:spPr>
          <a:xfrm xmlns:a="http://schemas.openxmlformats.org/drawingml/2006/main">
            <a:off x="4714875" y="1962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22" name="">
            <a:extLst xmlns:a="http://schemas.openxmlformats.org/drawingml/2006/main">
              <a:ext uri="{FF2B5EF4-FFF2-40B4-BE49-F238E27FC236}">
                <a16:creationId xmlns:a16="http://schemas.microsoft.com/office/drawing/2014/main" id="{EB04CDE0-9E4F-4FFB-AB6B-F1C25890E734}"/>
              </a:ext>
            </a:extLst>
          </p:cNvPr>
          <p:cNvSpPr>
            <a:spLocks xmlns:a="http://schemas.openxmlformats.org/drawingml/2006/main" noGrp="1"/>
          </p:cNvSpPr>
          <p:nvPr/>
        </p:nvSpPr>
        <p:spPr>
          <a:xfrm xmlns:a="http://schemas.openxmlformats.org/drawingml/2006/main">
            <a:off x="666750" y="2200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23" name="">
            <a:extLst xmlns:a="http://schemas.openxmlformats.org/drawingml/2006/main">
              <a:ext uri="{FF2B5EF4-FFF2-40B4-BE49-F238E27FC236}">
                <a16:creationId xmlns:a16="http://schemas.microsoft.com/office/drawing/2014/main" id="{2A0DC51F-2616-4D1F-A2F4-7C9718657589}"/>
              </a:ext>
            </a:extLst>
          </p:cNvPr>
          <p:cNvSpPr>
            <a:spLocks xmlns:a="http://schemas.openxmlformats.org/drawingml/2006/main" noGrp="1"/>
          </p:cNvSpPr>
          <p:nvPr/>
        </p:nvSpPr>
        <p:spPr>
          <a:xfrm xmlns:a="http://schemas.openxmlformats.org/drawingml/2006/main">
            <a:off x="904875" y="2200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24" name="">
            <a:extLst xmlns:a="http://schemas.openxmlformats.org/drawingml/2006/main">
              <a:ext uri="{FF2B5EF4-FFF2-40B4-BE49-F238E27FC236}">
                <a16:creationId xmlns:a16="http://schemas.microsoft.com/office/drawing/2014/main" id="{1204162D-0305-45D9-BEDD-C925343E7E44}"/>
              </a:ext>
            </a:extLst>
          </p:cNvPr>
          <p:cNvSpPr>
            <a:spLocks xmlns:a="http://schemas.openxmlformats.org/drawingml/2006/main" noGrp="1"/>
          </p:cNvSpPr>
          <p:nvPr/>
        </p:nvSpPr>
        <p:spPr>
          <a:xfrm xmlns:a="http://schemas.openxmlformats.org/drawingml/2006/main">
            <a:off x="1143000" y="2200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25" name="">
            <a:extLst xmlns:a="http://schemas.openxmlformats.org/drawingml/2006/main">
              <a:ext uri="{FF2B5EF4-FFF2-40B4-BE49-F238E27FC236}">
                <a16:creationId xmlns:a16="http://schemas.microsoft.com/office/drawing/2014/main" id="{FB10C889-7854-488D-92CC-AE92061BD035}"/>
              </a:ext>
            </a:extLst>
          </p:cNvPr>
          <p:cNvSpPr>
            <a:spLocks xmlns:a="http://schemas.openxmlformats.org/drawingml/2006/main" noGrp="1"/>
          </p:cNvSpPr>
          <p:nvPr/>
        </p:nvSpPr>
        <p:spPr>
          <a:xfrm xmlns:a="http://schemas.openxmlformats.org/drawingml/2006/main">
            <a:off x="1381125" y="2200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26" name="">
            <a:extLst xmlns:a="http://schemas.openxmlformats.org/drawingml/2006/main">
              <a:ext uri="{FF2B5EF4-FFF2-40B4-BE49-F238E27FC236}">
                <a16:creationId xmlns:a16="http://schemas.microsoft.com/office/drawing/2014/main" id="{29DC9DE1-DDD1-4E53-8528-0FBEFF0385F7}"/>
              </a:ext>
            </a:extLst>
          </p:cNvPr>
          <p:cNvSpPr>
            <a:spLocks xmlns:a="http://schemas.openxmlformats.org/drawingml/2006/main" noGrp="1"/>
          </p:cNvSpPr>
          <p:nvPr/>
        </p:nvSpPr>
        <p:spPr>
          <a:xfrm xmlns:a="http://schemas.openxmlformats.org/drawingml/2006/main">
            <a:off x="1619250" y="2200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27" name="">
            <a:extLst xmlns:a="http://schemas.openxmlformats.org/drawingml/2006/main">
              <a:ext uri="{FF2B5EF4-FFF2-40B4-BE49-F238E27FC236}">
                <a16:creationId xmlns:a16="http://schemas.microsoft.com/office/drawing/2014/main" id="{14B482E7-D36A-4DDA-88E0-ACC84E2A4224}"/>
              </a:ext>
            </a:extLst>
          </p:cNvPr>
          <p:cNvSpPr>
            <a:spLocks xmlns:a="http://schemas.openxmlformats.org/drawingml/2006/main" noGrp="1"/>
          </p:cNvSpPr>
          <p:nvPr/>
        </p:nvSpPr>
        <p:spPr>
          <a:xfrm xmlns:a="http://schemas.openxmlformats.org/drawingml/2006/main">
            <a:off x="1857375" y="2200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28" name="">
            <a:extLst xmlns:a="http://schemas.openxmlformats.org/drawingml/2006/main">
              <a:ext uri="{FF2B5EF4-FFF2-40B4-BE49-F238E27FC236}">
                <a16:creationId xmlns:a16="http://schemas.microsoft.com/office/drawing/2014/main" id="{79DB84FF-A4F3-4F5C-81B6-9EEB0FB1FB13}"/>
              </a:ext>
            </a:extLst>
          </p:cNvPr>
          <p:cNvSpPr>
            <a:spLocks xmlns:a="http://schemas.openxmlformats.org/drawingml/2006/main" noGrp="1"/>
          </p:cNvSpPr>
          <p:nvPr/>
        </p:nvSpPr>
        <p:spPr>
          <a:xfrm xmlns:a="http://schemas.openxmlformats.org/drawingml/2006/main">
            <a:off x="2095500" y="2200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29" name="">
            <a:extLst xmlns:a="http://schemas.openxmlformats.org/drawingml/2006/main">
              <a:ext uri="{FF2B5EF4-FFF2-40B4-BE49-F238E27FC236}">
                <a16:creationId xmlns:a16="http://schemas.microsoft.com/office/drawing/2014/main" id="{DBC707A2-DEE1-48DD-8B48-2C0EF5226CDA}"/>
              </a:ext>
            </a:extLst>
          </p:cNvPr>
          <p:cNvSpPr>
            <a:spLocks xmlns:a="http://schemas.openxmlformats.org/drawingml/2006/main" noGrp="1"/>
          </p:cNvSpPr>
          <p:nvPr/>
        </p:nvSpPr>
        <p:spPr>
          <a:xfrm xmlns:a="http://schemas.openxmlformats.org/drawingml/2006/main">
            <a:off x="2333625" y="2200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30" name="">
            <a:extLst xmlns:a="http://schemas.openxmlformats.org/drawingml/2006/main">
              <a:ext uri="{FF2B5EF4-FFF2-40B4-BE49-F238E27FC236}">
                <a16:creationId xmlns:a16="http://schemas.microsoft.com/office/drawing/2014/main" id="{512CE1B9-C2EF-40BD-82C3-2ADC06EF881D}"/>
              </a:ext>
            </a:extLst>
          </p:cNvPr>
          <p:cNvSpPr>
            <a:spLocks xmlns:a="http://schemas.openxmlformats.org/drawingml/2006/main" noGrp="1"/>
          </p:cNvSpPr>
          <p:nvPr/>
        </p:nvSpPr>
        <p:spPr>
          <a:xfrm xmlns:a="http://schemas.openxmlformats.org/drawingml/2006/main">
            <a:off x="2571750" y="2200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31" name="">
            <a:extLst xmlns:a="http://schemas.openxmlformats.org/drawingml/2006/main">
              <a:ext uri="{FF2B5EF4-FFF2-40B4-BE49-F238E27FC236}">
                <a16:creationId xmlns:a16="http://schemas.microsoft.com/office/drawing/2014/main" id="{7AE0D4BB-FE8B-4251-BCED-B621708CD136}"/>
              </a:ext>
            </a:extLst>
          </p:cNvPr>
          <p:cNvSpPr>
            <a:spLocks xmlns:a="http://schemas.openxmlformats.org/drawingml/2006/main" noGrp="1"/>
          </p:cNvSpPr>
          <p:nvPr/>
        </p:nvSpPr>
        <p:spPr>
          <a:xfrm xmlns:a="http://schemas.openxmlformats.org/drawingml/2006/main">
            <a:off x="2809875" y="2200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32" name="">
            <a:extLst xmlns:a="http://schemas.openxmlformats.org/drawingml/2006/main">
              <a:ext uri="{FF2B5EF4-FFF2-40B4-BE49-F238E27FC236}">
                <a16:creationId xmlns:a16="http://schemas.microsoft.com/office/drawing/2014/main" id="{23692B16-F7FA-471A-A869-7D4C74D86ED4}"/>
              </a:ext>
            </a:extLst>
          </p:cNvPr>
          <p:cNvSpPr>
            <a:spLocks xmlns:a="http://schemas.openxmlformats.org/drawingml/2006/main" noGrp="1"/>
          </p:cNvSpPr>
          <p:nvPr/>
        </p:nvSpPr>
        <p:spPr>
          <a:xfrm xmlns:a="http://schemas.openxmlformats.org/drawingml/2006/main">
            <a:off x="3048000" y="2200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33" name="">
            <a:extLst xmlns:a="http://schemas.openxmlformats.org/drawingml/2006/main">
              <a:ext uri="{FF2B5EF4-FFF2-40B4-BE49-F238E27FC236}">
                <a16:creationId xmlns:a16="http://schemas.microsoft.com/office/drawing/2014/main" id="{D04AC0F5-1D92-49BB-B030-78A01F830830}"/>
              </a:ext>
            </a:extLst>
          </p:cNvPr>
          <p:cNvSpPr>
            <a:spLocks xmlns:a="http://schemas.openxmlformats.org/drawingml/2006/main" noGrp="1"/>
          </p:cNvSpPr>
          <p:nvPr/>
        </p:nvSpPr>
        <p:spPr>
          <a:xfrm xmlns:a="http://schemas.openxmlformats.org/drawingml/2006/main">
            <a:off x="3286125" y="2200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34" name="">
            <a:extLst xmlns:a="http://schemas.openxmlformats.org/drawingml/2006/main">
              <a:ext uri="{FF2B5EF4-FFF2-40B4-BE49-F238E27FC236}">
                <a16:creationId xmlns:a16="http://schemas.microsoft.com/office/drawing/2014/main" id="{4680B3B2-20C6-4DD5-87E3-257FBAEE7A49}"/>
              </a:ext>
            </a:extLst>
          </p:cNvPr>
          <p:cNvSpPr>
            <a:spLocks xmlns:a="http://schemas.openxmlformats.org/drawingml/2006/main" noGrp="1"/>
          </p:cNvSpPr>
          <p:nvPr/>
        </p:nvSpPr>
        <p:spPr>
          <a:xfrm xmlns:a="http://schemas.openxmlformats.org/drawingml/2006/main">
            <a:off x="3524250" y="2200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35" name="">
            <a:extLst xmlns:a="http://schemas.openxmlformats.org/drawingml/2006/main">
              <a:ext uri="{FF2B5EF4-FFF2-40B4-BE49-F238E27FC236}">
                <a16:creationId xmlns:a16="http://schemas.microsoft.com/office/drawing/2014/main" id="{8C768C28-29D3-4D9F-88E1-D5B38B031968}"/>
              </a:ext>
            </a:extLst>
          </p:cNvPr>
          <p:cNvSpPr>
            <a:spLocks xmlns:a="http://schemas.openxmlformats.org/drawingml/2006/main" noGrp="1"/>
          </p:cNvSpPr>
          <p:nvPr/>
        </p:nvSpPr>
        <p:spPr>
          <a:xfrm xmlns:a="http://schemas.openxmlformats.org/drawingml/2006/main">
            <a:off x="3762375" y="2200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36" name="">
            <a:extLst xmlns:a="http://schemas.openxmlformats.org/drawingml/2006/main">
              <a:ext uri="{FF2B5EF4-FFF2-40B4-BE49-F238E27FC236}">
                <a16:creationId xmlns:a16="http://schemas.microsoft.com/office/drawing/2014/main" id="{BED2BA37-3911-414A-977D-6938B65AA248}"/>
              </a:ext>
            </a:extLst>
          </p:cNvPr>
          <p:cNvSpPr>
            <a:spLocks xmlns:a="http://schemas.openxmlformats.org/drawingml/2006/main" noGrp="1"/>
          </p:cNvSpPr>
          <p:nvPr/>
        </p:nvSpPr>
        <p:spPr>
          <a:xfrm xmlns:a="http://schemas.openxmlformats.org/drawingml/2006/main">
            <a:off x="4000500" y="2200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37" name="">
            <a:extLst xmlns:a="http://schemas.openxmlformats.org/drawingml/2006/main">
              <a:ext uri="{FF2B5EF4-FFF2-40B4-BE49-F238E27FC236}">
                <a16:creationId xmlns:a16="http://schemas.microsoft.com/office/drawing/2014/main" id="{820B261A-9021-40DD-817E-A5BAC53C104E}"/>
              </a:ext>
            </a:extLst>
          </p:cNvPr>
          <p:cNvSpPr>
            <a:spLocks xmlns:a="http://schemas.openxmlformats.org/drawingml/2006/main" noGrp="1"/>
          </p:cNvSpPr>
          <p:nvPr/>
        </p:nvSpPr>
        <p:spPr>
          <a:xfrm xmlns:a="http://schemas.openxmlformats.org/drawingml/2006/main">
            <a:off x="4238625" y="2200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38" name="">
            <a:extLst xmlns:a="http://schemas.openxmlformats.org/drawingml/2006/main">
              <a:ext uri="{FF2B5EF4-FFF2-40B4-BE49-F238E27FC236}">
                <a16:creationId xmlns:a16="http://schemas.microsoft.com/office/drawing/2014/main" id="{6AA45CF0-E2CB-4C37-9C96-E6EDE8F31BC3}"/>
              </a:ext>
            </a:extLst>
          </p:cNvPr>
          <p:cNvSpPr>
            <a:spLocks xmlns:a="http://schemas.openxmlformats.org/drawingml/2006/main" noGrp="1"/>
          </p:cNvSpPr>
          <p:nvPr/>
        </p:nvSpPr>
        <p:spPr>
          <a:xfrm xmlns:a="http://schemas.openxmlformats.org/drawingml/2006/main">
            <a:off x="4476750" y="2200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39" name="">
            <a:extLst xmlns:a="http://schemas.openxmlformats.org/drawingml/2006/main">
              <a:ext uri="{FF2B5EF4-FFF2-40B4-BE49-F238E27FC236}">
                <a16:creationId xmlns:a16="http://schemas.microsoft.com/office/drawing/2014/main" id="{75895635-94DA-4756-8994-A0D5C361F4AB}"/>
              </a:ext>
            </a:extLst>
          </p:cNvPr>
          <p:cNvSpPr>
            <a:spLocks xmlns:a="http://schemas.openxmlformats.org/drawingml/2006/main" noGrp="1"/>
          </p:cNvSpPr>
          <p:nvPr/>
        </p:nvSpPr>
        <p:spPr>
          <a:xfrm xmlns:a="http://schemas.openxmlformats.org/drawingml/2006/main">
            <a:off x="4714875" y="2200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40" name="">
            <a:extLst xmlns:a="http://schemas.openxmlformats.org/drawingml/2006/main">
              <a:ext uri="{FF2B5EF4-FFF2-40B4-BE49-F238E27FC236}">
                <a16:creationId xmlns:a16="http://schemas.microsoft.com/office/drawing/2014/main" id="{CB8CEBCB-B9F9-4FCF-A873-D928DFCEB5F0}"/>
              </a:ext>
            </a:extLst>
          </p:cNvPr>
          <p:cNvSpPr>
            <a:spLocks xmlns:a="http://schemas.openxmlformats.org/drawingml/2006/main" noGrp="1"/>
          </p:cNvSpPr>
          <p:nvPr/>
        </p:nvSpPr>
        <p:spPr>
          <a:xfrm xmlns:a="http://schemas.openxmlformats.org/drawingml/2006/main">
            <a:off x="666750" y="24384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41" name="">
            <a:extLst xmlns:a="http://schemas.openxmlformats.org/drawingml/2006/main">
              <a:ext uri="{FF2B5EF4-FFF2-40B4-BE49-F238E27FC236}">
                <a16:creationId xmlns:a16="http://schemas.microsoft.com/office/drawing/2014/main" id="{27BB935E-3E87-4FC9-A379-461B06FF6640}"/>
              </a:ext>
            </a:extLst>
          </p:cNvPr>
          <p:cNvSpPr>
            <a:spLocks xmlns:a="http://schemas.openxmlformats.org/drawingml/2006/main" noGrp="1"/>
          </p:cNvSpPr>
          <p:nvPr/>
        </p:nvSpPr>
        <p:spPr>
          <a:xfrm xmlns:a="http://schemas.openxmlformats.org/drawingml/2006/main">
            <a:off x="904875" y="24384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42" name="">
            <a:extLst xmlns:a="http://schemas.openxmlformats.org/drawingml/2006/main">
              <a:ext uri="{FF2B5EF4-FFF2-40B4-BE49-F238E27FC236}">
                <a16:creationId xmlns:a16="http://schemas.microsoft.com/office/drawing/2014/main" id="{356136B4-BF9D-4566-BABA-05FF98E0900C}"/>
              </a:ext>
            </a:extLst>
          </p:cNvPr>
          <p:cNvSpPr>
            <a:spLocks xmlns:a="http://schemas.openxmlformats.org/drawingml/2006/main" noGrp="1"/>
          </p:cNvSpPr>
          <p:nvPr/>
        </p:nvSpPr>
        <p:spPr>
          <a:xfrm xmlns:a="http://schemas.openxmlformats.org/drawingml/2006/main">
            <a:off x="1143000" y="24384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3" name="">
            <a:extLst xmlns:a="http://schemas.openxmlformats.org/drawingml/2006/main">
              <a:ext uri="{FF2B5EF4-FFF2-40B4-BE49-F238E27FC236}">
                <a16:creationId xmlns:a16="http://schemas.microsoft.com/office/drawing/2014/main" id="{2A956BBA-2AFF-4848-AC6A-74B026EBE917}"/>
              </a:ext>
            </a:extLst>
          </p:cNvPr>
          <p:cNvSpPr>
            <a:spLocks xmlns:a="http://schemas.openxmlformats.org/drawingml/2006/main" noGrp="1"/>
          </p:cNvSpPr>
          <p:nvPr/>
        </p:nvSpPr>
        <p:spPr>
          <a:xfrm xmlns:a="http://schemas.openxmlformats.org/drawingml/2006/main">
            <a:off x="1381125" y="24384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44" name="">
            <a:extLst xmlns:a="http://schemas.openxmlformats.org/drawingml/2006/main">
              <a:ext uri="{FF2B5EF4-FFF2-40B4-BE49-F238E27FC236}">
                <a16:creationId xmlns:a16="http://schemas.microsoft.com/office/drawing/2014/main" id="{B3C1B18F-C5A2-4AC9-83B3-E7157C4E696B}"/>
              </a:ext>
            </a:extLst>
          </p:cNvPr>
          <p:cNvSpPr>
            <a:spLocks xmlns:a="http://schemas.openxmlformats.org/drawingml/2006/main" noGrp="1"/>
          </p:cNvSpPr>
          <p:nvPr/>
        </p:nvSpPr>
        <p:spPr>
          <a:xfrm xmlns:a="http://schemas.openxmlformats.org/drawingml/2006/main">
            <a:off x="1619250" y="24384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45" name="">
            <a:extLst xmlns:a="http://schemas.openxmlformats.org/drawingml/2006/main">
              <a:ext uri="{FF2B5EF4-FFF2-40B4-BE49-F238E27FC236}">
                <a16:creationId xmlns:a16="http://schemas.microsoft.com/office/drawing/2014/main" id="{AD6E3584-4D8F-4A3F-9FC5-11A47B4EE87B}"/>
              </a:ext>
            </a:extLst>
          </p:cNvPr>
          <p:cNvSpPr>
            <a:spLocks xmlns:a="http://schemas.openxmlformats.org/drawingml/2006/main" noGrp="1"/>
          </p:cNvSpPr>
          <p:nvPr/>
        </p:nvSpPr>
        <p:spPr>
          <a:xfrm xmlns:a="http://schemas.openxmlformats.org/drawingml/2006/main">
            <a:off x="1857375" y="24384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46" name="">
            <a:extLst xmlns:a="http://schemas.openxmlformats.org/drawingml/2006/main">
              <a:ext uri="{FF2B5EF4-FFF2-40B4-BE49-F238E27FC236}">
                <a16:creationId xmlns:a16="http://schemas.microsoft.com/office/drawing/2014/main" id="{52CF6B38-1D45-4832-9714-C944C1FC286C}"/>
              </a:ext>
            </a:extLst>
          </p:cNvPr>
          <p:cNvSpPr>
            <a:spLocks xmlns:a="http://schemas.openxmlformats.org/drawingml/2006/main" noGrp="1"/>
          </p:cNvSpPr>
          <p:nvPr/>
        </p:nvSpPr>
        <p:spPr>
          <a:xfrm xmlns:a="http://schemas.openxmlformats.org/drawingml/2006/main">
            <a:off x="2095500" y="24384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47" name="">
            <a:extLst xmlns:a="http://schemas.openxmlformats.org/drawingml/2006/main">
              <a:ext uri="{FF2B5EF4-FFF2-40B4-BE49-F238E27FC236}">
                <a16:creationId xmlns:a16="http://schemas.microsoft.com/office/drawing/2014/main" id="{5DFC43B8-2AAC-46F6-80E7-3AA202412EF3}"/>
              </a:ext>
            </a:extLst>
          </p:cNvPr>
          <p:cNvSpPr>
            <a:spLocks xmlns:a="http://schemas.openxmlformats.org/drawingml/2006/main" noGrp="1"/>
          </p:cNvSpPr>
          <p:nvPr/>
        </p:nvSpPr>
        <p:spPr>
          <a:xfrm xmlns:a="http://schemas.openxmlformats.org/drawingml/2006/main">
            <a:off x="2333625" y="24384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48" name="">
            <a:extLst xmlns:a="http://schemas.openxmlformats.org/drawingml/2006/main">
              <a:ext uri="{FF2B5EF4-FFF2-40B4-BE49-F238E27FC236}">
                <a16:creationId xmlns:a16="http://schemas.microsoft.com/office/drawing/2014/main" id="{E1A1EE74-A464-4EA5-8A19-9E72D20A496C}"/>
              </a:ext>
            </a:extLst>
          </p:cNvPr>
          <p:cNvSpPr>
            <a:spLocks xmlns:a="http://schemas.openxmlformats.org/drawingml/2006/main" noGrp="1"/>
          </p:cNvSpPr>
          <p:nvPr/>
        </p:nvSpPr>
        <p:spPr>
          <a:xfrm xmlns:a="http://schemas.openxmlformats.org/drawingml/2006/main">
            <a:off x="2571750" y="24384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49" name="">
            <a:extLst xmlns:a="http://schemas.openxmlformats.org/drawingml/2006/main">
              <a:ext uri="{FF2B5EF4-FFF2-40B4-BE49-F238E27FC236}">
                <a16:creationId xmlns:a16="http://schemas.microsoft.com/office/drawing/2014/main" id="{30B872DC-AE12-4081-9827-78AECD4D4E3F}"/>
              </a:ext>
            </a:extLst>
          </p:cNvPr>
          <p:cNvSpPr>
            <a:spLocks xmlns:a="http://schemas.openxmlformats.org/drawingml/2006/main" noGrp="1"/>
          </p:cNvSpPr>
          <p:nvPr/>
        </p:nvSpPr>
        <p:spPr>
          <a:xfrm xmlns:a="http://schemas.openxmlformats.org/drawingml/2006/main">
            <a:off x="2809875" y="24384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50" name="">
            <a:extLst xmlns:a="http://schemas.openxmlformats.org/drawingml/2006/main">
              <a:ext uri="{FF2B5EF4-FFF2-40B4-BE49-F238E27FC236}">
                <a16:creationId xmlns:a16="http://schemas.microsoft.com/office/drawing/2014/main" id="{58F4F295-BE52-4567-BBCC-59433E2EF5A1}"/>
              </a:ext>
            </a:extLst>
          </p:cNvPr>
          <p:cNvSpPr>
            <a:spLocks xmlns:a="http://schemas.openxmlformats.org/drawingml/2006/main" noGrp="1"/>
          </p:cNvSpPr>
          <p:nvPr/>
        </p:nvSpPr>
        <p:spPr>
          <a:xfrm xmlns:a="http://schemas.openxmlformats.org/drawingml/2006/main">
            <a:off x="3048000" y="24384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1" name="">
            <a:extLst xmlns:a="http://schemas.openxmlformats.org/drawingml/2006/main">
              <a:ext uri="{FF2B5EF4-FFF2-40B4-BE49-F238E27FC236}">
                <a16:creationId xmlns:a16="http://schemas.microsoft.com/office/drawing/2014/main" id="{286F19CA-1DF0-4DD4-9219-853B244A39AB}"/>
              </a:ext>
            </a:extLst>
          </p:cNvPr>
          <p:cNvSpPr>
            <a:spLocks xmlns:a="http://schemas.openxmlformats.org/drawingml/2006/main" noGrp="1"/>
          </p:cNvSpPr>
          <p:nvPr/>
        </p:nvSpPr>
        <p:spPr>
          <a:xfrm xmlns:a="http://schemas.openxmlformats.org/drawingml/2006/main">
            <a:off x="3286125" y="24384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52" name="">
            <a:extLst xmlns:a="http://schemas.openxmlformats.org/drawingml/2006/main">
              <a:ext uri="{FF2B5EF4-FFF2-40B4-BE49-F238E27FC236}">
                <a16:creationId xmlns:a16="http://schemas.microsoft.com/office/drawing/2014/main" id="{DA1330E6-ABB8-491E-A0F9-D3A41FCD96D5}"/>
              </a:ext>
            </a:extLst>
          </p:cNvPr>
          <p:cNvSpPr>
            <a:spLocks xmlns:a="http://schemas.openxmlformats.org/drawingml/2006/main" noGrp="1"/>
          </p:cNvSpPr>
          <p:nvPr/>
        </p:nvSpPr>
        <p:spPr>
          <a:xfrm xmlns:a="http://schemas.openxmlformats.org/drawingml/2006/main">
            <a:off x="3524250" y="24384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53" name="">
            <a:extLst xmlns:a="http://schemas.openxmlformats.org/drawingml/2006/main">
              <a:ext uri="{FF2B5EF4-FFF2-40B4-BE49-F238E27FC236}">
                <a16:creationId xmlns:a16="http://schemas.microsoft.com/office/drawing/2014/main" id="{49301E3F-3E8E-4A41-B0B7-68F7E656082B}"/>
              </a:ext>
            </a:extLst>
          </p:cNvPr>
          <p:cNvSpPr>
            <a:spLocks xmlns:a="http://schemas.openxmlformats.org/drawingml/2006/main" noGrp="1"/>
          </p:cNvSpPr>
          <p:nvPr/>
        </p:nvSpPr>
        <p:spPr>
          <a:xfrm xmlns:a="http://schemas.openxmlformats.org/drawingml/2006/main">
            <a:off x="3762375" y="24384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54" name="">
            <a:extLst xmlns:a="http://schemas.openxmlformats.org/drawingml/2006/main">
              <a:ext uri="{FF2B5EF4-FFF2-40B4-BE49-F238E27FC236}">
                <a16:creationId xmlns:a16="http://schemas.microsoft.com/office/drawing/2014/main" id="{CE199407-C7B0-423D-817F-40244213A393}"/>
              </a:ext>
            </a:extLst>
          </p:cNvPr>
          <p:cNvSpPr>
            <a:spLocks xmlns:a="http://schemas.openxmlformats.org/drawingml/2006/main" noGrp="1"/>
          </p:cNvSpPr>
          <p:nvPr/>
        </p:nvSpPr>
        <p:spPr>
          <a:xfrm xmlns:a="http://schemas.openxmlformats.org/drawingml/2006/main">
            <a:off x="4000500" y="24384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5" name="">
            <a:extLst xmlns:a="http://schemas.openxmlformats.org/drawingml/2006/main">
              <a:ext uri="{FF2B5EF4-FFF2-40B4-BE49-F238E27FC236}">
                <a16:creationId xmlns:a16="http://schemas.microsoft.com/office/drawing/2014/main" id="{BB8E3605-3800-40B1-B500-8FBADC38B186}"/>
              </a:ext>
            </a:extLst>
          </p:cNvPr>
          <p:cNvSpPr>
            <a:spLocks xmlns:a="http://schemas.openxmlformats.org/drawingml/2006/main" noGrp="1"/>
          </p:cNvSpPr>
          <p:nvPr/>
        </p:nvSpPr>
        <p:spPr>
          <a:xfrm xmlns:a="http://schemas.openxmlformats.org/drawingml/2006/main">
            <a:off x="4238625" y="24384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56" name="">
            <a:extLst xmlns:a="http://schemas.openxmlformats.org/drawingml/2006/main">
              <a:ext uri="{FF2B5EF4-FFF2-40B4-BE49-F238E27FC236}">
                <a16:creationId xmlns:a16="http://schemas.microsoft.com/office/drawing/2014/main" id="{ADC8F6EA-7F36-4E60-92C1-C24C0A07295D}"/>
              </a:ext>
            </a:extLst>
          </p:cNvPr>
          <p:cNvSpPr>
            <a:spLocks xmlns:a="http://schemas.openxmlformats.org/drawingml/2006/main" noGrp="1"/>
          </p:cNvSpPr>
          <p:nvPr/>
        </p:nvSpPr>
        <p:spPr>
          <a:xfrm xmlns:a="http://schemas.openxmlformats.org/drawingml/2006/main">
            <a:off x="4476750" y="24384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57" name="">
            <a:extLst xmlns:a="http://schemas.openxmlformats.org/drawingml/2006/main">
              <a:ext uri="{FF2B5EF4-FFF2-40B4-BE49-F238E27FC236}">
                <a16:creationId xmlns:a16="http://schemas.microsoft.com/office/drawing/2014/main" id="{B6E2CF6A-400B-4043-BF51-90C6091D879B}"/>
              </a:ext>
            </a:extLst>
          </p:cNvPr>
          <p:cNvSpPr>
            <a:spLocks xmlns:a="http://schemas.openxmlformats.org/drawingml/2006/main" noGrp="1"/>
          </p:cNvSpPr>
          <p:nvPr/>
        </p:nvSpPr>
        <p:spPr>
          <a:xfrm xmlns:a="http://schemas.openxmlformats.org/drawingml/2006/main">
            <a:off x="4714875" y="24384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58" name="">
            <a:extLst xmlns:a="http://schemas.openxmlformats.org/drawingml/2006/main">
              <a:ext uri="{FF2B5EF4-FFF2-40B4-BE49-F238E27FC236}">
                <a16:creationId xmlns:a16="http://schemas.microsoft.com/office/drawing/2014/main" id="{90D79C9C-15C9-44EE-A212-1B3CDAB5F353}"/>
              </a:ext>
            </a:extLst>
          </p:cNvPr>
          <p:cNvSpPr>
            <a:spLocks xmlns:a="http://schemas.openxmlformats.org/drawingml/2006/main" noGrp="1"/>
          </p:cNvSpPr>
          <p:nvPr/>
        </p:nvSpPr>
        <p:spPr>
          <a:xfrm xmlns:a="http://schemas.openxmlformats.org/drawingml/2006/main">
            <a:off x="666750" y="26765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59" name="">
            <a:extLst xmlns:a="http://schemas.openxmlformats.org/drawingml/2006/main">
              <a:ext uri="{FF2B5EF4-FFF2-40B4-BE49-F238E27FC236}">
                <a16:creationId xmlns:a16="http://schemas.microsoft.com/office/drawing/2014/main" id="{364B32DC-82B8-4D4C-9D67-E8B4037B7539}"/>
              </a:ext>
            </a:extLst>
          </p:cNvPr>
          <p:cNvSpPr>
            <a:spLocks xmlns:a="http://schemas.openxmlformats.org/drawingml/2006/main" noGrp="1"/>
          </p:cNvSpPr>
          <p:nvPr/>
        </p:nvSpPr>
        <p:spPr>
          <a:xfrm xmlns:a="http://schemas.openxmlformats.org/drawingml/2006/main">
            <a:off x="904875" y="26765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0" name="">
            <a:extLst xmlns:a="http://schemas.openxmlformats.org/drawingml/2006/main">
              <a:ext uri="{FF2B5EF4-FFF2-40B4-BE49-F238E27FC236}">
                <a16:creationId xmlns:a16="http://schemas.microsoft.com/office/drawing/2014/main" id="{B62847B7-97EA-4538-B996-2EBBB1C5F8F4}"/>
              </a:ext>
            </a:extLst>
          </p:cNvPr>
          <p:cNvSpPr>
            <a:spLocks xmlns:a="http://schemas.openxmlformats.org/drawingml/2006/main" noGrp="1"/>
          </p:cNvSpPr>
          <p:nvPr/>
        </p:nvSpPr>
        <p:spPr>
          <a:xfrm xmlns:a="http://schemas.openxmlformats.org/drawingml/2006/main">
            <a:off x="1143000" y="26765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61" name="">
            <a:extLst xmlns:a="http://schemas.openxmlformats.org/drawingml/2006/main">
              <a:ext uri="{FF2B5EF4-FFF2-40B4-BE49-F238E27FC236}">
                <a16:creationId xmlns:a16="http://schemas.microsoft.com/office/drawing/2014/main" id="{5642ECD6-FEEA-4F46-B3D6-FDA2A60B72EE}"/>
              </a:ext>
            </a:extLst>
          </p:cNvPr>
          <p:cNvSpPr>
            <a:spLocks xmlns:a="http://schemas.openxmlformats.org/drawingml/2006/main" noGrp="1"/>
          </p:cNvSpPr>
          <p:nvPr/>
        </p:nvSpPr>
        <p:spPr>
          <a:xfrm xmlns:a="http://schemas.openxmlformats.org/drawingml/2006/main">
            <a:off x="1381125" y="26765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62" name="">
            <a:extLst xmlns:a="http://schemas.openxmlformats.org/drawingml/2006/main">
              <a:ext uri="{FF2B5EF4-FFF2-40B4-BE49-F238E27FC236}">
                <a16:creationId xmlns:a16="http://schemas.microsoft.com/office/drawing/2014/main" id="{3D038490-0992-4FD5-BE83-DAE5101190A7}"/>
              </a:ext>
            </a:extLst>
          </p:cNvPr>
          <p:cNvSpPr>
            <a:spLocks xmlns:a="http://schemas.openxmlformats.org/drawingml/2006/main" noGrp="1"/>
          </p:cNvSpPr>
          <p:nvPr/>
        </p:nvSpPr>
        <p:spPr>
          <a:xfrm xmlns:a="http://schemas.openxmlformats.org/drawingml/2006/main">
            <a:off x="1619250" y="26765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63" name="">
            <a:extLst xmlns:a="http://schemas.openxmlformats.org/drawingml/2006/main">
              <a:ext uri="{FF2B5EF4-FFF2-40B4-BE49-F238E27FC236}">
                <a16:creationId xmlns:a16="http://schemas.microsoft.com/office/drawing/2014/main" id="{DFE4A8DF-956E-462D-A21E-0B2C4ECAC50C}"/>
              </a:ext>
            </a:extLst>
          </p:cNvPr>
          <p:cNvSpPr>
            <a:spLocks xmlns:a="http://schemas.openxmlformats.org/drawingml/2006/main" noGrp="1"/>
          </p:cNvSpPr>
          <p:nvPr/>
        </p:nvSpPr>
        <p:spPr>
          <a:xfrm xmlns:a="http://schemas.openxmlformats.org/drawingml/2006/main">
            <a:off x="1857375" y="26765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4" name="">
            <a:extLst xmlns:a="http://schemas.openxmlformats.org/drawingml/2006/main">
              <a:ext uri="{FF2B5EF4-FFF2-40B4-BE49-F238E27FC236}">
                <a16:creationId xmlns:a16="http://schemas.microsoft.com/office/drawing/2014/main" id="{5B3042A8-F859-49D9-9680-EA3F26D0D43A}"/>
              </a:ext>
            </a:extLst>
          </p:cNvPr>
          <p:cNvSpPr>
            <a:spLocks xmlns:a="http://schemas.openxmlformats.org/drawingml/2006/main" noGrp="1"/>
          </p:cNvSpPr>
          <p:nvPr/>
        </p:nvSpPr>
        <p:spPr>
          <a:xfrm xmlns:a="http://schemas.openxmlformats.org/drawingml/2006/main">
            <a:off x="2095500" y="26765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65" name="">
            <a:extLst xmlns:a="http://schemas.openxmlformats.org/drawingml/2006/main">
              <a:ext uri="{FF2B5EF4-FFF2-40B4-BE49-F238E27FC236}">
                <a16:creationId xmlns:a16="http://schemas.microsoft.com/office/drawing/2014/main" id="{A019483A-BC1F-44B8-AD24-D9C9DA83CAFE}"/>
              </a:ext>
            </a:extLst>
          </p:cNvPr>
          <p:cNvSpPr>
            <a:spLocks xmlns:a="http://schemas.openxmlformats.org/drawingml/2006/main" noGrp="1"/>
          </p:cNvSpPr>
          <p:nvPr/>
        </p:nvSpPr>
        <p:spPr>
          <a:xfrm xmlns:a="http://schemas.openxmlformats.org/drawingml/2006/main">
            <a:off x="2333625" y="26765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66" name="">
            <a:extLst xmlns:a="http://schemas.openxmlformats.org/drawingml/2006/main">
              <a:ext uri="{FF2B5EF4-FFF2-40B4-BE49-F238E27FC236}">
                <a16:creationId xmlns:a16="http://schemas.microsoft.com/office/drawing/2014/main" id="{526AA83E-6F37-4104-A281-6344AF598BB7}"/>
              </a:ext>
            </a:extLst>
          </p:cNvPr>
          <p:cNvSpPr>
            <a:spLocks xmlns:a="http://schemas.openxmlformats.org/drawingml/2006/main" noGrp="1"/>
          </p:cNvSpPr>
          <p:nvPr/>
        </p:nvSpPr>
        <p:spPr>
          <a:xfrm xmlns:a="http://schemas.openxmlformats.org/drawingml/2006/main">
            <a:off x="2571750" y="26765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67" name="">
            <a:extLst xmlns:a="http://schemas.openxmlformats.org/drawingml/2006/main">
              <a:ext uri="{FF2B5EF4-FFF2-40B4-BE49-F238E27FC236}">
                <a16:creationId xmlns:a16="http://schemas.microsoft.com/office/drawing/2014/main" id="{2BABCCCE-7FDE-4F06-96F6-A53208C701C5}"/>
              </a:ext>
            </a:extLst>
          </p:cNvPr>
          <p:cNvSpPr>
            <a:spLocks xmlns:a="http://schemas.openxmlformats.org/drawingml/2006/main" noGrp="1"/>
          </p:cNvSpPr>
          <p:nvPr/>
        </p:nvSpPr>
        <p:spPr>
          <a:xfrm xmlns:a="http://schemas.openxmlformats.org/drawingml/2006/main">
            <a:off x="2809875" y="26765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8" name="">
            <a:extLst xmlns:a="http://schemas.openxmlformats.org/drawingml/2006/main">
              <a:ext uri="{FF2B5EF4-FFF2-40B4-BE49-F238E27FC236}">
                <a16:creationId xmlns:a16="http://schemas.microsoft.com/office/drawing/2014/main" id="{89E4A4F7-46B2-4F4F-A1E0-CCC728967297}"/>
              </a:ext>
            </a:extLst>
          </p:cNvPr>
          <p:cNvSpPr>
            <a:spLocks xmlns:a="http://schemas.openxmlformats.org/drawingml/2006/main" noGrp="1"/>
          </p:cNvSpPr>
          <p:nvPr/>
        </p:nvSpPr>
        <p:spPr>
          <a:xfrm xmlns:a="http://schemas.openxmlformats.org/drawingml/2006/main">
            <a:off x="3048000" y="26765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69" name="">
            <a:extLst xmlns:a="http://schemas.openxmlformats.org/drawingml/2006/main">
              <a:ext uri="{FF2B5EF4-FFF2-40B4-BE49-F238E27FC236}">
                <a16:creationId xmlns:a16="http://schemas.microsoft.com/office/drawing/2014/main" id="{BD525D9C-DFB4-4D05-9523-A17889DC3EE6}"/>
              </a:ext>
            </a:extLst>
          </p:cNvPr>
          <p:cNvSpPr>
            <a:spLocks xmlns:a="http://schemas.openxmlformats.org/drawingml/2006/main" noGrp="1"/>
          </p:cNvSpPr>
          <p:nvPr/>
        </p:nvSpPr>
        <p:spPr>
          <a:xfrm xmlns:a="http://schemas.openxmlformats.org/drawingml/2006/main">
            <a:off x="3286125" y="26765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70" name="">
            <a:extLst xmlns:a="http://schemas.openxmlformats.org/drawingml/2006/main">
              <a:ext uri="{FF2B5EF4-FFF2-40B4-BE49-F238E27FC236}">
                <a16:creationId xmlns:a16="http://schemas.microsoft.com/office/drawing/2014/main" id="{3F8816EF-C749-4F37-9FC2-8ED31B35E847}"/>
              </a:ext>
            </a:extLst>
          </p:cNvPr>
          <p:cNvSpPr>
            <a:spLocks xmlns:a="http://schemas.openxmlformats.org/drawingml/2006/main" noGrp="1"/>
          </p:cNvSpPr>
          <p:nvPr/>
        </p:nvSpPr>
        <p:spPr>
          <a:xfrm xmlns:a="http://schemas.openxmlformats.org/drawingml/2006/main">
            <a:off x="3524250" y="26765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71" name="">
            <a:extLst xmlns:a="http://schemas.openxmlformats.org/drawingml/2006/main">
              <a:ext uri="{FF2B5EF4-FFF2-40B4-BE49-F238E27FC236}">
                <a16:creationId xmlns:a16="http://schemas.microsoft.com/office/drawing/2014/main" id="{D392C635-5836-45EE-A01A-1AB41A7CA1A0}"/>
              </a:ext>
            </a:extLst>
          </p:cNvPr>
          <p:cNvSpPr>
            <a:spLocks xmlns:a="http://schemas.openxmlformats.org/drawingml/2006/main" noGrp="1"/>
          </p:cNvSpPr>
          <p:nvPr/>
        </p:nvSpPr>
        <p:spPr>
          <a:xfrm xmlns:a="http://schemas.openxmlformats.org/drawingml/2006/main">
            <a:off x="3762375" y="26765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72" name="">
            <a:extLst xmlns:a="http://schemas.openxmlformats.org/drawingml/2006/main">
              <a:ext uri="{FF2B5EF4-FFF2-40B4-BE49-F238E27FC236}">
                <a16:creationId xmlns:a16="http://schemas.microsoft.com/office/drawing/2014/main" id="{CB95C0FF-8593-443D-9F26-C3CA59E5FE8D}"/>
              </a:ext>
            </a:extLst>
          </p:cNvPr>
          <p:cNvSpPr>
            <a:spLocks xmlns:a="http://schemas.openxmlformats.org/drawingml/2006/main" noGrp="1"/>
          </p:cNvSpPr>
          <p:nvPr/>
        </p:nvSpPr>
        <p:spPr>
          <a:xfrm xmlns:a="http://schemas.openxmlformats.org/drawingml/2006/main">
            <a:off x="4000500" y="26765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73" name="">
            <a:extLst xmlns:a="http://schemas.openxmlformats.org/drawingml/2006/main">
              <a:ext uri="{FF2B5EF4-FFF2-40B4-BE49-F238E27FC236}">
                <a16:creationId xmlns:a16="http://schemas.microsoft.com/office/drawing/2014/main" id="{7D41A9D5-386B-4E6D-A4EA-E3334931DE9B}"/>
              </a:ext>
            </a:extLst>
          </p:cNvPr>
          <p:cNvSpPr>
            <a:spLocks xmlns:a="http://schemas.openxmlformats.org/drawingml/2006/main" noGrp="1"/>
          </p:cNvSpPr>
          <p:nvPr/>
        </p:nvSpPr>
        <p:spPr>
          <a:xfrm xmlns:a="http://schemas.openxmlformats.org/drawingml/2006/main">
            <a:off x="4238625" y="26765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74" name="">
            <a:extLst xmlns:a="http://schemas.openxmlformats.org/drawingml/2006/main">
              <a:ext uri="{FF2B5EF4-FFF2-40B4-BE49-F238E27FC236}">
                <a16:creationId xmlns:a16="http://schemas.microsoft.com/office/drawing/2014/main" id="{35E8368C-3AD1-4101-ACA0-031063231F41}"/>
              </a:ext>
            </a:extLst>
          </p:cNvPr>
          <p:cNvSpPr>
            <a:spLocks xmlns:a="http://schemas.openxmlformats.org/drawingml/2006/main" noGrp="1"/>
          </p:cNvSpPr>
          <p:nvPr/>
        </p:nvSpPr>
        <p:spPr>
          <a:xfrm xmlns:a="http://schemas.openxmlformats.org/drawingml/2006/main">
            <a:off x="4476750" y="26765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75" name="">
            <a:extLst xmlns:a="http://schemas.openxmlformats.org/drawingml/2006/main">
              <a:ext uri="{FF2B5EF4-FFF2-40B4-BE49-F238E27FC236}">
                <a16:creationId xmlns:a16="http://schemas.microsoft.com/office/drawing/2014/main" id="{E2182B9E-3EE6-454F-AABF-5D39946576CD}"/>
              </a:ext>
            </a:extLst>
          </p:cNvPr>
          <p:cNvSpPr>
            <a:spLocks xmlns:a="http://schemas.openxmlformats.org/drawingml/2006/main" noGrp="1"/>
          </p:cNvSpPr>
          <p:nvPr/>
        </p:nvSpPr>
        <p:spPr>
          <a:xfrm xmlns:a="http://schemas.openxmlformats.org/drawingml/2006/main">
            <a:off x="4714875" y="26765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76" name="">
            <a:extLst xmlns:a="http://schemas.openxmlformats.org/drawingml/2006/main">
              <a:ext uri="{FF2B5EF4-FFF2-40B4-BE49-F238E27FC236}">
                <a16:creationId xmlns:a16="http://schemas.microsoft.com/office/drawing/2014/main" id="{A0725754-CA45-4E27-8D65-C79F07B9C10D}"/>
              </a:ext>
            </a:extLst>
          </p:cNvPr>
          <p:cNvSpPr>
            <a:spLocks xmlns:a="http://schemas.openxmlformats.org/drawingml/2006/main" noGrp="1"/>
          </p:cNvSpPr>
          <p:nvPr/>
        </p:nvSpPr>
        <p:spPr>
          <a:xfrm xmlns:a="http://schemas.openxmlformats.org/drawingml/2006/main">
            <a:off x="666750" y="29146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77" name="">
            <a:extLst xmlns:a="http://schemas.openxmlformats.org/drawingml/2006/main">
              <a:ext uri="{FF2B5EF4-FFF2-40B4-BE49-F238E27FC236}">
                <a16:creationId xmlns:a16="http://schemas.microsoft.com/office/drawing/2014/main" id="{59C83EAF-431C-437F-81DD-610FC54C377F}"/>
              </a:ext>
            </a:extLst>
          </p:cNvPr>
          <p:cNvSpPr>
            <a:spLocks xmlns:a="http://schemas.openxmlformats.org/drawingml/2006/main" noGrp="1"/>
          </p:cNvSpPr>
          <p:nvPr/>
        </p:nvSpPr>
        <p:spPr>
          <a:xfrm xmlns:a="http://schemas.openxmlformats.org/drawingml/2006/main">
            <a:off x="904875" y="29146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78" name="">
            <a:extLst xmlns:a="http://schemas.openxmlformats.org/drawingml/2006/main">
              <a:ext uri="{FF2B5EF4-FFF2-40B4-BE49-F238E27FC236}">
                <a16:creationId xmlns:a16="http://schemas.microsoft.com/office/drawing/2014/main" id="{484D5DEF-8DBB-437C-88C2-2D530D2B0DEB}"/>
              </a:ext>
            </a:extLst>
          </p:cNvPr>
          <p:cNvSpPr>
            <a:spLocks xmlns:a="http://schemas.openxmlformats.org/drawingml/2006/main" noGrp="1"/>
          </p:cNvSpPr>
          <p:nvPr/>
        </p:nvSpPr>
        <p:spPr>
          <a:xfrm xmlns:a="http://schemas.openxmlformats.org/drawingml/2006/main">
            <a:off x="1143000" y="29146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79" name="">
            <a:extLst xmlns:a="http://schemas.openxmlformats.org/drawingml/2006/main">
              <a:ext uri="{FF2B5EF4-FFF2-40B4-BE49-F238E27FC236}">
                <a16:creationId xmlns:a16="http://schemas.microsoft.com/office/drawing/2014/main" id="{72A27C53-5063-4EE7-98CA-D7380FC6BC93}"/>
              </a:ext>
            </a:extLst>
          </p:cNvPr>
          <p:cNvSpPr>
            <a:spLocks xmlns:a="http://schemas.openxmlformats.org/drawingml/2006/main" noGrp="1"/>
          </p:cNvSpPr>
          <p:nvPr/>
        </p:nvSpPr>
        <p:spPr>
          <a:xfrm xmlns:a="http://schemas.openxmlformats.org/drawingml/2006/main">
            <a:off x="1381125" y="29146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80" name="">
            <a:extLst xmlns:a="http://schemas.openxmlformats.org/drawingml/2006/main">
              <a:ext uri="{FF2B5EF4-FFF2-40B4-BE49-F238E27FC236}">
                <a16:creationId xmlns:a16="http://schemas.microsoft.com/office/drawing/2014/main" id="{0B268BD2-9A47-4B6A-8C46-BE4C42E43F6E}"/>
              </a:ext>
            </a:extLst>
          </p:cNvPr>
          <p:cNvSpPr>
            <a:spLocks xmlns:a="http://schemas.openxmlformats.org/drawingml/2006/main" noGrp="1"/>
          </p:cNvSpPr>
          <p:nvPr/>
        </p:nvSpPr>
        <p:spPr>
          <a:xfrm xmlns:a="http://schemas.openxmlformats.org/drawingml/2006/main">
            <a:off x="1619250" y="29146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81" name="">
            <a:extLst xmlns:a="http://schemas.openxmlformats.org/drawingml/2006/main">
              <a:ext uri="{FF2B5EF4-FFF2-40B4-BE49-F238E27FC236}">
                <a16:creationId xmlns:a16="http://schemas.microsoft.com/office/drawing/2014/main" id="{AEDCAC45-17F5-4383-B0A1-D0A835444FE9}"/>
              </a:ext>
            </a:extLst>
          </p:cNvPr>
          <p:cNvSpPr>
            <a:spLocks xmlns:a="http://schemas.openxmlformats.org/drawingml/2006/main" noGrp="1"/>
          </p:cNvSpPr>
          <p:nvPr/>
        </p:nvSpPr>
        <p:spPr>
          <a:xfrm xmlns:a="http://schemas.openxmlformats.org/drawingml/2006/main">
            <a:off x="1857375" y="29146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82" name="">
            <a:extLst xmlns:a="http://schemas.openxmlformats.org/drawingml/2006/main">
              <a:ext uri="{FF2B5EF4-FFF2-40B4-BE49-F238E27FC236}">
                <a16:creationId xmlns:a16="http://schemas.microsoft.com/office/drawing/2014/main" id="{6AE3EDC5-360B-417E-B1F3-6EAB011C0CE6}"/>
              </a:ext>
            </a:extLst>
          </p:cNvPr>
          <p:cNvSpPr>
            <a:spLocks xmlns:a="http://schemas.openxmlformats.org/drawingml/2006/main" noGrp="1"/>
          </p:cNvSpPr>
          <p:nvPr/>
        </p:nvSpPr>
        <p:spPr>
          <a:xfrm xmlns:a="http://schemas.openxmlformats.org/drawingml/2006/main">
            <a:off x="2095500" y="29146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83" name="">
            <a:extLst xmlns:a="http://schemas.openxmlformats.org/drawingml/2006/main">
              <a:ext uri="{FF2B5EF4-FFF2-40B4-BE49-F238E27FC236}">
                <a16:creationId xmlns:a16="http://schemas.microsoft.com/office/drawing/2014/main" id="{F3633A74-AB4F-459D-BEF0-148B0EE6AB10}"/>
              </a:ext>
            </a:extLst>
          </p:cNvPr>
          <p:cNvSpPr>
            <a:spLocks xmlns:a="http://schemas.openxmlformats.org/drawingml/2006/main" noGrp="1"/>
          </p:cNvSpPr>
          <p:nvPr/>
        </p:nvSpPr>
        <p:spPr>
          <a:xfrm xmlns:a="http://schemas.openxmlformats.org/drawingml/2006/main">
            <a:off x="2333625" y="29146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84" name="">
            <a:extLst xmlns:a="http://schemas.openxmlformats.org/drawingml/2006/main">
              <a:ext uri="{FF2B5EF4-FFF2-40B4-BE49-F238E27FC236}">
                <a16:creationId xmlns:a16="http://schemas.microsoft.com/office/drawing/2014/main" id="{969008E8-4A53-4F9F-8C1C-CE3FFFAB4D75}"/>
              </a:ext>
            </a:extLst>
          </p:cNvPr>
          <p:cNvSpPr>
            <a:spLocks xmlns:a="http://schemas.openxmlformats.org/drawingml/2006/main" noGrp="1"/>
          </p:cNvSpPr>
          <p:nvPr/>
        </p:nvSpPr>
        <p:spPr>
          <a:xfrm xmlns:a="http://schemas.openxmlformats.org/drawingml/2006/main">
            <a:off x="2571750" y="29146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85" name="">
            <a:extLst xmlns:a="http://schemas.openxmlformats.org/drawingml/2006/main">
              <a:ext uri="{FF2B5EF4-FFF2-40B4-BE49-F238E27FC236}">
                <a16:creationId xmlns:a16="http://schemas.microsoft.com/office/drawing/2014/main" id="{8839C8DC-B815-46DD-B858-E9091FF24417}"/>
              </a:ext>
            </a:extLst>
          </p:cNvPr>
          <p:cNvSpPr>
            <a:spLocks xmlns:a="http://schemas.openxmlformats.org/drawingml/2006/main" noGrp="1"/>
          </p:cNvSpPr>
          <p:nvPr/>
        </p:nvSpPr>
        <p:spPr>
          <a:xfrm xmlns:a="http://schemas.openxmlformats.org/drawingml/2006/main">
            <a:off x="2809875" y="29146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86" name="">
            <a:extLst xmlns:a="http://schemas.openxmlformats.org/drawingml/2006/main">
              <a:ext uri="{FF2B5EF4-FFF2-40B4-BE49-F238E27FC236}">
                <a16:creationId xmlns:a16="http://schemas.microsoft.com/office/drawing/2014/main" id="{B005E3FE-7BE8-49DA-9D83-06D80AF54089}"/>
              </a:ext>
            </a:extLst>
          </p:cNvPr>
          <p:cNvSpPr>
            <a:spLocks xmlns:a="http://schemas.openxmlformats.org/drawingml/2006/main" noGrp="1"/>
          </p:cNvSpPr>
          <p:nvPr/>
        </p:nvSpPr>
        <p:spPr>
          <a:xfrm xmlns:a="http://schemas.openxmlformats.org/drawingml/2006/main">
            <a:off x="3048000" y="29146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87" name="">
            <a:extLst xmlns:a="http://schemas.openxmlformats.org/drawingml/2006/main">
              <a:ext uri="{FF2B5EF4-FFF2-40B4-BE49-F238E27FC236}">
                <a16:creationId xmlns:a16="http://schemas.microsoft.com/office/drawing/2014/main" id="{32EDE3EB-65E4-4A45-98EA-223CBFC6BC17}"/>
              </a:ext>
            </a:extLst>
          </p:cNvPr>
          <p:cNvSpPr>
            <a:spLocks xmlns:a="http://schemas.openxmlformats.org/drawingml/2006/main" noGrp="1"/>
          </p:cNvSpPr>
          <p:nvPr/>
        </p:nvSpPr>
        <p:spPr>
          <a:xfrm xmlns:a="http://schemas.openxmlformats.org/drawingml/2006/main">
            <a:off x="3286125" y="29146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88" name="">
            <a:extLst xmlns:a="http://schemas.openxmlformats.org/drawingml/2006/main">
              <a:ext uri="{FF2B5EF4-FFF2-40B4-BE49-F238E27FC236}">
                <a16:creationId xmlns:a16="http://schemas.microsoft.com/office/drawing/2014/main" id="{5968799B-61C4-411D-92BD-BD9E8D647F39}"/>
              </a:ext>
            </a:extLst>
          </p:cNvPr>
          <p:cNvSpPr>
            <a:spLocks xmlns:a="http://schemas.openxmlformats.org/drawingml/2006/main" noGrp="1"/>
          </p:cNvSpPr>
          <p:nvPr/>
        </p:nvSpPr>
        <p:spPr>
          <a:xfrm xmlns:a="http://schemas.openxmlformats.org/drawingml/2006/main">
            <a:off x="3524250" y="29146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89" name="">
            <a:extLst xmlns:a="http://schemas.openxmlformats.org/drawingml/2006/main">
              <a:ext uri="{FF2B5EF4-FFF2-40B4-BE49-F238E27FC236}">
                <a16:creationId xmlns:a16="http://schemas.microsoft.com/office/drawing/2014/main" id="{1D670805-A4CB-4706-9E34-AEE8F8D9B56E}"/>
              </a:ext>
            </a:extLst>
          </p:cNvPr>
          <p:cNvSpPr>
            <a:spLocks xmlns:a="http://schemas.openxmlformats.org/drawingml/2006/main" noGrp="1"/>
          </p:cNvSpPr>
          <p:nvPr/>
        </p:nvSpPr>
        <p:spPr>
          <a:xfrm xmlns:a="http://schemas.openxmlformats.org/drawingml/2006/main">
            <a:off x="3762375" y="29146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90" name="">
            <a:extLst xmlns:a="http://schemas.openxmlformats.org/drawingml/2006/main">
              <a:ext uri="{FF2B5EF4-FFF2-40B4-BE49-F238E27FC236}">
                <a16:creationId xmlns:a16="http://schemas.microsoft.com/office/drawing/2014/main" id="{E9AACB8B-5AA5-4C90-8817-B81EB1B0B4AD}"/>
              </a:ext>
            </a:extLst>
          </p:cNvPr>
          <p:cNvSpPr>
            <a:spLocks xmlns:a="http://schemas.openxmlformats.org/drawingml/2006/main" noGrp="1"/>
          </p:cNvSpPr>
          <p:nvPr/>
        </p:nvSpPr>
        <p:spPr>
          <a:xfrm xmlns:a="http://schemas.openxmlformats.org/drawingml/2006/main">
            <a:off x="4000500" y="29146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91" name="">
            <a:extLst xmlns:a="http://schemas.openxmlformats.org/drawingml/2006/main">
              <a:ext uri="{FF2B5EF4-FFF2-40B4-BE49-F238E27FC236}">
                <a16:creationId xmlns:a16="http://schemas.microsoft.com/office/drawing/2014/main" id="{72B35FA2-9C4D-4558-A578-63D4D23E5177}"/>
              </a:ext>
            </a:extLst>
          </p:cNvPr>
          <p:cNvSpPr>
            <a:spLocks xmlns:a="http://schemas.openxmlformats.org/drawingml/2006/main" noGrp="1"/>
          </p:cNvSpPr>
          <p:nvPr/>
        </p:nvSpPr>
        <p:spPr>
          <a:xfrm xmlns:a="http://schemas.openxmlformats.org/drawingml/2006/main">
            <a:off x="4238625" y="29146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92" name="">
            <a:extLst xmlns:a="http://schemas.openxmlformats.org/drawingml/2006/main">
              <a:ext uri="{FF2B5EF4-FFF2-40B4-BE49-F238E27FC236}">
                <a16:creationId xmlns:a16="http://schemas.microsoft.com/office/drawing/2014/main" id="{9997D81F-5F9A-4690-8D3E-A5F6DB8B7829}"/>
              </a:ext>
            </a:extLst>
          </p:cNvPr>
          <p:cNvSpPr>
            <a:spLocks xmlns:a="http://schemas.openxmlformats.org/drawingml/2006/main" noGrp="1"/>
          </p:cNvSpPr>
          <p:nvPr/>
        </p:nvSpPr>
        <p:spPr>
          <a:xfrm xmlns:a="http://schemas.openxmlformats.org/drawingml/2006/main">
            <a:off x="4476750" y="29146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93" name="">
            <a:extLst xmlns:a="http://schemas.openxmlformats.org/drawingml/2006/main">
              <a:ext uri="{FF2B5EF4-FFF2-40B4-BE49-F238E27FC236}">
                <a16:creationId xmlns:a16="http://schemas.microsoft.com/office/drawing/2014/main" id="{EFD613CA-6477-4F29-BF97-A8E517578D45}"/>
              </a:ext>
            </a:extLst>
          </p:cNvPr>
          <p:cNvSpPr>
            <a:spLocks xmlns:a="http://schemas.openxmlformats.org/drawingml/2006/main" noGrp="1"/>
          </p:cNvSpPr>
          <p:nvPr/>
        </p:nvSpPr>
        <p:spPr>
          <a:xfrm xmlns:a="http://schemas.openxmlformats.org/drawingml/2006/main">
            <a:off x="4714875" y="29146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94" name="">
            <a:extLst xmlns:a="http://schemas.openxmlformats.org/drawingml/2006/main">
              <a:ext uri="{FF2B5EF4-FFF2-40B4-BE49-F238E27FC236}">
                <a16:creationId xmlns:a16="http://schemas.microsoft.com/office/drawing/2014/main" id="{7DB77F35-E5A7-47E4-AF2A-A937EA500110}"/>
              </a:ext>
            </a:extLst>
          </p:cNvPr>
          <p:cNvSpPr>
            <a:spLocks xmlns:a="http://schemas.openxmlformats.org/drawingml/2006/main" noGrp="1"/>
          </p:cNvSpPr>
          <p:nvPr/>
        </p:nvSpPr>
        <p:spPr>
          <a:xfrm xmlns:a="http://schemas.openxmlformats.org/drawingml/2006/main">
            <a:off x="666750" y="31527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95" name="">
            <a:extLst xmlns:a="http://schemas.openxmlformats.org/drawingml/2006/main">
              <a:ext uri="{FF2B5EF4-FFF2-40B4-BE49-F238E27FC236}">
                <a16:creationId xmlns:a16="http://schemas.microsoft.com/office/drawing/2014/main" id="{5649DC45-4ECE-4113-8C86-5B8FA4E5472D}"/>
              </a:ext>
            </a:extLst>
          </p:cNvPr>
          <p:cNvSpPr>
            <a:spLocks xmlns:a="http://schemas.openxmlformats.org/drawingml/2006/main" noGrp="1"/>
          </p:cNvSpPr>
          <p:nvPr/>
        </p:nvSpPr>
        <p:spPr>
          <a:xfrm xmlns:a="http://schemas.openxmlformats.org/drawingml/2006/main">
            <a:off x="904875" y="31527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96" name="">
            <a:extLst xmlns:a="http://schemas.openxmlformats.org/drawingml/2006/main">
              <a:ext uri="{FF2B5EF4-FFF2-40B4-BE49-F238E27FC236}">
                <a16:creationId xmlns:a16="http://schemas.microsoft.com/office/drawing/2014/main" id="{7C25997A-C79F-449D-B7AE-EC36B323060A}"/>
              </a:ext>
            </a:extLst>
          </p:cNvPr>
          <p:cNvSpPr>
            <a:spLocks xmlns:a="http://schemas.openxmlformats.org/drawingml/2006/main" noGrp="1"/>
          </p:cNvSpPr>
          <p:nvPr/>
        </p:nvSpPr>
        <p:spPr>
          <a:xfrm xmlns:a="http://schemas.openxmlformats.org/drawingml/2006/main">
            <a:off x="1143000" y="31527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97" name="">
            <a:extLst xmlns:a="http://schemas.openxmlformats.org/drawingml/2006/main">
              <a:ext uri="{FF2B5EF4-FFF2-40B4-BE49-F238E27FC236}">
                <a16:creationId xmlns:a16="http://schemas.microsoft.com/office/drawing/2014/main" id="{E92DCC9F-1379-4796-8640-18C1C9AC101A}"/>
              </a:ext>
            </a:extLst>
          </p:cNvPr>
          <p:cNvSpPr>
            <a:spLocks xmlns:a="http://schemas.openxmlformats.org/drawingml/2006/main" noGrp="1"/>
          </p:cNvSpPr>
          <p:nvPr/>
        </p:nvSpPr>
        <p:spPr>
          <a:xfrm xmlns:a="http://schemas.openxmlformats.org/drawingml/2006/main">
            <a:off x="1381125" y="31527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98" name="">
            <a:extLst xmlns:a="http://schemas.openxmlformats.org/drawingml/2006/main">
              <a:ext uri="{FF2B5EF4-FFF2-40B4-BE49-F238E27FC236}">
                <a16:creationId xmlns:a16="http://schemas.microsoft.com/office/drawing/2014/main" id="{72E2AD23-EBDD-4600-A22A-8DA8804BE5D6}"/>
              </a:ext>
            </a:extLst>
          </p:cNvPr>
          <p:cNvSpPr>
            <a:spLocks xmlns:a="http://schemas.openxmlformats.org/drawingml/2006/main" noGrp="1"/>
          </p:cNvSpPr>
          <p:nvPr/>
        </p:nvSpPr>
        <p:spPr>
          <a:xfrm xmlns:a="http://schemas.openxmlformats.org/drawingml/2006/main">
            <a:off x="1619250" y="31527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99" name="">
            <a:extLst xmlns:a="http://schemas.openxmlformats.org/drawingml/2006/main">
              <a:ext uri="{FF2B5EF4-FFF2-40B4-BE49-F238E27FC236}">
                <a16:creationId xmlns:a16="http://schemas.microsoft.com/office/drawing/2014/main" id="{C8853729-EF94-4B4B-BE7B-03550117045A}"/>
              </a:ext>
            </a:extLst>
          </p:cNvPr>
          <p:cNvSpPr>
            <a:spLocks xmlns:a="http://schemas.openxmlformats.org/drawingml/2006/main" noGrp="1"/>
          </p:cNvSpPr>
          <p:nvPr/>
        </p:nvSpPr>
        <p:spPr>
          <a:xfrm xmlns:a="http://schemas.openxmlformats.org/drawingml/2006/main">
            <a:off x="1857375" y="31527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00" name="">
            <a:extLst xmlns:a="http://schemas.openxmlformats.org/drawingml/2006/main">
              <a:ext uri="{FF2B5EF4-FFF2-40B4-BE49-F238E27FC236}">
                <a16:creationId xmlns:a16="http://schemas.microsoft.com/office/drawing/2014/main" id="{5D74EC7A-51D9-46CF-852C-73B5C93E3801}"/>
              </a:ext>
            </a:extLst>
          </p:cNvPr>
          <p:cNvSpPr>
            <a:spLocks xmlns:a="http://schemas.openxmlformats.org/drawingml/2006/main" noGrp="1"/>
          </p:cNvSpPr>
          <p:nvPr/>
        </p:nvSpPr>
        <p:spPr>
          <a:xfrm xmlns:a="http://schemas.openxmlformats.org/drawingml/2006/main">
            <a:off x="2095500" y="31527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01" name="">
            <a:extLst xmlns:a="http://schemas.openxmlformats.org/drawingml/2006/main">
              <a:ext uri="{FF2B5EF4-FFF2-40B4-BE49-F238E27FC236}">
                <a16:creationId xmlns:a16="http://schemas.microsoft.com/office/drawing/2014/main" id="{D90F79ED-D06F-42DE-AE28-73CB90DBDCA4}"/>
              </a:ext>
            </a:extLst>
          </p:cNvPr>
          <p:cNvSpPr>
            <a:spLocks xmlns:a="http://schemas.openxmlformats.org/drawingml/2006/main" noGrp="1"/>
          </p:cNvSpPr>
          <p:nvPr/>
        </p:nvSpPr>
        <p:spPr>
          <a:xfrm xmlns:a="http://schemas.openxmlformats.org/drawingml/2006/main">
            <a:off x="2333625" y="31527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02" name="">
            <a:extLst xmlns:a="http://schemas.openxmlformats.org/drawingml/2006/main">
              <a:ext uri="{FF2B5EF4-FFF2-40B4-BE49-F238E27FC236}">
                <a16:creationId xmlns:a16="http://schemas.microsoft.com/office/drawing/2014/main" id="{38DD022C-1BDF-4D15-ADDA-CF54A2C7E7B5}"/>
              </a:ext>
            </a:extLst>
          </p:cNvPr>
          <p:cNvSpPr>
            <a:spLocks xmlns:a="http://schemas.openxmlformats.org/drawingml/2006/main" noGrp="1"/>
          </p:cNvSpPr>
          <p:nvPr/>
        </p:nvSpPr>
        <p:spPr>
          <a:xfrm xmlns:a="http://schemas.openxmlformats.org/drawingml/2006/main">
            <a:off x="2571750" y="31527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03" name="">
            <a:extLst xmlns:a="http://schemas.openxmlformats.org/drawingml/2006/main">
              <a:ext uri="{FF2B5EF4-FFF2-40B4-BE49-F238E27FC236}">
                <a16:creationId xmlns:a16="http://schemas.microsoft.com/office/drawing/2014/main" id="{8FA9F56E-EE84-4095-B999-687DA3F17240}"/>
              </a:ext>
            </a:extLst>
          </p:cNvPr>
          <p:cNvSpPr>
            <a:spLocks xmlns:a="http://schemas.openxmlformats.org/drawingml/2006/main" noGrp="1"/>
          </p:cNvSpPr>
          <p:nvPr/>
        </p:nvSpPr>
        <p:spPr>
          <a:xfrm xmlns:a="http://schemas.openxmlformats.org/drawingml/2006/main">
            <a:off x="2809875" y="31527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04" name="">
            <a:extLst xmlns:a="http://schemas.openxmlformats.org/drawingml/2006/main">
              <a:ext uri="{FF2B5EF4-FFF2-40B4-BE49-F238E27FC236}">
                <a16:creationId xmlns:a16="http://schemas.microsoft.com/office/drawing/2014/main" id="{A8883A64-E5E9-4C7D-8508-71FD79C053A3}"/>
              </a:ext>
            </a:extLst>
          </p:cNvPr>
          <p:cNvSpPr>
            <a:spLocks xmlns:a="http://schemas.openxmlformats.org/drawingml/2006/main" noGrp="1"/>
          </p:cNvSpPr>
          <p:nvPr/>
        </p:nvSpPr>
        <p:spPr>
          <a:xfrm xmlns:a="http://schemas.openxmlformats.org/drawingml/2006/main">
            <a:off x="3048000" y="31527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05" name="">
            <a:extLst xmlns:a="http://schemas.openxmlformats.org/drawingml/2006/main">
              <a:ext uri="{FF2B5EF4-FFF2-40B4-BE49-F238E27FC236}">
                <a16:creationId xmlns:a16="http://schemas.microsoft.com/office/drawing/2014/main" id="{7184D6D3-53FD-43BC-9B1F-F7C20822326A}"/>
              </a:ext>
            </a:extLst>
          </p:cNvPr>
          <p:cNvSpPr>
            <a:spLocks xmlns:a="http://schemas.openxmlformats.org/drawingml/2006/main" noGrp="1"/>
          </p:cNvSpPr>
          <p:nvPr/>
        </p:nvSpPr>
        <p:spPr>
          <a:xfrm xmlns:a="http://schemas.openxmlformats.org/drawingml/2006/main">
            <a:off x="3286125" y="31527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06" name="">
            <a:extLst xmlns:a="http://schemas.openxmlformats.org/drawingml/2006/main">
              <a:ext uri="{FF2B5EF4-FFF2-40B4-BE49-F238E27FC236}">
                <a16:creationId xmlns:a16="http://schemas.microsoft.com/office/drawing/2014/main" id="{086FE48C-B460-429A-BB9E-A6209E66130B}"/>
              </a:ext>
            </a:extLst>
          </p:cNvPr>
          <p:cNvSpPr>
            <a:spLocks xmlns:a="http://schemas.openxmlformats.org/drawingml/2006/main" noGrp="1"/>
          </p:cNvSpPr>
          <p:nvPr/>
        </p:nvSpPr>
        <p:spPr>
          <a:xfrm xmlns:a="http://schemas.openxmlformats.org/drawingml/2006/main">
            <a:off x="3524250" y="31527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07" name="">
            <a:extLst xmlns:a="http://schemas.openxmlformats.org/drawingml/2006/main">
              <a:ext uri="{FF2B5EF4-FFF2-40B4-BE49-F238E27FC236}">
                <a16:creationId xmlns:a16="http://schemas.microsoft.com/office/drawing/2014/main" id="{4FD5EE28-40C9-4C06-9E06-00500E749E15}"/>
              </a:ext>
            </a:extLst>
          </p:cNvPr>
          <p:cNvSpPr>
            <a:spLocks xmlns:a="http://schemas.openxmlformats.org/drawingml/2006/main" noGrp="1"/>
          </p:cNvSpPr>
          <p:nvPr/>
        </p:nvSpPr>
        <p:spPr>
          <a:xfrm xmlns:a="http://schemas.openxmlformats.org/drawingml/2006/main">
            <a:off x="3762375" y="31527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08" name="">
            <a:extLst xmlns:a="http://schemas.openxmlformats.org/drawingml/2006/main">
              <a:ext uri="{FF2B5EF4-FFF2-40B4-BE49-F238E27FC236}">
                <a16:creationId xmlns:a16="http://schemas.microsoft.com/office/drawing/2014/main" id="{5B35EEE5-D112-4DDA-B87F-59CC53A84012}"/>
              </a:ext>
            </a:extLst>
          </p:cNvPr>
          <p:cNvSpPr>
            <a:spLocks xmlns:a="http://schemas.openxmlformats.org/drawingml/2006/main" noGrp="1"/>
          </p:cNvSpPr>
          <p:nvPr/>
        </p:nvSpPr>
        <p:spPr>
          <a:xfrm xmlns:a="http://schemas.openxmlformats.org/drawingml/2006/main">
            <a:off x="4000500" y="31527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09" name="">
            <a:extLst xmlns:a="http://schemas.openxmlformats.org/drawingml/2006/main">
              <a:ext uri="{FF2B5EF4-FFF2-40B4-BE49-F238E27FC236}">
                <a16:creationId xmlns:a16="http://schemas.microsoft.com/office/drawing/2014/main" id="{6203C1DA-8596-4450-822C-D6BBD3122F31}"/>
              </a:ext>
            </a:extLst>
          </p:cNvPr>
          <p:cNvSpPr>
            <a:spLocks xmlns:a="http://schemas.openxmlformats.org/drawingml/2006/main" noGrp="1"/>
          </p:cNvSpPr>
          <p:nvPr/>
        </p:nvSpPr>
        <p:spPr>
          <a:xfrm xmlns:a="http://schemas.openxmlformats.org/drawingml/2006/main">
            <a:off x="4238625" y="31527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10" name="">
            <a:extLst xmlns:a="http://schemas.openxmlformats.org/drawingml/2006/main">
              <a:ext uri="{FF2B5EF4-FFF2-40B4-BE49-F238E27FC236}">
                <a16:creationId xmlns:a16="http://schemas.microsoft.com/office/drawing/2014/main" id="{C9804A04-FCCA-4AC5-8213-C5757ADA69E6}"/>
              </a:ext>
            </a:extLst>
          </p:cNvPr>
          <p:cNvSpPr>
            <a:spLocks xmlns:a="http://schemas.openxmlformats.org/drawingml/2006/main" noGrp="1"/>
          </p:cNvSpPr>
          <p:nvPr/>
        </p:nvSpPr>
        <p:spPr>
          <a:xfrm xmlns:a="http://schemas.openxmlformats.org/drawingml/2006/main">
            <a:off x="4476750" y="31527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11" name="">
            <a:extLst xmlns:a="http://schemas.openxmlformats.org/drawingml/2006/main">
              <a:ext uri="{FF2B5EF4-FFF2-40B4-BE49-F238E27FC236}">
                <a16:creationId xmlns:a16="http://schemas.microsoft.com/office/drawing/2014/main" id="{CFF12057-E1F5-440B-AC91-790E914A0C1E}"/>
              </a:ext>
            </a:extLst>
          </p:cNvPr>
          <p:cNvSpPr>
            <a:spLocks xmlns:a="http://schemas.openxmlformats.org/drawingml/2006/main" noGrp="1"/>
          </p:cNvSpPr>
          <p:nvPr/>
        </p:nvSpPr>
        <p:spPr>
          <a:xfrm xmlns:a="http://schemas.openxmlformats.org/drawingml/2006/main">
            <a:off x="4714875" y="31527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12" name="">
            <a:extLst xmlns:a="http://schemas.openxmlformats.org/drawingml/2006/main">
              <a:ext uri="{FF2B5EF4-FFF2-40B4-BE49-F238E27FC236}">
                <a16:creationId xmlns:a16="http://schemas.microsoft.com/office/drawing/2014/main" id="{1F0CE206-297B-424C-A20A-1F9755057726}"/>
              </a:ext>
            </a:extLst>
          </p:cNvPr>
          <p:cNvSpPr>
            <a:spLocks xmlns:a="http://schemas.openxmlformats.org/drawingml/2006/main" noGrp="1"/>
          </p:cNvSpPr>
          <p:nvPr/>
        </p:nvSpPr>
        <p:spPr>
          <a:xfrm xmlns:a="http://schemas.openxmlformats.org/drawingml/2006/main">
            <a:off x="666750" y="33909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13" name="">
            <a:extLst xmlns:a="http://schemas.openxmlformats.org/drawingml/2006/main">
              <a:ext uri="{FF2B5EF4-FFF2-40B4-BE49-F238E27FC236}">
                <a16:creationId xmlns:a16="http://schemas.microsoft.com/office/drawing/2014/main" id="{33A02F6F-2E9C-4C32-9A0F-3D70C0AA9674}"/>
              </a:ext>
            </a:extLst>
          </p:cNvPr>
          <p:cNvSpPr>
            <a:spLocks xmlns:a="http://schemas.openxmlformats.org/drawingml/2006/main" noGrp="1"/>
          </p:cNvSpPr>
          <p:nvPr/>
        </p:nvSpPr>
        <p:spPr>
          <a:xfrm xmlns:a="http://schemas.openxmlformats.org/drawingml/2006/main">
            <a:off x="904875" y="33909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14" name="">
            <a:extLst xmlns:a="http://schemas.openxmlformats.org/drawingml/2006/main">
              <a:ext uri="{FF2B5EF4-FFF2-40B4-BE49-F238E27FC236}">
                <a16:creationId xmlns:a16="http://schemas.microsoft.com/office/drawing/2014/main" id="{345B9D3E-F0C4-41A5-86A4-7AF78C2E0C45}"/>
              </a:ext>
            </a:extLst>
          </p:cNvPr>
          <p:cNvSpPr>
            <a:spLocks xmlns:a="http://schemas.openxmlformats.org/drawingml/2006/main" noGrp="1"/>
          </p:cNvSpPr>
          <p:nvPr/>
        </p:nvSpPr>
        <p:spPr>
          <a:xfrm xmlns:a="http://schemas.openxmlformats.org/drawingml/2006/main">
            <a:off x="1143000" y="33909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15" name="">
            <a:extLst xmlns:a="http://schemas.openxmlformats.org/drawingml/2006/main">
              <a:ext uri="{FF2B5EF4-FFF2-40B4-BE49-F238E27FC236}">
                <a16:creationId xmlns:a16="http://schemas.microsoft.com/office/drawing/2014/main" id="{0DC26764-409B-48FA-AC3E-67C98B38EC81}"/>
              </a:ext>
            </a:extLst>
          </p:cNvPr>
          <p:cNvSpPr>
            <a:spLocks xmlns:a="http://schemas.openxmlformats.org/drawingml/2006/main" noGrp="1"/>
          </p:cNvSpPr>
          <p:nvPr/>
        </p:nvSpPr>
        <p:spPr>
          <a:xfrm xmlns:a="http://schemas.openxmlformats.org/drawingml/2006/main">
            <a:off x="1381125" y="33909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16" name="">
            <a:extLst xmlns:a="http://schemas.openxmlformats.org/drawingml/2006/main">
              <a:ext uri="{FF2B5EF4-FFF2-40B4-BE49-F238E27FC236}">
                <a16:creationId xmlns:a16="http://schemas.microsoft.com/office/drawing/2014/main" id="{E72C9C80-09BA-4494-AB08-07F6DC93D4BE}"/>
              </a:ext>
            </a:extLst>
          </p:cNvPr>
          <p:cNvSpPr>
            <a:spLocks xmlns:a="http://schemas.openxmlformats.org/drawingml/2006/main" noGrp="1"/>
          </p:cNvSpPr>
          <p:nvPr/>
        </p:nvSpPr>
        <p:spPr>
          <a:xfrm xmlns:a="http://schemas.openxmlformats.org/drawingml/2006/main">
            <a:off x="1619250" y="33909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17" name="">
            <a:extLst xmlns:a="http://schemas.openxmlformats.org/drawingml/2006/main">
              <a:ext uri="{FF2B5EF4-FFF2-40B4-BE49-F238E27FC236}">
                <a16:creationId xmlns:a16="http://schemas.microsoft.com/office/drawing/2014/main" id="{36DC8447-9A2C-4C30-8C5B-BD4E3D63BD1C}"/>
              </a:ext>
            </a:extLst>
          </p:cNvPr>
          <p:cNvSpPr>
            <a:spLocks xmlns:a="http://schemas.openxmlformats.org/drawingml/2006/main" noGrp="1"/>
          </p:cNvSpPr>
          <p:nvPr/>
        </p:nvSpPr>
        <p:spPr>
          <a:xfrm xmlns:a="http://schemas.openxmlformats.org/drawingml/2006/main">
            <a:off x="1857375" y="33909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18" name="">
            <a:extLst xmlns:a="http://schemas.openxmlformats.org/drawingml/2006/main">
              <a:ext uri="{FF2B5EF4-FFF2-40B4-BE49-F238E27FC236}">
                <a16:creationId xmlns:a16="http://schemas.microsoft.com/office/drawing/2014/main" id="{B07E9D96-AF4C-42F8-B9B5-520464011902}"/>
              </a:ext>
            </a:extLst>
          </p:cNvPr>
          <p:cNvSpPr>
            <a:spLocks xmlns:a="http://schemas.openxmlformats.org/drawingml/2006/main" noGrp="1"/>
          </p:cNvSpPr>
          <p:nvPr/>
        </p:nvSpPr>
        <p:spPr>
          <a:xfrm xmlns:a="http://schemas.openxmlformats.org/drawingml/2006/main">
            <a:off x="2095500" y="33909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19" name="">
            <a:extLst xmlns:a="http://schemas.openxmlformats.org/drawingml/2006/main">
              <a:ext uri="{FF2B5EF4-FFF2-40B4-BE49-F238E27FC236}">
                <a16:creationId xmlns:a16="http://schemas.microsoft.com/office/drawing/2014/main" id="{577E2AF6-3FC8-43FD-A687-F32450C3C781}"/>
              </a:ext>
            </a:extLst>
          </p:cNvPr>
          <p:cNvSpPr>
            <a:spLocks xmlns:a="http://schemas.openxmlformats.org/drawingml/2006/main" noGrp="1"/>
          </p:cNvSpPr>
          <p:nvPr/>
        </p:nvSpPr>
        <p:spPr>
          <a:xfrm xmlns:a="http://schemas.openxmlformats.org/drawingml/2006/main">
            <a:off x="2333625" y="33909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20" name="">
            <a:extLst xmlns:a="http://schemas.openxmlformats.org/drawingml/2006/main">
              <a:ext uri="{FF2B5EF4-FFF2-40B4-BE49-F238E27FC236}">
                <a16:creationId xmlns:a16="http://schemas.microsoft.com/office/drawing/2014/main" id="{55D09823-3BEC-41FE-B232-D03399815A68}"/>
              </a:ext>
            </a:extLst>
          </p:cNvPr>
          <p:cNvSpPr>
            <a:spLocks xmlns:a="http://schemas.openxmlformats.org/drawingml/2006/main" noGrp="1"/>
          </p:cNvSpPr>
          <p:nvPr/>
        </p:nvSpPr>
        <p:spPr>
          <a:xfrm xmlns:a="http://schemas.openxmlformats.org/drawingml/2006/main">
            <a:off x="2571750" y="33909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21" name="">
            <a:extLst xmlns:a="http://schemas.openxmlformats.org/drawingml/2006/main">
              <a:ext uri="{FF2B5EF4-FFF2-40B4-BE49-F238E27FC236}">
                <a16:creationId xmlns:a16="http://schemas.microsoft.com/office/drawing/2014/main" id="{B68DD9C0-80DF-4E15-8E79-0CA03A901E70}"/>
              </a:ext>
            </a:extLst>
          </p:cNvPr>
          <p:cNvSpPr>
            <a:spLocks xmlns:a="http://schemas.openxmlformats.org/drawingml/2006/main" noGrp="1"/>
          </p:cNvSpPr>
          <p:nvPr/>
        </p:nvSpPr>
        <p:spPr>
          <a:xfrm xmlns:a="http://schemas.openxmlformats.org/drawingml/2006/main">
            <a:off x="2809875" y="33909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22" name="">
            <a:extLst xmlns:a="http://schemas.openxmlformats.org/drawingml/2006/main">
              <a:ext uri="{FF2B5EF4-FFF2-40B4-BE49-F238E27FC236}">
                <a16:creationId xmlns:a16="http://schemas.microsoft.com/office/drawing/2014/main" id="{BFF98C13-11EF-4061-A513-E04BDEB99769}"/>
              </a:ext>
            </a:extLst>
          </p:cNvPr>
          <p:cNvSpPr>
            <a:spLocks xmlns:a="http://schemas.openxmlformats.org/drawingml/2006/main" noGrp="1"/>
          </p:cNvSpPr>
          <p:nvPr/>
        </p:nvSpPr>
        <p:spPr>
          <a:xfrm xmlns:a="http://schemas.openxmlformats.org/drawingml/2006/main">
            <a:off x="3048000" y="33909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23" name="">
            <a:extLst xmlns:a="http://schemas.openxmlformats.org/drawingml/2006/main">
              <a:ext uri="{FF2B5EF4-FFF2-40B4-BE49-F238E27FC236}">
                <a16:creationId xmlns:a16="http://schemas.microsoft.com/office/drawing/2014/main" id="{7B141464-FBCA-411E-96A6-F8A7F6746325}"/>
              </a:ext>
            </a:extLst>
          </p:cNvPr>
          <p:cNvSpPr>
            <a:spLocks xmlns:a="http://schemas.openxmlformats.org/drawingml/2006/main" noGrp="1"/>
          </p:cNvSpPr>
          <p:nvPr/>
        </p:nvSpPr>
        <p:spPr>
          <a:xfrm xmlns:a="http://schemas.openxmlformats.org/drawingml/2006/main">
            <a:off x="3286125" y="33909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24" name="">
            <a:extLst xmlns:a="http://schemas.openxmlformats.org/drawingml/2006/main">
              <a:ext uri="{FF2B5EF4-FFF2-40B4-BE49-F238E27FC236}">
                <a16:creationId xmlns:a16="http://schemas.microsoft.com/office/drawing/2014/main" id="{8F261032-76C6-464F-9C27-3A6DA2E76E78}"/>
              </a:ext>
            </a:extLst>
          </p:cNvPr>
          <p:cNvSpPr>
            <a:spLocks xmlns:a="http://schemas.openxmlformats.org/drawingml/2006/main" noGrp="1"/>
          </p:cNvSpPr>
          <p:nvPr/>
        </p:nvSpPr>
        <p:spPr>
          <a:xfrm xmlns:a="http://schemas.openxmlformats.org/drawingml/2006/main">
            <a:off x="3524250" y="33909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25" name="">
            <a:extLst xmlns:a="http://schemas.openxmlformats.org/drawingml/2006/main">
              <a:ext uri="{FF2B5EF4-FFF2-40B4-BE49-F238E27FC236}">
                <a16:creationId xmlns:a16="http://schemas.microsoft.com/office/drawing/2014/main" id="{1F8371D1-7A38-4B27-92D2-D11D66CBBC25}"/>
              </a:ext>
            </a:extLst>
          </p:cNvPr>
          <p:cNvSpPr>
            <a:spLocks xmlns:a="http://schemas.openxmlformats.org/drawingml/2006/main" noGrp="1"/>
          </p:cNvSpPr>
          <p:nvPr/>
        </p:nvSpPr>
        <p:spPr>
          <a:xfrm xmlns:a="http://schemas.openxmlformats.org/drawingml/2006/main">
            <a:off x="3762375" y="33909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26" name="">
            <a:extLst xmlns:a="http://schemas.openxmlformats.org/drawingml/2006/main">
              <a:ext uri="{FF2B5EF4-FFF2-40B4-BE49-F238E27FC236}">
                <a16:creationId xmlns:a16="http://schemas.microsoft.com/office/drawing/2014/main" id="{0BE003BC-093F-4CCC-902A-ADFDFE6F3E41}"/>
              </a:ext>
            </a:extLst>
          </p:cNvPr>
          <p:cNvSpPr>
            <a:spLocks xmlns:a="http://schemas.openxmlformats.org/drawingml/2006/main" noGrp="1"/>
          </p:cNvSpPr>
          <p:nvPr/>
        </p:nvSpPr>
        <p:spPr>
          <a:xfrm xmlns:a="http://schemas.openxmlformats.org/drawingml/2006/main">
            <a:off x="4000500" y="339090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27" name="">
            <a:extLst xmlns:a="http://schemas.openxmlformats.org/drawingml/2006/main">
              <a:ext uri="{FF2B5EF4-FFF2-40B4-BE49-F238E27FC236}">
                <a16:creationId xmlns:a16="http://schemas.microsoft.com/office/drawing/2014/main" id="{DF5482A3-94AD-46F9-B993-484978F16B49}"/>
              </a:ext>
            </a:extLst>
          </p:cNvPr>
          <p:cNvSpPr>
            <a:spLocks xmlns:a="http://schemas.openxmlformats.org/drawingml/2006/main" noGrp="1"/>
          </p:cNvSpPr>
          <p:nvPr/>
        </p:nvSpPr>
        <p:spPr>
          <a:xfrm xmlns:a="http://schemas.openxmlformats.org/drawingml/2006/main">
            <a:off x="4238625" y="339090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28" name="">
            <a:extLst xmlns:a="http://schemas.openxmlformats.org/drawingml/2006/main">
              <a:ext uri="{FF2B5EF4-FFF2-40B4-BE49-F238E27FC236}">
                <a16:creationId xmlns:a16="http://schemas.microsoft.com/office/drawing/2014/main" id="{87651DCE-6622-45A1-81C6-225B3A4624AE}"/>
              </a:ext>
            </a:extLst>
          </p:cNvPr>
          <p:cNvSpPr>
            <a:spLocks xmlns:a="http://schemas.openxmlformats.org/drawingml/2006/main" noGrp="1"/>
          </p:cNvSpPr>
          <p:nvPr/>
        </p:nvSpPr>
        <p:spPr>
          <a:xfrm xmlns:a="http://schemas.openxmlformats.org/drawingml/2006/main">
            <a:off x="4476750" y="339090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29" name="">
            <a:extLst xmlns:a="http://schemas.openxmlformats.org/drawingml/2006/main">
              <a:ext uri="{FF2B5EF4-FFF2-40B4-BE49-F238E27FC236}">
                <a16:creationId xmlns:a16="http://schemas.microsoft.com/office/drawing/2014/main" id="{614D4C44-46E7-482E-9286-8DE85FE3ED09}"/>
              </a:ext>
            </a:extLst>
          </p:cNvPr>
          <p:cNvSpPr>
            <a:spLocks xmlns:a="http://schemas.openxmlformats.org/drawingml/2006/main" noGrp="1"/>
          </p:cNvSpPr>
          <p:nvPr/>
        </p:nvSpPr>
        <p:spPr>
          <a:xfrm xmlns:a="http://schemas.openxmlformats.org/drawingml/2006/main">
            <a:off x="4714875" y="339090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30" name="">
            <a:extLst xmlns:a="http://schemas.openxmlformats.org/drawingml/2006/main">
              <a:ext uri="{FF2B5EF4-FFF2-40B4-BE49-F238E27FC236}">
                <a16:creationId xmlns:a16="http://schemas.microsoft.com/office/drawing/2014/main" id="{542E053F-6511-40DC-80EE-0FE73CD7BFD5}"/>
              </a:ext>
            </a:extLst>
          </p:cNvPr>
          <p:cNvSpPr>
            <a:spLocks xmlns:a="http://schemas.openxmlformats.org/drawingml/2006/main" noGrp="1"/>
          </p:cNvSpPr>
          <p:nvPr/>
        </p:nvSpPr>
        <p:spPr>
          <a:xfrm xmlns:a="http://schemas.openxmlformats.org/drawingml/2006/main">
            <a:off x="666750" y="36290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31" name="">
            <a:extLst xmlns:a="http://schemas.openxmlformats.org/drawingml/2006/main">
              <a:ext uri="{FF2B5EF4-FFF2-40B4-BE49-F238E27FC236}">
                <a16:creationId xmlns:a16="http://schemas.microsoft.com/office/drawing/2014/main" id="{CC8DCFCC-4695-4DEA-919C-24DDE3CF4686}"/>
              </a:ext>
            </a:extLst>
          </p:cNvPr>
          <p:cNvSpPr>
            <a:spLocks xmlns:a="http://schemas.openxmlformats.org/drawingml/2006/main" noGrp="1"/>
          </p:cNvSpPr>
          <p:nvPr/>
        </p:nvSpPr>
        <p:spPr>
          <a:xfrm xmlns:a="http://schemas.openxmlformats.org/drawingml/2006/main">
            <a:off x="904875" y="36290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32" name="">
            <a:extLst xmlns:a="http://schemas.openxmlformats.org/drawingml/2006/main">
              <a:ext uri="{FF2B5EF4-FFF2-40B4-BE49-F238E27FC236}">
                <a16:creationId xmlns:a16="http://schemas.microsoft.com/office/drawing/2014/main" id="{3656A222-9B4F-4D20-81F9-4946D9982E68}"/>
              </a:ext>
            </a:extLst>
          </p:cNvPr>
          <p:cNvSpPr>
            <a:spLocks xmlns:a="http://schemas.openxmlformats.org/drawingml/2006/main" noGrp="1"/>
          </p:cNvSpPr>
          <p:nvPr/>
        </p:nvSpPr>
        <p:spPr>
          <a:xfrm xmlns:a="http://schemas.openxmlformats.org/drawingml/2006/main">
            <a:off x="1143000" y="36290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33" name="">
            <a:extLst xmlns:a="http://schemas.openxmlformats.org/drawingml/2006/main">
              <a:ext uri="{FF2B5EF4-FFF2-40B4-BE49-F238E27FC236}">
                <a16:creationId xmlns:a16="http://schemas.microsoft.com/office/drawing/2014/main" id="{4BC2B831-3A44-4283-8B07-B5A0CB6F0EB5}"/>
              </a:ext>
            </a:extLst>
          </p:cNvPr>
          <p:cNvSpPr>
            <a:spLocks xmlns:a="http://schemas.openxmlformats.org/drawingml/2006/main" noGrp="1"/>
          </p:cNvSpPr>
          <p:nvPr/>
        </p:nvSpPr>
        <p:spPr>
          <a:xfrm xmlns:a="http://schemas.openxmlformats.org/drawingml/2006/main">
            <a:off x="1381125" y="36290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34" name="">
            <a:extLst xmlns:a="http://schemas.openxmlformats.org/drawingml/2006/main">
              <a:ext uri="{FF2B5EF4-FFF2-40B4-BE49-F238E27FC236}">
                <a16:creationId xmlns:a16="http://schemas.microsoft.com/office/drawing/2014/main" id="{4E779ECD-F040-443E-9ACA-68865B64E90F}"/>
              </a:ext>
            </a:extLst>
          </p:cNvPr>
          <p:cNvSpPr>
            <a:spLocks xmlns:a="http://schemas.openxmlformats.org/drawingml/2006/main" noGrp="1"/>
          </p:cNvSpPr>
          <p:nvPr/>
        </p:nvSpPr>
        <p:spPr>
          <a:xfrm xmlns:a="http://schemas.openxmlformats.org/drawingml/2006/main">
            <a:off x="1619250" y="36290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35" name="">
            <a:extLst xmlns:a="http://schemas.openxmlformats.org/drawingml/2006/main">
              <a:ext uri="{FF2B5EF4-FFF2-40B4-BE49-F238E27FC236}">
                <a16:creationId xmlns:a16="http://schemas.microsoft.com/office/drawing/2014/main" id="{99C128D7-9FA1-4E52-8259-26D0639F36A1}"/>
              </a:ext>
            </a:extLst>
          </p:cNvPr>
          <p:cNvSpPr>
            <a:spLocks xmlns:a="http://schemas.openxmlformats.org/drawingml/2006/main" noGrp="1"/>
          </p:cNvSpPr>
          <p:nvPr/>
        </p:nvSpPr>
        <p:spPr>
          <a:xfrm xmlns:a="http://schemas.openxmlformats.org/drawingml/2006/main">
            <a:off x="1857375" y="36290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36" name="">
            <a:extLst xmlns:a="http://schemas.openxmlformats.org/drawingml/2006/main">
              <a:ext uri="{FF2B5EF4-FFF2-40B4-BE49-F238E27FC236}">
                <a16:creationId xmlns:a16="http://schemas.microsoft.com/office/drawing/2014/main" id="{844F0C1B-FF77-4527-9027-52AE6F6E5E09}"/>
              </a:ext>
            </a:extLst>
          </p:cNvPr>
          <p:cNvSpPr>
            <a:spLocks xmlns:a="http://schemas.openxmlformats.org/drawingml/2006/main" noGrp="1"/>
          </p:cNvSpPr>
          <p:nvPr/>
        </p:nvSpPr>
        <p:spPr>
          <a:xfrm xmlns:a="http://schemas.openxmlformats.org/drawingml/2006/main">
            <a:off x="2095500" y="36290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37" name="">
            <a:extLst xmlns:a="http://schemas.openxmlformats.org/drawingml/2006/main">
              <a:ext uri="{FF2B5EF4-FFF2-40B4-BE49-F238E27FC236}">
                <a16:creationId xmlns:a16="http://schemas.microsoft.com/office/drawing/2014/main" id="{93C42E9E-CA18-43D3-8FE8-06D12C64C0D4}"/>
              </a:ext>
            </a:extLst>
          </p:cNvPr>
          <p:cNvSpPr>
            <a:spLocks xmlns:a="http://schemas.openxmlformats.org/drawingml/2006/main" noGrp="1"/>
          </p:cNvSpPr>
          <p:nvPr/>
        </p:nvSpPr>
        <p:spPr>
          <a:xfrm xmlns:a="http://schemas.openxmlformats.org/drawingml/2006/main">
            <a:off x="2333625" y="36290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38" name="">
            <a:extLst xmlns:a="http://schemas.openxmlformats.org/drawingml/2006/main">
              <a:ext uri="{FF2B5EF4-FFF2-40B4-BE49-F238E27FC236}">
                <a16:creationId xmlns:a16="http://schemas.microsoft.com/office/drawing/2014/main" id="{98CE3F5E-293C-4BCA-BD10-EE4BC5214712}"/>
              </a:ext>
            </a:extLst>
          </p:cNvPr>
          <p:cNvSpPr>
            <a:spLocks xmlns:a="http://schemas.openxmlformats.org/drawingml/2006/main" noGrp="1"/>
          </p:cNvSpPr>
          <p:nvPr/>
        </p:nvSpPr>
        <p:spPr>
          <a:xfrm xmlns:a="http://schemas.openxmlformats.org/drawingml/2006/main">
            <a:off x="2571750" y="36290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39" name="">
            <a:extLst xmlns:a="http://schemas.openxmlformats.org/drawingml/2006/main">
              <a:ext uri="{FF2B5EF4-FFF2-40B4-BE49-F238E27FC236}">
                <a16:creationId xmlns:a16="http://schemas.microsoft.com/office/drawing/2014/main" id="{039D719C-1FDB-460A-A473-14A28B9D1248}"/>
              </a:ext>
            </a:extLst>
          </p:cNvPr>
          <p:cNvSpPr>
            <a:spLocks xmlns:a="http://schemas.openxmlformats.org/drawingml/2006/main" noGrp="1"/>
          </p:cNvSpPr>
          <p:nvPr/>
        </p:nvSpPr>
        <p:spPr>
          <a:xfrm xmlns:a="http://schemas.openxmlformats.org/drawingml/2006/main">
            <a:off x="2809875" y="36290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40" name="">
            <a:extLst xmlns:a="http://schemas.openxmlformats.org/drawingml/2006/main">
              <a:ext uri="{FF2B5EF4-FFF2-40B4-BE49-F238E27FC236}">
                <a16:creationId xmlns:a16="http://schemas.microsoft.com/office/drawing/2014/main" id="{5CB917F6-FF81-4188-B4AE-A80959E5E9AE}"/>
              </a:ext>
            </a:extLst>
          </p:cNvPr>
          <p:cNvSpPr>
            <a:spLocks xmlns:a="http://schemas.openxmlformats.org/drawingml/2006/main" noGrp="1"/>
          </p:cNvSpPr>
          <p:nvPr/>
        </p:nvSpPr>
        <p:spPr>
          <a:xfrm xmlns:a="http://schemas.openxmlformats.org/drawingml/2006/main">
            <a:off x="3048000" y="36290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41" name="">
            <a:extLst xmlns:a="http://schemas.openxmlformats.org/drawingml/2006/main">
              <a:ext uri="{FF2B5EF4-FFF2-40B4-BE49-F238E27FC236}">
                <a16:creationId xmlns:a16="http://schemas.microsoft.com/office/drawing/2014/main" id="{EAE2B4B5-784A-4CF3-A978-02526039995C}"/>
              </a:ext>
            </a:extLst>
          </p:cNvPr>
          <p:cNvSpPr>
            <a:spLocks xmlns:a="http://schemas.openxmlformats.org/drawingml/2006/main" noGrp="1"/>
          </p:cNvSpPr>
          <p:nvPr/>
        </p:nvSpPr>
        <p:spPr>
          <a:xfrm xmlns:a="http://schemas.openxmlformats.org/drawingml/2006/main">
            <a:off x="3286125" y="36290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42" name="">
            <a:extLst xmlns:a="http://schemas.openxmlformats.org/drawingml/2006/main">
              <a:ext uri="{FF2B5EF4-FFF2-40B4-BE49-F238E27FC236}">
                <a16:creationId xmlns:a16="http://schemas.microsoft.com/office/drawing/2014/main" id="{10572AD6-CD43-40F1-891C-EE523F94368F}"/>
              </a:ext>
            </a:extLst>
          </p:cNvPr>
          <p:cNvSpPr>
            <a:spLocks xmlns:a="http://schemas.openxmlformats.org/drawingml/2006/main" noGrp="1"/>
          </p:cNvSpPr>
          <p:nvPr/>
        </p:nvSpPr>
        <p:spPr>
          <a:xfrm xmlns:a="http://schemas.openxmlformats.org/drawingml/2006/main">
            <a:off x="3524250" y="36290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43" name="">
            <a:extLst xmlns:a="http://schemas.openxmlformats.org/drawingml/2006/main">
              <a:ext uri="{FF2B5EF4-FFF2-40B4-BE49-F238E27FC236}">
                <a16:creationId xmlns:a16="http://schemas.microsoft.com/office/drawing/2014/main" id="{9DBC3E40-9AD9-404B-98EA-9704186DE242}"/>
              </a:ext>
            </a:extLst>
          </p:cNvPr>
          <p:cNvSpPr>
            <a:spLocks xmlns:a="http://schemas.openxmlformats.org/drawingml/2006/main" noGrp="1"/>
          </p:cNvSpPr>
          <p:nvPr/>
        </p:nvSpPr>
        <p:spPr>
          <a:xfrm xmlns:a="http://schemas.openxmlformats.org/drawingml/2006/main">
            <a:off x="3762375" y="36290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44" name="">
            <a:extLst xmlns:a="http://schemas.openxmlformats.org/drawingml/2006/main">
              <a:ext uri="{FF2B5EF4-FFF2-40B4-BE49-F238E27FC236}">
                <a16:creationId xmlns:a16="http://schemas.microsoft.com/office/drawing/2014/main" id="{87BAB3D0-4235-49CC-A5BC-F9705D239D70}"/>
              </a:ext>
            </a:extLst>
          </p:cNvPr>
          <p:cNvSpPr>
            <a:spLocks xmlns:a="http://schemas.openxmlformats.org/drawingml/2006/main" noGrp="1"/>
          </p:cNvSpPr>
          <p:nvPr/>
        </p:nvSpPr>
        <p:spPr>
          <a:xfrm xmlns:a="http://schemas.openxmlformats.org/drawingml/2006/main">
            <a:off x="4000500" y="362902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45" name="">
            <a:extLst xmlns:a="http://schemas.openxmlformats.org/drawingml/2006/main">
              <a:ext uri="{FF2B5EF4-FFF2-40B4-BE49-F238E27FC236}">
                <a16:creationId xmlns:a16="http://schemas.microsoft.com/office/drawing/2014/main" id="{7D5CF8A5-6A82-4B72-90DA-DDA87228C28C}"/>
              </a:ext>
            </a:extLst>
          </p:cNvPr>
          <p:cNvSpPr>
            <a:spLocks xmlns:a="http://schemas.openxmlformats.org/drawingml/2006/main" noGrp="1"/>
          </p:cNvSpPr>
          <p:nvPr/>
        </p:nvSpPr>
        <p:spPr>
          <a:xfrm xmlns:a="http://schemas.openxmlformats.org/drawingml/2006/main">
            <a:off x="4238625" y="362902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46" name="">
            <a:extLst xmlns:a="http://schemas.openxmlformats.org/drawingml/2006/main">
              <a:ext uri="{FF2B5EF4-FFF2-40B4-BE49-F238E27FC236}">
                <a16:creationId xmlns:a16="http://schemas.microsoft.com/office/drawing/2014/main" id="{2C781A11-9A03-4F66-B098-11CCEF73E484}"/>
              </a:ext>
            </a:extLst>
          </p:cNvPr>
          <p:cNvSpPr>
            <a:spLocks xmlns:a="http://schemas.openxmlformats.org/drawingml/2006/main" noGrp="1"/>
          </p:cNvSpPr>
          <p:nvPr/>
        </p:nvSpPr>
        <p:spPr>
          <a:xfrm xmlns:a="http://schemas.openxmlformats.org/drawingml/2006/main">
            <a:off x="4476750" y="362902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47" name="">
            <a:extLst xmlns:a="http://schemas.openxmlformats.org/drawingml/2006/main">
              <a:ext uri="{FF2B5EF4-FFF2-40B4-BE49-F238E27FC236}">
                <a16:creationId xmlns:a16="http://schemas.microsoft.com/office/drawing/2014/main" id="{4D37385F-DC0D-45D2-A2E0-80C1F2268B14}"/>
              </a:ext>
            </a:extLst>
          </p:cNvPr>
          <p:cNvSpPr>
            <a:spLocks xmlns:a="http://schemas.openxmlformats.org/drawingml/2006/main" noGrp="1"/>
          </p:cNvSpPr>
          <p:nvPr/>
        </p:nvSpPr>
        <p:spPr>
          <a:xfrm xmlns:a="http://schemas.openxmlformats.org/drawingml/2006/main">
            <a:off x="4714875" y="362902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48" name="">
            <a:extLst xmlns:a="http://schemas.openxmlformats.org/drawingml/2006/main">
              <a:ext uri="{FF2B5EF4-FFF2-40B4-BE49-F238E27FC236}">
                <a16:creationId xmlns:a16="http://schemas.microsoft.com/office/drawing/2014/main" id="{2BAD29E8-C52A-44D4-940D-1562F412BC06}"/>
              </a:ext>
            </a:extLst>
          </p:cNvPr>
          <p:cNvSpPr>
            <a:spLocks xmlns:a="http://schemas.openxmlformats.org/drawingml/2006/main" noGrp="1"/>
          </p:cNvSpPr>
          <p:nvPr/>
        </p:nvSpPr>
        <p:spPr>
          <a:xfrm xmlns:a="http://schemas.openxmlformats.org/drawingml/2006/main">
            <a:off x="666750" y="3867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49" name="">
            <a:extLst xmlns:a="http://schemas.openxmlformats.org/drawingml/2006/main">
              <a:ext uri="{FF2B5EF4-FFF2-40B4-BE49-F238E27FC236}">
                <a16:creationId xmlns:a16="http://schemas.microsoft.com/office/drawing/2014/main" id="{7515C779-87A4-48D6-A556-53E4598C5A75}"/>
              </a:ext>
            </a:extLst>
          </p:cNvPr>
          <p:cNvSpPr>
            <a:spLocks xmlns:a="http://schemas.openxmlformats.org/drawingml/2006/main" noGrp="1"/>
          </p:cNvSpPr>
          <p:nvPr/>
        </p:nvSpPr>
        <p:spPr>
          <a:xfrm xmlns:a="http://schemas.openxmlformats.org/drawingml/2006/main">
            <a:off x="904875" y="3867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50" name="">
            <a:extLst xmlns:a="http://schemas.openxmlformats.org/drawingml/2006/main">
              <a:ext uri="{FF2B5EF4-FFF2-40B4-BE49-F238E27FC236}">
                <a16:creationId xmlns:a16="http://schemas.microsoft.com/office/drawing/2014/main" id="{761BF89E-E537-4E0D-AF63-03C38EEA3B5B}"/>
              </a:ext>
            </a:extLst>
          </p:cNvPr>
          <p:cNvSpPr>
            <a:spLocks xmlns:a="http://schemas.openxmlformats.org/drawingml/2006/main" noGrp="1"/>
          </p:cNvSpPr>
          <p:nvPr/>
        </p:nvSpPr>
        <p:spPr>
          <a:xfrm xmlns:a="http://schemas.openxmlformats.org/drawingml/2006/main">
            <a:off x="1143000" y="3867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51" name="">
            <a:extLst xmlns:a="http://schemas.openxmlformats.org/drawingml/2006/main">
              <a:ext uri="{FF2B5EF4-FFF2-40B4-BE49-F238E27FC236}">
                <a16:creationId xmlns:a16="http://schemas.microsoft.com/office/drawing/2014/main" id="{2A93A809-74AF-47E9-A787-C9F24944EAE7}"/>
              </a:ext>
            </a:extLst>
          </p:cNvPr>
          <p:cNvSpPr>
            <a:spLocks xmlns:a="http://schemas.openxmlformats.org/drawingml/2006/main" noGrp="1"/>
          </p:cNvSpPr>
          <p:nvPr/>
        </p:nvSpPr>
        <p:spPr>
          <a:xfrm xmlns:a="http://schemas.openxmlformats.org/drawingml/2006/main">
            <a:off x="1381125" y="3867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52" name="">
            <a:extLst xmlns:a="http://schemas.openxmlformats.org/drawingml/2006/main">
              <a:ext uri="{FF2B5EF4-FFF2-40B4-BE49-F238E27FC236}">
                <a16:creationId xmlns:a16="http://schemas.microsoft.com/office/drawing/2014/main" id="{E432ACB1-20D1-4065-A212-7FF10F366632}"/>
              </a:ext>
            </a:extLst>
          </p:cNvPr>
          <p:cNvSpPr>
            <a:spLocks xmlns:a="http://schemas.openxmlformats.org/drawingml/2006/main" noGrp="1"/>
          </p:cNvSpPr>
          <p:nvPr/>
        </p:nvSpPr>
        <p:spPr>
          <a:xfrm xmlns:a="http://schemas.openxmlformats.org/drawingml/2006/main">
            <a:off x="1619250" y="3867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53" name="">
            <a:extLst xmlns:a="http://schemas.openxmlformats.org/drawingml/2006/main">
              <a:ext uri="{FF2B5EF4-FFF2-40B4-BE49-F238E27FC236}">
                <a16:creationId xmlns:a16="http://schemas.microsoft.com/office/drawing/2014/main" id="{B6746688-1442-4E66-A7B0-5382D284AF25}"/>
              </a:ext>
            </a:extLst>
          </p:cNvPr>
          <p:cNvSpPr>
            <a:spLocks xmlns:a="http://schemas.openxmlformats.org/drawingml/2006/main" noGrp="1"/>
          </p:cNvSpPr>
          <p:nvPr/>
        </p:nvSpPr>
        <p:spPr>
          <a:xfrm xmlns:a="http://schemas.openxmlformats.org/drawingml/2006/main">
            <a:off x="1857375" y="3867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54" name="">
            <a:extLst xmlns:a="http://schemas.openxmlformats.org/drawingml/2006/main">
              <a:ext uri="{FF2B5EF4-FFF2-40B4-BE49-F238E27FC236}">
                <a16:creationId xmlns:a16="http://schemas.microsoft.com/office/drawing/2014/main" id="{126FC564-46FF-4CF7-8CD8-B4B268062DB0}"/>
              </a:ext>
            </a:extLst>
          </p:cNvPr>
          <p:cNvSpPr>
            <a:spLocks xmlns:a="http://schemas.openxmlformats.org/drawingml/2006/main" noGrp="1"/>
          </p:cNvSpPr>
          <p:nvPr/>
        </p:nvSpPr>
        <p:spPr>
          <a:xfrm xmlns:a="http://schemas.openxmlformats.org/drawingml/2006/main">
            <a:off x="2095500" y="3867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55" name="">
            <a:extLst xmlns:a="http://schemas.openxmlformats.org/drawingml/2006/main">
              <a:ext uri="{FF2B5EF4-FFF2-40B4-BE49-F238E27FC236}">
                <a16:creationId xmlns:a16="http://schemas.microsoft.com/office/drawing/2014/main" id="{88931541-EB4A-4AB4-9A1B-9880DE1E7C2C}"/>
              </a:ext>
            </a:extLst>
          </p:cNvPr>
          <p:cNvSpPr>
            <a:spLocks xmlns:a="http://schemas.openxmlformats.org/drawingml/2006/main" noGrp="1"/>
          </p:cNvSpPr>
          <p:nvPr/>
        </p:nvSpPr>
        <p:spPr>
          <a:xfrm xmlns:a="http://schemas.openxmlformats.org/drawingml/2006/main">
            <a:off x="2333625" y="3867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56" name="">
            <a:extLst xmlns:a="http://schemas.openxmlformats.org/drawingml/2006/main">
              <a:ext uri="{FF2B5EF4-FFF2-40B4-BE49-F238E27FC236}">
                <a16:creationId xmlns:a16="http://schemas.microsoft.com/office/drawing/2014/main" id="{8ED118D5-123E-43B5-A959-D9D7A6B08E49}"/>
              </a:ext>
            </a:extLst>
          </p:cNvPr>
          <p:cNvSpPr>
            <a:spLocks xmlns:a="http://schemas.openxmlformats.org/drawingml/2006/main" noGrp="1"/>
          </p:cNvSpPr>
          <p:nvPr/>
        </p:nvSpPr>
        <p:spPr>
          <a:xfrm xmlns:a="http://schemas.openxmlformats.org/drawingml/2006/main">
            <a:off x="2571750" y="3867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57" name="">
            <a:extLst xmlns:a="http://schemas.openxmlformats.org/drawingml/2006/main">
              <a:ext uri="{FF2B5EF4-FFF2-40B4-BE49-F238E27FC236}">
                <a16:creationId xmlns:a16="http://schemas.microsoft.com/office/drawing/2014/main" id="{16A1CA18-8559-4288-B382-C869DA356B79}"/>
              </a:ext>
            </a:extLst>
          </p:cNvPr>
          <p:cNvSpPr>
            <a:spLocks xmlns:a="http://schemas.openxmlformats.org/drawingml/2006/main" noGrp="1"/>
          </p:cNvSpPr>
          <p:nvPr/>
        </p:nvSpPr>
        <p:spPr>
          <a:xfrm xmlns:a="http://schemas.openxmlformats.org/drawingml/2006/main">
            <a:off x="2809875" y="3867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58" name="">
            <a:extLst xmlns:a="http://schemas.openxmlformats.org/drawingml/2006/main">
              <a:ext uri="{FF2B5EF4-FFF2-40B4-BE49-F238E27FC236}">
                <a16:creationId xmlns:a16="http://schemas.microsoft.com/office/drawing/2014/main" id="{123D101C-3252-4515-8262-B260BEFCA438}"/>
              </a:ext>
            </a:extLst>
          </p:cNvPr>
          <p:cNvSpPr>
            <a:spLocks xmlns:a="http://schemas.openxmlformats.org/drawingml/2006/main" noGrp="1"/>
          </p:cNvSpPr>
          <p:nvPr/>
        </p:nvSpPr>
        <p:spPr>
          <a:xfrm xmlns:a="http://schemas.openxmlformats.org/drawingml/2006/main">
            <a:off x="3048000" y="3867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59" name="">
            <a:extLst xmlns:a="http://schemas.openxmlformats.org/drawingml/2006/main">
              <a:ext uri="{FF2B5EF4-FFF2-40B4-BE49-F238E27FC236}">
                <a16:creationId xmlns:a16="http://schemas.microsoft.com/office/drawing/2014/main" id="{C71B598B-76F0-42EF-A74F-CDDF8D6C82B5}"/>
              </a:ext>
            </a:extLst>
          </p:cNvPr>
          <p:cNvSpPr>
            <a:spLocks xmlns:a="http://schemas.openxmlformats.org/drawingml/2006/main" noGrp="1"/>
          </p:cNvSpPr>
          <p:nvPr/>
        </p:nvSpPr>
        <p:spPr>
          <a:xfrm xmlns:a="http://schemas.openxmlformats.org/drawingml/2006/main">
            <a:off x="3286125" y="3867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60" name="">
            <a:extLst xmlns:a="http://schemas.openxmlformats.org/drawingml/2006/main">
              <a:ext uri="{FF2B5EF4-FFF2-40B4-BE49-F238E27FC236}">
                <a16:creationId xmlns:a16="http://schemas.microsoft.com/office/drawing/2014/main" id="{2B2083CB-4B38-4267-ACC5-660B3254236D}"/>
              </a:ext>
            </a:extLst>
          </p:cNvPr>
          <p:cNvSpPr>
            <a:spLocks xmlns:a="http://schemas.openxmlformats.org/drawingml/2006/main" noGrp="1"/>
          </p:cNvSpPr>
          <p:nvPr/>
        </p:nvSpPr>
        <p:spPr>
          <a:xfrm xmlns:a="http://schemas.openxmlformats.org/drawingml/2006/main">
            <a:off x="3524250" y="3867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61" name="">
            <a:extLst xmlns:a="http://schemas.openxmlformats.org/drawingml/2006/main">
              <a:ext uri="{FF2B5EF4-FFF2-40B4-BE49-F238E27FC236}">
                <a16:creationId xmlns:a16="http://schemas.microsoft.com/office/drawing/2014/main" id="{3297C989-DE2A-48CC-8987-446A2E72936D}"/>
              </a:ext>
            </a:extLst>
          </p:cNvPr>
          <p:cNvSpPr>
            <a:spLocks xmlns:a="http://schemas.openxmlformats.org/drawingml/2006/main" noGrp="1"/>
          </p:cNvSpPr>
          <p:nvPr/>
        </p:nvSpPr>
        <p:spPr>
          <a:xfrm xmlns:a="http://schemas.openxmlformats.org/drawingml/2006/main">
            <a:off x="3762375" y="3867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62" name="">
            <a:extLst xmlns:a="http://schemas.openxmlformats.org/drawingml/2006/main">
              <a:ext uri="{FF2B5EF4-FFF2-40B4-BE49-F238E27FC236}">
                <a16:creationId xmlns:a16="http://schemas.microsoft.com/office/drawing/2014/main" id="{189D5B69-2896-40B1-BB34-4ED2D81F2CF5}"/>
              </a:ext>
            </a:extLst>
          </p:cNvPr>
          <p:cNvSpPr>
            <a:spLocks xmlns:a="http://schemas.openxmlformats.org/drawingml/2006/main" noGrp="1"/>
          </p:cNvSpPr>
          <p:nvPr/>
        </p:nvSpPr>
        <p:spPr>
          <a:xfrm xmlns:a="http://schemas.openxmlformats.org/drawingml/2006/main">
            <a:off x="4000500" y="3867150"/>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63" name="">
            <a:extLst xmlns:a="http://schemas.openxmlformats.org/drawingml/2006/main">
              <a:ext uri="{FF2B5EF4-FFF2-40B4-BE49-F238E27FC236}">
                <a16:creationId xmlns:a16="http://schemas.microsoft.com/office/drawing/2014/main" id="{D5C40686-6C84-483B-8163-D7BD8585C563}"/>
              </a:ext>
            </a:extLst>
          </p:cNvPr>
          <p:cNvSpPr>
            <a:spLocks xmlns:a="http://schemas.openxmlformats.org/drawingml/2006/main" noGrp="1"/>
          </p:cNvSpPr>
          <p:nvPr/>
        </p:nvSpPr>
        <p:spPr>
          <a:xfrm xmlns:a="http://schemas.openxmlformats.org/drawingml/2006/main">
            <a:off x="4238625" y="3867150"/>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64" name="">
            <a:extLst xmlns:a="http://schemas.openxmlformats.org/drawingml/2006/main">
              <a:ext uri="{FF2B5EF4-FFF2-40B4-BE49-F238E27FC236}">
                <a16:creationId xmlns:a16="http://schemas.microsoft.com/office/drawing/2014/main" id="{004A3C49-956B-43CF-A10C-30D6EDF1D02E}"/>
              </a:ext>
            </a:extLst>
          </p:cNvPr>
          <p:cNvSpPr>
            <a:spLocks xmlns:a="http://schemas.openxmlformats.org/drawingml/2006/main" noGrp="1"/>
          </p:cNvSpPr>
          <p:nvPr/>
        </p:nvSpPr>
        <p:spPr>
          <a:xfrm xmlns:a="http://schemas.openxmlformats.org/drawingml/2006/main">
            <a:off x="4476750" y="3867150"/>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65" name="">
            <a:extLst xmlns:a="http://schemas.openxmlformats.org/drawingml/2006/main">
              <a:ext uri="{FF2B5EF4-FFF2-40B4-BE49-F238E27FC236}">
                <a16:creationId xmlns:a16="http://schemas.microsoft.com/office/drawing/2014/main" id="{2CD83AD0-F037-4C16-9CA1-66A3B921AA5C}"/>
              </a:ext>
            </a:extLst>
          </p:cNvPr>
          <p:cNvSpPr>
            <a:spLocks xmlns:a="http://schemas.openxmlformats.org/drawingml/2006/main" noGrp="1"/>
          </p:cNvSpPr>
          <p:nvPr/>
        </p:nvSpPr>
        <p:spPr>
          <a:xfrm xmlns:a="http://schemas.openxmlformats.org/drawingml/2006/main">
            <a:off x="4714875" y="3867150"/>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66" name="">
            <a:extLst xmlns:a="http://schemas.openxmlformats.org/drawingml/2006/main">
              <a:ext uri="{FF2B5EF4-FFF2-40B4-BE49-F238E27FC236}">
                <a16:creationId xmlns:a16="http://schemas.microsoft.com/office/drawing/2014/main" id="{B2D422E2-83EA-4593-B1A9-60D1628A27A2}"/>
              </a:ext>
            </a:extLst>
          </p:cNvPr>
          <p:cNvSpPr>
            <a:spLocks xmlns:a="http://schemas.openxmlformats.org/drawingml/2006/main" noGrp="1"/>
          </p:cNvSpPr>
          <p:nvPr/>
        </p:nvSpPr>
        <p:spPr>
          <a:xfrm xmlns:a="http://schemas.openxmlformats.org/drawingml/2006/main">
            <a:off x="666750" y="4105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67" name="">
            <a:extLst xmlns:a="http://schemas.openxmlformats.org/drawingml/2006/main">
              <a:ext uri="{FF2B5EF4-FFF2-40B4-BE49-F238E27FC236}">
                <a16:creationId xmlns:a16="http://schemas.microsoft.com/office/drawing/2014/main" id="{08BE76F7-AB9D-4486-B27F-BDD42F233B72}"/>
              </a:ext>
            </a:extLst>
          </p:cNvPr>
          <p:cNvSpPr>
            <a:spLocks xmlns:a="http://schemas.openxmlformats.org/drawingml/2006/main" noGrp="1"/>
          </p:cNvSpPr>
          <p:nvPr/>
        </p:nvSpPr>
        <p:spPr>
          <a:xfrm xmlns:a="http://schemas.openxmlformats.org/drawingml/2006/main">
            <a:off x="904875" y="4105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68" name="">
            <a:extLst xmlns:a="http://schemas.openxmlformats.org/drawingml/2006/main">
              <a:ext uri="{FF2B5EF4-FFF2-40B4-BE49-F238E27FC236}">
                <a16:creationId xmlns:a16="http://schemas.microsoft.com/office/drawing/2014/main" id="{10B88C97-DA4F-4740-844D-B7157803AA54}"/>
              </a:ext>
            </a:extLst>
          </p:cNvPr>
          <p:cNvSpPr>
            <a:spLocks xmlns:a="http://schemas.openxmlformats.org/drawingml/2006/main" noGrp="1"/>
          </p:cNvSpPr>
          <p:nvPr/>
        </p:nvSpPr>
        <p:spPr>
          <a:xfrm xmlns:a="http://schemas.openxmlformats.org/drawingml/2006/main">
            <a:off x="1143000" y="4105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69" name="">
            <a:extLst xmlns:a="http://schemas.openxmlformats.org/drawingml/2006/main">
              <a:ext uri="{FF2B5EF4-FFF2-40B4-BE49-F238E27FC236}">
                <a16:creationId xmlns:a16="http://schemas.microsoft.com/office/drawing/2014/main" id="{AEE66DDE-B3B4-44AE-9F10-0D78A1CD9029}"/>
              </a:ext>
            </a:extLst>
          </p:cNvPr>
          <p:cNvSpPr>
            <a:spLocks xmlns:a="http://schemas.openxmlformats.org/drawingml/2006/main" noGrp="1"/>
          </p:cNvSpPr>
          <p:nvPr/>
        </p:nvSpPr>
        <p:spPr>
          <a:xfrm xmlns:a="http://schemas.openxmlformats.org/drawingml/2006/main">
            <a:off x="1381125" y="4105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70" name="">
            <a:extLst xmlns:a="http://schemas.openxmlformats.org/drawingml/2006/main">
              <a:ext uri="{FF2B5EF4-FFF2-40B4-BE49-F238E27FC236}">
                <a16:creationId xmlns:a16="http://schemas.microsoft.com/office/drawing/2014/main" id="{B150EA5D-A7AE-4C49-8191-5F9226E1E369}"/>
              </a:ext>
            </a:extLst>
          </p:cNvPr>
          <p:cNvSpPr>
            <a:spLocks xmlns:a="http://schemas.openxmlformats.org/drawingml/2006/main" noGrp="1"/>
          </p:cNvSpPr>
          <p:nvPr/>
        </p:nvSpPr>
        <p:spPr>
          <a:xfrm xmlns:a="http://schemas.openxmlformats.org/drawingml/2006/main">
            <a:off x="1619250" y="4105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71" name="">
            <a:extLst xmlns:a="http://schemas.openxmlformats.org/drawingml/2006/main">
              <a:ext uri="{FF2B5EF4-FFF2-40B4-BE49-F238E27FC236}">
                <a16:creationId xmlns:a16="http://schemas.microsoft.com/office/drawing/2014/main" id="{C0B6C228-F404-46BA-8C5A-B001FCDE634A}"/>
              </a:ext>
            </a:extLst>
          </p:cNvPr>
          <p:cNvSpPr>
            <a:spLocks xmlns:a="http://schemas.openxmlformats.org/drawingml/2006/main" noGrp="1"/>
          </p:cNvSpPr>
          <p:nvPr/>
        </p:nvSpPr>
        <p:spPr>
          <a:xfrm xmlns:a="http://schemas.openxmlformats.org/drawingml/2006/main">
            <a:off x="1857375" y="4105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72" name="">
            <a:extLst xmlns:a="http://schemas.openxmlformats.org/drawingml/2006/main">
              <a:ext uri="{FF2B5EF4-FFF2-40B4-BE49-F238E27FC236}">
                <a16:creationId xmlns:a16="http://schemas.microsoft.com/office/drawing/2014/main" id="{F4F85C46-A712-403B-9B68-0AF082519FE2}"/>
              </a:ext>
            </a:extLst>
          </p:cNvPr>
          <p:cNvSpPr>
            <a:spLocks xmlns:a="http://schemas.openxmlformats.org/drawingml/2006/main" noGrp="1"/>
          </p:cNvSpPr>
          <p:nvPr/>
        </p:nvSpPr>
        <p:spPr>
          <a:xfrm xmlns:a="http://schemas.openxmlformats.org/drawingml/2006/main">
            <a:off x="2095500" y="4105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73" name="">
            <a:extLst xmlns:a="http://schemas.openxmlformats.org/drawingml/2006/main">
              <a:ext uri="{FF2B5EF4-FFF2-40B4-BE49-F238E27FC236}">
                <a16:creationId xmlns:a16="http://schemas.microsoft.com/office/drawing/2014/main" id="{988D0B2D-5346-4F6A-8F67-DFC64E54C4D2}"/>
              </a:ext>
            </a:extLst>
          </p:cNvPr>
          <p:cNvSpPr>
            <a:spLocks xmlns:a="http://schemas.openxmlformats.org/drawingml/2006/main" noGrp="1"/>
          </p:cNvSpPr>
          <p:nvPr/>
        </p:nvSpPr>
        <p:spPr>
          <a:xfrm xmlns:a="http://schemas.openxmlformats.org/drawingml/2006/main">
            <a:off x="2333625" y="4105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74" name="">
            <a:extLst xmlns:a="http://schemas.openxmlformats.org/drawingml/2006/main">
              <a:ext uri="{FF2B5EF4-FFF2-40B4-BE49-F238E27FC236}">
                <a16:creationId xmlns:a16="http://schemas.microsoft.com/office/drawing/2014/main" id="{307A84F4-3A33-4A03-8F75-C297EF103669}"/>
              </a:ext>
            </a:extLst>
          </p:cNvPr>
          <p:cNvSpPr>
            <a:spLocks xmlns:a="http://schemas.openxmlformats.org/drawingml/2006/main" noGrp="1"/>
          </p:cNvSpPr>
          <p:nvPr/>
        </p:nvSpPr>
        <p:spPr>
          <a:xfrm xmlns:a="http://schemas.openxmlformats.org/drawingml/2006/main">
            <a:off x="2571750" y="4105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75" name="">
            <a:extLst xmlns:a="http://schemas.openxmlformats.org/drawingml/2006/main">
              <a:ext uri="{FF2B5EF4-FFF2-40B4-BE49-F238E27FC236}">
                <a16:creationId xmlns:a16="http://schemas.microsoft.com/office/drawing/2014/main" id="{79E80C09-E1C1-44F4-886E-E54A5C714E8D}"/>
              </a:ext>
            </a:extLst>
          </p:cNvPr>
          <p:cNvSpPr>
            <a:spLocks xmlns:a="http://schemas.openxmlformats.org/drawingml/2006/main" noGrp="1"/>
          </p:cNvSpPr>
          <p:nvPr/>
        </p:nvSpPr>
        <p:spPr>
          <a:xfrm xmlns:a="http://schemas.openxmlformats.org/drawingml/2006/main">
            <a:off x="2809875" y="4105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76" name="">
            <a:extLst xmlns:a="http://schemas.openxmlformats.org/drawingml/2006/main">
              <a:ext uri="{FF2B5EF4-FFF2-40B4-BE49-F238E27FC236}">
                <a16:creationId xmlns:a16="http://schemas.microsoft.com/office/drawing/2014/main" id="{F93D9D84-C671-444B-91BE-3B38EA80DF79}"/>
              </a:ext>
            </a:extLst>
          </p:cNvPr>
          <p:cNvSpPr>
            <a:spLocks xmlns:a="http://schemas.openxmlformats.org/drawingml/2006/main" noGrp="1"/>
          </p:cNvSpPr>
          <p:nvPr/>
        </p:nvSpPr>
        <p:spPr>
          <a:xfrm xmlns:a="http://schemas.openxmlformats.org/drawingml/2006/main">
            <a:off x="3048000" y="4105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77" name="">
            <a:extLst xmlns:a="http://schemas.openxmlformats.org/drawingml/2006/main">
              <a:ext uri="{FF2B5EF4-FFF2-40B4-BE49-F238E27FC236}">
                <a16:creationId xmlns:a16="http://schemas.microsoft.com/office/drawing/2014/main" id="{1453C7C9-E05D-4DBB-BD16-97DC434004EF}"/>
              </a:ext>
            </a:extLst>
          </p:cNvPr>
          <p:cNvSpPr>
            <a:spLocks xmlns:a="http://schemas.openxmlformats.org/drawingml/2006/main" noGrp="1"/>
          </p:cNvSpPr>
          <p:nvPr/>
        </p:nvSpPr>
        <p:spPr>
          <a:xfrm xmlns:a="http://schemas.openxmlformats.org/drawingml/2006/main">
            <a:off x="3286125" y="4105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78" name="">
            <a:extLst xmlns:a="http://schemas.openxmlformats.org/drawingml/2006/main">
              <a:ext uri="{FF2B5EF4-FFF2-40B4-BE49-F238E27FC236}">
                <a16:creationId xmlns:a16="http://schemas.microsoft.com/office/drawing/2014/main" id="{FB7D7981-2765-47D3-8662-84EE8C29AE65}"/>
              </a:ext>
            </a:extLst>
          </p:cNvPr>
          <p:cNvSpPr>
            <a:spLocks xmlns:a="http://schemas.openxmlformats.org/drawingml/2006/main" noGrp="1"/>
          </p:cNvSpPr>
          <p:nvPr/>
        </p:nvSpPr>
        <p:spPr>
          <a:xfrm xmlns:a="http://schemas.openxmlformats.org/drawingml/2006/main">
            <a:off x="3524250" y="4105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79" name="">
            <a:extLst xmlns:a="http://schemas.openxmlformats.org/drawingml/2006/main">
              <a:ext uri="{FF2B5EF4-FFF2-40B4-BE49-F238E27FC236}">
                <a16:creationId xmlns:a16="http://schemas.microsoft.com/office/drawing/2014/main" id="{FF06C385-4121-42CB-8615-2D6975E3503E}"/>
              </a:ext>
            </a:extLst>
          </p:cNvPr>
          <p:cNvSpPr>
            <a:spLocks xmlns:a="http://schemas.openxmlformats.org/drawingml/2006/main" noGrp="1"/>
          </p:cNvSpPr>
          <p:nvPr/>
        </p:nvSpPr>
        <p:spPr>
          <a:xfrm xmlns:a="http://schemas.openxmlformats.org/drawingml/2006/main">
            <a:off x="3762375" y="4105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80" name="">
            <a:extLst xmlns:a="http://schemas.openxmlformats.org/drawingml/2006/main">
              <a:ext uri="{FF2B5EF4-FFF2-40B4-BE49-F238E27FC236}">
                <a16:creationId xmlns:a16="http://schemas.microsoft.com/office/drawing/2014/main" id="{C4D04720-0F63-4AC9-8526-C357FD8FC450}"/>
              </a:ext>
            </a:extLst>
          </p:cNvPr>
          <p:cNvSpPr>
            <a:spLocks xmlns:a="http://schemas.openxmlformats.org/drawingml/2006/main" noGrp="1"/>
          </p:cNvSpPr>
          <p:nvPr/>
        </p:nvSpPr>
        <p:spPr>
          <a:xfrm xmlns:a="http://schemas.openxmlformats.org/drawingml/2006/main">
            <a:off x="4000500" y="4105275"/>
            <a:ext cx="66675" cy="66675"/>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81" name="">
            <a:extLst xmlns:a="http://schemas.openxmlformats.org/drawingml/2006/main">
              <a:ext uri="{FF2B5EF4-FFF2-40B4-BE49-F238E27FC236}">
                <a16:creationId xmlns:a16="http://schemas.microsoft.com/office/drawing/2014/main" id="{E9D20686-6A50-4217-A4ED-A2A31051B81D}"/>
              </a:ext>
            </a:extLst>
          </p:cNvPr>
          <p:cNvSpPr>
            <a:spLocks xmlns:a="http://schemas.openxmlformats.org/drawingml/2006/main" noGrp="1"/>
          </p:cNvSpPr>
          <p:nvPr/>
        </p:nvSpPr>
        <p:spPr>
          <a:xfrm xmlns:a="http://schemas.openxmlformats.org/drawingml/2006/main">
            <a:off x="4238625" y="4105275"/>
            <a:ext cx="66675" cy="66675"/>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82" name="">
            <a:extLst xmlns:a="http://schemas.openxmlformats.org/drawingml/2006/main">
              <a:ext uri="{FF2B5EF4-FFF2-40B4-BE49-F238E27FC236}">
                <a16:creationId xmlns:a16="http://schemas.microsoft.com/office/drawing/2014/main" id="{4D95CB8B-D081-4BC8-8F73-FD25D159FD7B}"/>
              </a:ext>
            </a:extLst>
          </p:cNvPr>
          <p:cNvSpPr>
            <a:spLocks xmlns:a="http://schemas.openxmlformats.org/drawingml/2006/main" noGrp="1"/>
          </p:cNvSpPr>
          <p:nvPr/>
        </p:nvSpPr>
        <p:spPr>
          <a:xfrm xmlns:a="http://schemas.openxmlformats.org/drawingml/2006/main">
            <a:off x="4476750" y="4105275"/>
            <a:ext cx="66675" cy="66675"/>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83" name="">
            <a:extLst xmlns:a="http://schemas.openxmlformats.org/drawingml/2006/main">
              <a:ext uri="{FF2B5EF4-FFF2-40B4-BE49-F238E27FC236}">
                <a16:creationId xmlns:a16="http://schemas.microsoft.com/office/drawing/2014/main" id="{E2740301-3395-474A-969B-03A7F3C237BE}"/>
              </a:ext>
            </a:extLst>
          </p:cNvPr>
          <p:cNvSpPr>
            <a:spLocks xmlns:a="http://schemas.openxmlformats.org/drawingml/2006/main" noGrp="1"/>
          </p:cNvSpPr>
          <p:nvPr/>
        </p:nvSpPr>
        <p:spPr>
          <a:xfrm xmlns:a="http://schemas.openxmlformats.org/drawingml/2006/main">
            <a:off x="4714875" y="4105275"/>
            <a:ext cx="66675" cy="66675"/>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84" name="">
            <a:extLst xmlns:a="http://schemas.openxmlformats.org/drawingml/2006/main">
              <a:ext uri="{FF2B5EF4-FFF2-40B4-BE49-F238E27FC236}">
                <a16:creationId xmlns:a16="http://schemas.microsoft.com/office/drawing/2014/main" id="{4AF07093-080D-48F6-A108-0DF159501499}"/>
              </a:ext>
            </a:extLst>
          </p:cNvPr>
          <p:cNvSpPr>
            <a:spLocks xmlns:a="http://schemas.openxmlformats.org/drawingml/2006/main" noGrp="1"/>
          </p:cNvSpPr>
          <p:nvPr/>
        </p:nvSpPr>
        <p:spPr>
          <a:xfrm xmlns:a="http://schemas.openxmlformats.org/drawingml/2006/main">
            <a:off x="666750" y="46291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77"/>
          </a:bodyPr>
          <a:lstStyle xmlns:a="http://schemas.openxmlformats.org/drawingml/2006/main"/>
          <a:p xmlns:a="http://schemas.openxmlformats.org/drawingml/2006/main">
            <a:pPr algn="l">
              <a:defRPr sz="1800" b="1" i="0">
                <a:solidFill>
                  <a:srgbClr val="0B1F33"/>
                </a:solidFill>
                <a:latin typeface="Arial"/>
                <a:ea typeface="Arial"/>
                <a:cs typeface="Arial"/>
              </a:defRPr>
            </a:pPr>
            <a:r>
              <a:rPr sz="1800" b="1" i="0">
                <a:solidFill>
                  <a:srgbClr val="0B1F33"/>
                </a:solidFill>
                <a:latin typeface="Arial"/>
                <a:ea typeface="Arial"/>
                <a:cs typeface="Arial"/>
              </a:rPr>
              <a:t>Sequencing creates millions of observations</a:t>
            </a:r>
          </a:p>
        </p:txBody>
      </p:sp>
      <p:cxnSp>
        <p:nvCxnSpPr>
          <p:cNvPr id="380" name=""/>
          <p:cNvCxnSpPr/>
          <p:nvPr/>
        </p:nvCxnSpPr>
        <p:spPr>
          <a:xfrm xmlns:a="http://schemas.openxmlformats.org/drawingml/2006/main">
            <a:off x="5867400" y="1809750"/>
            <a:ext cx="0" cy="3524250"/>
          </a:xfrm>
          <a:prstGeom xmlns:a="http://schemas.openxmlformats.org/drawingml/2006/main" prst="straightConnector1">
            <a:avLst/>
          </a:prstGeom>
          <a:ln xmlns:a="http://schemas.openxmlformats.org/drawingml/2006/main" w="19050">
            <a:solidFill>
              <a:srgbClr val="D6DEE7"/>
            </a:solidFill>
            <a:prstDash val="solid"/>
          </a:ln>
        </p:spPr>
      </p:cxnSp>
      <p:sp>
        <p:nvSpPr>
          <p:cNvPr id="186" name="">
            <a:extLst xmlns:a="http://schemas.openxmlformats.org/drawingml/2006/main">
              <a:ext uri="{FF2B5EF4-FFF2-40B4-BE49-F238E27FC236}">
                <a16:creationId xmlns:a16="http://schemas.microsoft.com/office/drawing/2014/main" id="{7EC3296F-2059-4920-B8A1-84C118FBF3C3}"/>
              </a:ext>
            </a:extLst>
          </p:cNvPr>
          <p:cNvSpPr>
            <a:spLocks xmlns:a="http://schemas.openxmlformats.org/drawingml/2006/main" noGrp="1"/>
          </p:cNvSpPr>
          <p:nvPr/>
        </p:nvSpPr>
        <p:spPr>
          <a:xfrm xmlns:a="http://schemas.openxmlformats.org/drawingml/2006/main">
            <a:off x="6477000" y="18859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C94E4E"/>
                </a:solidFill>
                <a:latin typeface="Arial"/>
                <a:ea typeface="Arial"/>
                <a:cs typeface="Arial"/>
              </a:defRPr>
            </a:pPr>
            <a:r>
              <a:rPr sz="2100" b="1" i="0">
                <a:solidFill>
                  <a:srgbClr val="C94E4E"/>
                </a:solidFill>
                <a:latin typeface="Arial"/>
                <a:ea typeface="Arial"/>
                <a:cs typeface="Arial"/>
              </a:rPr>
              <a:t>A person cannot reliably…</a:t>
            </a:r>
          </a:p>
        </p:txBody>
      </p:sp>
      <p:sp>
        <p:nvSpPr>
          <p:cNvPr id="187" name="">
            <a:extLst xmlns:a="http://schemas.openxmlformats.org/drawingml/2006/main">
              <a:ext uri="{FF2B5EF4-FFF2-40B4-BE49-F238E27FC236}">
                <a16:creationId xmlns:a16="http://schemas.microsoft.com/office/drawing/2014/main" id="{26BF1F32-D60B-4485-B350-311BD2AC54CA}"/>
              </a:ext>
            </a:extLst>
          </p:cNvPr>
          <p:cNvSpPr>
            <a:spLocks xmlns:a="http://schemas.openxmlformats.org/drawingml/2006/main" noGrp="1"/>
          </p:cNvSpPr>
          <p:nvPr/>
        </p:nvSpPr>
        <p:spPr>
          <a:xfrm xmlns:a="http://schemas.openxmlformats.org/drawingml/2006/main">
            <a:off x="6534150" y="27336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88" name="">
            <a:extLst xmlns:a="http://schemas.openxmlformats.org/drawingml/2006/main">
              <a:ext uri="{FF2B5EF4-FFF2-40B4-BE49-F238E27FC236}">
                <a16:creationId xmlns:a16="http://schemas.microsoft.com/office/drawing/2014/main" id="{C021ED73-F455-46CC-B6AB-67687E601E4E}"/>
              </a:ext>
            </a:extLst>
          </p:cNvPr>
          <p:cNvSpPr>
            <a:spLocks xmlns:a="http://schemas.openxmlformats.org/drawingml/2006/main" noGrp="1"/>
          </p:cNvSpPr>
          <p:nvPr/>
        </p:nvSpPr>
        <p:spPr>
          <a:xfrm xmlns:a="http://schemas.openxmlformats.org/drawingml/2006/main">
            <a:off x="6762750" y="2667000"/>
            <a:ext cx="421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0B1F33"/>
                </a:solidFill>
                <a:latin typeface="Arial"/>
                <a:ea typeface="Arial"/>
                <a:cs typeface="Arial"/>
              </a:defRPr>
            </a:pPr>
            <a:r>
              <a:rPr sz="1650" b="0" i="0">
                <a:solidFill>
                  <a:srgbClr val="0B1F33"/>
                </a:solidFill>
                <a:latin typeface="Arial"/>
                <a:ea typeface="Arial"/>
                <a:cs typeface="Arial"/>
              </a:rPr>
              <a:t>inspect every read</a:t>
            </a:r>
          </a:p>
        </p:txBody>
      </p:sp>
      <p:sp>
        <p:nvSpPr>
          <p:cNvPr id="189" name="">
            <a:extLst xmlns:a="http://schemas.openxmlformats.org/drawingml/2006/main">
              <a:ext uri="{FF2B5EF4-FFF2-40B4-BE49-F238E27FC236}">
                <a16:creationId xmlns:a16="http://schemas.microsoft.com/office/drawing/2014/main" id="{40842BF3-F58F-44FE-958F-20089AC96156}"/>
              </a:ext>
            </a:extLst>
          </p:cNvPr>
          <p:cNvSpPr>
            <a:spLocks xmlns:a="http://schemas.openxmlformats.org/drawingml/2006/main" noGrp="1"/>
          </p:cNvSpPr>
          <p:nvPr/>
        </p:nvSpPr>
        <p:spPr>
          <a:xfrm xmlns:a="http://schemas.openxmlformats.org/drawingml/2006/main">
            <a:off x="6534150" y="33051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90" name="">
            <a:extLst xmlns:a="http://schemas.openxmlformats.org/drawingml/2006/main">
              <a:ext uri="{FF2B5EF4-FFF2-40B4-BE49-F238E27FC236}">
                <a16:creationId xmlns:a16="http://schemas.microsoft.com/office/drawing/2014/main" id="{39982AA9-95C8-44B6-8CF9-9B9449A09C45}"/>
              </a:ext>
            </a:extLst>
          </p:cNvPr>
          <p:cNvSpPr>
            <a:spLocks xmlns:a="http://schemas.openxmlformats.org/drawingml/2006/main" noGrp="1"/>
          </p:cNvSpPr>
          <p:nvPr/>
        </p:nvSpPr>
        <p:spPr>
          <a:xfrm xmlns:a="http://schemas.openxmlformats.org/drawingml/2006/main">
            <a:off x="6762750" y="3238500"/>
            <a:ext cx="421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0B1F33"/>
                </a:solidFill>
                <a:latin typeface="Arial"/>
                <a:ea typeface="Arial"/>
                <a:cs typeface="Arial"/>
              </a:defRPr>
            </a:pPr>
            <a:r>
              <a:rPr sz="1650" b="0" i="0">
                <a:solidFill>
                  <a:srgbClr val="0B1F33"/>
                </a:solidFill>
                <a:latin typeface="Arial"/>
                <a:ea typeface="Arial"/>
                <a:cs typeface="Arial"/>
              </a:rPr>
              <a:t>remember every database entry</a:t>
            </a:r>
          </a:p>
        </p:txBody>
      </p:sp>
      <p:sp>
        <p:nvSpPr>
          <p:cNvPr id="191" name="">
            <a:extLst xmlns:a="http://schemas.openxmlformats.org/drawingml/2006/main">
              <a:ext uri="{FF2B5EF4-FFF2-40B4-BE49-F238E27FC236}">
                <a16:creationId xmlns:a16="http://schemas.microsoft.com/office/drawing/2014/main" id="{7105CF55-7783-44E2-A8D5-ABD4EEC8353A}"/>
              </a:ext>
            </a:extLst>
          </p:cNvPr>
          <p:cNvSpPr>
            <a:spLocks xmlns:a="http://schemas.openxmlformats.org/drawingml/2006/main" noGrp="1"/>
          </p:cNvSpPr>
          <p:nvPr/>
        </p:nvSpPr>
        <p:spPr>
          <a:xfrm xmlns:a="http://schemas.openxmlformats.org/drawingml/2006/main">
            <a:off x="6534150" y="38766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92" name="">
            <a:extLst xmlns:a="http://schemas.openxmlformats.org/drawingml/2006/main">
              <a:ext uri="{FF2B5EF4-FFF2-40B4-BE49-F238E27FC236}">
                <a16:creationId xmlns:a16="http://schemas.microsoft.com/office/drawing/2014/main" id="{18BBC42B-E512-4122-808F-5FBADB53118A}"/>
              </a:ext>
            </a:extLst>
          </p:cNvPr>
          <p:cNvSpPr>
            <a:spLocks xmlns:a="http://schemas.openxmlformats.org/drawingml/2006/main" noGrp="1"/>
          </p:cNvSpPr>
          <p:nvPr/>
        </p:nvSpPr>
        <p:spPr>
          <a:xfrm xmlns:a="http://schemas.openxmlformats.org/drawingml/2006/main">
            <a:off x="6762750" y="3810000"/>
            <a:ext cx="421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0B1F33"/>
                </a:solidFill>
                <a:latin typeface="Arial"/>
                <a:ea typeface="Arial"/>
                <a:cs typeface="Arial"/>
              </a:defRPr>
            </a:pPr>
            <a:r>
              <a:rPr sz="1650" b="0" i="0">
                <a:solidFill>
                  <a:srgbClr val="0B1F33"/>
                </a:solidFill>
                <a:latin typeface="Arial"/>
                <a:ea typeface="Arial"/>
                <a:cs typeface="Arial"/>
              </a:rPr>
              <a:t>repeat hundreds of filters by hand</a:t>
            </a:r>
          </a:p>
        </p:txBody>
      </p:sp>
      <p:sp>
        <p:nvSpPr>
          <p:cNvPr id="193" name="">
            <a:extLst xmlns:a="http://schemas.openxmlformats.org/drawingml/2006/main">
              <a:ext uri="{FF2B5EF4-FFF2-40B4-BE49-F238E27FC236}">
                <a16:creationId xmlns:a16="http://schemas.microsoft.com/office/drawing/2014/main" id="{8A0D231E-0BDC-4566-9CA6-1FF6AB7F76CD}"/>
              </a:ext>
            </a:extLst>
          </p:cNvPr>
          <p:cNvSpPr>
            <a:spLocks xmlns:a="http://schemas.openxmlformats.org/drawingml/2006/main" noGrp="1"/>
          </p:cNvSpPr>
          <p:nvPr/>
        </p:nvSpPr>
        <p:spPr>
          <a:xfrm xmlns:a="http://schemas.openxmlformats.org/drawingml/2006/main">
            <a:off x="6534150" y="44481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94" name="">
            <a:extLst xmlns:a="http://schemas.openxmlformats.org/drawingml/2006/main">
              <a:ext uri="{FF2B5EF4-FFF2-40B4-BE49-F238E27FC236}">
                <a16:creationId xmlns:a16="http://schemas.microsoft.com/office/drawing/2014/main" id="{9EFB4C0D-D5B1-4E2C-9DAA-66E6051F8633}"/>
              </a:ext>
            </a:extLst>
          </p:cNvPr>
          <p:cNvSpPr>
            <a:spLocks xmlns:a="http://schemas.openxmlformats.org/drawingml/2006/main" noGrp="1"/>
          </p:cNvSpPr>
          <p:nvPr/>
        </p:nvSpPr>
        <p:spPr>
          <a:xfrm xmlns:a="http://schemas.openxmlformats.org/drawingml/2006/main">
            <a:off x="6762750" y="4381500"/>
            <a:ext cx="421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0B1F33"/>
                </a:solidFill>
                <a:latin typeface="Arial"/>
                <a:ea typeface="Arial"/>
                <a:cs typeface="Arial"/>
              </a:defRPr>
            </a:pPr>
            <a:r>
              <a:rPr sz="1650" b="0" i="0">
                <a:solidFill>
                  <a:srgbClr val="0B1F33"/>
                </a:solidFill>
                <a:latin typeface="Arial"/>
                <a:ea typeface="Arial"/>
                <a:cs typeface="Arial"/>
              </a:rPr>
              <a:t>document every decision consistently</a:t>
            </a:r>
          </a:p>
        </p:txBody>
      </p:sp>
      <p:sp>
        <p:nvSpPr>
          <p:cNvPr id="195" name="">
            <a:extLst xmlns:a="http://schemas.openxmlformats.org/drawingml/2006/main">
              <a:ext uri="{FF2B5EF4-FFF2-40B4-BE49-F238E27FC236}">
                <a16:creationId xmlns:a16="http://schemas.microsoft.com/office/drawing/2014/main" id="{5167B456-FC49-412A-B417-79AD73C73F19}"/>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05</a:t>
            </a:r>
          </a:p>
        </p:txBody>
      </p:sp>
    </p:spTree>
    <p:extLst>
      <p:ext uri="{BB962C8B-B14F-4D97-AF65-F5344CB8AC3E}">
        <p14:creationId xmlns:p14="http://schemas.microsoft.com/office/powerpoint/2010/main" val="10312667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7D7262-7199-4D49-934F-C4AB2A86F328}"/>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WORKFLOW</a:t>
            </a:r>
          </a:p>
        </p:txBody>
      </p:sp>
      <p:sp>
        <p:nvSpPr>
          <p:cNvPr id="2" name="">
            <a:extLst xmlns:a="http://schemas.openxmlformats.org/drawingml/2006/main">
              <a:ext uri="{FF2B5EF4-FFF2-40B4-BE49-F238E27FC236}">
                <a16:creationId xmlns:a16="http://schemas.microsoft.com/office/drawing/2014/main" id="{7EF4B728-5FCD-4119-9769-C4B9A28D4546}"/>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Bioinformatics answers a different question at every stage</a:t>
            </a:r>
          </a:p>
        </p:txBody>
      </p:sp>
      <p:cxnSp>
        <p:nvCxnSpPr>
          <p:cNvPr id="32"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cxnSp>
        <p:nvCxnSpPr>
          <p:cNvPr id="33" name=""/>
          <p:cNvCxnSpPr/>
          <p:nvPr/>
        </p:nvCxnSpPr>
        <p:spPr>
          <a:xfrm xmlns:a="http://schemas.openxmlformats.org/drawingml/2006/main">
            <a:off x="2343150" y="3124200"/>
            <a:ext cx="419100" cy="0"/>
          </a:xfrm>
          <a:prstGeom xmlns:a="http://schemas.openxmlformats.org/drawingml/2006/main" prst="straightConnector1">
            <a:avLst/>
          </a:prstGeom>
          <a:ln xmlns:a="http://schemas.openxmlformats.org/drawingml/2006/main" w="28575">
            <a:solidFill>
              <a:srgbClr val="D6DEE7"/>
            </a:solidFill>
            <a:prstDash val="solid"/>
          </a:ln>
        </p:spPr>
      </p:cxnSp>
      <p:sp>
        <p:nvSpPr>
          <p:cNvPr id="5" name="">
            <a:extLst xmlns:a="http://schemas.openxmlformats.org/drawingml/2006/main">
              <a:ext uri="{FF2B5EF4-FFF2-40B4-BE49-F238E27FC236}">
                <a16:creationId xmlns:a16="http://schemas.microsoft.com/office/drawing/2014/main" id="{8A0C08B2-E4FD-4E66-A679-7106049B276A}"/>
              </a:ext>
            </a:extLst>
          </p:cNvPr>
          <p:cNvSpPr>
            <a:spLocks xmlns:a="http://schemas.openxmlformats.org/drawingml/2006/main" noGrp="1"/>
          </p:cNvSpPr>
          <p:nvPr/>
        </p:nvSpPr>
        <p:spPr>
          <a:xfrm xmlns:a="http://schemas.openxmlformats.org/drawingml/2006/main">
            <a:off x="400050" y="2286000"/>
            <a:ext cx="196215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6DEE7"/>
            </a:solidFill>
            <a:prstDash val="solid"/>
          </a:ln>
        </p:spPr>
      </p:sp>
      <p:sp>
        <p:nvSpPr>
          <p:cNvPr id="6" name="">
            <a:extLst xmlns:a="http://schemas.openxmlformats.org/drawingml/2006/main">
              <a:ext uri="{FF2B5EF4-FFF2-40B4-BE49-F238E27FC236}">
                <a16:creationId xmlns:a16="http://schemas.microsoft.com/office/drawing/2014/main" id="{2366C720-CE0E-4D3C-950B-03313E0B5DA6}"/>
              </a:ext>
            </a:extLst>
          </p:cNvPr>
          <p:cNvSpPr>
            <a:spLocks xmlns:a="http://schemas.openxmlformats.org/drawingml/2006/main" noGrp="1"/>
          </p:cNvSpPr>
          <p:nvPr/>
        </p:nvSpPr>
        <p:spPr>
          <a:xfrm xmlns:a="http://schemas.openxmlformats.org/drawingml/2006/main">
            <a:off x="400050" y="2286000"/>
            <a:ext cx="1962150" cy="152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7" name="">
            <a:extLst xmlns:a="http://schemas.openxmlformats.org/drawingml/2006/main">
              <a:ext uri="{FF2B5EF4-FFF2-40B4-BE49-F238E27FC236}">
                <a16:creationId xmlns:a16="http://schemas.microsoft.com/office/drawing/2014/main" id="{56003A02-5E9B-4077-A0DA-C818A1ADF862}"/>
              </a:ext>
            </a:extLst>
          </p:cNvPr>
          <p:cNvSpPr>
            <a:spLocks xmlns:a="http://schemas.openxmlformats.org/drawingml/2006/main" noGrp="1"/>
          </p:cNvSpPr>
          <p:nvPr/>
        </p:nvSpPr>
        <p:spPr>
          <a:xfrm xmlns:a="http://schemas.openxmlformats.org/drawingml/2006/main">
            <a:off x="571500" y="27241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2D6CDF"/>
                </a:solidFill>
                <a:latin typeface="Arial"/>
                <a:ea typeface="Arial"/>
                <a:cs typeface="Arial"/>
              </a:defRPr>
            </a:pPr>
            <a:r>
              <a:rPr sz="1650" b="1" i="0">
                <a:solidFill>
                  <a:srgbClr val="2D6CDF"/>
                </a:solidFill>
                <a:latin typeface="Arial"/>
                <a:ea typeface="Arial"/>
                <a:cs typeface="Arial"/>
              </a:rPr>
              <a:t>FASTQ</a:t>
            </a:r>
          </a:p>
        </p:txBody>
      </p:sp>
      <p:sp>
        <p:nvSpPr>
          <p:cNvPr id="8" name="">
            <a:extLst xmlns:a="http://schemas.openxmlformats.org/drawingml/2006/main">
              <a:ext uri="{FF2B5EF4-FFF2-40B4-BE49-F238E27FC236}">
                <a16:creationId xmlns:a16="http://schemas.microsoft.com/office/drawing/2014/main" id="{3740163F-D10F-4DB1-8DC6-11A0BA74698E}"/>
              </a:ext>
            </a:extLst>
          </p:cNvPr>
          <p:cNvSpPr>
            <a:spLocks xmlns:a="http://schemas.openxmlformats.org/drawingml/2006/main" noGrp="1"/>
          </p:cNvSpPr>
          <p:nvPr/>
        </p:nvSpPr>
        <p:spPr>
          <a:xfrm xmlns:a="http://schemas.openxmlformats.org/drawingml/2006/main">
            <a:off x="590550" y="3200400"/>
            <a:ext cx="1581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0B1F33"/>
                </a:solidFill>
                <a:latin typeface="Arial"/>
                <a:ea typeface="Arial"/>
                <a:cs typeface="Arial"/>
              </a:defRPr>
            </a:pPr>
            <a:r>
              <a:rPr sz="1275" b="0" i="0">
                <a:solidFill>
                  <a:srgbClr val="0B1F33"/>
                </a:solidFill>
                <a:latin typeface="Arial"/>
                <a:ea typeface="Arial"/>
                <a:cs typeface="Arial"/>
              </a:rPr>
              <a:t>Are the reads reliable?</a:t>
            </a:r>
          </a:p>
        </p:txBody>
      </p:sp>
      <p:cxnSp>
        <p:nvCxnSpPr>
          <p:cNvPr id="38" name=""/>
          <p:cNvCxnSpPr/>
          <p:nvPr/>
        </p:nvCxnSpPr>
        <p:spPr>
          <a:xfrm xmlns:a="http://schemas.openxmlformats.org/drawingml/2006/main">
            <a:off x="4686300" y="3124200"/>
            <a:ext cx="419100" cy="0"/>
          </a:xfrm>
          <a:prstGeom xmlns:a="http://schemas.openxmlformats.org/drawingml/2006/main" prst="straightConnector1">
            <a:avLst/>
          </a:prstGeom>
          <a:ln xmlns:a="http://schemas.openxmlformats.org/drawingml/2006/main" w="28575">
            <a:solidFill>
              <a:srgbClr val="D6DEE7"/>
            </a:solidFill>
            <a:prstDash val="solid"/>
          </a:ln>
        </p:spPr>
      </p:cxnSp>
      <p:sp>
        <p:nvSpPr>
          <p:cNvPr id="10" name="">
            <a:extLst xmlns:a="http://schemas.openxmlformats.org/drawingml/2006/main">
              <a:ext uri="{FF2B5EF4-FFF2-40B4-BE49-F238E27FC236}">
                <a16:creationId xmlns:a16="http://schemas.microsoft.com/office/drawing/2014/main" id="{F8081B00-542A-43DE-BEA5-67CD8317C150}"/>
              </a:ext>
            </a:extLst>
          </p:cNvPr>
          <p:cNvSpPr>
            <a:spLocks xmlns:a="http://schemas.openxmlformats.org/drawingml/2006/main" noGrp="1"/>
          </p:cNvSpPr>
          <p:nvPr/>
        </p:nvSpPr>
        <p:spPr>
          <a:xfrm xmlns:a="http://schemas.openxmlformats.org/drawingml/2006/main">
            <a:off x="2743200" y="2286000"/>
            <a:ext cx="196215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6DEE7"/>
            </a:solidFill>
            <a:prstDash val="solid"/>
          </a:ln>
        </p:spPr>
      </p:sp>
      <p:sp>
        <p:nvSpPr>
          <p:cNvPr id="11" name="">
            <a:extLst xmlns:a="http://schemas.openxmlformats.org/drawingml/2006/main">
              <a:ext uri="{FF2B5EF4-FFF2-40B4-BE49-F238E27FC236}">
                <a16:creationId xmlns:a16="http://schemas.microsoft.com/office/drawing/2014/main" id="{141CDFD3-F5F5-4BA1-A7B8-E349E5498AD4}"/>
              </a:ext>
            </a:extLst>
          </p:cNvPr>
          <p:cNvSpPr>
            <a:spLocks xmlns:a="http://schemas.openxmlformats.org/drawingml/2006/main" noGrp="1"/>
          </p:cNvSpPr>
          <p:nvPr/>
        </p:nvSpPr>
        <p:spPr>
          <a:xfrm xmlns:a="http://schemas.openxmlformats.org/drawingml/2006/main">
            <a:off x="2743200" y="2286000"/>
            <a:ext cx="1962150" cy="152400"/>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2" name="">
            <a:extLst xmlns:a="http://schemas.openxmlformats.org/drawingml/2006/main">
              <a:ext uri="{FF2B5EF4-FFF2-40B4-BE49-F238E27FC236}">
                <a16:creationId xmlns:a16="http://schemas.microsoft.com/office/drawing/2014/main" id="{CF8E0BF6-A3B0-4E16-ADCA-00860EFB9126}"/>
              </a:ext>
            </a:extLst>
          </p:cNvPr>
          <p:cNvSpPr>
            <a:spLocks xmlns:a="http://schemas.openxmlformats.org/drawingml/2006/main" noGrp="1"/>
          </p:cNvSpPr>
          <p:nvPr/>
        </p:nvSpPr>
        <p:spPr>
          <a:xfrm xmlns:a="http://schemas.openxmlformats.org/drawingml/2006/main">
            <a:off x="2914650" y="27241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069C9C"/>
                </a:solidFill>
                <a:latin typeface="Arial"/>
                <a:ea typeface="Arial"/>
                <a:cs typeface="Arial"/>
              </a:defRPr>
            </a:pPr>
            <a:r>
              <a:rPr sz="1650" b="1" i="0">
                <a:solidFill>
                  <a:srgbClr val="069C9C"/>
                </a:solidFill>
                <a:latin typeface="Arial"/>
                <a:ea typeface="Arial"/>
                <a:cs typeface="Arial"/>
              </a:rPr>
              <a:t>BAM/CRAM</a:t>
            </a:r>
          </a:p>
        </p:txBody>
      </p:sp>
      <p:sp>
        <p:nvSpPr>
          <p:cNvPr id="13" name="">
            <a:extLst xmlns:a="http://schemas.openxmlformats.org/drawingml/2006/main">
              <a:ext uri="{FF2B5EF4-FFF2-40B4-BE49-F238E27FC236}">
                <a16:creationId xmlns:a16="http://schemas.microsoft.com/office/drawing/2014/main" id="{670D50B8-A808-42DA-9A19-FEE1425F3766}"/>
              </a:ext>
            </a:extLst>
          </p:cNvPr>
          <p:cNvSpPr>
            <a:spLocks xmlns:a="http://schemas.openxmlformats.org/drawingml/2006/main" noGrp="1"/>
          </p:cNvSpPr>
          <p:nvPr/>
        </p:nvSpPr>
        <p:spPr>
          <a:xfrm xmlns:a="http://schemas.openxmlformats.org/drawingml/2006/main">
            <a:off x="2933700" y="3200400"/>
            <a:ext cx="1581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0B1F33"/>
                </a:solidFill>
                <a:latin typeface="Arial"/>
                <a:ea typeface="Arial"/>
                <a:cs typeface="Arial"/>
              </a:defRPr>
            </a:pPr>
            <a:r>
              <a:rPr sz="1275" b="0" i="0">
                <a:solidFill>
                  <a:srgbClr val="0B1F33"/>
                </a:solidFill>
                <a:latin typeface="Arial"/>
                <a:ea typeface="Arial"/>
                <a:cs typeface="Arial"/>
              </a:rPr>
              <a:t>Where do the reads align?</a:t>
            </a:r>
          </a:p>
        </p:txBody>
      </p:sp>
      <p:cxnSp>
        <p:nvCxnSpPr>
          <p:cNvPr id="43" name=""/>
          <p:cNvCxnSpPr/>
          <p:nvPr/>
        </p:nvCxnSpPr>
        <p:spPr>
          <a:xfrm xmlns:a="http://schemas.openxmlformats.org/drawingml/2006/main">
            <a:off x="7029450" y="3124200"/>
            <a:ext cx="419100" cy="0"/>
          </a:xfrm>
          <a:prstGeom xmlns:a="http://schemas.openxmlformats.org/drawingml/2006/main" prst="straightConnector1">
            <a:avLst/>
          </a:prstGeom>
          <a:ln xmlns:a="http://schemas.openxmlformats.org/drawingml/2006/main" w="28575">
            <a:solidFill>
              <a:srgbClr val="D6DEE7"/>
            </a:solidFill>
            <a:prstDash val="solid"/>
          </a:ln>
        </p:spPr>
      </p:cxnSp>
      <p:sp>
        <p:nvSpPr>
          <p:cNvPr id="15" name="">
            <a:extLst xmlns:a="http://schemas.openxmlformats.org/drawingml/2006/main">
              <a:ext uri="{FF2B5EF4-FFF2-40B4-BE49-F238E27FC236}">
                <a16:creationId xmlns:a16="http://schemas.microsoft.com/office/drawing/2014/main" id="{3539F530-F812-4B42-87AA-082CA0CDA7E9}"/>
              </a:ext>
            </a:extLst>
          </p:cNvPr>
          <p:cNvSpPr>
            <a:spLocks xmlns:a="http://schemas.openxmlformats.org/drawingml/2006/main" noGrp="1"/>
          </p:cNvSpPr>
          <p:nvPr/>
        </p:nvSpPr>
        <p:spPr>
          <a:xfrm xmlns:a="http://schemas.openxmlformats.org/drawingml/2006/main">
            <a:off x="5086350" y="2286000"/>
            <a:ext cx="196215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6DEE7"/>
            </a:solidFill>
            <a:prstDash val="solid"/>
          </a:ln>
        </p:spPr>
      </p:sp>
      <p:sp>
        <p:nvSpPr>
          <p:cNvPr id="16" name="">
            <a:extLst xmlns:a="http://schemas.openxmlformats.org/drawingml/2006/main">
              <a:ext uri="{FF2B5EF4-FFF2-40B4-BE49-F238E27FC236}">
                <a16:creationId xmlns:a16="http://schemas.microsoft.com/office/drawing/2014/main" id="{0D89EAB5-FC47-4E50-BE3D-DD9192E820E3}"/>
              </a:ext>
            </a:extLst>
          </p:cNvPr>
          <p:cNvSpPr>
            <a:spLocks xmlns:a="http://schemas.openxmlformats.org/drawingml/2006/main" noGrp="1"/>
          </p:cNvSpPr>
          <p:nvPr/>
        </p:nvSpPr>
        <p:spPr>
          <a:xfrm xmlns:a="http://schemas.openxmlformats.org/drawingml/2006/main">
            <a:off x="5086350" y="2286000"/>
            <a:ext cx="1962150" cy="152400"/>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7" name="">
            <a:extLst xmlns:a="http://schemas.openxmlformats.org/drawingml/2006/main">
              <a:ext uri="{FF2B5EF4-FFF2-40B4-BE49-F238E27FC236}">
                <a16:creationId xmlns:a16="http://schemas.microsoft.com/office/drawing/2014/main" id="{CBA89E18-6873-456A-AD29-39BF875909ED}"/>
              </a:ext>
            </a:extLst>
          </p:cNvPr>
          <p:cNvSpPr>
            <a:spLocks xmlns:a="http://schemas.openxmlformats.org/drawingml/2006/main" noGrp="1"/>
          </p:cNvSpPr>
          <p:nvPr/>
        </p:nvSpPr>
        <p:spPr>
          <a:xfrm xmlns:a="http://schemas.openxmlformats.org/drawingml/2006/main">
            <a:off x="5257800" y="27241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E7A62F"/>
                </a:solidFill>
                <a:latin typeface="Arial"/>
                <a:ea typeface="Arial"/>
                <a:cs typeface="Arial"/>
              </a:defRPr>
            </a:pPr>
            <a:r>
              <a:rPr sz="1650" b="1" i="0">
                <a:solidFill>
                  <a:srgbClr val="E7A62F"/>
                </a:solidFill>
                <a:latin typeface="Arial"/>
                <a:ea typeface="Arial"/>
                <a:cs typeface="Arial"/>
              </a:rPr>
              <a:t>VCF</a:t>
            </a:r>
          </a:p>
        </p:txBody>
      </p:sp>
      <p:sp>
        <p:nvSpPr>
          <p:cNvPr id="18" name="">
            <a:extLst xmlns:a="http://schemas.openxmlformats.org/drawingml/2006/main">
              <a:ext uri="{FF2B5EF4-FFF2-40B4-BE49-F238E27FC236}">
                <a16:creationId xmlns:a16="http://schemas.microsoft.com/office/drawing/2014/main" id="{808E5022-8E95-4F99-A413-456938033E34}"/>
              </a:ext>
            </a:extLst>
          </p:cNvPr>
          <p:cNvSpPr>
            <a:spLocks xmlns:a="http://schemas.openxmlformats.org/drawingml/2006/main" noGrp="1"/>
          </p:cNvSpPr>
          <p:nvPr/>
        </p:nvSpPr>
        <p:spPr>
          <a:xfrm xmlns:a="http://schemas.openxmlformats.org/drawingml/2006/main">
            <a:off x="5276850" y="3200400"/>
            <a:ext cx="1581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0B1F33"/>
                </a:solidFill>
                <a:latin typeface="Arial"/>
                <a:ea typeface="Arial"/>
                <a:cs typeface="Arial"/>
              </a:defRPr>
            </a:pPr>
            <a:r>
              <a:rPr sz="1275" b="0" i="0">
                <a:solidFill>
                  <a:srgbClr val="0B1F33"/>
                </a:solidFill>
                <a:latin typeface="Arial"/>
                <a:ea typeface="Arial"/>
                <a:cs typeface="Arial"/>
              </a:rPr>
              <a:t>What differs from the reference?</a:t>
            </a:r>
          </a:p>
        </p:txBody>
      </p:sp>
      <p:cxnSp>
        <p:nvCxnSpPr>
          <p:cNvPr id="48" name=""/>
          <p:cNvCxnSpPr/>
          <p:nvPr/>
        </p:nvCxnSpPr>
        <p:spPr>
          <a:xfrm xmlns:a="http://schemas.openxmlformats.org/drawingml/2006/main">
            <a:off x="9372600" y="3124200"/>
            <a:ext cx="419100" cy="0"/>
          </a:xfrm>
          <a:prstGeom xmlns:a="http://schemas.openxmlformats.org/drawingml/2006/main" prst="straightConnector1">
            <a:avLst/>
          </a:prstGeom>
          <a:ln xmlns:a="http://schemas.openxmlformats.org/drawingml/2006/main" w="28575">
            <a:solidFill>
              <a:srgbClr val="D6DEE7"/>
            </a:solidFill>
            <a:prstDash val="solid"/>
          </a:ln>
        </p:spPr>
      </p:cxnSp>
      <p:sp>
        <p:nvSpPr>
          <p:cNvPr id="20" name="">
            <a:extLst xmlns:a="http://schemas.openxmlformats.org/drawingml/2006/main">
              <a:ext uri="{FF2B5EF4-FFF2-40B4-BE49-F238E27FC236}">
                <a16:creationId xmlns:a16="http://schemas.microsoft.com/office/drawing/2014/main" id="{42CD5AA6-6A29-4E4C-B5F3-CB0E2D97448D}"/>
              </a:ext>
            </a:extLst>
          </p:cNvPr>
          <p:cNvSpPr>
            <a:spLocks xmlns:a="http://schemas.openxmlformats.org/drawingml/2006/main" noGrp="1"/>
          </p:cNvSpPr>
          <p:nvPr/>
        </p:nvSpPr>
        <p:spPr>
          <a:xfrm xmlns:a="http://schemas.openxmlformats.org/drawingml/2006/main">
            <a:off x="7429500" y="2286000"/>
            <a:ext cx="196215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6DEE7"/>
            </a:solidFill>
            <a:prstDash val="solid"/>
          </a:ln>
        </p:spPr>
      </p:sp>
      <p:sp>
        <p:nvSpPr>
          <p:cNvPr id="21" name="">
            <a:extLst xmlns:a="http://schemas.openxmlformats.org/drawingml/2006/main">
              <a:ext uri="{FF2B5EF4-FFF2-40B4-BE49-F238E27FC236}">
                <a16:creationId xmlns:a16="http://schemas.microsoft.com/office/drawing/2014/main" id="{AC884D03-1088-471C-83A9-CFB0CC407845}"/>
              </a:ext>
            </a:extLst>
          </p:cNvPr>
          <p:cNvSpPr>
            <a:spLocks xmlns:a="http://schemas.openxmlformats.org/drawingml/2006/main" noGrp="1"/>
          </p:cNvSpPr>
          <p:nvPr/>
        </p:nvSpPr>
        <p:spPr>
          <a:xfrm xmlns:a="http://schemas.openxmlformats.org/drawingml/2006/main">
            <a:off x="7429500" y="2286000"/>
            <a:ext cx="1962150" cy="152400"/>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22" name="">
            <a:extLst xmlns:a="http://schemas.openxmlformats.org/drawingml/2006/main">
              <a:ext uri="{FF2B5EF4-FFF2-40B4-BE49-F238E27FC236}">
                <a16:creationId xmlns:a16="http://schemas.microsoft.com/office/drawing/2014/main" id="{35781F2C-5D89-4EF4-AAF3-001F09D72CDD}"/>
              </a:ext>
            </a:extLst>
          </p:cNvPr>
          <p:cNvSpPr>
            <a:spLocks xmlns:a="http://schemas.openxmlformats.org/drawingml/2006/main" noGrp="1"/>
          </p:cNvSpPr>
          <p:nvPr/>
        </p:nvSpPr>
        <p:spPr>
          <a:xfrm xmlns:a="http://schemas.openxmlformats.org/drawingml/2006/main">
            <a:off x="7600950" y="27241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7756C2"/>
                </a:solidFill>
                <a:latin typeface="Arial"/>
                <a:ea typeface="Arial"/>
                <a:cs typeface="Arial"/>
              </a:defRPr>
            </a:pPr>
            <a:r>
              <a:rPr sz="1650" b="1" i="0">
                <a:solidFill>
                  <a:srgbClr val="7756C2"/>
                </a:solidFill>
                <a:latin typeface="Arial"/>
                <a:ea typeface="Arial"/>
                <a:cs typeface="Arial"/>
              </a:rPr>
              <a:t>ANNOTATION</a:t>
            </a:r>
          </a:p>
        </p:txBody>
      </p:sp>
      <p:sp>
        <p:nvSpPr>
          <p:cNvPr id="23" name="">
            <a:extLst xmlns:a="http://schemas.openxmlformats.org/drawingml/2006/main">
              <a:ext uri="{FF2B5EF4-FFF2-40B4-BE49-F238E27FC236}">
                <a16:creationId xmlns:a16="http://schemas.microsoft.com/office/drawing/2014/main" id="{A71D0F56-A96D-4EBE-A332-071EA0176DD1}"/>
              </a:ext>
            </a:extLst>
          </p:cNvPr>
          <p:cNvSpPr>
            <a:spLocks xmlns:a="http://schemas.openxmlformats.org/drawingml/2006/main" noGrp="1"/>
          </p:cNvSpPr>
          <p:nvPr/>
        </p:nvSpPr>
        <p:spPr>
          <a:xfrm xmlns:a="http://schemas.openxmlformats.org/drawingml/2006/main">
            <a:off x="7620000" y="3200400"/>
            <a:ext cx="1581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0B1F33"/>
                </a:solidFill>
                <a:latin typeface="Arial"/>
                <a:ea typeface="Arial"/>
                <a:cs typeface="Arial"/>
              </a:defRPr>
            </a:pPr>
            <a:r>
              <a:rPr sz="1275" b="0" i="0">
                <a:solidFill>
                  <a:srgbClr val="0B1F33"/>
                </a:solidFill>
                <a:latin typeface="Arial"/>
                <a:ea typeface="Arial"/>
                <a:cs typeface="Arial"/>
              </a:rPr>
              <a:t>What is already known?</a:t>
            </a:r>
          </a:p>
        </p:txBody>
      </p:sp>
      <p:sp>
        <p:nvSpPr>
          <p:cNvPr id="24" name="">
            <a:extLst xmlns:a="http://schemas.openxmlformats.org/drawingml/2006/main">
              <a:ext uri="{FF2B5EF4-FFF2-40B4-BE49-F238E27FC236}">
                <a16:creationId xmlns:a16="http://schemas.microsoft.com/office/drawing/2014/main" id="{F6F930A6-5102-4121-BF00-7C92FAD6B65C}"/>
              </a:ext>
            </a:extLst>
          </p:cNvPr>
          <p:cNvSpPr>
            <a:spLocks xmlns:a="http://schemas.openxmlformats.org/drawingml/2006/main" noGrp="1"/>
          </p:cNvSpPr>
          <p:nvPr/>
        </p:nvSpPr>
        <p:spPr>
          <a:xfrm xmlns:a="http://schemas.openxmlformats.org/drawingml/2006/main">
            <a:off x="9772650" y="2286000"/>
            <a:ext cx="1962150" cy="1695450"/>
          </a:xfrm>
          <a:prstGeom xmlns:a="http://schemas.openxmlformats.org/drawingml/2006/main" prst="roundRect">
            <a:avLst>
              <a:gd name="adj" fmla="val 4494"/>
            </a:avLst>
          </a:prstGeom>
          <a:solidFill xmlns:a="http://schemas.openxmlformats.org/drawingml/2006/main">
            <a:srgbClr val="FFFFFF"/>
          </a:solidFill>
          <a:ln xmlns:a="http://schemas.openxmlformats.org/drawingml/2006/main" w="9525">
            <a:solidFill>
              <a:srgbClr val="D6DEE7"/>
            </a:solidFill>
            <a:prstDash val="solid"/>
          </a:ln>
        </p:spPr>
      </p:sp>
      <p:sp>
        <p:nvSpPr>
          <p:cNvPr id="25" name="">
            <a:extLst xmlns:a="http://schemas.openxmlformats.org/drawingml/2006/main">
              <a:ext uri="{FF2B5EF4-FFF2-40B4-BE49-F238E27FC236}">
                <a16:creationId xmlns:a16="http://schemas.microsoft.com/office/drawing/2014/main" id="{86E119D2-E159-4BCE-A446-8DD313DC6DAB}"/>
              </a:ext>
            </a:extLst>
          </p:cNvPr>
          <p:cNvSpPr>
            <a:spLocks xmlns:a="http://schemas.openxmlformats.org/drawingml/2006/main" noGrp="1"/>
          </p:cNvSpPr>
          <p:nvPr/>
        </p:nvSpPr>
        <p:spPr>
          <a:xfrm xmlns:a="http://schemas.openxmlformats.org/drawingml/2006/main">
            <a:off x="9772650" y="2286000"/>
            <a:ext cx="1962150" cy="152400"/>
          </a:xfrm>
          <a:prstGeom xmlns:a="http://schemas.openxmlformats.org/drawingml/2006/main" prst="roundRect">
            <a:avLst>
              <a:gd name="adj" fmla="val 50000"/>
            </a:avLst>
          </a:prstGeom>
          <a:solidFill xmlns:a="http://schemas.openxmlformats.org/drawingml/2006/main">
            <a:srgbClr val="359B64"/>
          </a:solidFill>
          <a:ln xmlns:a="http://schemas.openxmlformats.org/drawingml/2006/main" w="0">
            <a:solidFill>
              <a:srgbClr val="359B64"/>
            </a:solidFill>
            <a:prstDash val="solid"/>
          </a:ln>
        </p:spPr>
      </p:sp>
      <p:sp>
        <p:nvSpPr>
          <p:cNvPr id="26" name="">
            <a:extLst xmlns:a="http://schemas.openxmlformats.org/drawingml/2006/main">
              <a:ext uri="{FF2B5EF4-FFF2-40B4-BE49-F238E27FC236}">
                <a16:creationId xmlns:a16="http://schemas.microsoft.com/office/drawing/2014/main" id="{9D58879C-E9F7-4E15-A3F1-0B145186A727}"/>
              </a:ext>
            </a:extLst>
          </p:cNvPr>
          <p:cNvSpPr>
            <a:spLocks xmlns:a="http://schemas.openxmlformats.org/drawingml/2006/main" noGrp="1"/>
          </p:cNvSpPr>
          <p:nvPr/>
        </p:nvSpPr>
        <p:spPr>
          <a:xfrm xmlns:a="http://schemas.openxmlformats.org/drawingml/2006/main">
            <a:off x="9944100" y="27241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359B64"/>
                </a:solidFill>
                <a:latin typeface="Arial"/>
                <a:ea typeface="Arial"/>
                <a:cs typeface="Arial"/>
              </a:defRPr>
            </a:pPr>
            <a:r>
              <a:rPr sz="1650" b="1" i="0">
                <a:solidFill>
                  <a:srgbClr val="359B64"/>
                </a:solidFill>
                <a:latin typeface="Arial"/>
                <a:ea typeface="Arial"/>
                <a:cs typeface="Arial"/>
              </a:rPr>
              <a:t>REPORT</a:t>
            </a:r>
          </a:p>
        </p:txBody>
      </p:sp>
      <p:sp>
        <p:nvSpPr>
          <p:cNvPr id="27" name="">
            <a:extLst xmlns:a="http://schemas.openxmlformats.org/drawingml/2006/main">
              <a:ext uri="{FF2B5EF4-FFF2-40B4-BE49-F238E27FC236}">
                <a16:creationId xmlns:a16="http://schemas.microsoft.com/office/drawing/2014/main" id="{EC08C8F6-0009-4AA4-8379-0E109C9504CF}"/>
              </a:ext>
            </a:extLst>
          </p:cNvPr>
          <p:cNvSpPr>
            <a:spLocks xmlns:a="http://schemas.openxmlformats.org/drawingml/2006/main" noGrp="1"/>
          </p:cNvSpPr>
          <p:nvPr/>
        </p:nvSpPr>
        <p:spPr>
          <a:xfrm xmlns:a="http://schemas.openxmlformats.org/drawingml/2006/main">
            <a:off x="9963150" y="3200400"/>
            <a:ext cx="1581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i="0">
                <a:solidFill>
                  <a:srgbClr val="0B1F33"/>
                </a:solidFill>
                <a:latin typeface="Arial"/>
                <a:ea typeface="Arial"/>
                <a:cs typeface="Arial"/>
              </a:defRPr>
            </a:pPr>
            <a:r>
              <a:rPr sz="1275" b="0" i="0">
                <a:solidFill>
                  <a:srgbClr val="0B1F33"/>
                </a:solidFill>
                <a:latin typeface="Arial"/>
                <a:ea typeface="Arial"/>
                <a:cs typeface="Arial"/>
              </a:rPr>
              <a:t>What can be communicated?</a:t>
            </a:r>
          </a:p>
        </p:txBody>
      </p:sp>
      <p:sp>
        <p:nvSpPr>
          <p:cNvPr id="28" name="">
            <a:extLst xmlns:a="http://schemas.openxmlformats.org/drawingml/2006/main">
              <a:ext uri="{FF2B5EF4-FFF2-40B4-BE49-F238E27FC236}">
                <a16:creationId xmlns:a16="http://schemas.microsoft.com/office/drawing/2014/main" id="{F360A561-8E9A-4085-9BE1-43B16AB9FE67}"/>
              </a:ext>
            </a:extLst>
          </p:cNvPr>
          <p:cNvSpPr>
            <a:spLocks xmlns:a="http://schemas.openxmlformats.org/drawingml/2006/main" noGrp="1"/>
          </p:cNvSpPr>
          <p:nvPr/>
        </p:nvSpPr>
        <p:spPr>
          <a:xfrm xmlns:a="http://schemas.openxmlformats.org/drawingml/2006/main">
            <a:off x="2305050" y="47625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Each file is a checkpoint—not the end of the analysis.</a:t>
            </a:r>
          </a:p>
        </p:txBody>
      </p:sp>
      <p:sp>
        <p:nvSpPr>
          <p:cNvPr id="29" name="">
            <a:extLst xmlns:a="http://schemas.openxmlformats.org/drawingml/2006/main">
              <a:ext uri="{FF2B5EF4-FFF2-40B4-BE49-F238E27FC236}">
                <a16:creationId xmlns:a16="http://schemas.microsoft.com/office/drawing/2014/main" id="{F0AAD11B-8689-470A-8196-B83E4508D5F8}"/>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06</a:t>
            </a:r>
          </a:p>
        </p:txBody>
      </p:sp>
    </p:spTree>
    <p:extLst>
      <p:ext uri="{BB962C8B-B14F-4D97-AF65-F5344CB8AC3E}">
        <p14:creationId xmlns:p14="http://schemas.microsoft.com/office/powerpoint/2010/main" val="8133836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D36211-7A55-4CFF-83EB-4F78863C5E26}"/>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FILES ARE NOT INTERCHANGEABLE</a:t>
            </a:r>
          </a:p>
        </p:txBody>
      </p:sp>
      <p:sp>
        <p:nvSpPr>
          <p:cNvPr id="2" name="">
            <a:extLst xmlns:a="http://schemas.openxmlformats.org/drawingml/2006/main">
              <a:ext uri="{FF2B5EF4-FFF2-40B4-BE49-F238E27FC236}">
                <a16:creationId xmlns:a16="http://schemas.microsoft.com/office/drawing/2014/main" id="{36D27660-FEC8-4E53-9164-A6353609D914}"/>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Three file types organize most short-read variant workflows</a:t>
            </a:r>
          </a:p>
        </p:txBody>
      </p:sp>
      <p:cxnSp>
        <p:nvCxnSpPr>
          <p:cNvPr id="19"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EA5E66E5-AA40-4AF3-9C4B-E378A400D105}"/>
              </a:ext>
            </a:extLst>
          </p:cNvPr>
          <p:cNvSpPr>
            <a:spLocks xmlns:a="http://schemas.openxmlformats.org/drawingml/2006/main" noGrp="1"/>
          </p:cNvSpPr>
          <p:nvPr/>
        </p:nvSpPr>
        <p:spPr>
          <a:xfrm xmlns:a="http://schemas.openxmlformats.org/drawingml/2006/main">
            <a:off x="495300" y="1866900"/>
            <a:ext cx="3429000" cy="3295650"/>
          </a:xfrm>
          <a:prstGeom xmlns:a="http://schemas.openxmlformats.org/drawingml/2006/main" prst="roundRect">
            <a:avLst>
              <a:gd name="adj" fmla="val 2312"/>
            </a:avLst>
          </a:prstGeom>
          <a:solidFill xmlns:a="http://schemas.openxmlformats.org/drawingml/2006/main">
            <a:srgbClr val="DCE8FF"/>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2DBB6DE0-8481-4252-8CD9-116CD6E74370}"/>
              </a:ext>
            </a:extLst>
          </p:cNvPr>
          <p:cNvSpPr>
            <a:spLocks xmlns:a="http://schemas.openxmlformats.org/drawingml/2006/main" noGrp="1"/>
          </p:cNvSpPr>
          <p:nvPr/>
        </p:nvSpPr>
        <p:spPr>
          <a:xfrm xmlns:a="http://schemas.openxmlformats.org/drawingml/2006/main">
            <a:off x="495300" y="1866900"/>
            <a:ext cx="66675" cy="32956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FA61B84C-473E-4047-BC50-57B246AE5893}"/>
              </a:ext>
            </a:extLst>
          </p:cNvPr>
          <p:cNvSpPr>
            <a:spLocks xmlns:a="http://schemas.openxmlformats.org/drawingml/2006/main" noGrp="1"/>
          </p:cNvSpPr>
          <p:nvPr/>
        </p:nvSpPr>
        <p:spPr>
          <a:xfrm xmlns:a="http://schemas.openxmlformats.org/drawingml/2006/main">
            <a:off x="723900" y="20574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FASTQ</a:t>
            </a:r>
          </a:p>
        </p:txBody>
      </p:sp>
      <p:sp>
        <p:nvSpPr>
          <p:cNvPr id="7" name="">
            <a:extLst xmlns:a="http://schemas.openxmlformats.org/drawingml/2006/main">
              <a:ext uri="{FF2B5EF4-FFF2-40B4-BE49-F238E27FC236}">
                <a16:creationId xmlns:a16="http://schemas.microsoft.com/office/drawing/2014/main" id="{6CD80BFE-0E51-45F9-82B7-BFC6480AB2B7}"/>
              </a:ext>
            </a:extLst>
          </p:cNvPr>
          <p:cNvSpPr>
            <a:spLocks xmlns:a="http://schemas.openxmlformats.org/drawingml/2006/main" noGrp="1"/>
          </p:cNvSpPr>
          <p:nvPr/>
        </p:nvSpPr>
        <p:spPr>
          <a:xfrm xmlns:a="http://schemas.openxmlformats.org/drawingml/2006/main">
            <a:off x="723900" y="2457450"/>
            <a:ext cx="30289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Raw sequencing reads</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 base-quality scores</a:t>
            </a:r>
          </a:p>
          <a:p xmlns:a="http://schemas.openxmlformats.org/drawingml/2006/main">
            <a:r>
              <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Question: Can I trust the letters?</a:t>
            </a:r>
          </a:p>
        </p:txBody>
      </p:sp>
      <p:sp>
        <p:nvSpPr>
          <p:cNvPr id="8" name="">
            <a:extLst xmlns:a="http://schemas.openxmlformats.org/drawingml/2006/main">
              <a:ext uri="{FF2B5EF4-FFF2-40B4-BE49-F238E27FC236}">
                <a16:creationId xmlns:a16="http://schemas.microsoft.com/office/drawing/2014/main" id="{8F2CEADC-F6F5-46B2-8180-EE32C152AB74}"/>
              </a:ext>
            </a:extLst>
          </p:cNvPr>
          <p:cNvSpPr>
            <a:spLocks xmlns:a="http://schemas.openxmlformats.org/drawingml/2006/main" noGrp="1"/>
          </p:cNvSpPr>
          <p:nvPr/>
        </p:nvSpPr>
        <p:spPr>
          <a:xfrm xmlns:a="http://schemas.openxmlformats.org/drawingml/2006/main">
            <a:off x="4381500" y="1866900"/>
            <a:ext cx="3429000" cy="3295650"/>
          </a:xfrm>
          <a:prstGeom xmlns:a="http://schemas.openxmlformats.org/drawingml/2006/main" prst="roundRect">
            <a:avLst>
              <a:gd name="adj" fmla="val 2312"/>
            </a:avLst>
          </a:prstGeom>
          <a:solidFill xmlns:a="http://schemas.openxmlformats.org/drawingml/2006/main">
            <a:srgbClr val="DDF5F3"/>
          </a:solidFill>
          <a:ln xmlns:a="http://schemas.openxmlformats.org/drawingml/2006/main" w="9525">
            <a:solidFill>
              <a:srgbClr val="D6DEE7"/>
            </a:solidFill>
            <a:prstDash val="solid"/>
          </a:ln>
        </p:spPr>
      </p:sp>
      <p:sp>
        <p:nvSpPr>
          <p:cNvPr id="9" name="">
            <a:extLst xmlns:a="http://schemas.openxmlformats.org/drawingml/2006/main">
              <a:ext uri="{FF2B5EF4-FFF2-40B4-BE49-F238E27FC236}">
                <a16:creationId xmlns:a16="http://schemas.microsoft.com/office/drawing/2014/main" id="{4386F592-A3D2-4F0A-B93A-98B22F1DE373}"/>
              </a:ext>
            </a:extLst>
          </p:cNvPr>
          <p:cNvSpPr>
            <a:spLocks xmlns:a="http://schemas.openxmlformats.org/drawingml/2006/main" noGrp="1"/>
          </p:cNvSpPr>
          <p:nvPr/>
        </p:nvSpPr>
        <p:spPr>
          <a:xfrm xmlns:a="http://schemas.openxmlformats.org/drawingml/2006/main">
            <a:off x="4381500" y="1866900"/>
            <a:ext cx="66675" cy="3295650"/>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0" name="">
            <a:extLst xmlns:a="http://schemas.openxmlformats.org/drawingml/2006/main">
              <a:ext uri="{FF2B5EF4-FFF2-40B4-BE49-F238E27FC236}">
                <a16:creationId xmlns:a16="http://schemas.microsoft.com/office/drawing/2014/main" id="{FC851EC6-9F44-4259-85A4-EF7F679908CA}"/>
              </a:ext>
            </a:extLst>
          </p:cNvPr>
          <p:cNvSpPr>
            <a:spLocks xmlns:a="http://schemas.openxmlformats.org/drawingml/2006/main" noGrp="1"/>
          </p:cNvSpPr>
          <p:nvPr/>
        </p:nvSpPr>
        <p:spPr>
          <a:xfrm xmlns:a="http://schemas.openxmlformats.org/drawingml/2006/main">
            <a:off x="4610100" y="20574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BAM / CRAM</a:t>
            </a:r>
          </a:p>
        </p:txBody>
      </p:sp>
      <p:sp>
        <p:nvSpPr>
          <p:cNvPr id="11" name="">
            <a:extLst xmlns:a="http://schemas.openxmlformats.org/drawingml/2006/main">
              <a:ext uri="{FF2B5EF4-FFF2-40B4-BE49-F238E27FC236}">
                <a16:creationId xmlns:a16="http://schemas.microsoft.com/office/drawing/2014/main" id="{5BBC4CA4-0DE0-45A1-8B2C-7E016803EFCA}"/>
              </a:ext>
            </a:extLst>
          </p:cNvPr>
          <p:cNvSpPr>
            <a:spLocks xmlns:a="http://schemas.openxmlformats.org/drawingml/2006/main" noGrp="1"/>
          </p:cNvSpPr>
          <p:nvPr/>
        </p:nvSpPr>
        <p:spPr>
          <a:xfrm xmlns:a="http://schemas.openxmlformats.org/drawingml/2006/main">
            <a:off x="4610100" y="2457450"/>
            <a:ext cx="30289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Reads mapped to a reference</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 mapping information</a:t>
            </a:r>
          </a:p>
          <a:p xmlns:a="http://schemas.openxmlformats.org/drawingml/2006/main">
            <a:r>
              <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Question: Where did each read come from?</a:t>
            </a:r>
          </a:p>
        </p:txBody>
      </p:sp>
      <p:sp>
        <p:nvSpPr>
          <p:cNvPr id="12" name="">
            <a:extLst xmlns:a="http://schemas.openxmlformats.org/drawingml/2006/main">
              <a:ext uri="{FF2B5EF4-FFF2-40B4-BE49-F238E27FC236}">
                <a16:creationId xmlns:a16="http://schemas.microsoft.com/office/drawing/2014/main" id="{09CD6C6A-E71C-458E-91D1-7921249B162E}"/>
              </a:ext>
            </a:extLst>
          </p:cNvPr>
          <p:cNvSpPr>
            <a:spLocks xmlns:a="http://schemas.openxmlformats.org/drawingml/2006/main" noGrp="1"/>
          </p:cNvSpPr>
          <p:nvPr/>
        </p:nvSpPr>
        <p:spPr>
          <a:xfrm xmlns:a="http://schemas.openxmlformats.org/drawingml/2006/main">
            <a:off x="8267700" y="1866900"/>
            <a:ext cx="3429000" cy="3295650"/>
          </a:xfrm>
          <a:prstGeom xmlns:a="http://schemas.openxmlformats.org/drawingml/2006/main" prst="roundRect">
            <a:avLst>
              <a:gd name="adj" fmla="val 2312"/>
            </a:avLst>
          </a:prstGeom>
          <a:solidFill xmlns:a="http://schemas.openxmlformats.org/drawingml/2006/main">
            <a:srgbClr val="FFF1CF"/>
          </a:solidFill>
          <a:ln xmlns:a="http://schemas.openxmlformats.org/drawingml/2006/main" w="9525">
            <a:solidFill>
              <a:srgbClr val="D6DEE7"/>
            </a:solidFill>
            <a:prstDash val="solid"/>
          </a:ln>
        </p:spPr>
      </p:sp>
      <p:sp>
        <p:nvSpPr>
          <p:cNvPr id="13" name="">
            <a:extLst xmlns:a="http://schemas.openxmlformats.org/drawingml/2006/main">
              <a:ext uri="{FF2B5EF4-FFF2-40B4-BE49-F238E27FC236}">
                <a16:creationId xmlns:a16="http://schemas.microsoft.com/office/drawing/2014/main" id="{335B456B-3AD4-4C5B-AB3E-A3B89CCFC445}"/>
              </a:ext>
            </a:extLst>
          </p:cNvPr>
          <p:cNvSpPr>
            <a:spLocks xmlns:a="http://schemas.openxmlformats.org/drawingml/2006/main" noGrp="1"/>
          </p:cNvSpPr>
          <p:nvPr/>
        </p:nvSpPr>
        <p:spPr>
          <a:xfrm xmlns:a="http://schemas.openxmlformats.org/drawingml/2006/main">
            <a:off x="8267700" y="1866900"/>
            <a:ext cx="66675" cy="3295650"/>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4" name="">
            <a:extLst xmlns:a="http://schemas.openxmlformats.org/drawingml/2006/main">
              <a:ext uri="{FF2B5EF4-FFF2-40B4-BE49-F238E27FC236}">
                <a16:creationId xmlns:a16="http://schemas.microsoft.com/office/drawing/2014/main" id="{4471EB41-FCB3-49A4-8225-BA7E0666DBA6}"/>
              </a:ext>
            </a:extLst>
          </p:cNvPr>
          <p:cNvSpPr>
            <a:spLocks xmlns:a="http://schemas.openxmlformats.org/drawingml/2006/main" noGrp="1"/>
          </p:cNvSpPr>
          <p:nvPr/>
        </p:nvSpPr>
        <p:spPr>
          <a:xfrm xmlns:a="http://schemas.openxmlformats.org/drawingml/2006/main">
            <a:off x="8496300" y="2057400"/>
            <a:ext cx="3028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VCF</a:t>
            </a:r>
          </a:p>
        </p:txBody>
      </p:sp>
      <p:sp>
        <p:nvSpPr>
          <p:cNvPr id="15" name="">
            <a:extLst xmlns:a="http://schemas.openxmlformats.org/drawingml/2006/main">
              <a:ext uri="{FF2B5EF4-FFF2-40B4-BE49-F238E27FC236}">
                <a16:creationId xmlns:a16="http://schemas.microsoft.com/office/drawing/2014/main" id="{9356578C-1B8E-4A58-A6E4-9BF010ED4550}"/>
              </a:ext>
            </a:extLst>
          </p:cNvPr>
          <p:cNvSpPr>
            <a:spLocks xmlns:a="http://schemas.openxmlformats.org/drawingml/2006/main" noGrp="1"/>
          </p:cNvSpPr>
          <p:nvPr/>
        </p:nvSpPr>
        <p:spPr>
          <a:xfrm xmlns:a="http://schemas.openxmlformats.org/drawingml/2006/main">
            <a:off x="8496300" y="2457450"/>
            <a:ext cx="30289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Variant records</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 sample genotypes and quality fields</a:t>
            </a:r>
          </a:p>
          <a:p xmlns:a="http://schemas.openxmlformats.org/drawingml/2006/main">
            <a:r>
              <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Question: What differs from the reference?</a:t>
            </a:r>
          </a:p>
        </p:txBody>
      </p:sp>
      <p:sp>
        <p:nvSpPr>
          <p:cNvPr id="16" name="">
            <a:extLst xmlns:a="http://schemas.openxmlformats.org/drawingml/2006/main">
              <a:ext uri="{FF2B5EF4-FFF2-40B4-BE49-F238E27FC236}">
                <a16:creationId xmlns:a16="http://schemas.microsoft.com/office/drawing/2014/main" id="{668EE46F-542D-493E-A41B-6590797A2528}"/>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07</a:t>
            </a:r>
          </a:p>
        </p:txBody>
      </p:sp>
    </p:spTree>
    <p:extLst>
      <p:ext uri="{BB962C8B-B14F-4D97-AF65-F5344CB8AC3E}">
        <p14:creationId xmlns:p14="http://schemas.microsoft.com/office/powerpoint/2010/main" val="12412939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7A8AAD-0DDD-4C22-8DC1-7C6200FCD08C}"/>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DO NOT MIX THE STEPS</a:t>
            </a:r>
          </a:p>
        </p:txBody>
      </p:sp>
      <p:sp>
        <p:nvSpPr>
          <p:cNvPr id="2" name="">
            <a:extLst xmlns:a="http://schemas.openxmlformats.org/drawingml/2006/main">
              <a:ext uri="{FF2B5EF4-FFF2-40B4-BE49-F238E27FC236}">
                <a16:creationId xmlns:a16="http://schemas.microsoft.com/office/drawing/2014/main" id="{74525FCF-49CE-4080-AEA0-E9B4EDDEF433}"/>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Detection, prioritization and classification are different jobs</a:t>
            </a:r>
          </a:p>
        </p:txBody>
      </p:sp>
      <p:cxnSp>
        <p:nvCxnSpPr>
          <p:cNvPr id="19"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6830B757-0B18-48C5-991A-4C4B75410AC6}"/>
              </a:ext>
            </a:extLst>
          </p:cNvPr>
          <p:cNvSpPr>
            <a:spLocks xmlns:a="http://schemas.openxmlformats.org/drawingml/2006/main" noGrp="1"/>
          </p:cNvSpPr>
          <p:nvPr/>
        </p:nvSpPr>
        <p:spPr>
          <a:xfrm xmlns:a="http://schemas.openxmlformats.org/drawingml/2006/main">
            <a:off x="514350" y="1828800"/>
            <a:ext cx="11163300" cy="1009650"/>
          </a:xfrm>
          <a:prstGeom xmlns:a="http://schemas.openxmlformats.org/drawingml/2006/main" prst="roundRect">
            <a:avLst>
              <a:gd name="adj" fmla="val 7547"/>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2E17F665-B6DB-4A28-92BD-1C0D65EE03C1}"/>
              </a:ext>
            </a:extLst>
          </p:cNvPr>
          <p:cNvSpPr>
            <a:spLocks xmlns:a="http://schemas.openxmlformats.org/drawingml/2006/main" noGrp="1"/>
          </p:cNvSpPr>
          <p:nvPr/>
        </p:nvSpPr>
        <p:spPr>
          <a:xfrm xmlns:a="http://schemas.openxmlformats.org/drawingml/2006/main">
            <a:off x="742950" y="21145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D6CDF"/>
                </a:solidFill>
                <a:latin typeface="Arial"/>
                <a:ea typeface="Arial"/>
                <a:cs typeface="Arial"/>
              </a:defRPr>
            </a:pPr>
            <a:r>
              <a:rPr sz="1350" b="1" i="0">
                <a:solidFill>
                  <a:srgbClr val="2D6CDF"/>
                </a:solidFill>
                <a:latin typeface="Arial"/>
                <a:ea typeface="Arial"/>
                <a:cs typeface="Arial"/>
              </a:rPr>
              <a:t>DETECTION</a:t>
            </a:r>
          </a:p>
        </p:txBody>
      </p:sp>
      <p:sp>
        <p:nvSpPr>
          <p:cNvPr id="6" name="">
            <a:extLst xmlns:a="http://schemas.openxmlformats.org/drawingml/2006/main">
              <a:ext uri="{FF2B5EF4-FFF2-40B4-BE49-F238E27FC236}">
                <a16:creationId xmlns:a16="http://schemas.microsoft.com/office/drawing/2014/main" id="{1FB54743-9657-4187-ACD6-1EF3C14EE700}"/>
              </a:ext>
            </a:extLst>
          </p:cNvPr>
          <p:cNvSpPr>
            <a:spLocks xmlns:a="http://schemas.openxmlformats.org/drawingml/2006/main" noGrp="1"/>
          </p:cNvSpPr>
          <p:nvPr/>
        </p:nvSpPr>
        <p:spPr>
          <a:xfrm xmlns:a="http://schemas.openxmlformats.org/drawingml/2006/main">
            <a:off x="3105150" y="20383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Is the variant call technically real?</a:t>
            </a:r>
          </a:p>
        </p:txBody>
      </p:sp>
      <p:sp>
        <p:nvSpPr>
          <p:cNvPr id="7" name="">
            <a:extLst xmlns:a="http://schemas.openxmlformats.org/drawingml/2006/main">
              <a:ext uri="{FF2B5EF4-FFF2-40B4-BE49-F238E27FC236}">
                <a16:creationId xmlns:a16="http://schemas.microsoft.com/office/drawing/2014/main" id="{9C259300-26FE-41A1-8093-03AAFFC2BBC4}"/>
              </a:ext>
            </a:extLst>
          </p:cNvPr>
          <p:cNvSpPr>
            <a:spLocks xmlns:a="http://schemas.openxmlformats.org/drawingml/2006/main" noGrp="1"/>
          </p:cNvSpPr>
          <p:nvPr/>
        </p:nvSpPr>
        <p:spPr>
          <a:xfrm xmlns:a="http://schemas.openxmlformats.org/drawingml/2006/main">
            <a:off x="3105150" y="240982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Read depth • base quality • mapping quality</a:t>
            </a:r>
          </a:p>
        </p:txBody>
      </p:sp>
      <p:sp>
        <p:nvSpPr>
          <p:cNvPr id="8" name="">
            <a:extLst xmlns:a="http://schemas.openxmlformats.org/drawingml/2006/main">
              <a:ext uri="{FF2B5EF4-FFF2-40B4-BE49-F238E27FC236}">
                <a16:creationId xmlns:a16="http://schemas.microsoft.com/office/drawing/2014/main" id="{88E7F38C-4CB6-43B6-A8CD-E8B4521C4CB1}"/>
              </a:ext>
            </a:extLst>
          </p:cNvPr>
          <p:cNvSpPr>
            <a:spLocks xmlns:a="http://schemas.openxmlformats.org/drawingml/2006/main" noGrp="1"/>
          </p:cNvSpPr>
          <p:nvPr/>
        </p:nvSpPr>
        <p:spPr>
          <a:xfrm xmlns:a="http://schemas.openxmlformats.org/drawingml/2006/main">
            <a:off x="514350" y="3124200"/>
            <a:ext cx="1116330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9" name="">
            <a:extLst xmlns:a="http://schemas.openxmlformats.org/drawingml/2006/main">
              <a:ext uri="{FF2B5EF4-FFF2-40B4-BE49-F238E27FC236}">
                <a16:creationId xmlns:a16="http://schemas.microsoft.com/office/drawing/2014/main" id="{CDA7F0EA-8AA6-45E9-A593-0E65BFB95339}"/>
              </a:ext>
            </a:extLst>
          </p:cNvPr>
          <p:cNvSpPr>
            <a:spLocks xmlns:a="http://schemas.openxmlformats.org/drawingml/2006/main" noGrp="1"/>
          </p:cNvSpPr>
          <p:nvPr/>
        </p:nvSpPr>
        <p:spPr>
          <a:xfrm xmlns:a="http://schemas.openxmlformats.org/drawingml/2006/main">
            <a:off x="742950" y="34099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7A62F"/>
                </a:solidFill>
                <a:latin typeface="Arial"/>
                <a:ea typeface="Arial"/>
                <a:cs typeface="Arial"/>
              </a:defRPr>
            </a:pPr>
            <a:r>
              <a:rPr sz="1350" b="1" i="0">
                <a:solidFill>
                  <a:srgbClr val="E7A62F"/>
                </a:solidFill>
                <a:latin typeface="Arial"/>
                <a:ea typeface="Arial"/>
                <a:cs typeface="Arial"/>
              </a:rPr>
              <a:t>PRIORITIZATION</a:t>
            </a:r>
          </a:p>
        </p:txBody>
      </p:sp>
      <p:sp>
        <p:nvSpPr>
          <p:cNvPr id="10" name="">
            <a:extLst xmlns:a="http://schemas.openxmlformats.org/drawingml/2006/main">
              <a:ext uri="{FF2B5EF4-FFF2-40B4-BE49-F238E27FC236}">
                <a16:creationId xmlns:a16="http://schemas.microsoft.com/office/drawing/2014/main" id="{D0F93A54-B578-4168-A8E0-E7A1E5A64CEA}"/>
              </a:ext>
            </a:extLst>
          </p:cNvPr>
          <p:cNvSpPr>
            <a:spLocks xmlns:a="http://schemas.openxmlformats.org/drawingml/2006/main" noGrp="1"/>
          </p:cNvSpPr>
          <p:nvPr/>
        </p:nvSpPr>
        <p:spPr>
          <a:xfrm xmlns:a="http://schemas.openxmlformats.org/drawingml/2006/main">
            <a:off x="3105150" y="33337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Does it deserve expert review?</a:t>
            </a:r>
          </a:p>
        </p:txBody>
      </p:sp>
      <p:sp>
        <p:nvSpPr>
          <p:cNvPr id="11" name="">
            <a:extLst xmlns:a="http://schemas.openxmlformats.org/drawingml/2006/main">
              <a:ext uri="{FF2B5EF4-FFF2-40B4-BE49-F238E27FC236}">
                <a16:creationId xmlns:a16="http://schemas.microsoft.com/office/drawing/2014/main" id="{2B140EEC-977E-4984-964C-937947D0D4B8}"/>
              </a:ext>
            </a:extLst>
          </p:cNvPr>
          <p:cNvSpPr>
            <a:spLocks xmlns:a="http://schemas.openxmlformats.org/drawingml/2006/main" noGrp="1"/>
          </p:cNvSpPr>
          <p:nvPr/>
        </p:nvSpPr>
        <p:spPr>
          <a:xfrm xmlns:a="http://schemas.openxmlformats.org/drawingml/2006/main">
            <a:off x="3105150" y="370522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Frequency • consequence • inheritance • phenotype</a:t>
            </a:r>
          </a:p>
        </p:txBody>
      </p:sp>
      <p:sp>
        <p:nvSpPr>
          <p:cNvPr id="12" name="">
            <a:extLst xmlns:a="http://schemas.openxmlformats.org/drawingml/2006/main">
              <a:ext uri="{FF2B5EF4-FFF2-40B4-BE49-F238E27FC236}">
                <a16:creationId xmlns:a16="http://schemas.microsoft.com/office/drawing/2014/main" id="{6C1A409A-EEF3-44FF-94E7-556E60B3DFB0}"/>
              </a:ext>
            </a:extLst>
          </p:cNvPr>
          <p:cNvSpPr>
            <a:spLocks xmlns:a="http://schemas.openxmlformats.org/drawingml/2006/main" noGrp="1"/>
          </p:cNvSpPr>
          <p:nvPr/>
        </p:nvSpPr>
        <p:spPr>
          <a:xfrm xmlns:a="http://schemas.openxmlformats.org/drawingml/2006/main">
            <a:off x="514350" y="4419600"/>
            <a:ext cx="11163300" cy="1009650"/>
          </a:xfrm>
          <a:prstGeom xmlns:a="http://schemas.openxmlformats.org/drawingml/2006/main" prst="roundRect">
            <a:avLst>
              <a:gd name="adj" fmla="val 7547"/>
            </a:avLst>
          </a:prstGeom>
          <a:solidFill xmlns:a="http://schemas.openxmlformats.org/drawingml/2006/main">
            <a:srgbClr val="DEF3E7"/>
          </a:solidFill>
          <a:ln xmlns:a="http://schemas.openxmlformats.org/drawingml/2006/main" w="0">
            <a:solidFill>
              <a:srgbClr val="DEF3E7"/>
            </a:solidFill>
            <a:prstDash val="solid"/>
          </a:ln>
        </p:spPr>
      </p:sp>
      <p:sp>
        <p:nvSpPr>
          <p:cNvPr id="13" name="">
            <a:extLst xmlns:a="http://schemas.openxmlformats.org/drawingml/2006/main">
              <a:ext uri="{FF2B5EF4-FFF2-40B4-BE49-F238E27FC236}">
                <a16:creationId xmlns:a16="http://schemas.microsoft.com/office/drawing/2014/main" id="{DDDDA106-1AC4-44BB-AE44-88F571754CA3}"/>
              </a:ext>
            </a:extLst>
          </p:cNvPr>
          <p:cNvSpPr>
            <a:spLocks xmlns:a="http://schemas.openxmlformats.org/drawingml/2006/main" noGrp="1"/>
          </p:cNvSpPr>
          <p:nvPr/>
        </p:nvSpPr>
        <p:spPr>
          <a:xfrm xmlns:a="http://schemas.openxmlformats.org/drawingml/2006/main">
            <a:off x="742950" y="4705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59B64"/>
                </a:solidFill>
                <a:latin typeface="Arial"/>
                <a:ea typeface="Arial"/>
                <a:cs typeface="Arial"/>
              </a:defRPr>
            </a:pPr>
            <a:r>
              <a:rPr sz="1350" b="1" i="0">
                <a:solidFill>
                  <a:srgbClr val="359B64"/>
                </a:solidFill>
                <a:latin typeface="Arial"/>
                <a:ea typeface="Arial"/>
                <a:cs typeface="Arial"/>
              </a:rPr>
              <a:t>CLASSIFICATION</a:t>
            </a:r>
          </a:p>
        </p:txBody>
      </p:sp>
      <p:sp>
        <p:nvSpPr>
          <p:cNvPr id="14" name="">
            <a:extLst xmlns:a="http://schemas.openxmlformats.org/drawingml/2006/main">
              <a:ext uri="{FF2B5EF4-FFF2-40B4-BE49-F238E27FC236}">
                <a16:creationId xmlns:a16="http://schemas.microsoft.com/office/drawing/2014/main" id="{28A18FE3-0CFC-4316-93AB-E1A88A5491D2}"/>
              </a:ext>
            </a:extLst>
          </p:cNvPr>
          <p:cNvSpPr>
            <a:spLocks xmlns:a="http://schemas.openxmlformats.org/drawingml/2006/main" noGrp="1"/>
          </p:cNvSpPr>
          <p:nvPr/>
        </p:nvSpPr>
        <p:spPr>
          <a:xfrm xmlns:a="http://schemas.openxmlformats.org/drawingml/2006/main">
            <a:off x="3105150" y="4629150"/>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What does the total evidence support?</a:t>
            </a:r>
          </a:p>
        </p:txBody>
      </p:sp>
      <p:sp>
        <p:nvSpPr>
          <p:cNvPr id="15" name="">
            <a:extLst xmlns:a="http://schemas.openxmlformats.org/drawingml/2006/main">
              <a:ext uri="{FF2B5EF4-FFF2-40B4-BE49-F238E27FC236}">
                <a16:creationId xmlns:a16="http://schemas.microsoft.com/office/drawing/2014/main" id="{1A35684A-2BB0-43E1-8D60-F48A3FFA1386}"/>
              </a:ext>
            </a:extLst>
          </p:cNvPr>
          <p:cNvSpPr>
            <a:spLocks xmlns:a="http://schemas.openxmlformats.org/drawingml/2006/main" noGrp="1"/>
          </p:cNvSpPr>
          <p:nvPr/>
        </p:nvSpPr>
        <p:spPr>
          <a:xfrm xmlns:a="http://schemas.openxmlformats.org/drawingml/2006/main">
            <a:off x="3105150" y="500062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Pathogenic ↔ benign evidence framework</a:t>
            </a:r>
          </a:p>
        </p:txBody>
      </p:sp>
      <p:sp>
        <p:nvSpPr>
          <p:cNvPr id="16" name="">
            <a:extLst xmlns:a="http://schemas.openxmlformats.org/drawingml/2006/main">
              <a:ext uri="{FF2B5EF4-FFF2-40B4-BE49-F238E27FC236}">
                <a16:creationId xmlns:a16="http://schemas.microsoft.com/office/drawing/2014/main" id="{BD7F8A5B-0F14-4A2A-9A01-C15BE92E2B3D}"/>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08</a:t>
            </a:r>
          </a:p>
        </p:txBody>
      </p:sp>
    </p:spTree>
    <p:extLst>
      <p:ext uri="{BB962C8B-B14F-4D97-AF65-F5344CB8AC3E}">
        <p14:creationId xmlns:p14="http://schemas.microsoft.com/office/powerpoint/2010/main" val="15441954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E0CCCCE-834F-4B51-9A2E-1BFE7CC7D16D}"/>
              </a:ext>
            </a:extLst>
          </p:cNvPr>
          <p:cNvSpPr>
            <a:spLocks xmlns:a="http://schemas.openxmlformats.org/drawingml/2006/main" noGrp="1"/>
          </p:cNvSpPr>
          <p:nvPr/>
        </p:nvSpPr>
        <p:spPr>
          <a:xfrm xmlns:a="http://schemas.openxmlformats.org/drawingml/2006/main">
            <a:off x="400050" y="400050"/>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4500" b="1" i="0">
                <a:solidFill>
                  <a:srgbClr val="069C9C"/>
                </a:solidFill>
                <a:latin typeface="Arial"/>
                <a:ea typeface="Arial"/>
                <a:cs typeface="Arial"/>
              </a:defRPr>
            </a:pPr>
            <a:r>
              <a:rPr sz="4500" b="1" i="0">
                <a:solidFill>
                  <a:srgbClr val="069C9C"/>
                </a:solidFill>
                <a:latin typeface="Arial"/>
                <a:ea typeface="Arial"/>
                <a:cs typeface="Arial"/>
              </a:rPr>
              <a:t>01</a:t>
            </a:r>
          </a:p>
        </p:txBody>
      </p:sp>
      <p:cxnSp>
        <p:nvCxnSpPr>
          <p:cNvPr id="8" name=""/>
          <p:cNvCxnSpPr/>
          <p:nvPr/>
        </p:nvCxnSpPr>
        <p:spPr>
          <a:xfrm xmlns:a="http://schemas.openxmlformats.org/drawingml/2006/main">
            <a:off x="400050" y="13335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3" name="">
            <a:extLst xmlns:a="http://schemas.openxmlformats.org/drawingml/2006/main">
              <a:ext uri="{FF2B5EF4-FFF2-40B4-BE49-F238E27FC236}">
                <a16:creationId xmlns:a16="http://schemas.microsoft.com/office/drawing/2014/main" id="{133F934C-AE64-4F6B-9D85-37B44417DFAF}"/>
              </a:ext>
            </a:extLst>
          </p:cNvPr>
          <p:cNvSpPr>
            <a:spLocks xmlns:a="http://schemas.openxmlformats.org/drawingml/2006/main" noGrp="1"/>
          </p:cNvSpPr>
          <p:nvPr/>
        </p:nvSpPr>
        <p:spPr>
          <a:xfrm xmlns:a="http://schemas.openxmlformats.org/drawingml/2006/main">
            <a:off x="400050" y="17145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069C9C"/>
                </a:solidFill>
                <a:latin typeface="Arial"/>
                <a:ea typeface="Arial"/>
                <a:cs typeface="Arial"/>
              </a:defRPr>
            </a:pPr>
            <a:r>
              <a:rPr sz="1125" b="1" i="0">
                <a:solidFill>
                  <a:srgbClr val="069C9C"/>
                </a:solidFill>
                <a:latin typeface="Arial"/>
                <a:ea typeface="Arial"/>
                <a:cs typeface="Arial"/>
              </a:rPr>
              <a:t>STANDARDIZATION</a:t>
            </a:r>
          </a:p>
        </p:txBody>
      </p:sp>
      <p:sp>
        <p:nvSpPr>
          <p:cNvPr id="4" name="">
            <a:extLst xmlns:a="http://schemas.openxmlformats.org/drawingml/2006/main">
              <a:ext uri="{FF2B5EF4-FFF2-40B4-BE49-F238E27FC236}">
                <a16:creationId xmlns:a16="http://schemas.microsoft.com/office/drawing/2014/main" id="{1F6AAD03-8F1E-4F5A-A0F2-830698895248}"/>
              </a:ext>
            </a:extLst>
          </p:cNvPr>
          <p:cNvSpPr>
            <a:spLocks xmlns:a="http://schemas.openxmlformats.org/drawingml/2006/main" noGrp="1"/>
          </p:cNvSpPr>
          <p:nvPr/>
        </p:nvSpPr>
        <p:spPr>
          <a:xfrm xmlns:a="http://schemas.openxmlformats.org/drawingml/2006/main">
            <a:off x="400050" y="2286000"/>
            <a:ext cx="10382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0B1F33"/>
                </a:solidFill>
                <a:latin typeface="Arial"/>
                <a:ea typeface="Arial"/>
                <a:cs typeface="Arial"/>
              </a:defRPr>
            </a:pPr>
            <a:r>
              <a:rPr sz="4050" b="1" i="0">
                <a:solidFill>
                  <a:srgbClr val="0B1F33"/>
                </a:solidFill>
                <a:latin typeface="Arial"/>
                <a:ea typeface="Arial"/>
                <a:cs typeface="Arial"/>
              </a:rPr>
              <a:t>A shared language became essential</a:t>
            </a:r>
          </a:p>
        </p:txBody>
      </p:sp>
      <p:sp>
        <p:nvSpPr>
          <p:cNvPr id="5" name="">
            <a:extLst xmlns:a="http://schemas.openxmlformats.org/drawingml/2006/main">
              <a:ext uri="{FF2B5EF4-FFF2-40B4-BE49-F238E27FC236}">
                <a16:creationId xmlns:a16="http://schemas.microsoft.com/office/drawing/2014/main" id="{FDFBD820-6596-4AC9-ABB2-625D7E9D1710}"/>
              </a:ext>
            </a:extLst>
          </p:cNvPr>
          <p:cNvSpPr>
            <a:spLocks xmlns:a="http://schemas.openxmlformats.org/drawingml/2006/main" noGrp="1"/>
          </p:cNvSpPr>
          <p:nvPr/>
        </p:nvSpPr>
        <p:spPr>
          <a:xfrm xmlns:a="http://schemas.openxmlformats.org/drawingml/2006/main">
            <a:off x="400050" y="4552950"/>
            <a:ext cx="952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536273"/>
                </a:solidFill>
                <a:latin typeface="Arial"/>
                <a:ea typeface="Arial"/>
                <a:cs typeface="Arial"/>
              </a:defRPr>
            </a:pPr>
            <a:r>
              <a:rPr sz="1800" b="0" i="0">
                <a:solidFill>
                  <a:srgbClr val="536273"/>
                </a:solidFill>
                <a:latin typeface="Arial"/>
                <a:ea typeface="Arial"/>
                <a:cs typeface="Arial"/>
              </a:rPr>
              <a:t>Who creates guidance for genetic and molecular testing?</a:t>
            </a:r>
          </a:p>
        </p:txBody>
      </p:sp>
      <p:sp>
        <p:nvSpPr>
          <p:cNvPr id="6" name="">
            <a:extLst xmlns:a="http://schemas.openxmlformats.org/drawingml/2006/main">
              <a:ext uri="{FF2B5EF4-FFF2-40B4-BE49-F238E27FC236}">
                <a16:creationId xmlns:a16="http://schemas.microsoft.com/office/drawing/2014/main" id="{B0A4DD65-453D-4542-B47E-BA51CB77EFF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09</a:t>
            </a:r>
          </a:p>
        </p:txBody>
      </p:sp>
    </p:spTree>
    <p:extLst>
      <p:ext uri="{BB962C8B-B14F-4D97-AF65-F5344CB8AC3E}">
        <p14:creationId xmlns:p14="http://schemas.microsoft.com/office/powerpoint/2010/main" val="20080434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F33CDD-B247-4F4B-B3D9-9C9CFD3957BD}"/>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PROBLEM WAS INCONSISTENCY</a:t>
            </a:r>
          </a:p>
        </p:txBody>
      </p:sp>
      <p:sp>
        <p:nvSpPr>
          <p:cNvPr id="2" name="">
            <a:extLst xmlns:a="http://schemas.openxmlformats.org/drawingml/2006/main">
              <a:ext uri="{FF2B5EF4-FFF2-40B4-BE49-F238E27FC236}">
                <a16:creationId xmlns:a16="http://schemas.microsoft.com/office/drawing/2014/main" id="{D6D5570D-CF89-4C07-B6C9-64960C15A981}"/>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888"/>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Before 2015, laboratories already classified variants—but not uniformly</a:t>
            </a:r>
          </a:p>
        </p:txBody>
      </p:sp>
      <p:cxnSp>
        <p:nvCxnSpPr>
          <p:cNvPr id="2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006EE479-C153-4DC8-B192-B84C16DC29C1}"/>
              </a:ext>
            </a:extLst>
          </p:cNvPr>
          <p:cNvSpPr>
            <a:spLocks xmlns:a="http://schemas.openxmlformats.org/drawingml/2006/main" noGrp="1"/>
          </p:cNvSpPr>
          <p:nvPr/>
        </p:nvSpPr>
        <p:spPr>
          <a:xfrm xmlns:a="http://schemas.openxmlformats.org/drawingml/2006/main">
            <a:off x="666750" y="1952625"/>
            <a:ext cx="2324100" cy="742950"/>
          </a:xfrm>
          <a:prstGeom xmlns:a="http://schemas.openxmlformats.org/drawingml/2006/main" prst="roundRect">
            <a:avLst>
              <a:gd name="adj" fmla="val 10256"/>
            </a:avLst>
          </a:prstGeom>
          <a:solidFill xmlns:a="http://schemas.openxmlformats.org/drawingml/2006/main">
            <a:srgbClr val="FBE3E3"/>
          </a:solidFill>
          <a:ln xmlns:a="http://schemas.openxmlformats.org/drawingml/2006/main" w="9525">
            <a:solidFill>
              <a:srgbClr val="FFFFFF"/>
            </a:solidFill>
            <a:prstDash val="solid"/>
          </a:ln>
        </p:spPr>
      </p:sp>
      <p:sp>
        <p:nvSpPr>
          <p:cNvPr id="5" name="">
            <a:extLst xmlns:a="http://schemas.openxmlformats.org/drawingml/2006/main">
              <a:ext uri="{FF2B5EF4-FFF2-40B4-BE49-F238E27FC236}">
                <a16:creationId xmlns:a16="http://schemas.microsoft.com/office/drawing/2014/main" id="{67CF5DB7-BC36-4237-9417-545AD0766453}"/>
              </a:ext>
            </a:extLst>
          </p:cNvPr>
          <p:cNvSpPr>
            <a:spLocks xmlns:a="http://schemas.openxmlformats.org/drawingml/2006/main" noGrp="1"/>
          </p:cNvSpPr>
          <p:nvPr/>
        </p:nvSpPr>
        <p:spPr>
          <a:xfrm xmlns:a="http://schemas.openxmlformats.org/drawingml/2006/main">
            <a:off x="666750" y="219075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C94E4E"/>
                </a:solidFill>
                <a:latin typeface="Arial"/>
                <a:ea typeface="Arial"/>
                <a:cs typeface="Arial"/>
              </a:defRPr>
            </a:pPr>
            <a:r>
              <a:rPr sz="1425" b="1" i="0">
                <a:solidFill>
                  <a:srgbClr val="C94E4E"/>
                </a:solidFill>
                <a:latin typeface="Arial"/>
                <a:ea typeface="Arial"/>
                <a:cs typeface="Arial"/>
              </a:rPr>
              <a:t>mutation</a:t>
            </a:r>
          </a:p>
        </p:txBody>
      </p:sp>
      <p:sp>
        <p:nvSpPr>
          <p:cNvPr id="6" name="">
            <a:extLst xmlns:a="http://schemas.openxmlformats.org/drawingml/2006/main">
              <a:ext uri="{FF2B5EF4-FFF2-40B4-BE49-F238E27FC236}">
                <a16:creationId xmlns:a16="http://schemas.microsoft.com/office/drawing/2014/main" id="{C4827C2A-B585-4D0D-AE28-469B2B2676D0}"/>
              </a:ext>
            </a:extLst>
          </p:cNvPr>
          <p:cNvSpPr>
            <a:spLocks xmlns:a="http://schemas.openxmlformats.org/drawingml/2006/main" noGrp="1"/>
          </p:cNvSpPr>
          <p:nvPr/>
        </p:nvSpPr>
        <p:spPr>
          <a:xfrm xmlns:a="http://schemas.openxmlformats.org/drawingml/2006/main">
            <a:off x="3390900" y="1952625"/>
            <a:ext cx="2324100" cy="742950"/>
          </a:xfrm>
          <a:prstGeom xmlns:a="http://schemas.openxmlformats.org/drawingml/2006/main" prst="roundRect">
            <a:avLst>
              <a:gd name="adj" fmla="val 10256"/>
            </a:avLst>
          </a:prstGeom>
          <a:solidFill xmlns:a="http://schemas.openxmlformats.org/drawingml/2006/main">
            <a:srgbClr val="DCE8FF"/>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2A1CAB4B-D564-4035-B977-ECDF5C86A8AF}"/>
              </a:ext>
            </a:extLst>
          </p:cNvPr>
          <p:cNvSpPr>
            <a:spLocks xmlns:a="http://schemas.openxmlformats.org/drawingml/2006/main" noGrp="1"/>
          </p:cNvSpPr>
          <p:nvPr/>
        </p:nvSpPr>
        <p:spPr>
          <a:xfrm xmlns:a="http://schemas.openxmlformats.org/drawingml/2006/main">
            <a:off x="3390900" y="219075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2D6CDF"/>
                </a:solidFill>
                <a:latin typeface="Arial"/>
                <a:ea typeface="Arial"/>
                <a:cs typeface="Arial"/>
              </a:defRPr>
            </a:pPr>
            <a:r>
              <a:rPr sz="1425" b="1" i="0">
                <a:solidFill>
                  <a:srgbClr val="2D6CDF"/>
                </a:solidFill>
                <a:latin typeface="Arial"/>
                <a:ea typeface="Arial"/>
                <a:cs typeface="Arial"/>
              </a:rPr>
              <a:t>polymorphism</a:t>
            </a:r>
          </a:p>
        </p:txBody>
      </p:sp>
      <p:sp>
        <p:nvSpPr>
          <p:cNvPr id="8" name="">
            <a:extLst xmlns:a="http://schemas.openxmlformats.org/drawingml/2006/main">
              <a:ext uri="{FF2B5EF4-FFF2-40B4-BE49-F238E27FC236}">
                <a16:creationId xmlns:a16="http://schemas.microsoft.com/office/drawing/2014/main" id="{22E4D8BA-E148-49E1-802C-D00E4F0AA1BF}"/>
              </a:ext>
            </a:extLst>
          </p:cNvPr>
          <p:cNvSpPr>
            <a:spLocks xmlns:a="http://schemas.openxmlformats.org/drawingml/2006/main" noGrp="1"/>
          </p:cNvSpPr>
          <p:nvPr/>
        </p:nvSpPr>
        <p:spPr>
          <a:xfrm xmlns:a="http://schemas.openxmlformats.org/drawingml/2006/main">
            <a:off x="6115050" y="1952625"/>
            <a:ext cx="2324100" cy="742950"/>
          </a:xfrm>
          <a:prstGeom xmlns:a="http://schemas.openxmlformats.org/drawingml/2006/main" prst="roundRect">
            <a:avLst>
              <a:gd name="adj" fmla="val 10256"/>
            </a:avLst>
          </a:prstGeom>
          <a:solidFill xmlns:a="http://schemas.openxmlformats.org/drawingml/2006/main">
            <a:srgbClr val="FFF1CF"/>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7F8A52AB-0DC5-4AD1-A374-89939F6BE4FA}"/>
              </a:ext>
            </a:extLst>
          </p:cNvPr>
          <p:cNvSpPr>
            <a:spLocks xmlns:a="http://schemas.openxmlformats.org/drawingml/2006/main" noGrp="1"/>
          </p:cNvSpPr>
          <p:nvPr/>
        </p:nvSpPr>
        <p:spPr>
          <a:xfrm xmlns:a="http://schemas.openxmlformats.org/drawingml/2006/main">
            <a:off x="6115050" y="219075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E7A62F"/>
                </a:solidFill>
                <a:latin typeface="Arial"/>
                <a:ea typeface="Arial"/>
                <a:cs typeface="Arial"/>
              </a:defRPr>
            </a:pPr>
            <a:r>
              <a:rPr sz="1425" b="1" i="0">
                <a:solidFill>
                  <a:srgbClr val="E7A62F"/>
                </a:solidFill>
                <a:latin typeface="Arial"/>
                <a:ea typeface="Arial"/>
                <a:cs typeface="Arial"/>
              </a:rPr>
              <a:t>disease-causing</a:t>
            </a:r>
          </a:p>
        </p:txBody>
      </p:sp>
      <p:sp>
        <p:nvSpPr>
          <p:cNvPr id="10" name="">
            <a:extLst xmlns:a="http://schemas.openxmlformats.org/drawingml/2006/main">
              <a:ext uri="{FF2B5EF4-FFF2-40B4-BE49-F238E27FC236}">
                <a16:creationId xmlns:a16="http://schemas.microsoft.com/office/drawing/2014/main" id="{1B3DF53A-DBF5-41F1-9AE0-96CCF4CF3D23}"/>
              </a:ext>
            </a:extLst>
          </p:cNvPr>
          <p:cNvSpPr>
            <a:spLocks xmlns:a="http://schemas.openxmlformats.org/drawingml/2006/main" noGrp="1"/>
          </p:cNvSpPr>
          <p:nvPr/>
        </p:nvSpPr>
        <p:spPr>
          <a:xfrm xmlns:a="http://schemas.openxmlformats.org/drawingml/2006/main">
            <a:off x="8839200" y="1952625"/>
            <a:ext cx="2324100" cy="742950"/>
          </a:xfrm>
          <a:prstGeom xmlns:a="http://schemas.openxmlformats.org/drawingml/2006/main" prst="roundRect">
            <a:avLst>
              <a:gd name="adj" fmla="val 10256"/>
            </a:avLst>
          </a:prstGeom>
          <a:solidFill xmlns:a="http://schemas.openxmlformats.org/drawingml/2006/main">
            <a:srgbClr val="EEE8FB"/>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EDC468EC-E427-4C66-927E-59E9598E5EFC}"/>
              </a:ext>
            </a:extLst>
          </p:cNvPr>
          <p:cNvSpPr>
            <a:spLocks xmlns:a="http://schemas.openxmlformats.org/drawingml/2006/main" noGrp="1"/>
          </p:cNvSpPr>
          <p:nvPr/>
        </p:nvSpPr>
        <p:spPr>
          <a:xfrm xmlns:a="http://schemas.openxmlformats.org/drawingml/2006/main">
            <a:off x="8839200" y="219075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7756C2"/>
                </a:solidFill>
                <a:latin typeface="Arial"/>
                <a:ea typeface="Arial"/>
                <a:cs typeface="Arial"/>
              </a:defRPr>
            </a:pPr>
            <a:r>
              <a:rPr sz="1425" b="1" i="0">
                <a:solidFill>
                  <a:srgbClr val="7756C2"/>
                </a:solidFill>
                <a:latin typeface="Arial"/>
                <a:ea typeface="Arial"/>
                <a:cs typeface="Arial"/>
              </a:rPr>
              <a:t>deleterious</a:t>
            </a:r>
          </a:p>
        </p:txBody>
      </p:sp>
      <p:sp>
        <p:nvSpPr>
          <p:cNvPr id="12" name="">
            <a:extLst xmlns:a="http://schemas.openxmlformats.org/drawingml/2006/main">
              <a:ext uri="{FF2B5EF4-FFF2-40B4-BE49-F238E27FC236}">
                <a16:creationId xmlns:a16="http://schemas.microsoft.com/office/drawing/2014/main" id="{48929741-2431-4163-9BF7-F1A30425B4AA}"/>
              </a:ext>
            </a:extLst>
          </p:cNvPr>
          <p:cNvSpPr>
            <a:spLocks xmlns:a="http://schemas.openxmlformats.org/drawingml/2006/main" noGrp="1"/>
          </p:cNvSpPr>
          <p:nvPr/>
        </p:nvSpPr>
        <p:spPr>
          <a:xfrm xmlns:a="http://schemas.openxmlformats.org/drawingml/2006/main">
            <a:off x="666750" y="3152775"/>
            <a:ext cx="2324100" cy="742950"/>
          </a:xfrm>
          <a:prstGeom xmlns:a="http://schemas.openxmlformats.org/drawingml/2006/main" prst="roundRect">
            <a:avLst>
              <a:gd name="adj" fmla="val 10256"/>
            </a:avLst>
          </a:prstGeom>
          <a:solidFill xmlns:a="http://schemas.openxmlformats.org/drawingml/2006/main">
            <a:srgbClr val="FBE3E3"/>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C9B567B2-E2EB-487B-9623-012879135DC6}"/>
              </a:ext>
            </a:extLst>
          </p:cNvPr>
          <p:cNvSpPr>
            <a:spLocks xmlns:a="http://schemas.openxmlformats.org/drawingml/2006/main" noGrp="1"/>
          </p:cNvSpPr>
          <p:nvPr/>
        </p:nvSpPr>
        <p:spPr>
          <a:xfrm xmlns:a="http://schemas.openxmlformats.org/drawingml/2006/main">
            <a:off x="666750" y="33909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C94E4E"/>
                </a:solidFill>
                <a:latin typeface="Arial"/>
                <a:ea typeface="Arial"/>
                <a:cs typeface="Arial"/>
              </a:defRPr>
            </a:pPr>
            <a:r>
              <a:rPr sz="1425" b="1" i="0">
                <a:solidFill>
                  <a:srgbClr val="C94E4E"/>
                </a:solidFill>
                <a:latin typeface="Arial"/>
                <a:ea typeface="Arial"/>
                <a:cs typeface="Arial"/>
              </a:rPr>
              <a:t>probably pathogenic</a:t>
            </a:r>
          </a:p>
        </p:txBody>
      </p:sp>
      <p:sp>
        <p:nvSpPr>
          <p:cNvPr id="14" name="">
            <a:extLst xmlns:a="http://schemas.openxmlformats.org/drawingml/2006/main">
              <a:ext uri="{FF2B5EF4-FFF2-40B4-BE49-F238E27FC236}">
                <a16:creationId xmlns:a16="http://schemas.microsoft.com/office/drawing/2014/main" id="{34957C59-6316-4739-8E67-F9C04B7DBFBE}"/>
              </a:ext>
            </a:extLst>
          </p:cNvPr>
          <p:cNvSpPr>
            <a:spLocks xmlns:a="http://schemas.openxmlformats.org/drawingml/2006/main" noGrp="1"/>
          </p:cNvSpPr>
          <p:nvPr/>
        </p:nvSpPr>
        <p:spPr>
          <a:xfrm xmlns:a="http://schemas.openxmlformats.org/drawingml/2006/main">
            <a:off x="3390900" y="3152775"/>
            <a:ext cx="2324100" cy="742950"/>
          </a:xfrm>
          <a:prstGeom xmlns:a="http://schemas.openxmlformats.org/drawingml/2006/main" prst="roundRect">
            <a:avLst>
              <a:gd name="adj" fmla="val 10256"/>
            </a:avLst>
          </a:prstGeom>
          <a:solidFill xmlns:a="http://schemas.openxmlformats.org/drawingml/2006/main">
            <a:srgbClr val="DCE8FF"/>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85F7426A-6691-439C-A867-2BF91AC9EC69}"/>
              </a:ext>
            </a:extLst>
          </p:cNvPr>
          <p:cNvSpPr>
            <a:spLocks xmlns:a="http://schemas.openxmlformats.org/drawingml/2006/main" noGrp="1"/>
          </p:cNvSpPr>
          <p:nvPr/>
        </p:nvSpPr>
        <p:spPr>
          <a:xfrm xmlns:a="http://schemas.openxmlformats.org/drawingml/2006/main">
            <a:off x="3390900" y="33909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2D6CDF"/>
                </a:solidFill>
                <a:latin typeface="Arial"/>
                <a:ea typeface="Arial"/>
                <a:cs typeface="Arial"/>
              </a:defRPr>
            </a:pPr>
            <a:r>
              <a:rPr sz="1425" b="1" i="0">
                <a:solidFill>
                  <a:srgbClr val="2D6CDF"/>
                </a:solidFill>
                <a:latin typeface="Arial"/>
                <a:ea typeface="Arial"/>
                <a:cs typeface="Arial"/>
              </a:rPr>
              <a:t>uncertain</a:t>
            </a:r>
          </a:p>
        </p:txBody>
      </p:sp>
      <p:sp>
        <p:nvSpPr>
          <p:cNvPr id="16" name="">
            <a:extLst xmlns:a="http://schemas.openxmlformats.org/drawingml/2006/main">
              <a:ext uri="{FF2B5EF4-FFF2-40B4-BE49-F238E27FC236}">
                <a16:creationId xmlns:a16="http://schemas.microsoft.com/office/drawing/2014/main" id="{1EA2F795-659C-4787-B382-76DF67D075E4}"/>
              </a:ext>
            </a:extLst>
          </p:cNvPr>
          <p:cNvSpPr>
            <a:spLocks xmlns:a="http://schemas.openxmlformats.org/drawingml/2006/main" noGrp="1"/>
          </p:cNvSpPr>
          <p:nvPr/>
        </p:nvSpPr>
        <p:spPr>
          <a:xfrm xmlns:a="http://schemas.openxmlformats.org/drawingml/2006/main">
            <a:off x="6115050" y="3152775"/>
            <a:ext cx="2324100" cy="742950"/>
          </a:xfrm>
          <a:prstGeom xmlns:a="http://schemas.openxmlformats.org/drawingml/2006/main" prst="roundRect">
            <a:avLst>
              <a:gd name="adj" fmla="val 10256"/>
            </a:avLst>
          </a:prstGeom>
          <a:solidFill xmlns:a="http://schemas.openxmlformats.org/drawingml/2006/main">
            <a:srgbClr val="FFF1CF"/>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7882EAE0-568C-4FA3-8A59-06FF0574E1DB}"/>
              </a:ext>
            </a:extLst>
          </p:cNvPr>
          <p:cNvSpPr>
            <a:spLocks xmlns:a="http://schemas.openxmlformats.org/drawingml/2006/main" noGrp="1"/>
          </p:cNvSpPr>
          <p:nvPr/>
        </p:nvSpPr>
        <p:spPr>
          <a:xfrm xmlns:a="http://schemas.openxmlformats.org/drawingml/2006/main">
            <a:off x="6115050" y="3390900"/>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E7A62F"/>
                </a:solidFill>
                <a:latin typeface="Arial"/>
                <a:ea typeface="Arial"/>
                <a:cs typeface="Arial"/>
              </a:defRPr>
            </a:pPr>
            <a:r>
              <a:rPr sz="1425" b="1" i="0">
                <a:solidFill>
                  <a:srgbClr val="E7A62F"/>
                </a:solidFill>
                <a:latin typeface="Arial"/>
                <a:ea typeface="Arial"/>
                <a:cs typeface="Arial"/>
              </a:rPr>
              <a:t>neutral</a:t>
            </a:r>
          </a:p>
        </p:txBody>
      </p:sp>
      <p:sp>
        <p:nvSpPr>
          <p:cNvPr id="18" name="">
            <a:extLst xmlns:a="http://schemas.openxmlformats.org/drawingml/2006/main">
              <a:ext uri="{FF2B5EF4-FFF2-40B4-BE49-F238E27FC236}">
                <a16:creationId xmlns:a16="http://schemas.microsoft.com/office/drawing/2014/main" id="{C4547C13-C6A2-42F3-9121-3F6C76F05FEF}"/>
              </a:ext>
            </a:extLst>
          </p:cNvPr>
          <p:cNvSpPr>
            <a:spLocks xmlns:a="http://schemas.openxmlformats.org/drawingml/2006/main" noGrp="1"/>
          </p:cNvSpPr>
          <p:nvPr/>
        </p:nvSpPr>
        <p:spPr>
          <a:xfrm xmlns:a="http://schemas.openxmlformats.org/drawingml/2006/main">
            <a:off x="1657350" y="4914900"/>
            <a:ext cx="885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Same evidence → different words → different clinical interpretation</a:t>
            </a:r>
          </a:p>
        </p:txBody>
      </p:sp>
      <p:sp>
        <p:nvSpPr>
          <p:cNvPr id="19" name="">
            <a:extLst xmlns:a="http://schemas.openxmlformats.org/drawingml/2006/main">
              <a:ext uri="{FF2B5EF4-FFF2-40B4-BE49-F238E27FC236}">
                <a16:creationId xmlns:a16="http://schemas.microsoft.com/office/drawing/2014/main" id="{5EC55587-1513-4421-971B-86B3E0D3AFED}"/>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Genetics in Medicine 2015. doi:10.1038/gim.2015.30</a:t>
            </a:r>
          </a:p>
        </p:txBody>
      </p:sp>
      <p:sp>
        <p:nvSpPr>
          <p:cNvPr id="20" name="">
            <a:extLst xmlns:a="http://schemas.openxmlformats.org/drawingml/2006/main">
              <a:ext uri="{FF2B5EF4-FFF2-40B4-BE49-F238E27FC236}">
                <a16:creationId xmlns:a16="http://schemas.microsoft.com/office/drawing/2014/main" id="{F87542DC-0182-4DE7-8061-8476A27D9CF1}"/>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10</a:t>
            </a:r>
          </a:p>
        </p:txBody>
      </p:sp>
    </p:spTree>
    <p:extLst>
      <p:ext uri="{BB962C8B-B14F-4D97-AF65-F5344CB8AC3E}">
        <p14:creationId xmlns:p14="http://schemas.microsoft.com/office/powerpoint/2010/main" val="4382912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4E36AB-5871-44E6-9377-C7D0A503134D}"/>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DIFFERENT ORGANIZATIONS SOLVE DIFFERENT PROBLEMS</a:t>
            </a:r>
          </a:p>
        </p:txBody>
      </p:sp>
      <p:sp>
        <p:nvSpPr>
          <p:cNvPr id="2" name="">
            <a:extLst xmlns:a="http://schemas.openxmlformats.org/drawingml/2006/main">
              <a:ext uri="{FF2B5EF4-FFF2-40B4-BE49-F238E27FC236}">
                <a16:creationId xmlns:a16="http://schemas.microsoft.com/office/drawing/2014/main" id="{EF55290E-7DE4-4E50-A7CB-4478A6CFA5AE}"/>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Five organizations appear in modern variant interpretation</a:t>
            </a:r>
          </a:p>
        </p:txBody>
      </p:sp>
      <p:cxnSp>
        <p:nvCxnSpPr>
          <p:cNvPr id="2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4B84421D-F315-434C-A7CF-50C82494903C}"/>
              </a:ext>
            </a:extLst>
          </p:cNvPr>
          <p:cNvSpPr>
            <a:spLocks xmlns:a="http://schemas.openxmlformats.org/drawingml/2006/main" noGrp="1"/>
          </p:cNvSpPr>
          <p:nvPr/>
        </p:nvSpPr>
        <p:spPr>
          <a:xfrm xmlns:a="http://schemas.openxmlformats.org/drawingml/2006/main">
            <a:off x="1038225" y="2076450"/>
            <a:ext cx="1066800" cy="1066800"/>
          </a:xfrm>
          <a:prstGeom xmlns:a="http://schemas.openxmlformats.org/drawingml/2006/main" prst="roundRect">
            <a:avLst>
              <a:gd name="adj" fmla="val 7143"/>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1863AC65-A94D-413E-B6CA-BAD880C6EFFF}"/>
              </a:ext>
            </a:extLst>
          </p:cNvPr>
          <p:cNvSpPr>
            <a:spLocks xmlns:a="http://schemas.openxmlformats.org/drawingml/2006/main" noGrp="1"/>
          </p:cNvSpPr>
          <p:nvPr/>
        </p:nvSpPr>
        <p:spPr>
          <a:xfrm xmlns:a="http://schemas.openxmlformats.org/drawingml/2006/main">
            <a:off x="1038225" y="2085975"/>
            <a:ext cx="1066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2D6CDF"/>
                </a:solidFill>
                <a:latin typeface="Arial"/>
                <a:ea typeface="Arial"/>
                <a:cs typeface="Arial"/>
              </a:defRPr>
            </a:pPr>
            <a:r>
              <a:rPr sz="1875" b="1" i="0">
                <a:solidFill>
                  <a:srgbClr val="2D6CDF"/>
                </a:solidFill>
                <a:latin typeface="Arial"/>
                <a:ea typeface="Arial"/>
                <a:cs typeface="Arial"/>
              </a:rPr>
              <a:t>ACMG</a:t>
            </a:r>
          </a:p>
        </p:txBody>
      </p:sp>
      <p:sp>
        <p:nvSpPr>
          <p:cNvPr id="6" name="">
            <a:extLst xmlns:a="http://schemas.openxmlformats.org/drawingml/2006/main">
              <a:ext uri="{FF2B5EF4-FFF2-40B4-BE49-F238E27FC236}">
                <a16:creationId xmlns:a16="http://schemas.microsoft.com/office/drawing/2014/main" id="{0E903F95-AAC2-418D-AAEF-E697164954E7}"/>
              </a:ext>
            </a:extLst>
          </p:cNvPr>
          <p:cNvSpPr>
            <a:spLocks xmlns:a="http://schemas.openxmlformats.org/drawingml/2006/main" noGrp="1"/>
          </p:cNvSpPr>
          <p:nvPr/>
        </p:nvSpPr>
        <p:spPr>
          <a:xfrm xmlns:a="http://schemas.openxmlformats.org/drawingml/2006/main">
            <a:off x="504825" y="33909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Medical genetics</a:t>
            </a:r>
          </a:p>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and genomics</a:t>
            </a:r>
          </a:p>
        </p:txBody>
      </p:sp>
      <p:sp>
        <p:nvSpPr>
          <p:cNvPr id="7" name="">
            <a:extLst xmlns:a="http://schemas.openxmlformats.org/drawingml/2006/main">
              <a:ext uri="{FF2B5EF4-FFF2-40B4-BE49-F238E27FC236}">
                <a16:creationId xmlns:a16="http://schemas.microsoft.com/office/drawing/2014/main" id="{F35BD369-9F3F-4644-BBAD-AB1E87A6FF7A}"/>
              </a:ext>
            </a:extLst>
          </p:cNvPr>
          <p:cNvSpPr>
            <a:spLocks xmlns:a="http://schemas.openxmlformats.org/drawingml/2006/main" noGrp="1"/>
          </p:cNvSpPr>
          <p:nvPr/>
        </p:nvSpPr>
        <p:spPr>
          <a:xfrm xmlns:a="http://schemas.openxmlformats.org/drawingml/2006/main">
            <a:off x="3362325" y="2076450"/>
            <a:ext cx="1066800" cy="1066800"/>
          </a:xfrm>
          <a:prstGeom xmlns:a="http://schemas.openxmlformats.org/drawingml/2006/main" prst="roundRect">
            <a:avLst>
              <a:gd name="adj" fmla="val 7143"/>
            </a:avLst>
          </a:prstGeom>
          <a:solidFill xmlns:a="http://schemas.openxmlformats.org/drawingml/2006/main">
            <a:srgbClr val="DDF5F3"/>
          </a:solidFill>
          <a:ln xmlns:a="http://schemas.openxmlformats.org/drawingml/2006/main" w="0">
            <a:solidFill>
              <a:srgbClr val="DDF5F3"/>
            </a:solidFill>
            <a:prstDash val="solid"/>
          </a:ln>
        </p:spPr>
      </p:sp>
      <p:sp>
        <p:nvSpPr>
          <p:cNvPr id="8" name="">
            <a:extLst xmlns:a="http://schemas.openxmlformats.org/drawingml/2006/main">
              <a:ext uri="{FF2B5EF4-FFF2-40B4-BE49-F238E27FC236}">
                <a16:creationId xmlns:a16="http://schemas.microsoft.com/office/drawing/2014/main" id="{A8C168B4-EABE-46A5-AE1C-B6A2194DDDD7}"/>
              </a:ext>
            </a:extLst>
          </p:cNvPr>
          <p:cNvSpPr>
            <a:spLocks xmlns:a="http://schemas.openxmlformats.org/drawingml/2006/main" noGrp="1"/>
          </p:cNvSpPr>
          <p:nvPr/>
        </p:nvSpPr>
        <p:spPr>
          <a:xfrm xmlns:a="http://schemas.openxmlformats.org/drawingml/2006/main">
            <a:off x="3362325" y="2085975"/>
            <a:ext cx="1066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069C9C"/>
                </a:solidFill>
                <a:latin typeface="Arial"/>
                <a:ea typeface="Arial"/>
                <a:cs typeface="Arial"/>
              </a:defRPr>
            </a:pPr>
            <a:r>
              <a:rPr sz="1875" b="1" i="0">
                <a:solidFill>
                  <a:srgbClr val="069C9C"/>
                </a:solidFill>
                <a:latin typeface="Arial"/>
                <a:ea typeface="Arial"/>
                <a:cs typeface="Arial"/>
              </a:rPr>
              <a:t>AMP</a:t>
            </a:r>
          </a:p>
        </p:txBody>
      </p:sp>
      <p:sp>
        <p:nvSpPr>
          <p:cNvPr id="9" name="">
            <a:extLst xmlns:a="http://schemas.openxmlformats.org/drawingml/2006/main">
              <a:ext uri="{FF2B5EF4-FFF2-40B4-BE49-F238E27FC236}">
                <a16:creationId xmlns:a16="http://schemas.microsoft.com/office/drawing/2014/main" id="{42C66498-A316-4F99-8840-2FEA6B404D77}"/>
              </a:ext>
            </a:extLst>
          </p:cNvPr>
          <p:cNvSpPr>
            <a:spLocks xmlns:a="http://schemas.openxmlformats.org/drawingml/2006/main" noGrp="1"/>
          </p:cNvSpPr>
          <p:nvPr/>
        </p:nvSpPr>
        <p:spPr>
          <a:xfrm xmlns:a="http://schemas.openxmlformats.org/drawingml/2006/main">
            <a:off x="2828925" y="33909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Molecular</a:t>
            </a:r>
          </a:p>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pathology</a:t>
            </a:r>
          </a:p>
        </p:txBody>
      </p:sp>
      <p:sp>
        <p:nvSpPr>
          <p:cNvPr id="10" name="">
            <a:extLst xmlns:a="http://schemas.openxmlformats.org/drawingml/2006/main">
              <a:ext uri="{FF2B5EF4-FFF2-40B4-BE49-F238E27FC236}">
                <a16:creationId xmlns:a16="http://schemas.microsoft.com/office/drawing/2014/main" id="{46812788-6DEB-4CE3-90B8-59975DBDB53C}"/>
              </a:ext>
            </a:extLst>
          </p:cNvPr>
          <p:cNvSpPr>
            <a:spLocks xmlns:a="http://schemas.openxmlformats.org/drawingml/2006/main" noGrp="1"/>
          </p:cNvSpPr>
          <p:nvPr/>
        </p:nvSpPr>
        <p:spPr>
          <a:xfrm xmlns:a="http://schemas.openxmlformats.org/drawingml/2006/main">
            <a:off x="5686425" y="2076450"/>
            <a:ext cx="1066800" cy="1066800"/>
          </a:xfrm>
          <a:prstGeom xmlns:a="http://schemas.openxmlformats.org/drawingml/2006/main" prst="roundRect">
            <a:avLst>
              <a:gd name="adj" fmla="val 7143"/>
            </a:avLst>
          </a:prstGeom>
          <a:solidFill xmlns:a="http://schemas.openxmlformats.org/drawingml/2006/main">
            <a:srgbClr val="EEE8FB"/>
          </a:solidFill>
          <a:ln xmlns:a="http://schemas.openxmlformats.org/drawingml/2006/main" w="0">
            <a:solidFill>
              <a:srgbClr val="EEE8FB"/>
            </a:solidFill>
            <a:prstDash val="solid"/>
          </a:ln>
        </p:spPr>
      </p:sp>
      <p:sp>
        <p:nvSpPr>
          <p:cNvPr id="11" name="">
            <a:extLst xmlns:a="http://schemas.openxmlformats.org/drawingml/2006/main">
              <a:ext uri="{FF2B5EF4-FFF2-40B4-BE49-F238E27FC236}">
                <a16:creationId xmlns:a16="http://schemas.microsoft.com/office/drawing/2014/main" id="{D64C813D-65E4-4F17-BE81-940D67B257E4}"/>
              </a:ext>
            </a:extLst>
          </p:cNvPr>
          <p:cNvSpPr>
            <a:spLocks xmlns:a="http://schemas.openxmlformats.org/drawingml/2006/main" noGrp="1"/>
          </p:cNvSpPr>
          <p:nvPr/>
        </p:nvSpPr>
        <p:spPr>
          <a:xfrm xmlns:a="http://schemas.openxmlformats.org/drawingml/2006/main">
            <a:off x="5686425" y="2085975"/>
            <a:ext cx="1066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7756C2"/>
                </a:solidFill>
                <a:latin typeface="Arial"/>
                <a:ea typeface="Arial"/>
                <a:cs typeface="Arial"/>
              </a:defRPr>
            </a:pPr>
            <a:r>
              <a:rPr sz="1875" b="1" i="0">
                <a:solidFill>
                  <a:srgbClr val="7756C2"/>
                </a:solidFill>
                <a:latin typeface="Arial"/>
                <a:ea typeface="Arial"/>
                <a:cs typeface="Arial"/>
              </a:rPr>
              <a:t>CAP</a:t>
            </a:r>
          </a:p>
        </p:txBody>
      </p:sp>
      <p:sp>
        <p:nvSpPr>
          <p:cNvPr id="12" name="">
            <a:extLst xmlns:a="http://schemas.openxmlformats.org/drawingml/2006/main">
              <a:ext uri="{FF2B5EF4-FFF2-40B4-BE49-F238E27FC236}">
                <a16:creationId xmlns:a16="http://schemas.microsoft.com/office/drawing/2014/main" id="{673B7916-158C-416B-A73C-EFE0BA12BC4D}"/>
              </a:ext>
            </a:extLst>
          </p:cNvPr>
          <p:cNvSpPr>
            <a:spLocks xmlns:a="http://schemas.openxmlformats.org/drawingml/2006/main" noGrp="1"/>
          </p:cNvSpPr>
          <p:nvPr/>
        </p:nvSpPr>
        <p:spPr>
          <a:xfrm xmlns:a="http://schemas.openxmlformats.org/drawingml/2006/main">
            <a:off x="5153025" y="33909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Pathology and</a:t>
            </a:r>
          </a:p>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laboratory quality</a:t>
            </a:r>
          </a:p>
        </p:txBody>
      </p:sp>
      <p:sp>
        <p:nvSpPr>
          <p:cNvPr id="13" name="">
            <a:extLst xmlns:a="http://schemas.openxmlformats.org/drawingml/2006/main">
              <a:ext uri="{FF2B5EF4-FFF2-40B4-BE49-F238E27FC236}">
                <a16:creationId xmlns:a16="http://schemas.microsoft.com/office/drawing/2014/main" id="{18C71B03-2C00-44FB-978C-A9F176599AC7}"/>
              </a:ext>
            </a:extLst>
          </p:cNvPr>
          <p:cNvSpPr>
            <a:spLocks xmlns:a="http://schemas.openxmlformats.org/drawingml/2006/main" noGrp="1"/>
          </p:cNvSpPr>
          <p:nvPr/>
        </p:nvSpPr>
        <p:spPr>
          <a:xfrm xmlns:a="http://schemas.openxmlformats.org/drawingml/2006/main">
            <a:off x="8010525" y="2076450"/>
            <a:ext cx="1066800" cy="1066800"/>
          </a:xfrm>
          <a:prstGeom xmlns:a="http://schemas.openxmlformats.org/drawingml/2006/main" prst="roundRect">
            <a:avLst>
              <a:gd name="adj" fmla="val 7143"/>
            </a:avLst>
          </a:prstGeom>
          <a:solidFill xmlns:a="http://schemas.openxmlformats.org/drawingml/2006/main">
            <a:srgbClr val="FBE3E3"/>
          </a:solidFill>
          <a:ln xmlns:a="http://schemas.openxmlformats.org/drawingml/2006/main" w="0">
            <a:solidFill>
              <a:srgbClr val="FBE3E3"/>
            </a:solidFill>
            <a:prstDash val="solid"/>
          </a:ln>
        </p:spPr>
      </p:sp>
      <p:sp>
        <p:nvSpPr>
          <p:cNvPr id="14" name="">
            <a:extLst xmlns:a="http://schemas.openxmlformats.org/drawingml/2006/main">
              <a:ext uri="{FF2B5EF4-FFF2-40B4-BE49-F238E27FC236}">
                <a16:creationId xmlns:a16="http://schemas.microsoft.com/office/drawing/2014/main" id="{7C39A78D-0E8E-42DD-8EEF-B496450690D5}"/>
              </a:ext>
            </a:extLst>
          </p:cNvPr>
          <p:cNvSpPr>
            <a:spLocks xmlns:a="http://schemas.openxmlformats.org/drawingml/2006/main" noGrp="1"/>
          </p:cNvSpPr>
          <p:nvPr/>
        </p:nvSpPr>
        <p:spPr>
          <a:xfrm xmlns:a="http://schemas.openxmlformats.org/drawingml/2006/main">
            <a:off x="8010525" y="2085975"/>
            <a:ext cx="1066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C94E4E"/>
                </a:solidFill>
                <a:latin typeface="Arial"/>
                <a:ea typeface="Arial"/>
                <a:cs typeface="Arial"/>
              </a:defRPr>
            </a:pPr>
            <a:r>
              <a:rPr sz="1875" b="1" i="0">
                <a:solidFill>
                  <a:srgbClr val="C94E4E"/>
                </a:solidFill>
                <a:latin typeface="Arial"/>
                <a:ea typeface="Arial"/>
                <a:cs typeface="Arial"/>
              </a:rPr>
              <a:t>ASCO</a:t>
            </a:r>
          </a:p>
        </p:txBody>
      </p:sp>
      <p:sp>
        <p:nvSpPr>
          <p:cNvPr id="15" name="">
            <a:extLst xmlns:a="http://schemas.openxmlformats.org/drawingml/2006/main">
              <a:ext uri="{FF2B5EF4-FFF2-40B4-BE49-F238E27FC236}">
                <a16:creationId xmlns:a16="http://schemas.microsoft.com/office/drawing/2014/main" id="{8C415DC5-4830-4ADF-B7E6-F7B745072DF0}"/>
              </a:ext>
            </a:extLst>
          </p:cNvPr>
          <p:cNvSpPr>
            <a:spLocks xmlns:a="http://schemas.openxmlformats.org/drawingml/2006/main" noGrp="1"/>
          </p:cNvSpPr>
          <p:nvPr/>
        </p:nvSpPr>
        <p:spPr>
          <a:xfrm xmlns:a="http://schemas.openxmlformats.org/drawingml/2006/main">
            <a:off x="7477125" y="33909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Clinical</a:t>
            </a:r>
          </a:p>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oncology</a:t>
            </a:r>
          </a:p>
        </p:txBody>
      </p:sp>
      <p:sp>
        <p:nvSpPr>
          <p:cNvPr id="16" name="">
            <a:extLst xmlns:a="http://schemas.openxmlformats.org/drawingml/2006/main">
              <a:ext uri="{FF2B5EF4-FFF2-40B4-BE49-F238E27FC236}">
                <a16:creationId xmlns:a16="http://schemas.microsoft.com/office/drawing/2014/main" id="{EA65E956-F08D-470C-B1AC-32A99FDFF951}"/>
              </a:ext>
            </a:extLst>
          </p:cNvPr>
          <p:cNvSpPr>
            <a:spLocks xmlns:a="http://schemas.openxmlformats.org/drawingml/2006/main" noGrp="1"/>
          </p:cNvSpPr>
          <p:nvPr/>
        </p:nvSpPr>
        <p:spPr>
          <a:xfrm xmlns:a="http://schemas.openxmlformats.org/drawingml/2006/main">
            <a:off x="10334625" y="2076450"/>
            <a:ext cx="1066800" cy="1066800"/>
          </a:xfrm>
          <a:prstGeom xmlns:a="http://schemas.openxmlformats.org/drawingml/2006/main" prst="roundRect">
            <a:avLst>
              <a:gd name="adj" fmla="val 7143"/>
            </a:avLst>
          </a:prstGeom>
          <a:solidFill xmlns:a="http://schemas.openxmlformats.org/drawingml/2006/main">
            <a:srgbClr val="DEF3E7"/>
          </a:solidFill>
          <a:ln xmlns:a="http://schemas.openxmlformats.org/drawingml/2006/main" w="0">
            <a:solidFill>
              <a:srgbClr val="DEF3E7"/>
            </a:solidFill>
            <a:prstDash val="solid"/>
          </a:ln>
        </p:spPr>
      </p:sp>
      <p:sp>
        <p:nvSpPr>
          <p:cNvPr id="17" name="">
            <a:extLst xmlns:a="http://schemas.openxmlformats.org/drawingml/2006/main">
              <a:ext uri="{FF2B5EF4-FFF2-40B4-BE49-F238E27FC236}">
                <a16:creationId xmlns:a16="http://schemas.microsoft.com/office/drawing/2014/main" id="{7AB968A0-67C4-4E4B-9F05-E512669A012C}"/>
              </a:ext>
            </a:extLst>
          </p:cNvPr>
          <p:cNvSpPr>
            <a:spLocks xmlns:a="http://schemas.openxmlformats.org/drawingml/2006/main" noGrp="1"/>
          </p:cNvSpPr>
          <p:nvPr/>
        </p:nvSpPr>
        <p:spPr>
          <a:xfrm xmlns:a="http://schemas.openxmlformats.org/drawingml/2006/main">
            <a:off x="10334625" y="2085975"/>
            <a:ext cx="1066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359B64"/>
                </a:solidFill>
                <a:latin typeface="Arial"/>
                <a:ea typeface="Arial"/>
                <a:cs typeface="Arial"/>
              </a:defRPr>
            </a:pPr>
            <a:r>
              <a:rPr sz="1875" b="1" i="0">
                <a:solidFill>
                  <a:srgbClr val="359B64"/>
                </a:solidFill>
                <a:latin typeface="Arial"/>
                <a:ea typeface="Arial"/>
                <a:cs typeface="Arial"/>
              </a:rPr>
              <a:t>ClinGen</a:t>
            </a:r>
          </a:p>
        </p:txBody>
      </p:sp>
      <p:sp>
        <p:nvSpPr>
          <p:cNvPr id="18" name="">
            <a:extLst xmlns:a="http://schemas.openxmlformats.org/drawingml/2006/main">
              <a:ext uri="{FF2B5EF4-FFF2-40B4-BE49-F238E27FC236}">
                <a16:creationId xmlns:a16="http://schemas.microsoft.com/office/drawing/2014/main" id="{DE620E76-5565-4441-8BBB-E45A4DC38C0C}"/>
              </a:ext>
            </a:extLst>
          </p:cNvPr>
          <p:cNvSpPr>
            <a:spLocks xmlns:a="http://schemas.openxmlformats.org/drawingml/2006/main" noGrp="1"/>
          </p:cNvSpPr>
          <p:nvPr/>
        </p:nvSpPr>
        <p:spPr>
          <a:xfrm xmlns:a="http://schemas.openxmlformats.org/drawingml/2006/main">
            <a:off x="9801225" y="3390900"/>
            <a:ext cx="213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Evidence curation</a:t>
            </a:r>
          </a:p>
          <a:p xmlns:a="http://schemas.openxmlformats.org/drawingml/2006/main">
            <a:pPr algn="ctr">
              <a:defRPr sz="1500" b="1" i="0">
                <a:solidFill>
                  <a:srgbClr val="0B1F33"/>
                </a:solidFill>
                <a:latin typeface="Arial"/>
                <a:ea typeface="Arial"/>
                <a:cs typeface="Arial"/>
              </a:defRPr>
            </a:pPr>
            <a:r>
              <a:rPr sz="1500" b="1" i="0">
                <a:solidFill>
                  <a:srgbClr val="0B1F33"/>
                </a:solidFill>
                <a:latin typeface="Arial"/>
                <a:ea typeface="Arial"/>
                <a:cs typeface="Arial"/>
              </a:rPr>
              <a:t>and refinement</a:t>
            </a:r>
          </a:p>
        </p:txBody>
      </p:sp>
      <p:sp>
        <p:nvSpPr>
          <p:cNvPr id="19" name="">
            <a:extLst xmlns:a="http://schemas.openxmlformats.org/drawingml/2006/main">
              <a:ext uri="{FF2B5EF4-FFF2-40B4-BE49-F238E27FC236}">
                <a16:creationId xmlns:a16="http://schemas.microsoft.com/office/drawing/2014/main" id="{6F908A80-4A21-4655-92AB-12132F8F14EC}"/>
              </a:ext>
            </a:extLst>
          </p:cNvPr>
          <p:cNvSpPr>
            <a:spLocks xmlns:a="http://schemas.openxmlformats.org/drawingml/2006/main" noGrp="1"/>
          </p:cNvSpPr>
          <p:nvPr/>
        </p:nvSpPr>
        <p:spPr>
          <a:xfrm xmlns:a="http://schemas.openxmlformats.org/drawingml/2006/main">
            <a:off x="1190625" y="4762500"/>
            <a:ext cx="981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0B1F33"/>
                </a:solidFill>
                <a:latin typeface="Arial"/>
                <a:ea typeface="Arial"/>
                <a:cs typeface="Arial"/>
              </a:defRPr>
            </a:pPr>
            <a:r>
              <a:rPr sz="2025" b="1" i="0">
                <a:solidFill>
                  <a:srgbClr val="0B1F33"/>
                </a:solidFill>
                <a:latin typeface="Arial"/>
                <a:ea typeface="Arial"/>
                <a:cs typeface="Arial"/>
              </a:rPr>
              <a:t>They collaborate; none of them is a single worldwide controller of every genetic test.</a:t>
            </a:r>
          </a:p>
        </p:txBody>
      </p:sp>
      <p:sp>
        <p:nvSpPr>
          <p:cNvPr id="20" name="">
            <a:extLst xmlns:a="http://schemas.openxmlformats.org/drawingml/2006/main">
              <a:ext uri="{FF2B5EF4-FFF2-40B4-BE49-F238E27FC236}">
                <a16:creationId xmlns:a16="http://schemas.microsoft.com/office/drawing/2014/main" id="{4072A3EB-AE71-417C-B1B9-912DC8CA8665}"/>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11</a:t>
            </a:r>
          </a:p>
        </p:txBody>
      </p:sp>
    </p:spTree>
    <p:extLst>
      <p:ext uri="{BB962C8B-B14F-4D97-AF65-F5344CB8AC3E}">
        <p14:creationId xmlns:p14="http://schemas.microsoft.com/office/powerpoint/2010/main" val="13556220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A31BB6-A5BA-4815-83E8-42E7A13991B4}"/>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ORGANIZATIONS</a:t>
            </a:r>
          </a:p>
        </p:txBody>
      </p:sp>
      <p:sp>
        <p:nvSpPr>
          <p:cNvPr id="2" name="">
            <a:extLst xmlns:a="http://schemas.openxmlformats.org/drawingml/2006/main">
              <a:ext uri="{FF2B5EF4-FFF2-40B4-BE49-F238E27FC236}">
                <a16:creationId xmlns:a16="http://schemas.microsoft.com/office/drawing/2014/main" id="{4A80C6EC-5788-4DD9-AE86-950825E3E537}"/>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ACMG: American College of Medical Genetics and Genomics</a:t>
            </a:r>
          </a:p>
        </p:txBody>
      </p:sp>
      <p:cxnSp>
        <p:nvCxnSpPr>
          <p:cNvPr id="14"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74D4ABA4-0CF1-43B1-BE88-A697C0B8B321}"/>
              </a:ext>
            </a:extLst>
          </p:cNvPr>
          <p:cNvSpPr>
            <a:spLocks xmlns:a="http://schemas.openxmlformats.org/drawingml/2006/main" noGrp="1"/>
          </p:cNvSpPr>
          <p:nvPr/>
        </p:nvSpPr>
        <p:spPr>
          <a:xfrm xmlns:a="http://schemas.openxmlformats.org/drawingml/2006/main">
            <a:off x="666750" y="1962150"/>
            <a:ext cx="1428750" cy="1428750"/>
          </a:xfrm>
          <a:prstGeom xmlns:a="http://schemas.openxmlformats.org/drawingml/2006/main" prst="roundRect">
            <a:avLst>
              <a:gd name="adj" fmla="val 5333"/>
            </a:avLst>
          </a:prstGeom>
          <a:solidFill xmlns:a="http://schemas.openxmlformats.org/drawingml/2006/main">
            <a:srgbClr val="2D6CDF"/>
          </a:solidFill>
          <a:ln xmlns:a="http://schemas.openxmlformats.org/drawingml/2006/main" w="0">
            <a:solidFill>
              <a:srgbClr val="2D6CDF"/>
            </a:solidFill>
            <a:prstDash val="solid"/>
          </a:ln>
        </p:spPr>
      </p:sp>
      <p:sp>
        <p:nvSpPr>
          <p:cNvPr id="5" name="">
            <a:extLst xmlns:a="http://schemas.openxmlformats.org/drawingml/2006/main">
              <a:ext uri="{FF2B5EF4-FFF2-40B4-BE49-F238E27FC236}">
                <a16:creationId xmlns:a16="http://schemas.microsoft.com/office/drawing/2014/main" id="{E39CC557-DC69-46E1-A04A-5CA124A94BE3}"/>
              </a:ext>
            </a:extLst>
          </p:cNvPr>
          <p:cNvSpPr>
            <a:spLocks xmlns:a="http://schemas.openxmlformats.org/drawingml/2006/main" noGrp="1"/>
          </p:cNvSpPr>
          <p:nvPr/>
        </p:nvSpPr>
        <p:spPr>
          <a:xfrm xmlns:a="http://schemas.openxmlformats.org/drawingml/2006/main">
            <a:off x="666750" y="1971675"/>
            <a:ext cx="1428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ACMG</a:t>
            </a:r>
          </a:p>
        </p:txBody>
      </p:sp>
      <p:sp>
        <p:nvSpPr>
          <p:cNvPr id="6" name="">
            <a:extLst xmlns:a="http://schemas.openxmlformats.org/drawingml/2006/main">
              <a:ext uri="{FF2B5EF4-FFF2-40B4-BE49-F238E27FC236}">
                <a16:creationId xmlns:a16="http://schemas.microsoft.com/office/drawing/2014/main" id="{2AF1D756-1641-4603-B53B-2EFF401512DF}"/>
              </a:ext>
            </a:extLst>
          </p:cNvPr>
          <p:cNvSpPr>
            <a:spLocks xmlns:a="http://schemas.openxmlformats.org/drawingml/2006/main" noGrp="1"/>
          </p:cNvSpPr>
          <p:nvPr/>
        </p:nvSpPr>
        <p:spPr>
          <a:xfrm xmlns:a="http://schemas.openxmlformats.org/drawingml/2006/main">
            <a:off x="2590800" y="19240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B1F33"/>
                </a:solidFill>
                <a:latin typeface="Arial"/>
                <a:ea typeface="Arial"/>
                <a:cs typeface="Arial"/>
              </a:defRPr>
            </a:pPr>
            <a:r>
              <a:rPr sz="1950" b="1" i="0">
                <a:solidFill>
                  <a:srgbClr val="0B1F33"/>
                </a:solidFill>
                <a:latin typeface="Arial"/>
                <a:ea typeface="Arial"/>
                <a:cs typeface="Arial"/>
              </a:rPr>
              <a:t>Integrates genetics and genomics into medical practice through professional guidance, education, policy and clinical standards.</a:t>
            </a:r>
          </a:p>
        </p:txBody>
      </p:sp>
      <p:cxnSp>
        <p:nvCxnSpPr>
          <p:cNvPr id="18" name=""/>
          <p:cNvCxnSpPr/>
          <p:nvPr/>
        </p:nvCxnSpPr>
        <p:spPr>
          <a:xfrm xmlns:a="http://schemas.openxmlformats.org/drawingml/2006/main">
            <a:off x="2590800" y="3381375"/>
            <a:ext cx="857250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9F08CBD4-C38F-4BBB-B489-0C91FABC7EAB}"/>
              </a:ext>
            </a:extLst>
          </p:cNvPr>
          <p:cNvSpPr>
            <a:spLocks xmlns:a="http://schemas.openxmlformats.org/drawingml/2006/main" noGrp="1"/>
          </p:cNvSpPr>
          <p:nvPr/>
        </p:nvSpPr>
        <p:spPr>
          <a:xfrm xmlns:a="http://schemas.openxmlformats.org/drawingml/2006/main">
            <a:off x="2590800" y="3733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D6CDF"/>
                </a:solidFill>
                <a:latin typeface="Arial"/>
                <a:ea typeface="Arial"/>
                <a:cs typeface="Arial"/>
              </a:defRPr>
            </a:pPr>
            <a:r>
              <a:rPr sz="1275" b="1" i="0">
                <a:solidFill>
                  <a:srgbClr val="2D6CDF"/>
                </a:solidFill>
                <a:latin typeface="Arial"/>
                <a:ea typeface="Arial"/>
                <a:cs typeface="Arial"/>
              </a:rPr>
              <a:t>Why it matters here</a:t>
            </a:r>
          </a:p>
        </p:txBody>
      </p:sp>
      <p:sp>
        <p:nvSpPr>
          <p:cNvPr id="9" name="">
            <a:extLst xmlns:a="http://schemas.openxmlformats.org/drawingml/2006/main">
              <a:ext uri="{FF2B5EF4-FFF2-40B4-BE49-F238E27FC236}">
                <a16:creationId xmlns:a16="http://schemas.microsoft.com/office/drawing/2014/main" id="{EF6442F2-F730-4841-9A60-7D27B22EC8FF}"/>
              </a:ext>
            </a:extLst>
          </p:cNvPr>
          <p:cNvSpPr>
            <a:spLocks xmlns:a="http://schemas.openxmlformats.org/drawingml/2006/main" noGrp="1"/>
          </p:cNvSpPr>
          <p:nvPr/>
        </p:nvSpPr>
        <p:spPr>
          <a:xfrm xmlns:a="http://schemas.openxmlformats.org/drawingml/2006/main">
            <a:off x="2590800" y="4171950"/>
            <a:ext cx="8324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0B1F33"/>
                </a:solidFill>
                <a:latin typeface="Arial"/>
                <a:ea typeface="Arial"/>
                <a:cs typeface="Arial"/>
              </a:defRPr>
            </a:pPr>
            <a:r>
              <a:rPr sz="1725" b="0" i="0">
                <a:solidFill>
                  <a:srgbClr val="0B1F33"/>
                </a:solidFill>
                <a:latin typeface="Arial"/>
                <a:ea typeface="Arial"/>
                <a:cs typeface="Arial"/>
              </a:rPr>
              <a:t>ACMG convened the 2013 sequence-variant interpretation workgroup and co-issued the 2015 germline framework.</a:t>
            </a:r>
          </a:p>
        </p:txBody>
      </p:sp>
      <p:sp>
        <p:nvSpPr>
          <p:cNvPr id="10" name="">
            <a:extLst xmlns:a="http://schemas.openxmlformats.org/drawingml/2006/main">
              <a:ext uri="{FF2B5EF4-FFF2-40B4-BE49-F238E27FC236}">
                <a16:creationId xmlns:a16="http://schemas.microsoft.com/office/drawing/2014/main" id="{97860740-3F37-4152-8AEB-9BE93C9F1D57}"/>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Official ACMG mission: acmg.net</a:t>
            </a:r>
          </a:p>
        </p:txBody>
      </p:sp>
      <p:sp>
        <p:nvSpPr>
          <p:cNvPr id="11" name="">
            <a:extLst xmlns:a="http://schemas.openxmlformats.org/drawingml/2006/main">
              <a:ext uri="{FF2B5EF4-FFF2-40B4-BE49-F238E27FC236}">
                <a16:creationId xmlns:a16="http://schemas.microsoft.com/office/drawing/2014/main" id="{77237426-6D44-4EFE-BBDE-23CE3AE3D7B1}"/>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12</a:t>
            </a:r>
          </a:p>
        </p:txBody>
      </p:sp>
    </p:spTree>
    <p:extLst>
      <p:ext uri="{BB962C8B-B14F-4D97-AF65-F5344CB8AC3E}">
        <p14:creationId xmlns:p14="http://schemas.microsoft.com/office/powerpoint/2010/main" val="33743609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54618E-CE3B-4710-8E74-E88E27559C5E}"/>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ORGANIZATIONS</a:t>
            </a:r>
          </a:p>
        </p:txBody>
      </p:sp>
      <p:sp>
        <p:nvSpPr>
          <p:cNvPr id="2" name="">
            <a:extLst xmlns:a="http://schemas.openxmlformats.org/drawingml/2006/main">
              <a:ext uri="{FF2B5EF4-FFF2-40B4-BE49-F238E27FC236}">
                <a16:creationId xmlns:a16="http://schemas.microsoft.com/office/drawing/2014/main" id="{B646CBE7-6443-4139-BD56-741516444DEA}"/>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AMP: Association for Molecular Pathology</a:t>
            </a:r>
          </a:p>
        </p:txBody>
      </p:sp>
      <p:cxnSp>
        <p:nvCxnSpPr>
          <p:cNvPr id="14"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3032AFE7-5432-4ABF-8A05-A7A5A006589B}"/>
              </a:ext>
            </a:extLst>
          </p:cNvPr>
          <p:cNvSpPr>
            <a:spLocks xmlns:a="http://schemas.openxmlformats.org/drawingml/2006/main" noGrp="1"/>
          </p:cNvSpPr>
          <p:nvPr/>
        </p:nvSpPr>
        <p:spPr>
          <a:xfrm xmlns:a="http://schemas.openxmlformats.org/drawingml/2006/main">
            <a:off x="666750" y="1962150"/>
            <a:ext cx="1428750" cy="1428750"/>
          </a:xfrm>
          <a:prstGeom xmlns:a="http://schemas.openxmlformats.org/drawingml/2006/main" prst="roundRect">
            <a:avLst>
              <a:gd name="adj" fmla="val 5333"/>
            </a:avLst>
          </a:prstGeom>
          <a:solidFill xmlns:a="http://schemas.openxmlformats.org/drawingml/2006/main">
            <a:srgbClr val="069C9C"/>
          </a:solidFill>
          <a:ln xmlns:a="http://schemas.openxmlformats.org/drawingml/2006/main" w="0">
            <a:solidFill>
              <a:srgbClr val="069C9C"/>
            </a:solidFill>
            <a:prstDash val="solid"/>
          </a:ln>
        </p:spPr>
      </p:sp>
      <p:sp>
        <p:nvSpPr>
          <p:cNvPr id="5" name="">
            <a:extLst xmlns:a="http://schemas.openxmlformats.org/drawingml/2006/main">
              <a:ext uri="{FF2B5EF4-FFF2-40B4-BE49-F238E27FC236}">
                <a16:creationId xmlns:a16="http://schemas.microsoft.com/office/drawing/2014/main" id="{C2E16D63-9222-4D3B-8504-EBCD799F3F67}"/>
              </a:ext>
            </a:extLst>
          </p:cNvPr>
          <p:cNvSpPr>
            <a:spLocks xmlns:a="http://schemas.openxmlformats.org/drawingml/2006/main" noGrp="1"/>
          </p:cNvSpPr>
          <p:nvPr/>
        </p:nvSpPr>
        <p:spPr>
          <a:xfrm xmlns:a="http://schemas.openxmlformats.org/drawingml/2006/main">
            <a:off x="666750" y="1971675"/>
            <a:ext cx="1428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AMP</a:t>
            </a:r>
          </a:p>
        </p:txBody>
      </p:sp>
      <p:sp>
        <p:nvSpPr>
          <p:cNvPr id="6" name="">
            <a:extLst xmlns:a="http://schemas.openxmlformats.org/drawingml/2006/main">
              <a:ext uri="{FF2B5EF4-FFF2-40B4-BE49-F238E27FC236}">
                <a16:creationId xmlns:a16="http://schemas.microsoft.com/office/drawing/2014/main" id="{4CD6ACF8-9B05-41BF-879C-FBB9E8AB657E}"/>
              </a:ext>
            </a:extLst>
          </p:cNvPr>
          <p:cNvSpPr>
            <a:spLocks xmlns:a="http://schemas.openxmlformats.org/drawingml/2006/main" noGrp="1"/>
          </p:cNvSpPr>
          <p:nvPr/>
        </p:nvSpPr>
        <p:spPr>
          <a:xfrm xmlns:a="http://schemas.openxmlformats.org/drawingml/2006/main">
            <a:off x="2590800" y="19240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B1F33"/>
                </a:solidFill>
                <a:latin typeface="Arial"/>
                <a:ea typeface="Arial"/>
                <a:cs typeface="Arial"/>
              </a:defRPr>
            </a:pPr>
            <a:r>
              <a:rPr sz="1950" b="1" i="0">
                <a:solidFill>
                  <a:srgbClr val="0B1F33"/>
                </a:solidFill>
                <a:latin typeface="Arial"/>
                <a:ea typeface="Arial"/>
                <a:cs typeface="Arial"/>
              </a:rPr>
              <a:t>Advances the clinical practice, science and quality of molecular diagnostics across inherited disease, oncology, infectious disease and other areas.</a:t>
            </a:r>
          </a:p>
        </p:txBody>
      </p:sp>
      <p:cxnSp>
        <p:nvCxnSpPr>
          <p:cNvPr id="18" name=""/>
          <p:cNvCxnSpPr/>
          <p:nvPr/>
        </p:nvCxnSpPr>
        <p:spPr>
          <a:xfrm xmlns:a="http://schemas.openxmlformats.org/drawingml/2006/main">
            <a:off x="2590800" y="3381375"/>
            <a:ext cx="857250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8A0ABAB1-C274-4EF2-BCEE-56D371C900AA}"/>
              </a:ext>
            </a:extLst>
          </p:cNvPr>
          <p:cNvSpPr>
            <a:spLocks xmlns:a="http://schemas.openxmlformats.org/drawingml/2006/main" noGrp="1"/>
          </p:cNvSpPr>
          <p:nvPr/>
        </p:nvSpPr>
        <p:spPr>
          <a:xfrm xmlns:a="http://schemas.openxmlformats.org/drawingml/2006/main">
            <a:off x="2590800" y="3733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069C9C"/>
                </a:solidFill>
                <a:latin typeface="Arial"/>
                <a:ea typeface="Arial"/>
                <a:cs typeface="Arial"/>
              </a:defRPr>
            </a:pPr>
            <a:r>
              <a:rPr sz="1275" b="1" i="0">
                <a:solidFill>
                  <a:srgbClr val="069C9C"/>
                </a:solidFill>
                <a:latin typeface="Arial"/>
                <a:ea typeface="Arial"/>
                <a:cs typeface="Arial"/>
              </a:rPr>
              <a:t>Why it matters here</a:t>
            </a:r>
          </a:p>
        </p:txBody>
      </p:sp>
      <p:sp>
        <p:nvSpPr>
          <p:cNvPr id="9" name="">
            <a:extLst xmlns:a="http://schemas.openxmlformats.org/drawingml/2006/main">
              <a:ext uri="{FF2B5EF4-FFF2-40B4-BE49-F238E27FC236}">
                <a16:creationId xmlns:a16="http://schemas.microsoft.com/office/drawing/2014/main" id="{3550E523-E426-43B2-B26C-0A707A3F1019}"/>
              </a:ext>
            </a:extLst>
          </p:cNvPr>
          <p:cNvSpPr>
            <a:spLocks xmlns:a="http://schemas.openxmlformats.org/drawingml/2006/main" noGrp="1"/>
          </p:cNvSpPr>
          <p:nvPr/>
        </p:nvSpPr>
        <p:spPr>
          <a:xfrm xmlns:a="http://schemas.openxmlformats.org/drawingml/2006/main">
            <a:off x="2590800" y="4171950"/>
            <a:ext cx="8324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0B1F33"/>
                </a:solidFill>
                <a:latin typeface="Arial"/>
                <a:ea typeface="Arial"/>
                <a:cs typeface="Arial"/>
              </a:defRPr>
            </a:pPr>
            <a:r>
              <a:rPr sz="1725" b="0" i="0">
                <a:solidFill>
                  <a:srgbClr val="0B1F33"/>
                </a:solidFill>
                <a:latin typeface="Arial"/>
                <a:ea typeface="Arial"/>
                <a:cs typeface="Arial"/>
              </a:rPr>
              <a:t>AMP co-issued the 2015 ACMG/AMP guideline and later led major somatic cancer interpretation standards.</a:t>
            </a:r>
          </a:p>
        </p:txBody>
      </p:sp>
      <p:sp>
        <p:nvSpPr>
          <p:cNvPr id="10" name="">
            <a:extLst xmlns:a="http://schemas.openxmlformats.org/drawingml/2006/main">
              <a:ext uri="{FF2B5EF4-FFF2-40B4-BE49-F238E27FC236}">
                <a16:creationId xmlns:a16="http://schemas.microsoft.com/office/drawing/2014/main" id="{56CD8F25-8140-484F-A3BA-BFD93BDFA17B}"/>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Official AMP information: amp.org</a:t>
            </a:r>
          </a:p>
        </p:txBody>
      </p:sp>
      <p:sp>
        <p:nvSpPr>
          <p:cNvPr id="11" name="">
            <a:extLst xmlns:a="http://schemas.openxmlformats.org/drawingml/2006/main">
              <a:ext uri="{FF2B5EF4-FFF2-40B4-BE49-F238E27FC236}">
                <a16:creationId xmlns:a16="http://schemas.microsoft.com/office/drawing/2014/main" id="{F66A51B1-9C45-498D-B281-75A403343066}"/>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13</a:t>
            </a:r>
          </a:p>
        </p:txBody>
      </p:sp>
    </p:spTree>
    <p:extLst>
      <p:ext uri="{BB962C8B-B14F-4D97-AF65-F5344CB8AC3E}">
        <p14:creationId xmlns:p14="http://schemas.microsoft.com/office/powerpoint/2010/main" val="19882253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01CC85A-961D-4273-B064-BE054051FE6D}"/>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ORGANIZATIONS</a:t>
            </a:r>
          </a:p>
        </p:txBody>
      </p:sp>
      <p:sp>
        <p:nvSpPr>
          <p:cNvPr id="2" name="">
            <a:extLst xmlns:a="http://schemas.openxmlformats.org/drawingml/2006/main">
              <a:ext uri="{FF2B5EF4-FFF2-40B4-BE49-F238E27FC236}">
                <a16:creationId xmlns:a16="http://schemas.microsoft.com/office/drawing/2014/main" id="{11C9C62E-E2AC-446C-9E5D-905AF52273D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CAP: College of American Pathologists</a:t>
            </a:r>
          </a:p>
        </p:txBody>
      </p:sp>
      <p:cxnSp>
        <p:nvCxnSpPr>
          <p:cNvPr id="14"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C4917ABD-8298-4A49-B1E0-0BA3D35024C1}"/>
              </a:ext>
            </a:extLst>
          </p:cNvPr>
          <p:cNvSpPr>
            <a:spLocks xmlns:a="http://schemas.openxmlformats.org/drawingml/2006/main" noGrp="1"/>
          </p:cNvSpPr>
          <p:nvPr/>
        </p:nvSpPr>
        <p:spPr>
          <a:xfrm xmlns:a="http://schemas.openxmlformats.org/drawingml/2006/main">
            <a:off x="666750" y="1962150"/>
            <a:ext cx="1428750" cy="1428750"/>
          </a:xfrm>
          <a:prstGeom xmlns:a="http://schemas.openxmlformats.org/drawingml/2006/main" prst="roundRect">
            <a:avLst>
              <a:gd name="adj" fmla="val 5333"/>
            </a:avLst>
          </a:prstGeom>
          <a:solidFill xmlns:a="http://schemas.openxmlformats.org/drawingml/2006/main">
            <a:srgbClr val="7756C2"/>
          </a:solidFill>
          <a:ln xmlns:a="http://schemas.openxmlformats.org/drawingml/2006/main" w="0">
            <a:solidFill>
              <a:srgbClr val="7756C2"/>
            </a:solidFill>
            <a:prstDash val="solid"/>
          </a:ln>
        </p:spPr>
      </p:sp>
      <p:sp>
        <p:nvSpPr>
          <p:cNvPr id="5" name="">
            <a:extLst xmlns:a="http://schemas.openxmlformats.org/drawingml/2006/main">
              <a:ext uri="{FF2B5EF4-FFF2-40B4-BE49-F238E27FC236}">
                <a16:creationId xmlns:a16="http://schemas.microsoft.com/office/drawing/2014/main" id="{B7F7170D-A149-4681-BF75-C0DDB157D7B7}"/>
              </a:ext>
            </a:extLst>
          </p:cNvPr>
          <p:cNvSpPr>
            <a:spLocks xmlns:a="http://schemas.openxmlformats.org/drawingml/2006/main" noGrp="1"/>
          </p:cNvSpPr>
          <p:nvPr/>
        </p:nvSpPr>
        <p:spPr>
          <a:xfrm xmlns:a="http://schemas.openxmlformats.org/drawingml/2006/main">
            <a:off x="666750" y="1971675"/>
            <a:ext cx="1428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CAP</a:t>
            </a:r>
          </a:p>
        </p:txBody>
      </p:sp>
      <p:sp>
        <p:nvSpPr>
          <p:cNvPr id="6" name="">
            <a:extLst xmlns:a="http://schemas.openxmlformats.org/drawingml/2006/main">
              <a:ext uri="{FF2B5EF4-FFF2-40B4-BE49-F238E27FC236}">
                <a16:creationId xmlns:a16="http://schemas.microsoft.com/office/drawing/2014/main" id="{45D7D6FC-BC8E-4308-B379-269D3E0869B8}"/>
              </a:ext>
            </a:extLst>
          </p:cNvPr>
          <p:cNvSpPr>
            <a:spLocks xmlns:a="http://schemas.openxmlformats.org/drawingml/2006/main" noGrp="1"/>
          </p:cNvSpPr>
          <p:nvPr/>
        </p:nvSpPr>
        <p:spPr>
          <a:xfrm xmlns:a="http://schemas.openxmlformats.org/drawingml/2006/main">
            <a:off x="2590800" y="19240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B1F33"/>
                </a:solidFill>
                <a:latin typeface="Arial"/>
                <a:ea typeface="Arial"/>
                <a:cs typeface="Arial"/>
              </a:defRPr>
            </a:pPr>
            <a:r>
              <a:rPr sz="1950" b="1" i="0">
                <a:solidFill>
                  <a:srgbClr val="0B1F33"/>
                </a:solidFill>
                <a:latin typeface="Arial"/>
                <a:ea typeface="Arial"/>
                <a:cs typeface="Arial"/>
              </a:rPr>
              <a:t>Represents pathologists and promotes excellence in pathology and laboratory medicine, including accreditation and proficiency testing.</a:t>
            </a:r>
          </a:p>
        </p:txBody>
      </p:sp>
      <p:cxnSp>
        <p:nvCxnSpPr>
          <p:cNvPr id="18" name=""/>
          <p:cNvCxnSpPr/>
          <p:nvPr/>
        </p:nvCxnSpPr>
        <p:spPr>
          <a:xfrm xmlns:a="http://schemas.openxmlformats.org/drawingml/2006/main">
            <a:off x="2590800" y="3381375"/>
            <a:ext cx="857250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BE651D6C-AEEF-42BF-9E69-843C975892D3}"/>
              </a:ext>
            </a:extLst>
          </p:cNvPr>
          <p:cNvSpPr>
            <a:spLocks xmlns:a="http://schemas.openxmlformats.org/drawingml/2006/main" noGrp="1"/>
          </p:cNvSpPr>
          <p:nvPr/>
        </p:nvSpPr>
        <p:spPr>
          <a:xfrm xmlns:a="http://schemas.openxmlformats.org/drawingml/2006/main">
            <a:off x="2590800" y="3733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7756C2"/>
                </a:solidFill>
                <a:latin typeface="Arial"/>
                <a:ea typeface="Arial"/>
                <a:cs typeface="Arial"/>
              </a:defRPr>
            </a:pPr>
            <a:r>
              <a:rPr sz="1275" b="1" i="0">
                <a:solidFill>
                  <a:srgbClr val="7756C2"/>
                </a:solidFill>
                <a:latin typeface="Arial"/>
                <a:ea typeface="Arial"/>
                <a:cs typeface="Arial"/>
              </a:rPr>
              <a:t>Why it matters here</a:t>
            </a:r>
          </a:p>
        </p:txBody>
      </p:sp>
      <p:sp>
        <p:nvSpPr>
          <p:cNvPr id="9" name="">
            <a:extLst xmlns:a="http://schemas.openxmlformats.org/drawingml/2006/main">
              <a:ext uri="{FF2B5EF4-FFF2-40B4-BE49-F238E27FC236}">
                <a16:creationId xmlns:a16="http://schemas.microsoft.com/office/drawing/2014/main" id="{63AD619F-81BC-4942-BC14-98CB95EEF774}"/>
              </a:ext>
            </a:extLst>
          </p:cNvPr>
          <p:cNvSpPr>
            <a:spLocks xmlns:a="http://schemas.openxmlformats.org/drawingml/2006/main" noGrp="1"/>
          </p:cNvSpPr>
          <p:nvPr/>
        </p:nvSpPr>
        <p:spPr>
          <a:xfrm xmlns:a="http://schemas.openxmlformats.org/drawingml/2006/main">
            <a:off x="2590800" y="4171950"/>
            <a:ext cx="8324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0B1F33"/>
                </a:solidFill>
                <a:latin typeface="Arial"/>
                <a:ea typeface="Arial"/>
                <a:cs typeface="Arial"/>
              </a:defRPr>
            </a:pPr>
            <a:r>
              <a:rPr sz="1725" b="0" i="0">
                <a:solidFill>
                  <a:srgbClr val="0B1F33"/>
                </a:solidFill>
                <a:latin typeface="Arial"/>
                <a:ea typeface="Arial"/>
                <a:cs typeface="Arial"/>
              </a:rPr>
              <a:t>CAP members participated in the 2013 workgroup, and CAP standards influence clinical laboratory quality and reporting.</a:t>
            </a:r>
          </a:p>
        </p:txBody>
      </p:sp>
      <p:sp>
        <p:nvSpPr>
          <p:cNvPr id="10" name="">
            <a:extLst xmlns:a="http://schemas.openxmlformats.org/drawingml/2006/main">
              <a:ext uri="{FF2B5EF4-FFF2-40B4-BE49-F238E27FC236}">
                <a16:creationId xmlns:a16="http://schemas.microsoft.com/office/drawing/2014/main" id="{CC4A2F17-8300-44D8-9E49-8850367A6B3F}"/>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Official CAP mission: cap.org/about</a:t>
            </a:r>
          </a:p>
        </p:txBody>
      </p:sp>
      <p:sp>
        <p:nvSpPr>
          <p:cNvPr id="11" name="">
            <a:extLst xmlns:a="http://schemas.openxmlformats.org/drawingml/2006/main">
              <a:ext uri="{FF2B5EF4-FFF2-40B4-BE49-F238E27FC236}">
                <a16:creationId xmlns:a16="http://schemas.microsoft.com/office/drawing/2014/main" id="{2EB8B1D3-D22F-40FC-AAF4-7D7ED952D10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14</a:t>
            </a:r>
          </a:p>
        </p:txBody>
      </p:sp>
    </p:spTree>
    <p:extLst>
      <p:ext uri="{BB962C8B-B14F-4D97-AF65-F5344CB8AC3E}">
        <p14:creationId xmlns:p14="http://schemas.microsoft.com/office/powerpoint/2010/main" val="20414298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554E08-ACBC-4FEB-8E36-A1F79F8332B9}"/>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ORGANIZATIONS</a:t>
            </a:r>
          </a:p>
        </p:txBody>
      </p:sp>
      <p:sp>
        <p:nvSpPr>
          <p:cNvPr id="2" name="">
            <a:extLst xmlns:a="http://schemas.openxmlformats.org/drawingml/2006/main">
              <a:ext uri="{FF2B5EF4-FFF2-40B4-BE49-F238E27FC236}">
                <a16:creationId xmlns:a16="http://schemas.microsoft.com/office/drawing/2014/main" id="{403394D3-BA38-420C-A86A-C3FC0342E2D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ASCO: American Society of Clinical Oncology</a:t>
            </a:r>
          </a:p>
        </p:txBody>
      </p:sp>
      <p:cxnSp>
        <p:nvCxnSpPr>
          <p:cNvPr id="14"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94DDFDED-280B-4543-92D0-83ABAC832DBD}"/>
              </a:ext>
            </a:extLst>
          </p:cNvPr>
          <p:cNvSpPr>
            <a:spLocks xmlns:a="http://schemas.openxmlformats.org/drawingml/2006/main" noGrp="1"/>
          </p:cNvSpPr>
          <p:nvPr/>
        </p:nvSpPr>
        <p:spPr>
          <a:xfrm xmlns:a="http://schemas.openxmlformats.org/drawingml/2006/main">
            <a:off x="666750" y="1962150"/>
            <a:ext cx="1428750" cy="1428750"/>
          </a:xfrm>
          <a:prstGeom xmlns:a="http://schemas.openxmlformats.org/drawingml/2006/main" prst="roundRect">
            <a:avLst>
              <a:gd name="adj" fmla="val 5333"/>
            </a:avLst>
          </a:prstGeom>
          <a:solidFill xmlns:a="http://schemas.openxmlformats.org/drawingml/2006/main">
            <a:srgbClr val="C94E4E"/>
          </a:solidFill>
          <a:ln xmlns:a="http://schemas.openxmlformats.org/drawingml/2006/main" w="0">
            <a:solidFill>
              <a:srgbClr val="C94E4E"/>
            </a:solidFill>
            <a:prstDash val="solid"/>
          </a:ln>
        </p:spPr>
      </p:sp>
      <p:sp>
        <p:nvSpPr>
          <p:cNvPr id="5" name="">
            <a:extLst xmlns:a="http://schemas.openxmlformats.org/drawingml/2006/main">
              <a:ext uri="{FF2B5EF4-FFF2-40B4-BE49-F238E27FC236}">
                <a16:creationId xmlns:a16="http://schemas.microsoft.com/office/drawing/2014/main" id="{8E23E92A-A07A-4519-AE02-B7B6B1D5DEC1}"/>
              </a:ext>
            </a:extLst>
          </p:cNvPr>
          <p:cNvSpPr>
            <a:spLocks xmlns:a="http://schemas.openxmlformats.org/drawingml/2006/main" noGrp="1"/>
          </p:cNvSpPr>
          <p:nvPr/>
        </p:nvSpPr>
        <p:spPr>
          <a:xfrm xmlns:a="http://schemas.openxmlformats.org/drawingml/2006/main">
            <a:off x="666750" y="1971675"/>
            <a:ext cx="1428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ASCO</a:t>
            </a:r>
          </a:p>
        </p:txBody>
      </p:sp>
      <p:sp>
        <p:nvSpPr>
          <p:cNvPr id="6" name="">
            <a:extLst xmlns:a="http://schemas.openxmlformats.org/drawingml/2006/main">
              <a:ext uri="{FF2B5EF4-FFF2-40B4-BE49-F238E27FC236}">
                <a16:creationId xmlns:a16="http://schemas.microsoft.com/office/drawing/2014/main" id="{394E82A3-4219-4DB7-83FD-0A95E9ACAFCA}"/>
              </a:ext>
            </a:extLst>
          </p:cNvPr>
          <p:cNvSpPr>
            <a:spLocks xmlns:a="http://schemas.openxmlformats.org/drawingml/2006/main" noGrp="1"/>
          </p:cNvSpPr>
          <p:nvPr/>
        </p:nvSpPr>
        <p:spPr>
          <a:xfrm xmlns:a="http://schemas.openxmlformats.org/drawingml/2006/main">
            <a:off x="2590800" y="19240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B1F33"/>
                </a:solidFill>
                <a:latin typeface="Arial"/>
                <a:ea typeface="Arial"/>
                <a:cs typeface="Arial"/>
              </a:defRPr>
            </a:pPr>
            <a:r>
              <a:rPr sz="1950" b="1" i="0">
                <a:solidFill>
                  <a:srgbClr val="0B1F33"/>
                </a:solidFill>
                <a:latin typeface="Arial"/>
                <a:ea typeface="Arial"/>
                <a:cs typeface="Arial"/>
              </a:rPr>
              <a:t>Supports oncology research, education and high-quality cancer care for oncology professionals and patients.</a:t>
            </a:r>
          </a:p>
        </p:txBody>
      </p:sp>
      <p:cxnSp>
        <p:nvCxnSpPr>
          <p:cNvPr id="18" name=""/>
          <p:cNvCxnSpPr/>
          <p:nvPr/>
        </p:nvCxnSpPr>
        <p:spPr>
          <a:xfrm xmlns:a="http://schemas.openxmlformats.org/drawingml/2006/main">
            <a:off x="2590800" y="3381375"/>
            <a:ext cx="857250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AD61E441-E9F8-4A6B-8EE3-A60E711F3A07}"/>
              </a:ext>
            </a:extLst>
          </p:cNvPr>
          <p:cNvSpPr>
            <a:spLocks xmlns:a="http://schemas.openxmlformats.org/drawingml/2006/main" noGrp="1"/>
          </p:cNvSpPr>
          <p:nvPr/>
        </p:nvSpPr>
        <p:spPr>
          <a:xfrm xmlns:a="http://schemas.openxmlformats.org/drawingml/2006/main">
            <a:off x="2590800" y="3733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C94E4E"/>
                </a:solidFill>
                <a:latin typeface="Arial"/>
                <a:ea typeface="Arial"/>
                <a:cs typeface="Arial"/>
              </a:defRPr>
            </a:pPr>
            <a:r>
              <a:rPr sz="1275" b="1" i="0">
                <a:solidFill>
                  <a:srgbClr val="C94E4E"/>
                </a:solidFill>
                <a:latin typeface="Arial"/>
                <a:ea typeface="Arial"/>
                <a:cs typeface="Arial"/>
              </a:rPr>
              <a:t>Why it matters here</a:t>
            </a:r>
          </a:p>
        </p:txBody>
      </p:sp>
      <p:sp>
        <p:nvSpPr>
          <p:cNvPr id="9" name="">
            <a:extLst xmlns:a="http://schemas.openxmlformats.org/drawingml/2006/main">
              <a:ext uri="{FF2B5EF4-FFF2-40B4-BE49-F238E27FC236}">
                <a16:creationId xmlns:a16="http://schemas.microsoft.com/office/drawing/2014/main" id="{B566697D-4F7F-485D-9327-A06B899022AA}"/>
              </a:ext>
            </a:extLst>
          </p:cNvPr>
          <p:cNvSpPr>
            <a:spLocks xmlns:a="http://schemas.openxmlformats.org/drawingml/2006/main" noGrp="1"/>
          </p:cNvSpPr>
          <p:nvPr/>
        </p:nvSpPr>
        <p:spPr>
          <a:xfrm xmlns:a="http://schemas.openxmlformats.org/drawingml/2006/main">
            <a:off x="2590800" y="4171950"/>
            <a:ext cx="8324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0B1F33"/>
                </a:solidFill>
                <a:latin typeface="Arial"/>
                <a:ea typeface="Arial"/>
                <a:cs typeface="Arial"/>
              </a:defRPr>
            </a:pPr>
            <a:r>
              <a:rPr sz="1725" b="0" i="0">
                <a:solidFill>
                  <a:srgbClr val="0B1F33"/>
                </a:solidFill>
                <a:latin typeface="Arial"/>
                <a:ea typeface="Arial"/>
                <a:cs typeface="Arial"/>
              </a:rPr>
              <a:t>ASCO was not part of the 2015 germline paper; it co-developed the 2017 somatic cancer clinical-significance guideline with AMP and CAP.</a:t>
            </a:r>
          </a:p>
        </p:txBody>
      </p:sp>
      <p:sp>
        <p:nvSpPr>
          <p:cNvPr id="10" name="">
            <a:extLst xmlns:a="http://schemas.openxmlformats.org/drawingml/2006/main">
              <a:ext uri="{FF2B5EF4-FFF2-40B4-BE49-F238E27FC236}">
                <a16:creationId xmlns:a16="http://schemas.microsoft.com/office/drawing/2014/main" id="{2AA9CC47-22A1-4B85-BD31-3F9A225D6DE5}"/>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ASCO overview: asco.org/about-asco</a:t>
            </a:r>
          </a:p>
        </p:txBody>
      </p:sp>
      <p:sp>
        <p:nvSpPr>
          <p:cNvPr id="11" name="">
            <a:extLst xmlns:a="http://schemas.openxmlformats.org/drawingml/2006/main">
              <a:ext uri="{FF2B5EF4-FFF2-40B4-BE49-F238E27FC236}">
                <a16:creationId xmlns:a16="http://schemas.microsoft.com/office/drawing/2014/main" id="{1CAE234D-B21B-429F-A49D-36453FE8EB13}"/>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15</a:t>
            </a:r>
          </a:p>
        </p:txBody>
      </p:sp>
    </p:spTree>
    <p:extLst>
      <p:ext uri="{BB962C8B-B14F-4D97-AF65-F5344CB8AC3E}">
        <p14:creationId xmlns:p14="http://schemas.microsoft.com/office/powerpoint/2010/main" val="202056369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0D38E6-2DAB-4F69-BC23-E8684F2C4DA9}"/>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ORGANIZATIONS</a:t>
            </a:r>
          </a:p>
        </p:txBody>
      </p:sp>
      <p:sp>
        <p:nvSpPr>
          <p:cNvPr id="2" name="">
            <a:extLst xmlns:a="http://schemas.openxmlformats.org/drawingml/2006/main">
              <a:ext uri="{FF2B5EF4-FFF2-40B4-BE49-F238E27FC236}">
                <a16:creationId xmlns:a16="http://schemas.microsoft.com/office/drawing/2014/main" id="{3AE10B34-2D3E-46AC-9263-C2D186319F4B}"/>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ClinGen: Clinical Genome Resource</a:t>
            </a:r>
          </a:p>
        </p:txBody>
      </p:sp>
      <p:cxnSp>
        <p:nvCxnSpPr>
          <p:cNvPr id="14"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B800414E-04A3-4907-A554-487CE10FD299}"/>
              </a:ext>
            </a:extLst>
          </p:cNvPr>
          <p:cNvSpPr>
            <a:spLocks xmlns:a="http://schemas.openxmlformats.org/drawingml/2006/main" noGrp="1"/>
          </p:cNvSpPr>
          <p:nvPr/>
        </p:nvSpPr>
        <p:spPr>
          <a:xfrm xmlns:a="http://schemas.openxmlformats.org/drawingml/2006/main">
            <a:off x="666750" y="1962150"/>
            <a:ext cx="1428750" cy="1428750"/>
          </a:xfrm>
          <a:prstGeom xmlns:a="http://schemas.openxmlformats.org/drawingml/2006/main" prst="roundRect">
            <a:avLst>
              <a:gd name="adj" fmla="val 5333"/>
            </a:avLst>
          </a:prstGeom>
          <a:solidFill xmlns:a="http://schemas.openxmlformats.org/drawingml/2006/main">
            <a:srgbClr val="359B64"/>
          </a:solidFill>
          <a:ln xmlns:a="http://schemas.openxmlformats.org/drawingml/2006/main" w="0">
            <a:solidFill>
              <a:srgbClr val="359B64"/>
            </a:solidFill>
            <a:prstDash val="solid"/>
          </a:ln>
        </p:spPr>
      </p:sp>
      <p:sp>
        <p:nvSpPr>
          <p:cNvPr id="5" name="">
            <a:extLst xmlns:a="http://schemas.openxmlformats.org/drawingml/2006/main">
              <a:ext uri="{FF2B5EF4-FFF2-40B4-BE49-F238E27FC236}">
                <a16:creationId xmlns:a16="http://schemas.microsoft.com/office/drawing/2014/main" id="{606E2690-0F3C-4FD6-A207-DF3F4A7CA21F}"/>
              </a:ext>
            </a:extLst>
          </p:cNvPr>
          <p:cNvSpPr>
            <a:spLocks xmlns:a="http://schemas.openxmlformats.org/drawingml/2006/main" noGrp="1"/>
          </p:cNvSpPr>
          <p:nvPr/>
        </p:nvSpPr>
        <p:spPr>
          <a:xfrm xmlns:a="http://schemas.openxmlformats.org/drawingml/2006/main">
            <a:off x="666750" y="1971675"/>
            <a:ext cx="1428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i="0">
                <a:solidFill>
                  <a:srgbClr val="FFFFFF"/>
                </a:solidFill>
                <a:latin typeface="Arial"/>
                <a:ea typeface="Arial"/>
                <a:cs typeface="Arial"/>
              </a:defRPr>
            </a:pPr>
            <a:r>
              <a:rPr sz="2250" b="1" i="0">
                <a:solidFill>
                  <a:srgbClr val="FFFFFF"/>
                </a:solidFill>
                <a:latin typeface="Arial"/>
                <a:ea typeface="Arial"/>
                <a:cs typeface="Arial"/>
              </a:rPr>
              <a:t>ClinGen</a:t>
            </a:r>
          </a:p>
        </p:txBody>
      </p:sp>
      <p:sp>
        <p:nvSpPr>
          <p:cNvPr id="6" name="">
            <a:extLst xmlns:a="http://schemas.openxmlformats.org/drawingml/2006/main">
              <a:ext uri="{FF2B5EF4-FFF2-40B4-BE49-F238E27FC236}">
                <a16:creationId xmlns:a16="http://schemas.microsoft.com/office/drawing/2014/main" id="{59DD43DA-CB25-4F5A-8DF9-2E0EB381D2BB}"/>
              </a:ext>
            </a:extLst>
          </p:cNvPr>
          <p:cNvSpPr>
            <a:spLocks xmlns:a="http://schemas.openxmlformats.org/drawingml/2006/main" noGrp="1"/>
          </p:cNvSpPr>
          <p:nvPr/>
        </p:nvSpPr>
        <p:spPr>
          <a:xfrm xmlns:a="http://schemas.openxmlformats.org/drawingml/2006/main">
            <a:off x="2590800" y="1924050"/>
            <a:ext cx="8572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0B1F33"/>
                </a:solidFill>
                <a:latin typeface="Arial"/>
                <a:ea typeface="Arial"/>
                <a:cs typeface="Arial"/>
              </a:defRPr>
            </a:pPr>
            <a:r>
              <a:rPr sz="1950" b="1" i="0">
                <a:solidFill>
                  <a:srgbClr val="0B1F33"/>
                </a:solidFill>
                <a:latin typeface="Arial"/>
                <a:ea typeface="Arial"/>
                <a:cs typeface="Arial"/>
              </a:rPr>
              <a:t>Builds publicly available expert knowledge about gene–disease validity, variant pathogenicity, dosage sensitivity and clinical actionability.</a:t>
            </a:r>
          </a:p>
        </p:txBody>
      </p:sp>
      <p:cxnSp>
        <p:nvCxnSpPr>
          <p:cNvPr id="18" name=""/>
          <p:cNvCxnSpPr/>
          <p:nvPr/>
        </p:nvCxnSpPr>
        <p:spPr>
          <a:xfrm xmlns:a="http://schemas.openxmlformats.org/drawingml/2006/main">
            <a:off x="2590800" y="3381375"/>
            <a:ext cx="857250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94281C5E-17A2-4BFB-AE85-10D1312AAFF5}"/>
              </a:ext>
            </a:extLst>
          </p:cNvPr>
          <p:cNvSpPr>
            <a:spLocks xmlns:a="http://schemas.openxmlformats.org/drawingml/2006/main" noGrp="1"/>
          </p:cNvSpPr>
          <p:nvPr/>
        </p:nvSpPr>
        <p:spPr>
          <a:xfrm xmlns:a="http://schemas.openxmlformats.org/drawingml/2006/main">
            <a:off x="2590800" y="37338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359B64"/>
                </a:solidFill>
                <a:latin typeface="Arial"/>
                <a:ea typeface="Arial"/>
                <a:cs typeface="Arial"/>
              </a:defRPr>
            </a:pPr>
            <a:r>
              <a:rPr sz="1275" b="1" i="0">
                <a:solidFill>
                  <a:srgbClr val="359B64"/>
                </a:solidFill>
                <a:latin typeface="Arial"/>
                <a:ea typeface="Arial"/>
                <a:cs typeface="Arial"/>
              </a:rPr>
              <a:t>Why it matters here</a:t>
            </a:r>
          </a:p>
        </p:txBody>
      </p:sp>
      <p:sp>
        <p:nvSpPr>
          <p:cNvPr id="9" name="">
            <a:extLst xmlns:a="http://schemas.openxmlformats.org/drawingml/2006/main">
              <a:ext uri="{FF2B5EF4-FFF2-40B4-BE49-F238E27FC236}">
                <a16:creationId xmlns:a16="http://schemas.microsoft.com/office/drawing/2014/main" id="{1EA07051-435A-46CA-819C-BBC8C9EDD794}"/>
              </a:ext>
            </a:extLst>
          </p:cNvPr>
          <p:cNvSpPr>
            <a:spLocks xmlns:a="http://schemas.openxmlformats.org/drawingml/2006/main" noGrp="1"/>
          </p:cNvSpPr>
          <p:nvPr/>
        </p:nvSpPr>
        <p:spPr>
          <a:xfrm xmlns:a="http://schemas.openxmlformats.org/drawingml/2006/main">
            <a:off x="2590800" y="4171950"/>
            <a:ext cx="8324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i="0">
                <a:solidFill>
                  <a:srgbClr val="0B1F33"/>
                </a:solidFill>
                <a:latin typeface="Arial"/>
                <a:ea typeface="Arial"/>
                <a:cs typeface="Arial"/>
              </a:defRPr>
            </a:pPr>
            <a:r>
              <a:rPr sz="1725" b="0" i="0">
                <a:solidFill>
                  <a:srgbClr val="0B1F33"/>
                </a:solidFill>
                <a:latin typeface="Arial"/>
                <a:ea typeface="Arial"/>
                <a:cs typeface="Arial"/>
              </a:rPr>
              <a:t>ClinGen refines how ACMG/AMP criteria are applied and develops gene- and disease-specific specifications.</a:t>
            </a:r>
          </a:p>
        </p:txBody>
      </p:sp>
      <p:sp>
        <p:nvSpPr>
          <p:cNvPr id="10" name="">
            <a:extLst xmlns:a="http://schemas.openxmlformats.org/drawingml/2006/main">
              <a:ext uri="{FF2B5EF4-FFF2-40B4-BE49-F238E27FC236}">
                <a16:creationId xmlns:a16="http://schemas.microsoft.com/office/drawing/2014/main" id="{C8146FD4-7FD3-4A8B-A635-F3144D43204E}"/>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ClinGen Variant Classification Guidance, updated July 2025</a:t>
            </a:r>
          </a:p>
        </p:txBody>
      </p:sp>
      <p:sp>
        <p:nvSpPr>
          <p:cNvPr id="11" name="">
            <a:extLst xmlns:a="http://schemas.openxmlformats.org/drawingml/2006/main">
              <a:ext uri="{FF2B5EF4-FFF2-40B4-BE49-F238E27FC236}">
                <a16:creationId xmlns:a16="http://schemas.microsoft.com/office/drawing/2014/main" id="{020D1465-1E43-4EC5-8A29-23820C541AFA}"/>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16</a:t>
            </a:r>
          </a:p>
        </p:txBody>
      </p:sp>
    </p:spTree>
    <p:extLst>
      <p:ext uri="{BB962C8B-B14F-4D97-AF65-F5344CB8AC3E}">
        <p14:creationId xmlns:p14="http://schemas.microsoft.com/office/powerpoint/2010/main" val="14557226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7E56677-3A13-4DCB-AD37-3A97AAF24FD3}"/>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WHO DID WHAT?</a:t>
            </a:r>
          </a:p>
        </p:txBody>
      </p:sp>
      <p:sp>
        <p:nvSpPr>
          <p:cNvPr id="2" name="">
            <a:extLst xmlns:a="http://schemas.openxmlformats.org/drawingml/2006/main">
              <a:ext uri="{FF2B5EF4-FFF2-40B4-BE49-F238E27FC236}">
                <a16:creationId xmlns:a16="http://schemas.microsoft.com/office/drawing/2014/main" id="{47C02776-1461-479D-BF48-D041FCF4E4F9}"/>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172"/>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2015 paper was ACMG/AMP—with CAP members in the workgroup</a:t>
            </a:r>
          </a:p>
        </p:txBody>
      </p:sp>
      <p:cxnSp>
        <p:nvCxnSpPr>
          <p:cNvPr id="2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C1F243AD-C1B6-4EC9-9406-29FE4FA51D59}"/>
              </a:ext>
            </a:extLst>
          </p:cNvPr>
          <p:cNvSpPr>
            <a:spLocks xmlns:a="http://schemas.openxmlformats.org/drawingml/2006/main" noGrp="1"/>
          </p:cNvSpPr>
          <p:nvPr/>
        </p:nvSpPr>
        <p:spPr>
          <a:xfrm xmlns:a="http://schemas.openxmlformats.org/drawingml/2006/main">
            <a:off x="819150" y="2095500"/>
            <a:ext cx="2857500" cy="1409700"/>
          </a:xfrm>
          <a:prstGeom xmlns:a="http://schemas.openxmlformats.org/drawingml/2006/main" prst="roundRect">
            <a:avLst>
              <a:gd name="adj" fmla="val 5405"/>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78DAF2E2-DB2A-4BDD-B4E1-28232CA0E8CC}"/>
              </a:ext>
            </a:extLst>
          </p:cNvPr>
          <p:cNvSpPr>
            <a:spLocks xmlns:a="http://schemas.openxmlformats.org/drawingml/2006/main" noGrp="1"/>
          </p:cNvSpPr>
          <p:nvPr/>
        </p:nvSpPr>
        <p:spPr>
          <a:xfrm xmlns:a="http://schemas.openxmlformats.org/drawingml/2006/main">
            <a:off x="819150" y="25527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2D6CDF"/>
                </a:solidFill>
                <a:latin typeface="Arial"/>
                <a:ea typeface="Arial"/>
                <a:cs typeface="Arial"/>
              </a:defRPr>
            </a:pPr>
            <a:r>
              <a:rPr sz="2025" b="1" i="0">
                <a:solidFill>
                  <a:srgbClr val="2D6CDF"/>
                </a:solidFill>
                <a:latin typeface="Arial"/>
                <a:ea typeface="Arial"/>
                <a:cs typeface="Arial"/>
              </a:rPr>
              <a:t>ACMG</a:t>
            </a:r>
          </a:p>
        </p:txBody>
      </p:sp>
      <p:sp>
        <p:nvSpPr>
          <p:cNvPr id="6" name="">
            <a:extLst xmlns:a="http://schemas.openxmlformats.org/drawingml/2006/main">
              <a:ext uri="{FF2B5EF4-FFF2-40B4-BE49-F238E27FC236}">
                <a16:creationId xmlns:a16="http://schemas.microsoft.com/office/drawing/2014/main" id="{2B0C7715-40B5-48C7-8657-688243FCB729}"/>
              </a:ext>
            </a:extLst>
          </p:cNvPr>
          <p:cNvSpPr>
            <a:spLocks xmlns:a="http://schemas.openxmlformats.org/drawingml/2006/main" noGrp="1"/>
          </p:cNvSpPr>
          <p:nvPr/>
        </p:nvSpPr>
        <p:spPr>
          <a:xfrm xmlns:a="http://schemas.openxmlformats.org/drawingml/2006/main">
            <a:off x="4267200" y="2095500"/>
            <a:ext cx="2857500" cy="1409700"/>
          </a:xfrm>
          <a:prstGeom xmlns:a="http://schemas.openxmlformats.org/drawingml/2006/main" prst="roundRect">
            <a:avLst>
              <a:gd name="adj" fmla="val 5405"/>
            </a:avLst>
          </a:prstGeom>
          <a:solidFill xmlns:a="http://schemas.openxmlformats.org/drawingml/2006/main">
            <a:srgbClr val="DDF5F3"/>
          </a:solidFill>
          <a:ln xmlns:a="http://schemas.openxmlformats.org/drawingml/2006/main" w="0">
            <a:solidFill>
              <a:srgbClr val="DDF5F3"/>
            </a:solidFill>
            <a:prstDash val="solid"/>
          </a:ln>
        </p:spPr>
      </p:sp>
      <p:sp>
        <p:nvSpPr>
          <p:cNvPr id="7" name="">
            <a:extLst xmlns:a="http://schemas.openxmlformats.org/drawingml/2006/main">
              <a:ext uri="{FF2B5EF4-FFF2-40B4-BE49-F238E27FC236}">
                <a16:creationId xmlns:a16="http://schemas.microsoft.com/office/drawing/2014/main" id="{45DAA45D-7047-4F2A-82FB-551F83F0FA5D}"/>
              </a:ext>
            </a:extLst>
          </p:cNvPr>
          <p:cNvSpPr>
            <a:spLocks xmlns:a="http://schemas.openxmlformats.org/drawingml/2006/main" noGrp="1"/>
          </p:cNvSpPr>
          <p:nvPr/>
        </p:nvSpPr>
        <p:spPr>
          <a:xfrm xmlns:a="http://schemas.openxmlformats.org/drawingml/2006/main">
            <a:off x="4267200" y="25527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069C9C"/>
                </a:solidFill>
                <a:latin typeface="Arial"/>
                <a:ea typeface="Arial"/>
                <a:cs typeface="Arial"/>
              </a:defRPr>
            </a:pPr>
            <a:r>
              <a:rPr sz="2025" b="1" i="0">
                <a:solidFill>
                  <a:srgbClr val="069C9C"/>
                </a:solidFill>
                <a:latin typeface="Arial"/>
                <a:ea typeface="Arial"/>
                <a:cs typeface="Arial"/>
              </a:rPr>
              <a:t>AMP</a:t>
            </a:r>
          </a:p>
        </p:txBody>
      </p:sp>
      <p:sp>
        <p:nvSpPr>
          <p:cNvPr id="8" name="">
            <a:extLst xmlns:a="http://schemas.openxmlformats.org/drawingml/2006/main">
              <a:ext uri="{FF2B5EF4-FFF2-40B4-BE49-F238E27FC236}">
                <a16:creationId xmlns:a16="http://schemas.microsoft.com/office/drawing/2014/main" id="{21B7CEB1-CD4C-4CB1-9772-76E81C61378B}"/>
              </a:ext>
            </a:extLst>
          </p:cNvPr>
          <p:cNvSpPr>
            <a:spLocks xmlns:a="http://schemas.openxmlformats.org/drawingml/2006/main" noGrp="1"/>
          </p:cNvSpPr>
          <p:nvPr/>
        </p:nvSpPr>
        <p:spPr>
          <a:xfrm xmlns:a="http://schemas.openxmlformats.org/drawingml/2006/main">
            <a:off x="7715250" y="2095500"/>
            <a:ext cx="2857500" cy="1409700"/>
          </a:xfrm>
          <a:prstGeom xmlns:a="http://schemas.openxmlformats.org/drawingml/2006/main" prst="roundRect">
            <a:avLst>
              <a:gd name="adj" fmla="val 5405"/>
            </a:avLst>
          </a:prstGeom>
          <a:solidFill xmlns:a="http://schemas.openxmlformats.org/drawingml/2006/main">
            <a:srgbClr val="EEE8FB"/>
          </a:solidFill>
          <a:ln xmlns:a="http://schemas.openxmlformats.org/drawingml/2006/main" w="0">
            <a:solidFill>
              <a:srgbClr val="EEE8FB"/>
            </a:solidFill>
            <a:prstDash val="solid"/>
          </a:ln>
        </p:spPr>
      </p:sp>
      <p:sp>
        <p:nvSpPr>
          <p:cNvPr id="9" name="">
            <a:extLst xmlns:a="http://schemas.openxmlformats.org/drawingml/2006/main">
              <a:ext uri="{FF2B5EF4-FFF2-40B4-BE49-F238E27FC236}">
                <a16:creationId xmlns:a16="http://schemas.microsoft.com/office/drawing/2014/main" id="{E03D9151-F4CC-496C-862D-C1BC393FB5B2}"/>
              </a:ext>
            </a:extLst>
          </p:cNvPr>
          <p:cNvSpPr>
            <a:spLocks xmlns:a="http://schemas.openxmlformats.org/drawingml/2006/main" noGrp="1"/>
          </p:cNvSpPr>
          <p:nvPr/>
        </p:nvSpPr>
        <p:spPr>
          <a:xfrm xmlns:a="http://schemas.openxmlformats.org/drawingml/2006/main">
            <a:off x="7715250" y="25527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7756C2"/>
                </a:solidFill>
                <a:latin typeface="Arial"/>
                <a:ea typeface="Arial"/>
                <a:cs typeface="Arial"/>
              </a:defRPr>
            </a:pPr>
            <a:r>
              <a:rPr sz="2025" b="1" i="0">
                <a:solidFill>
                  <a:srgbClr val="7756C2"/>
                </a:solidFill>
                <a:latin typeface="Arial"/>
                <a:ea typeface="Arial"/>
                <a:cs typeface="Arial"/>
              </a:rPr>
              <a:t>CAP members</a:t>
            </a:r>
          </a:p>
        </p:txBody>
      </p:sp>
      <p:cxnSp>
        <p:nvCxnSpPr>
          <p:cNvPr id="30" name=""/>
          <p:cNvCxnSpPr/>
          <p:nvPr/>
        </p:nvCxnSpPr>
        <p:spPr>
          <a:xfrm xmlns:a="http://schemas.openxmlformats.org/drawingml/2006/main">
            <a:off x="2247900" y="3505200"/>
            <a:ext cx="0" cy="647700"/>
          </a:xfrm>
          <a:prstGeom xmlns:a="http://schemas.openxmlformats.org/drawingml/2006/main" prst="straightConnector1">
            <a:avLst/>
          </a:prstGeom>
          <a:ln xmlns:a="http://schemas.openxmlformats.org/drawingml/2006/main" w="28575">
            <a:solidFill>
              <a:srgbClr val="D6DEE7"/>
            </a:solidFill>
            <a:prstDash val="solid"/>
          </a:ln>
        </p:spPr>
      </p:cxnSp>
      <p:cxnSp>
        <p:nvCxnSpPr>
          <p:cNvPr id="31" name=""/>
          <p:cNvCxnSpPr/>
          <p:nvPr/>
        </p:nvCxnSpPr>
        <p:spPr>
          <a:xfrm xmlns:a="http://schemas.openxmlformats.org/drawingml/2006/main">
            <a:off x="5695950" y="3505200"/>
            <a:ext cx="0" cy="647700"/>
          </a:xfrm>
          <a:prstGeom xmlns:a="http://schemas.openxmlformats.org/drawingml/2006/main" prst="straightConnector1">
            <a:avLst/>
          </a:prstGeom>
          <a:ln xmlns:a="http://schemas.openxmlformats.org/drawingml/2006/main" w="28575">
            <a:solidFill>
              <a:srgbClr val="D6DEE7"/>
            </a:solidFill>
            <a:prstDash val="solid"/>
          </a:ln>
        </p:spPr>
      </p:cxnSp>
      <p:cxnSp>
        <p:nvCxnSpPr>
          <p:cNvPr id="32" name=""/>
          <p:cNvCxnSpPr/>
          <p:nvPr/>
        </p:nvCxnSpPr>
        <p:spPr>
          <a:xfrm xmlns:a="http://schemas.openxmlformats.org/drawingml/2006/main">
            <a:off x="9144000" y="3505200"/>
            <a:ext cx="0" cy="647700"/>
          </a:xfrm>
          <a:prstGeom xmlns:a="http://schemas.openxmlformats.org/drawingml/2006/main" prst="straightConnector1">
            <a:avLst/>
          </a:prstGeom>
          <a:ln xmlns:a="http://schemas.openxmlformats.org/drawingml/2006/main" w="28575">
            <a:solidFill>
              <a:srgbClr val="D6DEE7"/>
            </a:solidFill>
            <a:prstDash val="solid"/>
          </a:ln>
        </p:spPr>
      </p:cxnSp>
      <p:cxnSp>
        <p:nvCxnSpPr>
          <p:cNvPr id="33" name=""/>
          <p:cNvCxnSpPr/>
          <p:nvPr/>
        </p:nvCxnSpPr>
        <p:spPr>
          <a:xfrm xmlns:a="http://schemas.openxmlformats.org/drawingml/2006/main">
            <a:off x="2247900" y="4152900"/>
            <a:ext cx="6896100" cy="0"/>
          </a:xfrm>
          <a:prstGeom xmlns:a="http://schemas.openxmlformats.org/drawingml/2006/main" prst="straightConnector1">
            <a:avLst/>
          </a:prstGeom>
          <a:ln xmlns:a="http://schemas.openxmlformats.org/drawingml/2006/main" w="28575">
            <a:solidFill>
              <a:srgbClr val="D6DEE7"/>
            </a:solidFill>
            <a:prstDash val="solid"/>
          </a:ln>
        </p:spPr>
      </p:cxnSp>
      <p:cxnSp>
        <p:nvCxnSpPr>
          <p:cNvPr id="34" name=""/>
          <p:cNvCxnSpPr/>
          <p:nvPr/>
        </p:nvCxnSpPr>
        <p:spPr>
          <a:xfrm xmlns:a="http://schemas.openxmlformats.org/drawingml/2006/main">
            <a:off x="5695950" y="4152900"/>
            <a:ext cx="0" cy="590550"/>
          </a:xfrm>
          <a:prstGeom xmlns:a="http://schemas.openxmlformats.org/drawingml/2006/main" prst="straightConnector1">
            <a:avLst/>
          </a:prstGeom>
          <a:ln xmlns:a="http://schemas.openxmlformats.org/drawingml/2006/main" w="28575">
            <a:solidFill>
              <a:srgbClr val="D6DEE7"/>
            </a:solidFill>
            <a:prstDash val="solid"/>
          </a:ln>
        </p:spPr>
      </p:cxnSp>
      <p:sp>
        <p:nvSpPr>
          <p:cNvPr id="15" name="">
            <a:extLst xmlns:a="http://schemas.openxmlformats.org/drawingml/2006/main">
              <a:ext uri="{FF2B5EF4-FFF2-40B4-BE49-F238E27FC236}">
                <a16:creationId xmlns:a16="http://schemas.microsoft.com/office/drawing/2014/main" id="{7AEAC3C4-BE9F-4BF6-B835-43438AB2760B}"/>
              </a:ext>
            </a:extLst>
          </p:cNvPr>
          <p:cNvSpPr>
            <a:spLocks xmlns:a="http://schemas.openxmlformats.org/drawingml/2006/main" noGrp="1"/>
          </p:cNvSpPr>
          <p:nvPr/>
        </p:nvSpPr>
        <p:spPr>
          <a:xfrm xmlns:a="http://schemas.openxmlformats.org/drawingml/2006/main">
            <a:off x="3848100" y="4762500"/>
            <a:ext cx="3695700" cy="723900"/>
          </a:xfrm>
          <a:prstGeom xmlns:a="http://schemas.openxmlformats.org/drawingml/2006/main" prst="roundRect">
            <a:avLst>
              <a:gd name="adj" fmla="val 10526"/>
            </a:avLst>
          </a:prstGeom>
          <a:solidFill xmlns:a="http://schemas.openxmlformats.org/drawingml/2006/main">
            <a:srgbClr val="0B1F33"/>
          </a:solidFill>
          <a:ln xmlns:a="http://schemas.openxmlformats.org/drawingml/2006/main" w="0">
            <a:solidFill>
              <a:srgbClr val="0B1F33"/>
            </a:solidFill>
            <a:prstDash val="solid"/>
          </a:ln>
        </p:spPr>
      </p:sp>
      <p:sp>
        <p:nvSpPr>
          <p:cNvPr id="16" name="">
            <a:extLst xmlns:a="http://schemas.openxmlformats.org/drawingml/2006/main">
              <a:ext uri="{FF2B5EF4-FFF2-40B4-BE49-F238E27FC236}">
                <a16:creationId xmlns:a16="http://schemas.microsoft.com/office/drawing/2014/main" id="{B541EA24-6509-4F65-A413-2F66E6259F1F}"/>
              </a:ext>
            </a:extLst>
          </p:cNvPr>
          <p:cNvSpPr>
            <a:spLocks xmlns:a="http://schemas.openxmlformats.org/drawingml/2006/main" noGrp="1"/>
          </p:cNvSpPr>
          <p:nvPr/>
        </p:nvSpPr>
        <p:spPr>
          <a:xfrm xmlns:a="http://schemas.openxmlformats.org/drawingml/2006/main">
            <a:off x="3848100" y="4981575"/>
            <a:ext cx="3695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FFFFFF"/>
                </a:solidFill>
                <a:latin typeface="Arial"/>
                <a:ea typeface="Arial"/>
                <a:cs typeface="Arial"/>
              </a:defRPr>
            </a:pPr>
            <a:r>
              <a:rPr sz="1725" b="1" i="0">
                <a:solidFill>
                  <a:srgbClr val="FFFFFF"/>
                </a:solidFill>
                <a:latin typeface="Arial"/>
                <a:ea typeface="Arial"/>
                <a:cs typeface="Arial"/>
              </a:rPr>
              <a:t>2015 consensus guideline</a:t>
            </a:r>
          </a:p>
        </p:txBody>
      </p:sp>
      <p:sp>
        <p:nvSpPr>
          <p:cNvPr id="17" name="">
            <a:extLst xmlns:a="http://schemas.openxmlformats.org/drawingml/2006/main">
              <a:ext uri="{FF2B5EF4-FFF2-40B4-BE49-F238E27FC236}">
                <a16:creationId xmlns:a16="http://schemas.microsoft.com/office/drawing/2014/main" id="{0884AC25-85C3-42FA-AAB8-29EEC3151642}"/>
              </a:ext>
            </a:extLst>
          </p:cNvPr>
          <p:cNvSpPr>
            <a:spLocks xmlns:a="http://schemas.openxmlformats.org/drawingml/2006/main" noGrp="1"/>
          </p:cNvSpPr>
          <p:nvPr/>
        </p:nvSpPr>
        <p:spPr>
          <a:xfrm xmlns:a="http://schemas.openxmlformats.org/drawingml/2006/main">
            <a:off x="7905750" y="4991100"/>
            <a:ext cx="3238500" cy="323850"/>
          </a:xfrm>
          <a:prstGeom xmlns:a="http://schemas.openxmlformats.org/drawingml/2006/main" prst="roundRect">
            <a:avLst>
              <a:gd name="adj" fmla="val 23529"/>
            </a:avLst>
          </a:prstGeom>
          <a:solidFill xmlns:a="http://schemas.openxmlformats.org/drawingml/2006/main">
            <a:srgbClr val="FBE3E3"/>
          </a:solidFill>
          <a:ln xmlns:a="http://schemas.openxmlformats.org/drawingml/2006/main" w="0">
            <a:solidFill>
              <a:srgbClr val="FBE3E3"/>
            </a:solidFill>
            <a:prstDash val="solid"/>
          </a:ln>
        </p:spPr>
      </p:sp>
      <p:sp>
        <p:nvSpPr>
          <p:cNvPr id="18" name="">
            <a:extLst xmlns:a="http://schemas.openxmlformats.org/drawingml/2006/main">
              <a:ext uri="{FF2B5EF4-FFF2-40B4-BE49-F238E27FC236}">
                <a16:creationId xmlns:a16="http://schemas.microsoft.com/office/drawing/2014/main" id="{8BD83419-AE75-4E98-B83E-A1937D952DAC}"/>
              </a:ext>
            </a:extLst>
          </p:cNvPr>
          <p:cNvSpPr>
            <a:spLocks xmlns:a="http://schemas.openxmlformats.org/drawingml/2006/main" noGrp="1"/>
          </p:cNvSpPr>
          <p:nvPr/>
        </p:nvSpPr>
        <p:spPr>
          <a:xfrm xmlns:a="http://schemas.openxmlformats.org/drawingml/2006/main">
            <a:off x="7905750" y="5057775"/>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C94E4E"/>
                </a:solidFill>
                <a:latin typeface="Arial"/>
                <a:ea typeface="Arial"/>
                <a:cs typeface="Arial"/>
              </a:defRPr>
            </a:pPr>
            <a:r>
              <a:rPr sz="975" b="1" i="0">
                <a:solidFill>
                  <a:srgbClr val="C94E4E"/>
                </a:solidFill>
                <a:latin typeface="Arial"/>
                <a:ea typeface="Arial"/>
                <a:cs typeface="Arial"/>
              </a:rPr>
              <a:t>ASCO → somatic cancer guidance later</a:t>
            </a:r>
          </a:p>
        </p:txBody>
      </p:sp>
      <p:sp>
        <p:nvSpPr>
          <p:cNvPr id="19" name="">
            <a:extLst xmlns:a="http://schemas.openxmlformats.org/drawingml/2006/main">
              <a:ext uri="{FF2B5EF4-FFF2-40B4-BE49-F238E27FC236}">
                <a16:creationId xmlns:a16="http://schemas.microsoft.com/office/drawing/2014/main" id="{735B98AB-7369-4578-86D4-6813F7C91AE5}"/>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Li et al. 2017</a:t>
            </a:r>
          </a:p>
        </p:txBody>
      </p:sp>
      <p:sp>
        <p:nvSpPr>
          <p:cNvPr id="20" name="">
            <a:extLst xmlns:a="http://schemas.openxmlformats.org/drawingml/2006/main">
              <a:ext uri="{FF2B5EF4-FFF2-40B4-BE49-F238E27FC236}">
                <a16:creationId xmlns:a16="http://schemas.microsoft.com/office/drawing/2014/main" id="{B8192BA0-D48F-43A1-A015-5970189D7D64}"/>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17</a:t>
            </a:r>
          </a:p>
        </p:txBody>
      </p:sp>
    </p:spTree>
    <p:extLst>
      <p:ext uri="{BB962C8B-B14F-4D97-AF65-F5344CB8AC3E}">
        <p14:creationId xmlns:p14="http://schemas.microsoft.com/office/powerpoint/2010/main" val="17582420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C3697E-A553-4DBA-8D1C-67F4B9E437C6}"/>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STANDARDS ARE NOT IDENTICAL TO REGULATION</a:t>
            </a:r>
          </a:p>
        </p:txBody>
      </p:sp>
      <p:sp>
        <p:nvSpPr>
          <p:cNvPr id="2" name="">
            <a:extLst xmlns:a="http://schemas.openxmlformats.org/drawingml/2006/main">
              <a:ext uri="{FF2B5EF4-FFF2-40B4-BE49-F238E27FC236}">
                <a16:creationId xmlns:a16="http://schemas.microsoft.com/office/drawing/2014/main" id="{9AF2D513-5444-4638-A7CF-A4404CA49BB4}"/>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Guidelines support judgment; accreditation checks laboratory quality</a:t>
            </a:r>
          </a:p>
        </p:txBody>
      </p:sp>
      <p:cxnSp>
        <p:nvCxnSpPr>
          <p:cNvPr id="2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4C51CB7D-24C1-467D-8343-170B5F6C68E2}"/>
              </a:ext>
            </a:extLst>
          </p:cNvPr>
          <p:cNvSpPr>
            <a:spLocks xmlns:a="http://schemas.openxmlformats.org/drawingml/2006/main" noGrp="1"/>
          </p:cNvSpPr>
          <p:nvPr/>
        </p:nvSpPr>
        <p:spPr>
          <a:xfrm xmlns:a="http://schemas.openxmlformats.org/drawingml/2006/main">
            <a:off x="495300" y="16954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D6CDF"/>
                </a:solidFill>
                <a:latin typeface="Arial"/>
                <a:ea typeface="Arial"/>
                <a:cs typeface="Arial"/>
              </a:defRPr>
            </a:pPr>
            <a:r>
              <a:rPr sz="1350" b="1" i="0">
                <a:solidFill>
                  <a:srgbClr val="2D6CDF"/>
                </a:solidFill>
                <a:latin typeface="Arial"/>
                <a:ea typeface="Arial"/>
                <a:cs typeface="Arial"/>
              </a:rPr>
              <a:t>Professional guidance</a:t>
            </a:r>
          </a:p>
        </p:txBody>
      </p:sp>
      <p:sp>
        <p:nvSpPr>
          <p:cNvPr id="5" name="">
            <a:extLst xmlns:a="http://schemas.openxmlformats.org/drawingml/2006/main">
              <a:ext uri="{FF2B5EF4-FFF2-40B4-BE49-F238E27FC236}">
                <a16:creationId xmlns:a16="http://schemas.microsoft.com/office/drawing/2014/main" id="{6B903BE6-2605-4C4E-A4C6-D6E5A86522D5}"/>
              </a:ext>
            </a:extLst>
          </p:cNvPr>
          <p:cNvSpPr>
            <a:spLocks xmlns:a="http://schemas.openxmlformats.org/drawingml/2006/main" noGrp="1"/>
          </p:cNvSpPr>
          <p:nvPr/>
        </p:nvSpPr>
        <p:spPr>
          <a:xfrm xmlns:a="http://schemas.openxmlformats.org/drawingml/2006/main">
            <a:off x="3048000" y="16954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How experts recommend interpreting evidence</a:t>
            </a:r>
          </a:p>
        </p:txBody>
      </p:sp>
      <p:sp>
        <p:nvSpPr>
          <p:cNvPr id="6" name="">
            <a:extLst xmlns:a="http://schemas.openxmlformats.org/drawingml/2006/main">
              <a:ext uri="{FF2B5EF4-FFF2-40B4-BE49-F238E27FC236}">
                <a16:creationId xmlns:a16="http://schemas.microsoft.com/office/drawing/2014/main" id="{E8D4F776-6A35-44E0-818E-CA868C44D49F}"/>
              </a:ext>
            </a:extLst>
          </p:cNvPr>
          <p:cNvSpPr>
            <a:spLocks xmlns:a="http://schemas.openxmlformats.org/drawingml/2006/main" noGrp="1"/>
          </p:cNvSpPr>
          <p:nvPr/>
        </p:nvSpPr>
        <p:spPr>
          <a:xfrm xmlns:a="http://schemas.openxmlformats.org/drawingml/2006/main">
            <a:off x="8439150" y="169545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36273"/>
                </a:solidFill>
                <a:latin typeface="Arial"/>
                <a:ea typeface="Arial"/>
                <a:cs typeface="Arial"/>
              </a:defRPr>
            </a:pPr>
            <a:r>
              <a:rPr sz="1350" b="0" i="0">
                <a:solidFill>
                  <a:srgbClr val="536273"/>
                </a:solidFill>
                <a:latin typeface="Arial"/>
                <a:ea typeface="Arial"/>
                <a:cs typeface="Arial"/>
              </a:rPr>
              <a:t>ACMG/AMP • ClinGen</a:t>
            </a:r>
          </a:p>
        </p:txBody>
      </p:sp>
      <p:cxnSp>
        <p:nvCxnSpPr>
          <p:cNvPr id="27" name=""/>
          <p:cNvCxnSpPr/>
          <p:nvPr/>
        </p:nvCxnSpPr>
        <p:spPr>
          <a:xfrm xmlns:a="http://schemas.openxmlformats.org/drawingml/2006/main">
            <a:off x="495300" y="2438400"/>
            <a:ext cx="1097280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C43CA7C6-F237-4885-82E0-DB603EEA5CD5}"/>
              </a:ext>
            </a:extLst>
          </p:cNvPr>
          <p:cNvSpPr>
            <a:spLocks xmlns:a="http://schemas.openxmlformats.org/drawingml/2006/main" noGrp="1"/>
          </p:cNvSpPr>
          <p:nvPr/>
        </p:nvSpPr>
        <p:spPr>
          <a:xfrm xmlns:a="http://schemas.openxmlformats.org/drawingml/2006/main">
            <a:off x="495300" y="26860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756C2"/>
                </a:solidFill>
                <a:latin typeface="Arial"/>
                <a:ea typeface="Arial"/>
                <a:cs typeface="Arial"/>
              </a:defRPr>
            </a:pPr>
            <a:r>
              <a:rPr sz="1350" b="1" i="0">
                <a:solidFill>
                  <a:srgbClr val="7756C2"/>
                </a:solidFill>
                <a:latin typeface="Arial"/>
                <a:ea typeface="Arial"/>
                <a:cs typeface="Arial"/>
              </a:rPr>
              <a:t>Accreditation / proficiency</a:t>
            </a:r>
          </a:p>
        </p:txBody>
      </p:sp>
      <p:sp>
        <p:nvSpPr>
          <p:cNvPr id="9" name="">
            <a:extLst xmlns:a="http://schemas.openxmlformats.org/drawingml/2006/main">
              <a:ext uri="{FF2B5EF4-FFF2-40B4-BE49-F238E27FC236}">
                <a16:creationId xmlns:a16="http://schemas.microsoft.com/office/drawing/2014/main" id="{F04C9F83-54DB-4AB9-B8B3-8A300794D13A}"/>
              </a:ext>
            </a:extLst>
          </p:cNvPr>
          <p:cNvSpPr>
            <a:spLocks xmlns:a="http://schemas.openxmlformats.org/drawingml/2006/main" noGrp="1"/>
          </p:cNvSpPr>
          <p:nvPr/>
        </p:nvSpPr>
        <p:spPr>
          <a:xfrm xmlns:a="http://schemas.openxmlformats.org/drawingml/2006/main">
            <a:off x="3048000" y="26860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Whether a laboratory quality system meets defined requirements</a:t>
            </a:r>
          </a:p>
        </p:txBody>
      </p:sp>
      <p:sp>
        <p:nvSpPr>
          <p:cNvPr id="10" name="">
            <a:extLst xmlns:a="http://schemas.openxmlformats.org/drawingml/2006/main">
              <a:ext uri="{FF2B5EF4-FFF2-40B4-BE49-F238E27FC236}">
                <a16:creationId xmlns:a16="http://schemas.microsoft.com/office/drawing/2014/main" id="{74C97029-AE99-4BB6-9221-0CDFCE424CBC}"/>
              </a:ext>
            </a:extLst>
          </p:cNvPr>
          <p:cNvSpPr>
            <a:spLocks xmlns:a="http://schemas.openxmlformats.org/drawingml/2006/main" noGrp="1"/>
          </p:cNvSpPr>
          <p:nvPr/>
        </p:nvSpPr>
        <p:spPr>
          <a:xfrm xmlns:a="http://schemas.openxmlformats.org/drawingml/2006/main">
            <a:off x="8439150" y="268605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36273"/>
                </a:solidFill>
                <a:latin typeface="Arial"/>
                <a:ea typeface="Arial"/>
                <a:cs typeface="Arial"/>
              </a:defRPr>
            </a:pPr>
            <a:r>
              <a:rPr sz="1350" b="0" i="0">
                <a:solidFill>
                  <a:srgbClr val="536273"/>
                </a:solidFill>
                <a:latin typeface="Arial"/>
                <a:ea typeface="Arial"/>
                <a:cs typeface="Arial"/>
              </a:rPr>
              <a:t>CAP and other national systems</a:t>
            </a:r>
          </a:p>
        </p:txBody>
      </p:sp>
      <p:cxnSp>
        <p:nvCxnSpPr>
          <p:cNvPr id="31" name=""/>
          <p:cNvCxnSpPr/>
          <p:nvPr/>
        </p:nvCxnSpPr>
        <p:spPr>
          <a:xfrm xmlns:a="http://schemas.openxmlformats.org/drawingml/2006/main">
            <a:off x="495300" y="3429000"/>
            <a:ext cx="10972800" cy="0"/>
          </a:xfrm>
          <a:prstGeom xmlns:a="http://schemas.openxmlformats.org/drawingml/2006/main" prst="straightConnector1">
            <a:avLst/>
          </a:prstGeom>
          <a:ln xmlns:a="http://schemas.openxmlformats.org/drawingml/2006/main" w="9525">
            <a:solidFill>
              <a:srgbClr val="D6DEE7"/>
            </a:solidFill>
            <a:prstDash val="solid"/>
          </a:ln>
        </p:spPr>
      </p:cxnSp>
      <p:sp>
        <p:nvSpPr>
          <p:cNvPr id="12" name="">
            <a:extLst xmlns:a="http://schemas.openxmlformats.org/drawingml/2006/main">
              <a:ext uri="{FF2B5EF4-FFF2-40B4-BE49-F238E27FC236}">
                <a16:creationId xmlns:a16="http://schemas.microsoft.com/office/drawing/2014/main" id="{477115F7-208A-4D6B-970F-2DA6ACBFBD3E}"/>
              </a:ext>
            </a:extLst>
          </p:cNvPr>
          <p:cNvSpPr>
            <a:spLocks xmlns:a="http://schemas.openxmlformats.org/drawingml/2006/main" noGrp="1"/>
          </p:cNvSpPr>
          <p:nvPr/>
        </p:nvSpPr>
        <p:spPr>
          <a:xfrm xmlns:a="http://schemas.openxmlformats.org/drawingml/2006/main">
            <a:off x="495300" y="36766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C94E4E"/>
                </a:solidFill>
                <a:latin typeface="Arial"/>
                <a:ea typeface="Arial"/>
                <a:cs typeface="Arial"/>
              </a:defRPr>
            </a:pPr>
            <a:r>
              <a:rPr sz="1350" b="1" i="0">
                <a:solidFill>
                  <a:srgbClr val="C94E4E"/>
                </a:solidFill>
                <a:latin typeface="Arial"/>
                <a:ea typeface="Arial"/>
                <a:cs typeface="Arial"/>
              </a:rPr>
              <a:t>Legal regulation</a:t>
            </a:r>
          </a:p>
        </p:txBody>
      </p:sp>
      <p:sp>
        <p:nvSpPr>
          <p:cNvPr id="13" name="">
            <a:extLst xmlns:a="http://schemas.openxmlformats.org/drawingml/2006/main">
              <a:ext uri="{FF2B5EF4-FFF2-40B4-BE49-F238E27FC236}">
                <a16:creationId xmlns:a16="http://schemas.microsoft.com/office/drawing/2014/main" id="{9FFC9A7C-9A0D-44F5-A0BA-128C9194ACE9}"/>
              </a:ext>
            </a:extLst>
          </p:cNvPr>
          <p:cNvSpPr>
            <a:spLocks xmlns:a="http://schemas.openxmlformats.org/drawingml/2006/main" noGrp="1"/>
          </p:cNvSpPr>
          <p:nvPr/>
        </p:nvSpPr>
        <p:spPr>
          <a:xfrm xmlns:a="http://schemas.openxmlformats.org/drawingml/2006/main">
            <a:off x="3048000" y="36766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What a jurisdiction legally requires</a:t>
            </a:r>
          </a:p>
        </p:txBody>
      </p:sp>
      <p:sp>
        <p:nvSpPr>
          <p:cNvPr id="14" name="">
            <a:extLst xmlns:a="http://schemas.openxmlformats.org/drawingml/2006/main">
              <a:ext uri="{FF2B5EF4-FFF2-40B4-BE49-F238E27FC236}">
                <a16:creationId xmlns:a16="http://schemas.microsoft.com/office/drawing/2014/main" id="{61C3339C-DD59-4229-946B-16C76EAB96C2}"/>
              </a:ext>
            </a:extLst>
          </p:cNvPr>
          <p:cNvSpPr>
            <a:spLocks xmlns:a="http://schemas.openxmlformats.org/drawingml/2006/main" noGrp="1"/>
          </p:cNvSpPr>
          <p:nvPr/>
        </p:nvSpPr>
        <p:spPr>
          <a:xfrm xmlns:a="http://schemas.openxmlformats.org/drawingml/2006/main">
            <a:off x="8439150" y="367665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36273"/>
                </a:solidFill>
                <a:latin typeface="Arial"/>
                <a:ea typeface="Arial"/>
                <a:cs typeface="Arial"/>
              </a:defRPr>
            </a:pPr>
            <a:r>
              <a:rPr sz="1350" b="0" i="0">
                <a:solidFill>
                  <a:srgbClr val="536273"/>
                </a:solidFill>
                <a:latin typeface="Arial"/>
                <a:ea typeface="Arial"/>
                <a:cs typeface="Arial"/>
              </a:rPr>
              <a:t>Varies by country</a:t>
            </a:r>
          </a:p>
        </p:txBody>
      </p:sp>
      <p:cxnSp>
        <p:nvCxnSpPr>
          <p:cNvPr id="35" name=""/>
          <p:cNvCxnSpPr/>
          <p:nvPr/>
        </p:nvCxnSpPr>
        <p:spPr>
          <a:xfrm xmlns:a="http://schemas.openxmlformats.org/drawingml/2006/main">
            <a:off x="495300" y="4419600"/>
            <a:ext cx="10972800" cy="0"/>
          </a:xfrm>
          <a:prstGeom xmlns:a="http://schemas.openxmlformats.org/drawingml/2006/main" prst="straightConnector1">
            <a:avLst/>
          </a:prstGeom>
          <a:ln xmlns:a="http://schemas.openxmlformats.org/drawingml/2006/main" w="9525">
            <a:solidFill>
              <a:srgbClr val="D6DEE7"/>
            </a:solidFill>
            <a:prstDash val="solid"/>
          </a:ln>
        </p:spPr>
      </p:cxnSp>
      <p:sp>
        <p:nvSpPr>
          <p:cNvPr id="16" name="">
            <a:extLst xmlns:a="http://schemas.openxmlformats.org/drawingml/2006/main">
              <a:ext uri="{FF2B5EF4-FFF2-40B4-BE49-F238E27FC236}">
                <a16:creationId xmlns:a16="http://schemas.microsoft.com/office/drawing/2014/main" id="{7A82FB22-8FE7-437D-A0A8-1CA00AEB4273}"/>
              </a:ext>
            </a:extLst>
          </p:cNvPr>
          <p:cNvSpPr>
            <a:spLocks xmlns:a="http://schemas.openxmlformats.org/drawingml/2006/main" noGrp="1"/>
          </p:cNvSpPr>
          <p:nvPr/>
        </p:nvSpPr>
        <p:spPr>
          <a:xfrm xmlns:a="http://schemas.openxmlformats.org/drawingml/2006/main">
            <a:off x="495300" y="46672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59B64"/>
                </a:solidFill>
                <a:latin typeface="Arial"/>
                <a:ea typeface="Arial"/>
                <a:cs typeface="Arial"/>
              </a:defRPr>
            </a:pPr>
            <a:r>
              <a:rPr sz="1350" b="1" i="0">
                <a:solidFill>
                  <a:srgbClr val="359B64"/>
                </a:solidFill>
                <a:latin typeface="Arial"/>
                <a:ea typeface="Arial"/>
                <a:cs typeface="Arial"/>
              </a:rPr>
              <a:t>Clinical responsibility</a:t>
            </a:r>
          </a:p>
        </p:txBody>
      </p:sp>
      <p:sp>
        <p:nvSpPr>
          <p:cNvPr id="17" name="">
            <a:extLst xmlns:a="http://schemas.openxmlformats.org/drawingml/2006/main">
              <a:ext uri="{FF2B5EF4-FFF2-40B4-BE49-F238E27FC236}">
                <a16:creationId xmlns:a16="http://schemas.microsoft.com/office/drawing/2014/main" id="{BBD70AFB-3090-4D80-8F2E-3C3ED65D4EA3}"/>
              </a:ext>
            </a:extLst>
          </p:cNvPr>
          <p:cNvSpPr>
            <a:spLocks xmlns:a="http://schemas.openxmlformats.org/drawingml/2006/main" noGrp="1"/>
          </p:cNvSpPr>
          <p:nvPr/>
        </p:nvSpPr>
        <p:spPr>
          <a:xfrm xmlns:a="http://schemas.openxmlformats.org/drawingml/2006/main">
            <a:off x="3048000" y="46672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How evidence is used for an individual patient</a:t>
            </a:r>
          </a:p>
        </p:txBody>
      </p:sp>
      <p:sp>
        <p:nvSpPr>
          <p:cNvPr id="18" name="">
            <a:extLst xmlns:a="http://schemas.openxmlformats.org/drawingml/2006/main">
              <a:ext uri="{FF2B5EF4-FFF2-40B4-BE49-F238E27FC236}">
                <a16:creationId xmlns:a16="http://schemas.microsoft.com/office/drawing/2014/main" id="{D940D452-7B66-4DC1-B08C-328D7C38DFF0}"/>
              </a:ext>
            </a:extLst>
          </p:cNvPr>
          <p:cNvSpPr>
            <a:spLocks xmlns:a="http://schemas.openxmlformats.org/drawingml/2006/main" noGrp="1"/>
          </p:cNvSpPr>
          <p:nvPr/>
        </p:nvSpPr>
        <p:spPr>
          <a:xfrm xmlns:a="http://schemas.openxmlformats.org/drawingml/2006/main">
            <a:off x="8439150" y="4667250"/>
            <a:ext cx="3028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36273"/>
                </a:solidFill>
                <a:latin typeface="Arial"/>
                <a:ea typeface="Arial"/>
                <a:cs typeface="Arial"/>
              </a:defRPr>
            </a:pPr>
            <a:r>
              <a:rPr sz="1350" b="0" i="0">
                <a:solidFill>
                  <a:srgbClr val="536273"/>
                </a:solidFill>
                <a:latin typeface="Arial"/>
                <a:ea typeface="Arial"/>
                <a:cs typeface="Arial"/>
              </a:rPr>
              <a:t>Qualified laboratory and clinical professionals</a:t>
            </a:r>
          </a:p>
        </p:txBody>
      </p:sp>
      <p:cxnSp>
        <p:nvCxnSpPr>
          <p:cNvPr id="39" name=""/>
          <p:cNvCxnSpPr/>
          <p:nvPr/>
        </p:nvCxnSpPr>
        <p:spPr>
          <a:xfrm xmlns:a="http://schemas.openxmlformats.org/drawingml/2006/main">
            <a:off x="495300" y="5410200"/>
            <a:ext cx="10972800" cy="0"/>
          </a:xfrm>
          <a:prstGeom xmlns:a="http://schemas.openxmlformats.org/drawingml/2006/main" prst="straightConnector1">
            <a:avLst/>
          </a:prstGeom>
          <a:ln xmlns:a="http://schemas.openxmlformats.org/drawingml/2006/main" w="9525">
            <a:solidFill>
              <a:srgbClr val="D6DEE7"/>
            </a:solidFill>
            <a:prstDash val="solid"/>
          </a:ln>
        </p:spPr>
      </p:cxnSp>
      <p:sp>
        <p:nvSpPr>
          <p:cNvPr id="20" name="">
            <a:extLst xmlns:a="http://schemas.openxmlformats.org/drawingml/2006/main">
              <a:ext uri="{FF2B5EF4-FFF2-40B4-BE49-F238E27FC236}">
                <a16:creationId xmlns:a16="http://schemas.microsoft.com/office/drawing/2014/main" id="{B9A00E93-B356-4599-92D5-C3123EF9B0F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18</a:t>
            </a:r>
          </a:p>
        </p:txBody>
      </p:sp>
    </p:spTree>
    <p:extLst>
      <p:ext uri="{BB962C8B-B14F-4D97-AF65-F5344CB8AC3E}">
        <p14:creationId xmlns:p14="http://schemas.microsoft.com/office/powerpoint/2010/main" val="17037290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67CF9B2-C853-41AE-851A-FB907ABD3FD4}"/>
              </a:ext>
            </a:extLst>
          </p:cNvPr>
          <p:cNvSpPr>
            <a:spLocks xmlns:a="http://schemas.openxmlformats.org/drawingml/2006/main" noGrp="1"/>
          </p:cNvSpPr>
          <p:nvPr/>
        </p:nvSpPr>
        <p:spPr>
          <a:xfrm xmlns:a="http://schemas.openxmlformats.org/drawingml/2006/main">
            <a:off x="400050" y="400050"/>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4500" b="1" i="0">
                <a:solidFill>
                  <a:srgbClr val="2D6CDF"/>
                </a:solidFill>
                <a:latin typeface="Arial"/>
                <a:ea typeface="Arial"/>
                <a:cs typeface="Arial"/>
              </a:defRPr>
            </a:pPr>
            <a:r>
              <a:rPr sz="4500" b="1" i="0">
                <a:solidFill>
                  <a:srgbClr val="2D6CDF"/>
                </a:solidFill>
                <a:latin typeface="Arial"/>
                <a:ea typeface="Arial"/>
                <a:cs typeface="Arial"/>
              </a:rPr>
              <a:t>02</a:t>
            </a:r>
          </a:p>
        </p:txBody>
      </p:sp>
      <p:cxnSp>
        <p:nvCxnSpPr>
          <p:cNvPr id="8" name=""/>
          <p:cNvCxnSpPr/>
          <p:nvPr/>
        </p:nvCxnSpPr>
        <p:spPr>
          <a:xfrm xmlns:a="http://schemas.openxmlformats.org/drawingml/2006/main">
            <a:off x="400050" y="13335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3" name="">
            <a:extLst xmlns:a="http://schemas.openxmlformats.org/drawingml/2006/main">
              <a:ext uri="{FF2B5EF4-FFF2-40B4-BE49-F238E27FC236}">
                <a16:creationId xmlns:a16="http://schemas.microsoft.com/office/drawing/2014/main" id="{A2417578-F449-4C04-B307-862D499967AB}"/>
              </a:ext>
            </a:extLst>
          </p:cNvPr>
          <p:cNvSpPr>
            <a:spLocks xmlns:a="http://schemas.openxmlformats.org/drawingml/2006/main" noGrp="1"/>
          </p:cNvSpPr>
          <p:nvPr/>
        </p:nvSpPr>
        <p:spPr>
          <a:xfrm xmlns:a="http://schemas.openxmlformats.org/drawingml/2006/main">
            <a:off x="400050" y="17145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2D6CDF"/>
                </a:solidFill>
                <a:latin typeface="Arial"/>
                <a:ea typeface="Arial"/>
                <a:cs typeface="Arial"/>
              </a:defRPr>
            </a:pPr>
            <a:r>
              <a:rPr sz="1125" b="1" i="0">
                <a:solidFill>
                  <a:srgbClr val="2D6CDF"/>
                </a:solidFill>
                <a:latin typeface="Arial"/>
                <a:ea typeface="Arial"/>
                <a:cs typeface="Arial"/>
              </a:rPr>
              <a:t>THE 2015 CONSENSUS</a:t>
            </a:r>
          </a:p>
        </p:txBody>
      </p:sp>
      <p:sp>
        <p:nvSpPr>
          <p:cNvPr id="4" name="">
            <a:extLst xmlns:a="http://schemas.openxmlformats.org/drawingml/2006/main">
              <a:ext uri="{FF2B5EF4-FFF2-40B4-BE49-F238E27FC236}">
                <a16:creationId xmlns:a16="http://schemas.microsoft.com/office/drawing/2014/main" id="{639D2BDC-5953-4D20-B1DE-4D38934C3CB3}"/>
              </a:ext>
            </a:extLst>
          </p:cNvPr>
          <p:cNvSpPr>
            <a:spLocks xmlns:a="http://schemas.openxmlformats.org/drawingml/2006/main" noGrp="1"/>
          </p:cNvSpPr>
          <p:nvPr/>
        </p:nvSpPr>
        <p:spPr>
          <a:xfrm xmlns:a="http://schemas.openxmlformats.org/drawingml/2006/main">
            <a:off x="400050" y="2286000"/>
            <a:ext cx="10382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0B1F33"/>
                </a:solidFill>
                <a:latin typeface="Arial"/>
                <a:ea typeface="Arial"/>
                <a:cs typeface="Arial"/>
              </a:defRPr>
            </a:pPr>
            <a:r>
              <a:rPr sz="4050" b="1" i="0">
                <a:solidFill>
                  <a:srgbClr val="0B1F33"/>
                </a:solidFill>
                <a:latin typeface="Arial"/>
                <a:ea typeface="Arial"/>
                <a:cs typeface="Arial"/>
              </a:rPr>
              <a:t>The final class is built from weighted evidence</a:t>
            </a:r>
          </a:p>
        </p:txBody>
      </p:sp>
      <p:sp>
        <p:nvSpPr>
          <p:cNvPr id="5" name="">
            <a:extLst xmlns:a="http://schemas.openxmlformats.org/drawingml/2006/main">
              <a:ext uri="{FF2B5EF4-FFF2-40B4-BE49-F238E27FC236}">
                <a16:creationId xmlns:a16="http://schemas.microsoft.com/office/drawing/2014/main" id="{96FFD708-ECCC-43EC-9D1A-EC2E528DA3CF}"/>
              </a:ext>
            </a:extLst>
          </p:cNvPr>
          <p:cNvSpPr>
            <a:spLocks xmlns:a="http://schemas.openxmlformats.org/drawingml/2006/main" noGrp="1"/>
          </p:cNvSpPr>
          <p:nvPr/>
        </p:nvSpPr>
        <p:spPr>
          <a:xfrm xmlns:a="http://schemas.openxmlformats.org/drawingml/2006/main">
            <a:off x="400050" y="4552950"/>
            <a:ext cx="952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536273"/>
                </a:solidFill>
                <a:latin typeface="Arial"/>
                <a:ea typeface="Arial"/>
                <a:cs typeface="Arial"/>
              </a:defRPr>
            </a:pPr>
            <a:r>
              <a:rPr sz="1800" b="0" i="0">
                <a:solidFill>
                  <a:srgbClr val="536273"/>
                </a:solidFill>
                <a:latin typeface="Arial"/>
                <a:ea typeface="Arial"/>
                <a:cs typeface="Arial"/>
              </a:rPr>
              <a:t>How did the workgroup create a common system?</a:t>
            </a:r>
          </a:p>
        </p:txBody>
      </p:sp>
      <p:sp>
        <p:nvSpPr>
          <p:cNvPr id="6" name="">
            <a:extLst xmlns:a="http://schemas.openxmlformats.org/drawingml/2006/main">
              <a:ext uri="{FF2B5EF4-FFF2-40B4-BE49-F238E27FC236}">
                <a16:creationId xmlns:a16="http://schemas.microsoft.com/office/drawing/2014/main" id="{09263324-4BB9-442E-BD35-018B7D0CE8D9}"/>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19</a:t>
            </a:r>
          </a:p>
        </p:txBody>
      </p:sp>
    </p:spTree>
    <p:extLst>
      <p:ext uri="{BB962C8B-B14F-4D97-AF65-F5344CB8AC3E}">
        <p14:creationId xmlns:p14="http://schemas.microsoft.com/office/powerpoint/2010/main" val="26632627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52F840-7531-4BE9-804A-8A73BBD6FF51}"/>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LANDMARK GUIDELINE</a:t>
            </a:r>
          </a:p>
        </p:txBody>
      </p:sp>
      <p:sp>
        <p:nvSpPr>
          <p:cNvPr id="2" name="">
            <a:extLst xmlns:a="http://schemas.openxmlformats.org/drawingml/2006/main">
              <a:ext uri="{FF2B5EF4-FFF2-40B4-BE49-F238E27FC236}">
                <a16:creationId xmlns:a16="http://schemas.microsoft.com/office/drawing/2014/main" id="{C5A54100-C3C0-49BD-8B94-2E8AE5DC1A67}"/>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paper solved two problems: words and weights</a:t>
            </a:r>
          </a:p>
        </p:txBody>
      </p:sp>
      <p:cxnSp>
        <p:nvCxnSpPr>
          <p:cNvPr id="21"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9D523CE9-002C-484B-9A9A-3484C71A6F9C}"/>
              </a:ext>
            </a:extLst>
          </p:cNvPr>
          <p:cNvSpPr>
            <a:spLocks xmlns:a="http://schemas.openxmlformats.org/drawingml/2006/main" noGrp="1"/>
          </p:cNvSpPr>
          <p:nvPr/>
        </p:nvSpPr>
        <p:spPr>
          <a:xfrm xmlns:a="http://schemas.openxmlformats.org/drawingml/2006/main">
            <a:off x="666750" y="1809750"/>
            <a:ext cx="4762500" cy="3581400"/>
          </a:xfrm>
          <a:prstGeom xmlns:a="http://schemas.openxmlformats.org/drawingml/2006/main" prst="roundRect">
            <a:avLst>
              <a:gd name="adj" fmla="val 2128"/>
            </a:avLst>
          </a:prstGeom>
          <a:solidFill xmlns:a="http://schemas.openxmlformats.org/drawingml/2006/main">
            <a:srgbClr val="F3F6F9"/>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FCCEF313-7A5A-4710-851D-4E3AD9D83E48}"/>
              </a:ext>
            </a:extLst>
          </p:cNvPr>
          <p:cNvSpPr>
            <a:spLocks xmlns:a="http://schemas.openxmlformats.org/drawingml/2006/main" noGrp="1"/>
          </p:cNvSpPr>
          <p:nvPr/>
        </p:nvSpPr>
        <p:spPr>
          <a:xfrm xmlns:a="http://schemas.openxmlformats.org/drawingml/2006/main">
            <a:off x="990600" y="21336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2D6CDF"/>
                </a:solidFill>
                <a:latin typeface="Arial"/>
                <a:ea typeface="Arial"/>
                <a:cs typeface="Arial"/>
              </a:defRPr>
            </a:pPr>
            <a:r>
              <a:rPr sz="975" b="1" i="0">
                <a:solidFill>
                  <a:srgbClr val="2D6CDF"/>
                </a:solidFill>
                <a:latin typeface="Arial"/>
                <a:ea typeface="Arial"/>
                <a:cs typeface="Arial"/>
              </a:rPr>
              <a:t>STANDARDS AND GUIDELINES</a:t>
            </a:r>
          </a:p>
        </p:txBody>
      </p:sp>
      <p:sp>
        <p:nvSpPr>
          <p:cNvPr id="6" name="">
            <a:extLst xmlns:a="http://schemas.openxmlformats.org/drawingml/2006/main">
              <a:ext uri="{FF2B5EF4-FFF2-40B4-BE49-F238E27FC236}">
                <a16:creationId xmlns:a16="http://schemas.microsoft.com/office/drawing/2014/main" id="{6F321BE0-E925-4AFB-BEAB-F794BFF79373}"/>
              </a:ext>
            </a:extLst>
          </p:cNvPr>
          <p:cNvSpPr>
            <a:spLocks xmlns:a="http://schemas.openxmlformats.org/drawingml/2006/main" noGrp="1"/>
          </p:cNvSpPr>
          <p:nvPr/>
        </p:nvSpPr>
        <p:spPr>
          <a:xfrm xmlns:a="http://schemas.openxmlformats.org/drawingml/2006/main">
            <a:off x="990600" y="2571750"/>
            <a:ext cx="3905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0B1F33"/>
                </a:solidFill>
                <a:latin typeface="Arial"/>
                <a:ea typeface="Arial"/>
                <a:cs typeface="Arial"/>
              </a:defRPr>
            </a:pPr>
            <a:r>
              <a:rPr sz="2250" b="1" i="0">
                <a:solidFill>
                  <a:srgbClr val="0B1F33"/>
                </a:solidFill>
                <a:latin typeface="Arial"/>
                <a:ea typeface="Arial"/>
                <a:cs typeface="Arial"/>
              </a:rPr>
              <a:t>Standards and guidelines for the interpretation of sequence variants</a:t>
            </a:r>
          </a:p>
        </p:txBody>
      </p:sp>
      <p:sp>
        <p:nvSpPr>
          <p:cNvPr id="7" name="">
            <a:extLst xmlns:a="http://schemas.openxmlformats.org/drawingml/2006/main">
              <a:ext uri="{FF2B5EF4-FFF2-40B4-BE49-F238E27FC236}">
                <a16:creationId xmlns:a16="http://schemas.microsoft.com/office/drawing/2014/main" id="{D2352C49-07D9-4347-A246-C9B4EB7F216A}"/>
              </a:ext>
            </a:extLst>
          </p:cNvPr>
          <p:cNvSpPr>
            <a:spLocks xmlns:a="http://schemas.openxmlformats.org/drawingml/2006/main" noGrp="1"/>
          </p:cNvSpPr>
          <p:nvPr/>
        </p:nvSpPr>
        <p:spPr>
          <a:xfrm xmlns:a="http://schemas.openxmlformats.org/drawingml/2006/main">
            <a:off x="990600" y="40957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536273"/>
                </a:solidFill>
                <a:latin typeface="Arial"/>
                <a:ea typeface="Arial"/>
                <a:cs typeface="Arial"/>
              </a:defRPr>
            </a:pPr>
            <a:r>
              <a:rPr sz="1350" b="0" i="0">
                <a:solidFill>
                  <a:srgbClr val="536273"/>
                </a:solidFill>
                <a:latin typeface="Arial"/>
                <a:ea typeface="Arial"/>
                <a:cs typeface="Arial"/>
              </a:rPr>
              <a:t>A joint consensus recommendation of ACMG and AMP</a:t>
            </a:r>
          </a:p>
        </p:txBody>
      </p:sp>
      <p:sp>
        <p:nvSpPr>
          <p:cNvPr id="8" name="">
            <a:extLst xmlns:a="http://schemas.openxmlformats.org/drawingml/2006/main">
              <a:ext uri="{FF2B5EF4-FFF2-40B4-BE49-F238E27FC236}">
                <a16:creationId xmlns:a16="http://schemas.microsoft.com/office/drawing/2014/main" id="{9F2A8B0B-E214-4044-BB7B-03AA02519C41}"/>
              </a:ext>
            </a:extLst>
          </p:cNvPr>
          <p:cNvSpPr>
            <a:spLocks xmlns:a="http://schemas.openxmlformats.org/drawingml/2006/main" noGrp="1"/>
          </p:cNvSpPr>
          <p:nvPr/>
        </p:nvSpPr>
        <p:spPr>
          <a:xfrm xmlns:a="http://schemas.openxmlformats.org/drawingml/2006/main">
            <a:off x="990600" y="489585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D6CDF"/>
                </a:solidFill>
                <a:latin typeface="Arial"/>
                <a:ea typeface="Arial"/>
                <a:cs typeface="Arial"/>
              </a:defRPr>
            </a:pPr>
            <a:r>
              <a:rPr sz="1050" b="1" i="0">
                <a:solidFill>
                  <a:srgbClr val="2D6CDF"/>
                </a:solidFill>
                <a:latin typeface="Arial"/>
                <a:ea typeface="Arial"/>
                <a:cs typeface="Arial"/>
              </a:rPr>
              <a:t>Richards et al. • Genetics in Medicine • 2015</a:t>
            </a:r>
          </a:p>
        </p:txBody>
      </p:sp>
      <p:sp>
        <p:nvSpPr>
          <p:cNvPr id="9" name="">
            <a:extLst xmlns:a="http://schemas.openxmlformats.org/drawingml/2006/main">
              <a:ext uri="{FF2B5EF4-FFF2-40B4-BE49-F238E27FC236}">
                <a16:creationId xmlns:a16="http://schemas.microsoft.com/office/drawing/2014/main" id="{19D92C77-C509-428E-A825-B65DE9A3E418}"/>
              </a:ext>
            </a:extLst>
          </p:cNvPr>
          <p:cNvSpPr>
            <a:spLocks xmlns:a="http://schemas.openxmlformats.org/drawingml/2006/main" noGrp="1"/>
          </p:cNvSpPr>
          <p:nvPr/>
        </p:nvSpPr>
        <p:spPr>
          <a:xfrm xmlns:a="http://schemas.openxmlformats.org/drawingml/2006/main">
            <a:off x="6191250" y="1924050"/>
            <a:ext cx="4762500" cy="1333500"/>
          </a:xfrm>
          <a:prstGeom xmlns:a="http://schemas.openxmlformats.org/drawingml/2006/main" prst="roundRect">
            <a:avLst>
              <a:gd name="adj" fmla="val 5714"/>
            </a:avLst>
          </a:prstGeom>
          <a:solidFill xmlns:a="http://schemas.openxmlformats.org/drawingml/2006/main">
            <a:srgbClr val="DDF5F3"/>
          </a:solidFill>
          <a:ln xmlns:a="http://schemas.openxmlformats.org/drawingml/2006/main" w="9525">
            <a:solidFill>
              <a:srgbClr val="D6DEE7"/>
            </a:solidFill>
            <a:prstDash val="solid"/>
          </a:ln>
        </p:spPr>
      </p:sp>
      <p:sp>
        <p:nvSpPr>
          <p:cNvPr id="10" name="">
            <a:extLst xmlns:a="http://schemas.openxmlformats.org/drawingml/2006/main">
              <a:ext uri="{FF2B5EF4-FFF2-40B4-BE49-F238E27FC236}">
                <a16:creationId xmlns:a16="http://schemas.microsoft.com/office/drawing/2014/main" id="{832F5025-976D-43F5-944F-C81D48C7DE8C}"/>
              </a:ext>
            </a:extLst>
          </p:cNvPr>
          <p:cNvSpPr>
            <a:spLocks xmlns:a="http://schemas.openxmlformats.org/drawingml/2006/main" noGrp="1"/>
          </p:cNvSpPr>
          <p:nvPr/>
        </p:nvSpPr>
        <p:spPr>
          <a:xfrm xmlns:a="http://schemas.openxmlformats.org/drawingml/2006/main">
            <a:off x="6191250" y="1924050"/>
            <a:ext cx="66675" cy="1333500"/>
          </a:xfrm>
          <a:prstGeom xmlns:a="http://schemas.openxmlformats.org/drawingml/2006/main" prst="roundRect">
            <a:avLst>
              <a:gd name="adj" fmla="val 50000"/>
            </a:avLst>
          </a:prstGeom>
          <a:solidFill xmlns:a="http://schemas.openxmlformats.org/drawingml/2006/main">
            <a:srgbClr val="069C9C"/>
          </a:solidFill>
          <a:ln xmlns:a="http://schemas.openxmlformats.org/drawingml/2006/main" w="0">
            <a:solidFill>
              <a:srgbClr val="069C9C"/>
            </a:solidFill>
            <a:prstDash val="solid"/>
          </a:ln>
        </p:spPr>
      </p:sp>
      <p:sp>
        <p:nvSpPr>
          <p:cNvPr id="11" name="">
            <a:extLst xmlns:a="http://schemas.openxmlformats.org/drawingml/2006/main">
              <a:ext uri="{FF2B5EF4-FFF2-40B4-BE49-F238E27FC236}">
                <a16:creationId xmlns:a16="http://schemas.microsoft.com/office/drawing/2014/main" id="{AB49C5B7-0F7E-444C-B3FC-46943C9F1B43}"/>
              </a:ext>
            </a:extLst>
          </p:cNvPr>
          <p:cNvSpPr>
            <a:spLocks xmlns:a="http://schemas.openxmlformats.org/drawingml/2006/main" noGrp="1"/>
          </p:cNvSpPr>
          <p:nvPr/>
        </p:nvSpPr>
        <p:spPr>
          <a:xfrm xmlns:a="http://schemas.openxmlformats.org/drawingml/2006/main">
            <a:off x="6419850" y="2114550"/>
            <a:ext cx="436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Problem 1: terminology</a:t>
            </a:r>
          </a:p>
        </p:txBody>
      </p:sp>
      <p:sp>
        <p:nvSpPr>
          <p:cNvPr id="12" name="">
            <a:extLst xmlns:a="http://schemas.openxmlformats.org/drawingml/2006/main">
              <a:ext uri="{FF2B5EF4-FFF2-40B4-BE49-F238E27FC236}">
                <a16:creationId xmlns:a16="http://schemas.microsoft.com/office/drawing/2014/main" id="{A5C99AC3-F25C-41F4-B2FE-6705051C3AA7}"/>
              </a:ext>
            </a:extLst>
          </p:cNvPr>
          <p:cNvSpPr>
            <a:spLocks xmlns:a="http://schemas.openxmlformats.org/drawingml/2006/main" noGrp="1"/>
          </p:cNvSpPr>
          <p:nvPr/>
        </p:nvSpPr>
        <p:spPr>
          <a:xfrm xmlns:a="http://schemas.openxmlformats.org/drawingml/2006/main">
            <a:off x="6419850" y="2514600"/>
            <a:ext cx="436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Different words implied different meanings.</a:t>
            </a:r>
          </a:p>
        </p:txBody>
      </p:sp>
      <p:sp>
        <p:nvSpPr>
          <p:cNvPr id="13" name="">
            <a:extLst xmlns:a="http://schemas.openxmlformats.org/drawingml/2006/main">
              <a:ext uri="{FF2B5EF4-FFF2-40B4-BE49-F238E27FC236}">
                <a16:creationId xmlns:a16="http://schemas.microsoft.com/office/drawing/2014/main" id="{E3F9F245-30E9-435C-86CA-947DFC315B91}"/>
              </a:ext>
            </a:extLst>
          </p:cNvPr>
          <p:cNvSpPr>
            <a:spLocks xmlns:a="http://schemas.openxmlformats.org/drawingml/2006/main" noGrp="1"/>
          </p:cNvSpPr>
          <p:nvPr/>
        </p:nvSpPr>
        <p:spPr>
          <a:xfrm xmlns:a="http://schemas.openxmlformats.org/drawingml/2006/main">
            <a:off x="6191250" y="3638550"/>
            <a:ext cx="4762500" cy="1333500"/>
          </a:xfrm>
          <a:prstGeom xmlns:a="http://schemas.openxmlformats.org/drawingml/2006/main" prst="roundRect">
            <a:avLst>
              <a:gd name="adj" fmla="val 5714"/>
            </a:avLst>
          </a:prstGeom>
          <a:solidFill xmlns:a="http://schemas.openxmlformats.org/drawingml/2006/main">
            <a:srgbClr val="FFF1CF"/>
          </a:solidFill>
          <a:ln xmlns:a="http://schemas.openxmlformats.org/drawingml/2006/main" w="9525">
            <a:solidFill>
              <a:srgbClr val="D6DEE7"/>
            </a:solidFill>
            <a:prstDash val="solid"/>
          </a:ln>
        </p:spPr>
      </p:sp>
      <p:sp>
        <p:nvSpPr>
          <p:cNvPr id="14" name="">
            <a:extLst xmlns:a="http://schemas.openxmlformats.org/drawingml/2006/main">
              <a:ext uri="{FF2B5EF4-FFF2-40B4-BE49-F238E27FC236}">
                <a16:creationId xmlns:a16="http://schemas.microsoft.com/office/drawing/2014/main" id="{D1BC4905-8E2C-4B34-A823-D7595EFE665E}"/>
              </a:ext>
            </a:extLst>
          </p:cNvPr>
          <p:cNvSpPr>
            <a:spLocks xmlns:a="http://schemas.openxmlformats.org/drawingml/2006/main" noGrp="1"/>
          </p:cNvSpPr>
          <p:nvPr/>
        </p:nvSpPr>
        <p:spPr>
          <a:xfrm xmlns:a="http://schemas.openxmlformats.org/drawingml/2006/main">
            <a:off x="6191250" y="3638550"/>
            <a:ext cx="66675" cy="1333500"/>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5" name="">
            <a:extLst xmlns:a="http://schemas.openxmlformats.org/drawingml/2006/main">
              <a:ext uri="{FF2B5EF4-FFF2-40B4-BE49-F238E27FC236}">
                <a16:creationId xmlns:a16="http://schemas.microsoft.com/office/drawing/2014/main" id="{AA4A9F6E-3A08-4E50-93B3-7B6A8C7690D6}"/>
              </a:ext>
            </a:extLst>
          </p:cNvPr>
          <p:cNvSpPr>
            <a:spLocks xmlns:a="http://schemas.openxmlformats.org/drawingml/2006/main" noGrp="1"/>
          </p:cNvSpPr>
          <p:nvPr/>
        </p:nvSpPr>
        <p:spPr>
          <a:xfrm xmlns:a="http://schemas.openxmlformats.org/drawingml/2006/main">
            <a:off x="6419850" y="3829050"/>
            <a:ext cx="436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Problem 2: evidence weighting</a:t>
            </a:r>
          </a:p>
        </p:txBody>
      </p:sp>
      <p:sp>
        <p:nvSpPr>
          <p:cNvPr id="16" name="">
            <a:extLst xmlns:a="http://schemas.openxmlformats.org/drawingml/2006/main">
              <a:ext uri="{FF2B5EF4-FFF2-40B4-BE49-F238E27FC236}">
                <a16:creationId xmlns:a16="http://schemas.microsoft.com/office/drawing/2014/main" id="{E3C05E09-EBC6-4A69-83EC-295A7B56055B}"/>
              </a:ext>
            </a:extLst>
          </p:cNvPr>
          <p:cNvSpPr>
            <a:spLocks xmlns:a="http://schemas.openxmlformats.org/drawingml/2006/main" noGrp="1"/>
          </p:cNvSpPr>
          <p:nvPr/>
        </p:nvSpPr>
        <p:spPr>
          <a:xfrm xmlns:a="http://schemas.openxmlformats.org/drawingml/2006/main">
            <a:off x="6419850" y="4229100"/>
            <a:ext cx="4362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Laboratories needed shared criteria and combination rules.</a:t>
            </a:r>
          </a:p>
        </p:txBody>
      </p:sp>
      <p:sp>
        <p:nvSpPr>
          <p:cNvPr id="17" name="">
            <a:extLst xmlns:a="http://schemas.openxmlformats.org/drawingml/2006/main">
              <a:ext uri="{FF2B5EF4-FFF2-40B4-BE49-F238E27FC236}">
                <a16:creationId xmlns:a16="http://schemas.microsoft.com/office/drawing/2014/main" id="{6FAFC072-522F-4ECF-A015-CE414E0FA87F}"/>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Genetics in Medicine 2015. doi:10.1038/gim.2015.30</a:t>
            </a:r>
          </a:p>
        </p:txBody>
      </p:sp>
      <p:sp>
        <p:nvSpPr>
          <p:cNvPr id="18" name="">
            <a:extLst xmlns:a="http://schemas.openxmlformats.org/drawingml/2006/main">
              <a:ext uri="{FF2B5EF4-FFF2-40B4-BE49-F238E27FC236}">
                <a16:creationId xmlns:a16="http://schemas.microsoft.com/office/drawing/2014/main" id="{3B15C909-7B53-497A-8E64-CE6186D4DC0D}"/>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20</a:t>
            </a:r>
          </a:p>
        </p:txBody>
      </p:sp>
    </p:spTree>
    <p:extLst>
      <p:ext uri="{BB962C8B-B14F-4D97-AF65-F5344CB8AC3E}">
        <p14:creationId xmlns:p14="http://schemas.microsoft.com/office/powerpoint/2010/main" val="141811494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B1C9F3-4E23-4305-A39D-8D8C13E39876}"/>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2013–2015 DEVELOPMENT</a:t>
            </a:r>
          </a:p>
        </p:txBody>
      </p:sp>
      <p:sp>
        <p:nvSpPr>
          <p:cNvPr id="2" name="">
            <a:extLst xmlns:a="http://schemas.openxmlformats.org/drawingml/2006/main">
              <a:ext uri="{FF2B5EF4-FFF2-40B4-BE49-F238E27FC236}">
                <a16:creationId xmlns:a16="http://schemas.microsoft.com/office/drawing/2014/main" id="{DC3A1828-D743-46B4-A726-C754345310C0}"/>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335"/>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framework was built through community input and laboratory testing</a:t>
            </a:r>
          </a:p>
        </p:txBody>
      </p:sp>
      <p:cxnSp>
        <p:nvCxnSpPr>
          <p:cNvPr id="25"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cxnSp>
        <p:nvCxnSpPr>
          <p:cNvPr id="26" name=""/>
          <p:cNvCxnSpPr/>
          <p:nvPr/>
        </p:nvCxnSpPr>
        <p:spPr>
          <a:xfrm xmlns:a="http://schemas.openxmlformats.org/drawingml/2006/main">
            <a:off x="819150" y="3333750"/>
            <a:ext cx="10287000" cy="0"/>
          </a:xfrm>
          <a:prstGeom xmlns:a="http://schemas.openxmlformats.org/drawingml/2006/main" prst="straightConnector1">
            <a:avLst/>
          </a:prstGeom>
          <a:ln xmlns:a="http://schemas.openxmlformats.org/drawingml/2006/main" w="19050">
            <a:solidFill>
              <a:srgbClr val="0B1F33"/>
            </a:solidFill>
            <a:prstDash val="solid"/>
          </a:ln>
        </p:spPr>
      </p:cxnSp>
      <p:sp>
        <p:nvSpPr>
          <p:cNvPr id="5" name="">
            <a:extLst xmlns:a="http://schemas.openxmlformats.org/drawingml/2006/main">
              <a:ext uri="{FF2B5EF4-FFF2-40B4-BE49-F238E27FC236}">
                <a16:creationId xmlns:a16="http://schemas.microsoft.com/office/drawing/2014/main" id="{32572AA8-1B7B-4A73-B68D-39A402E07ADD}"/>
              </a:ext>
            </a:extLst>
          </p:cNvPr>
          <p:cNvSpPr>
            <a:spLocks xmlns:a="http://schemas.openxmlformats.org/drawingml/2006/main" noGrp="1"/>
          </p:cNvSpPr>
          <p:nvPr/>
        </p:nvSpPr>
        <p:spPr>
          <a:xfrm xmlns:a="http://schemas.openxmlformats.org/drawingml/2006/main">
            <a:off x="819150" y="3209925"/>
            <a:ext cx="247650" cy="247650"/>
          </a:xfrm>
          <a:prstGeom xmlns:a="http://schemas.openxmlformats.org/drawingml/2006/main" prst="roundRect">
            <a:avLst>
              <a:gd name="adj" fmla="val 30769"/>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DC22F307-E843-4383-A092-6592E5D11964}"/>
              </a:ext>
            </a:extLst>
          </p:cNvPr>
          <p:cNvSpPr>
            <a:spLocks xmlns:a="http://schemas.openxmlformats.org/drawingml/2006/main" noGrp="1"/>
          </p:cNvSpPr>
          <p:nvPr/>
        </p:nvSpPr>
        <p:spPr>
          <a:xfrm xmlns:a="http://schemas.openxmlformats.org/drawingml/2006/main">
            <a:off x="742950" y="25717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2D6CDF"/>
                </a:solidFill>
                <a:latin typeface="Arial"/>
                <a:ea typeface="Arial"/>
                <a:cs typeface="Arial"/>
              </a:defRPr>
            </a:pPr>
            <a:r>
              <a:rPr sz="1200" b="1" i="0">
                <a:solidFill>
                  <a:srgbClr val="2D6CDF"/>
                </a:solidFill>
                <a:latin typeface="Arial"/>
                <a:ea typeface="Arial"/>
                <a:cs typeface="Arial"/>
              </a:rPr>
              <a:t>FEB 2013</a:t>
            </a:r>
          </a:p>
        </p:txBody>
      </p:sp>
      <p:sp>
        <p:nvSpPr>
          <p:cNvPr id="7" name="">
            <a:extLst xmlns:a="http://schemas.openxmlformats.org/drawingml/2006/main">
              <a:ext uri="{FF2B5EF4-FFF2-40B4-BE49-F238E27FC236}">
                <a16:creationId xmlns:a16="http://schemas.microsoft.com/office/drawing/2014/main" id="{94C756C4-2E94-40A8-A6DC-9C925BEAAEC0}"/>
              </a:ext>
            </a:extLst>
          </p:cNvPr>
          <p:cNvSpPr>
            <a:spLocks xmlns:a="http://schemas.openxmlformats.org/drawingml/2006/main" noGrp="1"/>
          </p:cNvSpPr>
          <p:nvPr/>
        </p:nvSpPr>
        <p:spPr>
          <a:xfrm xmlns:a="http://schemas.openxmlformats.org/drawingml/2006/main">
            <a:off x="742950" y="37719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Survey sent to &gt;100 labs; respondents represented &gt;45 labs</a:t>
            </a:r>
          </a:p>
        </p:txBody>
      </p:sp>
      <p:sp>
        <p:nvSpPr>
          <p:cNvPr id="8" name="">
            <a:extLst xmlns:a="http://schemas.openxmlformats.org/drawingml/2006/main">
              <a:ext uri="{FF2B5EF4-FFF2-40B4-BE49-F238E27FC236}">
                <a16:creationId xmlns:a16="http://schemas.microsoft.com/office/drawing/2014/main" id="{8682E751-F988-43F5-8AEC-2E6FDE395D57}"/>
              </a:ext>
            </a:extLst>
          </p:cNvPr>
          <p:cNvSpPr>
            <a:spLocks xmlns:a="http://schemas.openxmlformats.org/drawingml/2006/main" noGrp="1"/>
          </p:cNvSpPr>
          <p:nvPr/>
        </p:nvSpPr>
        <p:spPr>
          <a:xfrm xmlns:a="http://schemas.openxmlformats.org/drawingml/2006/main">
            <a:off x="742950" y="46291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36273"/>
                </a:solidFill>
                <a:latin typeface="Arial"/>
                <a:ea typeface="Arial"/>
                <a:cs typeface="Arial"/>
              </a:defRPr>
            </a:pPr>
            <a:r>
              <a:rPr sz="1200" b="0" i="0">
                <a:solidFill>
                  <a:srgbClr val="536273"/>
                </a:solidFill>
                <a:latin typeface="Arial"/>
                <a:ea typeface="Arial"/>
                <a:cs typeface="Arial"/>
              </a:rPr>
              <a:t>Five terms preferred</a:t>
            </a:r>
          </a:p>
        </p:txBody>
      </p:sp>
      <p:sp>
        <p:nvSpPr>
          <p:cNvPr id="9" name="">
            <a:extLst xmlns:a="http://schemas.openxmlformats.org/drawingml/2006/main">
              <a:ext uri="{FF2B5EF4-FFF2-40B4-BE49-F238E27FC236}">
                <a16:creationId xmlns:a16="http://schemas.microsoft.com/office/drawing/2014/main" id="{DF430B10-CFA8-4CE8-B040-CC76F44D1A7B}"/>
              </a:ext>
            </a:extLst>
          </p:cNvPr>
          <p:cNvSpPr>
            <a:spLocks xmlns:a="http://schemas.openxmlformats.org/drawingml/2006/main" noGrp="1"/>
          </p:cNvSpPr>
          <p:nvPr/>
        </p:nvSpPr>
        <p:spPr>
          <a:xfrm xmlns:a="http://schemas.openxmlformats.org/drawingml/2006/main">
            <a:off x="3429000" y="3209925"/>
            <a:ext cx="247650" cy="247650"/>
          </a:xfrm>
          <a:prstGeom xmlns:a="http://schemas.openxmlformats.org/drawingml/2006/main" prst="roundRect">
            <a:avLst>
              <a:gd name="adj" fmla="val 30769"/>
            </a:avLst>
          </a:prstGeom>
          <a:solidFill xmlns:a="http://schemas.openxmlformats.org/drawingml/2006/main">
            <a:srgbClr val="069C9C"/>
          </a:solidFill>
          <a:ln xmlns:a="http://schemas.openxmlformats.org/drawingml/2006/main" w="0">
            <a:solidFill>
              <a:srgbClr val="069C9C"/>
            </a:solidFill>
            <a:prstDash val="solid"/>
          </a:ln>
        </p:spPr>
      </p:sp>
      <p:sp>
        <p:nvSpPr>
          <p:cNvPr id="10" name="">
            <a:extLst xmlns:a="http://schemas.openxmlformats.org/drawingml/2006/main">
              <a:ext uri="{FF2B5EF4-FFF2-40B4-BE49-F238E27FC236}">
                <a16:creationId xmlns:a16="http://schemas.microsoft.com/office/drawing/2014/main" id="{3510C9C2-4A6D-45D4-B0BD-FE8C65287670}"/>
              </a:ext>
            </a:extLst>
          </p:cNvPr>
          <p:cNvSpPr>
            <a:spLocks xmlns:a="http://schemas.openxmlformats.org/drawingml/2006/main" noGrp="1"/>
          </p:cNvSpPr>
          <p:nvPr/>
        </p:nvSpPr>
        <p:spPr>
          <a:xfrm xmlns:a="http://schemas.openxmlformats.org/drawingml/2006/main">
            <a:off x="3352800" y="25717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069C9C"/>
                </a:solidFill>
                <a:latin typeface="Arial"/>
                <a:ea typeface="Arial"/>
                <a:cs typeface="Arial"/>
              </a:defRPr>
            </a:pPr>
            <a:r>
              <a:rPr sz="1200" b="1" i="0">
                <a:solidFill>
                  <a:srgbClr val="069C9C"/>
                </a:solidFill>
                <a:latin typeface="Arial"/>
                <a:ea typeface="Arial"/>
                <a:cs typeface="Arial"/>
              </a:rPr>
              <a:t>2013</a:t>
            </a:r>
          </a:p>
        </p:txBody>
      </p:sp>
      <p:sp>
        <p:nvSpPr>
          <p:cNvPr id="11" name="">
            <a:extLst xmlns:a="http://schemas.openxmlformats.org/drawingml/2006/main">
              <a:ext uri="{FF2B5EF4-FFF2-40B4-BE49-F238E27FC236}">
                <a16:creationId xmlns:a16="http://schemas.microsoft.com/office/drawing/2014/main" id="{85C2EC00-0E22-4867-90D9-0DC2A3ED58F6}"/>
              </a:ext>
            </a:extLst>
          </p:cNvPr>
          <p:cNvSpPr>
            <a:spLocks xmlns:a="http://schemas.openxmlformats.org/drawingml/2006/main" noGrp="1"/>
          </p:cNvSpPr>
          <p:nvPr/>
        </p:nvSpPr>
        <p:spPr>
          <a:xfrm xmlns:a="http://schemas.openxmlformats.org/drawingml/2006/main">
            <a:off x="3352800" y="37719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11 laboratories shared protocols</a:t>
            </a:r>
          </a:p>
        </p:txBody>
      </p:sp>
      <p:sp>
        <p:nvSpPr>
          <p:cNvPr id="12" name="">
            <a:extLst xmlns:a="http://schemas.openxmlformats.org/drawingml/2006/main">
              <a:ext uri="{FF2B5EF4-FFF2-40B4-BE49-F238E27FC236}">
                <a16:creationId xmlns:a16="http://schemas.microsoft.com/office/drawing/2014/main" id="{410C99BA-35E0-428E-BFD9-3D6E41D1A3C3}"/>
              </a:ext>
            </a:extLst>
          </p:cNvPr>
          <p:cNvSpPr>
            <a:spLocks xmlns:a="http://schemas.openxmlformats.org/drawingml/2006/main" noGrp="1"/>
          </p:cNvSpPr>
          <p:nvPr/>
        </p:nvSpPr>
        <p:spPr>
          <a:xfrm xmlns:a="http://schemas.openxmlformats.org/drawingml/2006/main">
            <a:off x="3352800" y="46291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36273"/>
                </a:solidFill>
                <a:latin typeface="Arial"/>
                <a:ea typeface="Arial"/>
                <a:cs typeface="Arial"/>
              </a:defRPr>
            </a:pPr>
            <a:r>
              <a:rPr sz="1200" b="0" i="0">
                <a:solidFill>
                  <a:srgbClr val="536273"/>
                </a:solidFill>
                <a:latin typeface="Arial"/>
                <a:ea typeface="Arial"/>
                <a:cs typeface="Arial"/>
              </a:rPr>
              <a:t>Criteria drafted and tested</a:t>
            </a:r>
          </a:p>
        </p:txBody>
      </p:sp>
      <p:sp>
        <p:nvSpPr>
          <p:cNvPr id="13" name="">
            <a:extLst xmlns:a="http://schemas.openxmlformats.org/drawingml/2006/main">
              <a:ext uri="{FF2B5EF4-FFF2-40B4-BE49-F238E27FC236}">
                <a16:creationId xmlns:a16="http://schemas.microsoft.com/office/drawing/2014/main" id="{1A23971A-C480-4718-833B-ADF6666BD57C}"/>
              </a:ext>
            </a:extLst>
          </p:cNvPr>
          <p:cNvSpPr>
            <a:spLocks xmlns:a="http://schemas.openxmlformats.org/drawingml/2006/main" noGrp="1"/>
          </p:cNvSpPr>
          <p:nvPr/>
        </p:nvSpPr>
        <p:spPr>
          <a:xfrm xmlns:a="http://schemas.openxmlformats.org/drawingml/2006/main">
            <a:off x="6038850" y="3209925"/>
            <a:ext cx="247650" cy="247650"/>
          </a:xfrm>
          <a:prstGeom xmlns:a="http://schemas.openxmlformats.org/drawingml/2006/main" prst="roundRect">
            <a:avLst>
              <a:gd name="adj" fmla="val 30769"/>
            </a:avLst>
          </a:prstGeom>
          <a:solidFill xmlns:a="http://schemas.openxmlformats.org/drawingml/2006/main">
            <a:srgbClr val="E7A62F"/>
          </a:solidFill>
          <a:ln xmlns:a="http://schemas.openxmlformats.org/drawingml/2006/main" w="0">
            <a:solidFill>
              <a:srgbClr val="E7A62F"/>
            </a:solidFill>
            <a:prstDash val="solid"/>
          </a:ln>
        </p:spPr>
      </p:sp>
      <p:sp>
        <p:nvSpPr>
          <p:cNvPr id="14" name="">
            <a:extLst xmlns:a="http://schemas.openxmlformats.org/drawingml/2006/main">
              <a:ext uri="{FF2B5EF4-FFF2-40B4-BE49-F238E27FC236}">
                <a16:creationId xmlns:a16="http://schemas.microsoft.com/office/drawing/2014/main" id="{5CD09497-B5C2-41BF-9579-7E917DAD5CD7}"/>
              </a:ext>
            </a:extLst>
          </p:cNvPr>
          <p:cNvSpPr>
            <a:spLocks xmlns:a="http://schemas.openxmlformats.org/drawingml/2006/main" noGrp="1"/>
          </p:cNvSpPr>
          <p:nvPr/>
        </p:nvSpPr>
        <p:spPr>
          <a:xfrm xmlns:a="http://schemas.openxmlformats.org/drawingml/2006/main">
            <a:off x="5962650" y="25717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E7A62F"/>
                </a:solidFill>
                <a:latin typeface="Arial"/>
                <a:ea typeface="Arial"/>
                <a:cs typeface="Arial"/>
              </a:defRPr>
            </a:pPr>
            <a:r>
              <a:rPr sz="1200" b="1" i="0">
                <a:solidFill>
                  <a:srgbClr val="E7A62F"/>
                </a:solidFill>
                <a:latin typeface="Arial"/>
                <a:ea typeface="Arial"/>
                <a:cs typeface="Arial"/>
              </a:rPr>
              <a:t>AUG 2013</a:t>
            </a:r>
          </a:p>
        </p:txBody>
      </p:sp>
      <p:sp>
        <p:nvSpPr>
          <p:cNvPr id="15" name="">
            <a:extLst xmlns:a="http://schemas.openxmlformats.org/drawingml/2006/main">
              <a:ext uri="{FF2B5EF4-FFF2-40B4-BE49-F238E27FC236}">
                <a16:creationId xmlns:a16="http://schemas.microsoft.com/office/drawing/2014/main" id="{3F7CA455-43C6-4CE5-B4DB-60B63FDA2695}"/>
              </a:ext>
            </a:extLst>
          </p:cNvPr>
          <p:cNvSpPr>
            <a:spLocks xmlns:a="http://schemas.openxmlformats.org/drawingml/2006/main" noGrp="1"/>
          </p:cNvSpPr>
          <p:nvPr/>
        </p:nvSpPr>
        <p:spPr>
          <a:xfrm xmlns:a="http://schemas.openxmlformats.org/drawingml/2006/main">
            <a:off x="5962650" y="37719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&gt;33 laboratories responded to feedback round</a:t>
            </a:r>
          </a:p>
        </p:txBody>
      </p:sp>
      <p:sp>
        <p:nvSpPr>
          <p:cNvPr id="16" name="">
            <a:extLst xmlns:a="http://schemas.openxmlformats.org/drawingml/2006/main">
              <a:ext uri="{FF2B5EF4-FFF2-40B4-BE49-F238E27FC236}">
                <a16:creationId xmlns:a16="http://schemas.microsoft.com/office/drawing/2014/main" id="{4224F1EF-C132-4950-9A1A-86BB35975E9B}"/>
              </a:ext>
            </a:extLst>
          </p:cNvPr>
          <p:cNvSpPr>
            <a:spLocks xmlns:a="http://schemas.openxmlformats.org/drawingml/2006/main" noGrp="1"/>
          </p:cNvSpPr>
          <p:nvPr/>
        </p:nvSpPr>
        <p:spPr>
          <a:xfrm xmlns:a="http://schemas.openxmlformats.org/drawingml/2006/main">
            <a:off x="5962650" y="46291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36273"/>
                </a:solidFill>
                <a:latin typeface="Arial"/>
                <a:ea typeface="Arial"/>
                <a:cs typeface="Arial"/>
              </a:defRPr>
            </a:pPr>
            <a:r>
              <a:rPr sz="1200" b="0" i="0">
                <a:solidFill>
                  <a:srgbClr val="536273"/>
                </a:solidFill>
                <a:latin typeface="Arial"/>
                <a:ea typeface="Arial"/>
                <a:cs typeface="Arial"/>
              </a:rPr>
              <a:t>Weights refined</a:t>
            </a:r>
          </a:p>
        </p:txBody>
      </p:sp>
      <p:sp>
        <p:nvSpPr>
          <p:cNvPr id="17" name="">
            <a:extLst xmlns:a="http://schemas.openxmlformats.org/drawingml/2006/main">
              <a:ext uri="{FF2B5EF4-FFF2-40B4-BE49-F238E27FC236}">
                <a16:creationId xmlns:a16="http://schemas.microsoft.com/office/drawing/2014/main" id="{B44B6637-F8CF-4E28-AE55-C8F7F390FC7E}"/>
              </a:ext>
            </a:extLst>
          </p:cNvPr>
          <p:cNvSpPr>
            <a:spLocks xmlns:a="http://schemas.openxmlformats.org/drawingml/2006/main" noGrp="1"/>
          </p:cNvSpPr>
          <p:nvPr/>
        </p:nvSpPr>
        <p:spPr>
          <a:xfrm xmlns:a="http://schemas.openxmlformats.org/drawingml/2006/main">
            <a:off x="8648700" y="3209925"/>
            <a:ext cx="247650" cy="247650"/>
          </a:xfrm>
          <a:prstGeom xmlns:a="http://schemas.openxmlformats.org/drawingml/2006/main" prst="roundRect">
            <a:avLst>
              <a:gd name="adj" fmla="val 30769"/>
            </a:avLst>
          </a:prstGeom>
          <a:solidFill xmlns:a="http://schemas.openxmlformats.org/drawingml/2006/main">
            <a:srgbClr val="359B64"/>
          </a:solidFill>
          <a:ln xmlns:a="http://schemas.openxmlformats.org/drawingml/2006/main" w="0">
            <a:solidFill>
              <a:srgbClr val="359B64"/>
            </a:solidFill>
            <a:prstDash val="solid"/>
          </a:ln>
        </p:spPr>
      </p:sp>
      <p:sp>
        <p:nvSpPr>
          <p:cNvPr id="18" name="">
            <a:extLst xmlns:a="http://schemas.openxmlformats.org/drawingml/2006/main">
              <a:ext uri="{FF2B5EF4-FFF2-40B4-BE49-F238E27FC236}">
                <a16:creationId xmlns:a16="http://schemas.microsoft.com/office/drawing/2014/main" id="{32A63088-A33B-45E5-9B07-B55F869E7A33}"/>
              </a:ext>
            </a:extLst>
          </p:cNvPr>
          <p:cNvSpPr>
            <a:spLocks xmlns:a="http://schemas.openxmlformats.org/drawingml/2006/main" noGrp="1"/>
          </p:cNvSpPr>
          <p:nvPr/>
        </p:nvSpPr>
        <p:spPr>
          <a:xfrm xmlns:a="http://schemas.openxmlformats.org/drawingml/2006/main">
            <a:off x="8572500" y="25717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59B64"/>
                </a:solidFill>
                <a:latin typeface="Arial"/>
                <a:ea typeface="Arial"/>
                <a:cs typeface="Arial"/>
              </a:defRPr>
            </a:pPr>
            <a:r>
              <a:rPr sz="1200" b="1" i="0">
                <a:solidFill>
                  <a:srgbClr val="359B64"/>
                </a:solidFill>
                <a:latin typeface="Arial"/>
                <a:ea typeface="Arial"/>
                <a:cs typeface="Arial"/>
              </a:rPr>
              <a:t>2013–15</a:t>
            </a:r>
          </a:p>
        </p:txBody>
      </p:sp>
      <p:sp>
        <p:nvSpPr>
          <p:cNvPr id="19" name="">
            <a:extLst xmlns:a="http://schemas.openxmlformats.org/drawingml/2006/main">
              <a:ext uri="{FF2B5EF4-FFF2-40B4-BE49-F238E27FC236}">
                <a16:creationId xmlns:a16="http://schemas.microsoft.com/office/drawing/2014/main" id="{7E8E1747-91E7-4261-819F-C7707D4A6C23}"/>
              </a:ext>
            </a:extLst>
          </p:cNvPr>
          <p:cNvSpPr>
            <a:spLocks xmlns:a="http://schemas.openxmlformats.org/drawingml/2006/main" noGrp="1"/>
          </p:cNvSpPr>
          <p:nvPr/>
        </p:nvSpPr>
        <p:spPr>
          <a:xfrm xmlns:a="http://schemas.openxmlformats.org/drawingml/2006/main">
            <a:off x="8572500" y="3771900"/>
            <a:ext cx="219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Open forums, workshop and approvals</a:t>
            </a:r>
          </a:p>
        </p:txBody>
      </p:sp>
      <p:sp>
        <p:nvSpPr>
          <p:cNvPr id="20" name="">
            <a:extLst xmlns:a="http://schemas.openxmlformats.org/drawingml/2006/main">
              <a:ext uri="{FF2B5EF4-FFF2-40B4-BE49-F238E27FC236}">
                <a16:creationId xmlns:a16="http://schemas.microsoft.com/office/drawing/2014/main" id="{1AF6FE2A-E239-4BDE-B729-E6713BD6C5B5}"/>
              </a:ext>
            </a:extLst>
          </p:cNvPr>
          <p:cNvSpPr>
            <a:spLocks xmlns:a="http://schemas.openxmlformats.org/drawingml/2006/main" noGrp="1"/>
          </p:cNvSpPr>
          <p:nvPr/>
        </p:nvSpPr>
        <p:spPr>
          <a:xfrm xmlns:a="http://schemas.openxmlformats.org/drawingml/2006/main">
            <a:off x="8572500" y="46291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36273"/>
                </a:solidFill>
                <a:latin typeface="Arial"/>
                <a:ea typeface="Arial"/>
                <a:cs typeface="Arial"/>
              </a:defRPr>
            </a:pPr>
            <a:r>
              <a:rPr sz="1200" b="0" i="0">
                <a:solidFill>
                  <a:srgbClr val="536273"/>
                </a:solidFill>
                <a:latin typeface="Arial"/>
                <a:ea typeface="Arial"/>
                <a:cs typeface="Arial"/>
              </a:rPr>
              <a:t>Consensus published</a:t>
            </a:r>
          </a:p>
        </p:txBody>
      </p:sp>
      <p:sp>
        <p:nvSpPr>
          <p:cNvPr id="21" name="">
            <a:extLst xmlns:a="http://schemas.openxmlformats.org/drawingml/2006/main">
              <a:ext uri="{FF2B5EF4-FFF2-40B4-BE49-F238E27FC236}">
                <a16:creationId xmlns:a16="http://schemas.microsoft.com/office/drawing/2014/main" id="{2FDDA13D-2389-44C0-BDBB-D65E4BD27E3E}"/>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Methods section</a:t>
            </a:r>
          </a:p>
        </p:txBody>
      </p:sp>
      <p:sp>
        <p:nvSpPr>
          <p:cNvPr id="22" name="">
            <a:extLst xmlns:a="http://schemas.openxmlformats.org/drawingml/2006/main">
              <a:ext uri="{FF2B5EF4-FFF2-40B4-BE49-F238E27FC236}">
                <a16:creationId xmlns:a16="http://schemas.microsoft.com/office/drawing/2014/main" id="{4C3E470D-AE73-409F-82F8-58A15C6DF169}"/>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21</a:t>
            </a:r>
          </a:p>
        </p:txBody>
      </p:sp>
    </p:spTree>
    <p:extLst>
      <p:ext uri="{BB962C8B-B14F-4D97-AF65-F5344CB8AC3E}">
        <p14:creationId xmlns:p14="http://schemas.microsoft.com/office/powerpoint/2010/main" val="199982626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6E50DD-FEC3-417B-94AF-9EB1FC84041C}"/>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A NEUTRAL STARTING POINT</a:t>
            </a:r>
          </a:p>
        </p:txBody>
      </p:sp>
      <p:sp>
        <p:nvSpPr>
          <p:cNvPr id="2" name="">
            <a:extLst xmlns:a="http://schemas.openxmlformats.org/drawingml/2006/main">
              <a:ext uri="{FF2B5EF4-FFF2-40B4-BE49-F238E27FC236}">
                <a16:creationId xmlns:a16="http://schemas.microsoft.com/office/drawing/2014/main" id="{EA72D15F-C1E0-4901-92F2-9D7F10C47E3E}"/>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Use “variant” first—then describe what the evidence supports</a:t>
            </a:r>
          </a:p>
        </p:txBody>
      </p:sp>
      <p:cxnSp>
        <p:nvCxnSpPr>
          <p:cNvPr id="18"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E7CBF88D-CDB1-4856-BA5C-DFBD58E5CE2F}"/>
              </a:ext>
            </a:extLst>
          </p:cNvPr>
          <p:cNvSpPr>
            <a:spLocks xmlns:a="http://schemas.openxmlformats.org/drawingml/2006/main" noGrp="1"/>
          </p:cNvSpPr>
          <p:nvPr/>
        </p:nvSpPr>
        <p:spPr>
          <a:xfrm xmlns:a="http://schemas.openxmlformats.org/drawingml/2006/main">
            <a:off x="723900" y="1885950"/>
            <a:ext cx="4514850" cy="3124200"/>
          </a:xfrm>
          <a:prstGeom xmlns:a="http://schemas.openxmlformats.org/drawingml/2006/main" prst="roundRect">
            <a:avLst>
              <a:gd name="adj" fmla="val 2439"/>
            </a:avLst>
          </a:prstGeom>
          <a:solidFill xmlns:a="http://schemas.openxmlformats.org/drawingml/2006/main">
            <a:srgbClr val="FBE3E3"/>
          </a:solidFill>
          <a:ln xmlns:a="http://schemas.openxmlformats.org/drawingml/2006/main" w="0">
            <a:solidFill>
              <a:srgbClr val="FBE3E3"/>
            </a:solidFill>
            <a:prstDash val="solid"/>
          </a:ln>
        </p:spPr>
      </p:sp>
      <p:sp>
        <p:nvSpPr>
          <p:cNvPr id="5" name="">
            <a:extLst xmlns:a="http://schemas.openxmlformats.org/drawingml/2006/main">
              <a:ext uri="{FF2B5EF4-FFF2-40B4-BE49-F238E27FC236}">
                <a16:creationId xmlns:a16="http://schemas.microsoft.com/office/drawing/2014/main" id="{3DDA83D8-04C5-4857-B6A1-FCF24C085BEF}"/>
              </a:ext>
            </a:extLst>
          </p:cNvPr>
          <p:cNvSpPr>
            <a:spLocks xmlns:a="http://schemas.openxmlformats.org/drawingml/2006/main" noGrp="1"/>
          </p:cNvSpPr>
          <p:nvPr/>
        </p:nvSpPr>
        <p:spPr>
          <a:xfrm xmlns:a="http://schemas.openxmlformats.org/drawingml/2006/main">
            <a:off x="1009650" y="2171700"/>
            <a:ext cx="3943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C94E4E"/>
                </a:solidFill>
                <a:latin typeface="Arial"/>
                <a:ea typeface="Arial"/>
                <a:cs typeface="Arial"/>
              </a:defRPr>
            </a:pPr>
            <a:r>
              <a:rPr sz="1050" b="1" i="0">
                <a:solidFill>
                  <a:srgbClr val="C94E4E"/>
                </a:solidFill>
                <a:latin typeface="Arial"/>
                <a:ea typeface="Arial"/>
                <a:cs typeface="Arial"/>
              </a:rPr>
              <a:t>OLD SHORTCUT</a:t>
            </a:r>
          </a:p>
        </p:txBody>
      </p:sp>
      <p:sp>
        <p:nvSpPr>
          <p:cNvPr id="6" name="">
            <a:extLst xmlns:a="http://schemas.openxmlformats.org/drawingml/2006/main">
              <a:ext uri="{FF2B5EF4-FFF2-40B4-BE49-F238E27FC236}">
                <a16:creationId xmlns:a16="http://schemas.microsoft.com/office/drawing/2014/main" id="{1D1232A0-16B7-4EC2-9D66-17324A997A9C}"/>
              </a:ext>
            </a:extLst>
          </p:cNvPr>
          <p:cNvSpPr>
            <a:spLocks xmlns:a="http://schemas.openxmlformats.org/drawingml/2006/main" noGrp="1"/>
          </p:cNvSpPr>
          <p:nvPr/>
        </p:nvSpPr>
        <p:spPr>
          <a:xfrm xmlns:a="http://schemas.openxmlformats.org/drawingml/2006/main">
            <a:off x="1009650" y="2857500"/>
            <a:ext cx="39433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0B1F33"/>
                </a:solidFill>
                <a:latin typeface="Arial"/>
                <a:ea typeface="Arial"/>
                <a:cs typeface="Arial"/>
              </a:defRPr>
            </a:pPr>
            <a:r>
              <a:rPr sz="2250" b="1" i="0">
                <a:solidFill>
                  <a:srgbClr val="0B1F33"/>
                </a:solidFill>
                <a:latin typeface="Arial"/>
                <a:ea typeface="Arial"/>
                <a:cs typeface="Arial"/>
              </a:rPr>
              <a:t>mutation = harmful</a:t>
            </a:r>
          </a:p>
          <a:p xmlns:a="http://schemas.openxmlformats.org/drawingml/2006/main">
            <a:pPr algn="ctr">
              <a:defRPr sz="2250" b="1" i="0">
                <a:solidFill>
                  <a:srgbClr val="0B1F33"/>
                </a:solidFill>
                <a:latin typeface="Arial"/>
                <a:ea typeface="Arial"/>
                <a:cs typeface="Arial"/>
              </a:defRPr>
            </a:pPr>
            <a:r>
              <a:rPr sz="2250" b="1" i="0">
                <a:solidFill>
                  <a:srgbClr val="0B1F33"/>
                </a:solidFill>
                <a:latin typeface="Arial"/>
                <a:ea typeface="Arial"/>
                <a:cs typeface="Arial"/>
              </a:rPr>
              <a:t>polymorphism = harmless</a:t>
            </a:r>
          </a:p>
        </p:txBody>
      </p:sp>
      <p:sp>
        <p:nvSpPr>
          <p:cNvPr id="7" name="">
            <a:extLst xmlns:a="http://schemas.openxmlformats.org/drawingml/2006/main">
              <a:ext uri="{FF2B5EF4-FFF2-40B4-BE49-F238E27FC236}">
                <a16:creationId xmlns:a16="http://schemas.microsoft.com/office/drawing/2014/main" id="{C1C12F73-9720-4457-8175-8B26F6D8BD24}"/>
              </a:ext>
            </a:extLst>
          </p:cNvPr>
          <p:cNvSpPr>
            <a:spLocks xmlns:a="http://schemas.openxmlformats.org/drawingml/2006/main" noGrp="1"/>
          </p:cNvSpPr>
          <p:nvPr/>
        </p:nvSpPr>
        <p:spPr>
          <a:xfrm xmlns:a="http://schemas.openxmlformats.org/drawingml/2006/main">
            <a:off x="1009650" y="4324350"/>
            <a:ext cx="3943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i="0">
                <a:solidFill>
                  <a:srgbClr val="536273"/>
                </a:solidFill>
                <a:latin typeface="Arial"/>
                <a:ea typeface="Arial"/>
                <a:cs typeface="Arial"/>
              </a:defRPr>
            </a:pPr>
            <a:r>
              <a:rPr sz="1425" b="0" i="0">
                <a:solidFill>
                  <a:srgbClr val="536273"/>
                </a:solidFill>
                <a:latin typeface="Arial"/>
                <a:ea typeface="Arial"/>
                <a:cs typeface="Arial"/>
              </a:rPr>
              <a:t>The terms encouraged assumptions.</a:t>
            </a:r>
          </a:p>
        </p:txBody>
      </p:sp>
      <p:sp>
        <p:nvSpPr>
          <p:cNvPr id="8" name="">
            <a:extLst xmlns:a="http://schemas.openxmlformats.org/drawingml/2006/main">
              <a:ext uri="{FF2B5EF4-FFF2-40B4-BE49-F238E27FC236}">
                <a16:creationId xmlns:a16="http://schemas.microsoft.com/office/drawing/2014/main" id="{29BFD739-6F7A-4A8A-9E22-425FA7864D67}"/>
              </a:ext>
            </a:extLst>
          </p:cNvPr>
          <p:cNvSpPr>
            <a:spLocks xmlns:a="http://schemas.openxmlformats.org/drawingml/2006/main" noGrp="1"/>
          </p:cNvSpPr>
          <p:nvPr/>
        </p:nvSpPr>
        <p:spPr>
          <a:xfrm xmlns:a="http://schemas.openxmlformats.org/drawingml/2006/main">
            <a:off x="5429250" y="3067050"/>
            <a:ext cx="857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D6DEE7"/>
                </a:solidFill>
                <a:latin typeface="Arial"/>
                <a:ea typeface="Arial"/>
                <a:cs typeface="Arial"/>
              </a:defRPr>
            </a:pPr>
            <a:r>
              <a:rPr sz="3600" b="1" i="0">
                <a:solidFill>
                  <a:srgbClr val="D6DEE7"/>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C68DECD-9782-4366-A0DF-999140920DB6}"/>
              </a:ext>
            </a:extLst>
          </p:cNvPr>
          <p:cNvSpPr>
            <a:spLocks xmlns:a="http://schemas.openxmlformats.org/drawingml/2006/main" noGrp="1"/>
          </p:cNvSpPr>
          <p:nvPr/>
        </p:nvSpPr>
        <p:spPr>
          <a:xfrm xmlns:a="http://schemas.openxmlformats.org/drawingml/2006/main">
            <a:off x="6477000" y="1885950"/>
            <a:ext cx="4514850" cy="3124200"/>
          </a:xfrm>
          <a:prstGeom xmlns:a="http://schemas.openxmlformats.org/drawingml/2006/main" prst="roundRect">
            <a:avLst>
              <a:gd name="adj" fmla="val 2439"/>
            </a:avLst>
          </a:prstGeom>
          <a:solidFill xmlns:a="http://schemas.openxmlformats.org/drawingml/2006/main">
            <a:srgbClr val="DEF3E7"/>
          </a:solidFill>
          <a:ln xmlns:a="http://schemas.openxmlformats.org/drawingml/2006/main" w="0">
            <a:solidFill>
              <a:srgbClr val="DEF3E7"/>
            </a:solidFill>
            <a:prstDash val="solid"/>
          </a:ln>
        </p:spPr>
      </p:sp>
      <p:sp>
        <p:nvSpPr>
          <p:cNvPr id="10" name="">
            <a:extLst xmlns:a="http://schemas.openxmlformats.org/drawingml/2006/main">
              <a:ext uri="{FF2B5EF4-FFF2-40B4-BE49-F238E27FC236}">
                <a16:creationId xmlns:a16="http://schemas.microsoft.com/office/drawing/2014/main" id="{655BC550-5C73-42DB-AA45-3533D08B9AD3}"/>
              </a:ext>
            </a:extLst>
          </p:cNvPr>
          <p:cNvSpPr>
            <a:spLocks xmlns:a="http://schemas.openxmlformats.org/drawingml/2006/main" noGrp="1"/>
          </p:cNvSpPr>
          <p:nvPr/>
        </p:nvSpPr>
        <p:spPr>
          <a:xfrm xmlns:a="http://schemas.openxmlformats.org/drawingml/2006/main">
            <a:off x="6762750" y="2171700"/>
            <a:ext cx="3943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359B64"/>
                </a:solidFill>
                <a:latin typeface="Arial"/>
                <a:ea typeface="Arial"/>
                <a:cs typeface="Arial"/>
              </a:defRPr>
            </a:pPr>
            <a:r>
              <a:rPr sz="1050" b="1" i="0">
                <a:solidFill>
                  <a:srgbClr val="359B64"/>
                </a:solidFill>
                <a:latin typeface="Arial"/>
                <a:ea typeface="Arial"/>
                <a:cs typeface="Arial"/>
              </a:rPr>
              <a:t>RECOMMENDED</a:t>
            </a:r>
          </a:p>
        </p:txBody>
      </p:sp>
      <p:sp>
        <p:nvSpPr>
          <p:cNvPr id="11" name="">
            <a:extLst xmlns:a="http://schemas.openxmlformats.org/drawingml/2006/main">
              <a:ext uri="{FF2B5EF4-FFF2-40B4-BE49-F238E27FC236}">
                <a16:creationId xmlns:a16="http://schemas.microsoft.com/office/drawing/2014/main" id="{99FD121F-AB4A-4189-93BE-6E13E9AD58F0}"/>
              </a:ext>
            </a:extLst>
          </p:cNvPr>
          <p:cNvSpPr>
            <a:spLocks xmlns:a="http://schemas.openxmlformats.org/drawingml/2006/main" noGrp="1"/>
          </p:cNvSpPr>
          <p:nvPr/>
        </p:nvSpPr>
        <p:spPr>
          <a:xfrm xmlns:a="http://schemas.openxmlformats.org/drawingml/2006/main">
            <a:off x="6762750" y="2838450"/>
            <a:ext cx="3943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0B1F33"/>
                </a:solidFill>
                <a:latin typeface="Arial"/>
                <a:ea typeface="Arial"/>
                <a:cs typeface="Arial"/>
              </a:defRPr>
            </a:pPr>
            <a:r>
              <a:rPr sz="2850" b="1" i="0">
                <a:solidFill>
                  <a:srgbClr val="0B1F33"/>
                </a:solidFill>
                <a:latin typeface="Arial"/>
                <a:ea typeface="Arial"/>
                <a:cs typeface="Arial"/>
              </a:rPr>
              <a:t>variant</a:t>
            </a:r>
          </a:p>
        </p:txBody>
      </p:sp>
      <p:sp>
        <p:nvSpPr>
          <p:cNvPr id="12" name="">
            <a:extLst xmlns:a="http://schemas.openxmlformats.org/drawingml/2006/main">
              <a:ext uri="{FF2B5EF4-FFF2-40B4-BE49-F238E27FC236}">
                <a16:creationId xmlns:a16="http://schemas.microsoft.com/office/drawing/2014/main" id="{D4DED759-A90D-422C-AE89-6C93F2A97B50}"/>
              </a:ext>
            </a:extLst>
          </p:cNvPr>
          <p:cNvSpPr>
            <a:spLocks xmlns:a="http://schemas.openxmlformats.org/drawingml/2006/main" noGrp="1"/>
          </p:cNvSpPr>
          <p:nvPr/>
        </p:nvSpPr>
        <p:spPr>
          <a:xfrm xmlns:a="http://schemas.openxmlformats.org/drawingml/2006/main">
            <a:off x="6762750" y="3562350"/>
            <a:ext cx="3943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359B64"/>
                </a:solidFill>
                <a:latin typeface="Arial"/>
                <a:ea typeface="Arial"/>
                <a:cs typeface="Arial"/>
              </a:defRPr>
            </a:pPr>
            <a:r>
              <a:rPr sz="1800" b="1" i="0">
                <a:solidFill>
                  <a:srgbClr val="359B64"/>
                </a:solidFill>
                <a:latin typeface="Arial"/>
                <a:ea typeface="Arial"/>
                <a:cs typeface="Arial"/>
              </a:rPr>
              <a:t>+ evidence-based modifier</a:t>
            </a:r>
          </a:p>
        </p:txBody>
      </p:sp>
      <p:sp>
        <p:nvSpPr>
          <p:cNvPr id="13" name="">
            <a:extLst xmlns:a="http://schemas.openxmlformats.org/drawingml/2006/main">
              <a:ext uri="{FF2B5EF4-FFF2-40B4-BE49-F238E27FC236}">
                <a16:creationId xmlns:a16="http://schemas.microsoft.com/office/drawing/2014/main" id="{4C7FAF13-7151-44ED-8DFA-01580C42004B}"/>
              </a:ext>
            </a:extLst>
          </p:cNvPr>
          <p:cNvSpPr>
            <a:spLocks xmlns:a="http://schemas.openxmlformats.org/drawingml/2006/main" noGrp="1"/>
          </p:cNvSpPr>
          <p:nvPr/>
        </p:nvSpPr>
        <p:spPr>
          <a:xfrm xmlns:a="http://schemas.openxmlformats.org/drawingml/2006/main">
            <a:off x="6762750" y="4286250"/>
            <a:ext cx="3943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36273"/>
                </a:solidFill>
                <a:latin typeface="Arial"/>
                <a:ea typeface="Arial"/>
                <a:cs typeface="Arial"/>
              </a:defRPr>
            </a:pPr>
            <a:r>
              <a:rPr sz="1350" b="0" i="0">
                <a:solidFill>
                  <a:srgbClr val="536273"/>
                </a:solidFill>
                <a:latin typeface="Arial"/>
                <a:ea typeface="Arial"/>
                <a:cs typeface="Arial"/>
              </a:rPr>
              <a:t>Always interpret for a condition and inheritance pattern.</a:t>
            </a:r>
          </a:p>
        </p:txBody>
      </p:sp>
      <p:sp>
        <p:nvSpPr>
          <p:cNvPr id="14" name="">
            <a:extLst xmlns:a="http://schemas.openxmlformats.org/drawingml/2006/main">
              <a:ext uri="{FF2B5EF4-FFF2-40B4-BE49-F238E27FC236}">
                <a16:creationId xmlns:a16="http://schemas.microsoft.com/office/drawing/2014/main" id="{0FB83DF2-7506-4704-9880-9C0A2BC36C24}"/>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Terminology section</a:t>
            </a:r>
          </a:p>
        </p:txBody>
      </p:sp>
      <p:sp>
        <p:nvSpPr>
          <p:cNvPr id="15" name="">
            <a:extLst xmlns:a="http://schemas.openxmlformats.org/drawingml/2006/main">
              <a:ext uri="{FF2B5EF4-FFF2-40B4-BE49-F238E27FC236}">
                <a16:creationId xmlns:a16="http://schemas.microsoft.com/office/drawing/2014/main" id="{649DF2AD-4D53-4094-A0F1-1B3EFE5F581A}"/>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22</a:t>
            </a:r>
          </a:p>
        </p:txBody>
      </p:sp>
    </p:spTree>
    <p:extLst>
      <p:ext uri="{BB962C8B-B14F-4D97-AF65-F5344CB8AC3E}">
        <p14:creationId xmlns:p14="http://schemas.microsoft.com/office/powerpoint/2010/main" val="180827252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38DE70-80D6-4E85-9567-F8F62360EF5E}"/>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FIVE-TIER SYSTEM</a:t>
            </a:r>
          </a:p>
        </p:txBody>
      </p:sp>
      <p:sp>
        <p:nvSpPr>
          <p:cNvPr id="2" name="">
            <a:extLst xmlns:a="http://schemas.openxmlformats.org/drawingml/2006/main">
              <a:ext uri="{FF2B5EF4-FFF2-40B4-BE49-F238E27FC236}">
                <a16:creationId xmlns:a16="http://schemas.microsoft.com/office/drawing/2014/main" id="{FFD2D47C-6B1F-44F2-A70D-F7032246C02A}"/>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final result uses five standard categories</a:t>
            </a:r>
          </a:p>
        </p:txBody>
      </p:sp>
      <p:cxnSp>
        <p:nvCxnSpPr>
          <p:cNvPr id="20"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9C86E2D3-F087-4507-962B-06D4395B2A13}"/>
              </a:ext>
            </a:extLst>
          </p:cNvPr>
          <p:cNvSpPr>
            <a:spLocks xmlns:a="http://schemas.openxmlformats.org/drawingml/2006/main" noGrp="1"/>
          </p:cNvSpPr>
          <p:nvPr/>
        </p:nvSpPr>
        <p:spPr>
          <a:xfrm xmlns:a="http://schemas.openxmlformats.org/drawingml/2006/main">
            <a:off x="438150" y="2266950"/>
            <a:ext cx="2095500" cy="1809750"/>
          </a:xfrm>
          <a:prstGeom xmlns:a="http://schemas.openxmlformats.org/drawingml/2006/main" prst="roundRect">
            <a:avLst>
              <a:gd name="adj" fmla="val 4211"/>
            </a:avLst>
          </a:prstGeom>
          <a:solidFill xmlns:a="http://schemas.openxmlformats.org/drawingml/2006/main">
            <a:srgbClr val="DEF3E7"/>
          </a:solidFill>
          <a:ln xmlns:a="http://schemas.openxmlformats.org/drawingml/2006/main" w="0">
            <a:solidFill>
              <a:srgbClr val="DEF3E7"/>
            </a:solidFill>
            <a:prstDash val="solid"/>
          </a:ln>
        </p:spPr>
      </p:sp>
      <p:sp>
        <p:nvSpPr>
          <p:cNvPr id="5" name="">
            <a:extLst xmlns:a="http://schemas.openxmlformats.org/drawingml/2006/main">
              <a:ext uri="{FF2B5EF4-FFF2-40B4-BE49-F238E27FC236}">
                <a16:creationId xmlns:a16="http://schemas.microsoft.com/office/drawing/2014/main" id="{310E0B3A-A10D-4E7F-A4FE-0E559B6E49F5}"/>
              </a:ext>
            </a:extLst>
          </p:cNvPr>
          <p:cNvSpPr>
            <a:spLocks xmlns:a="http://schemas.openxmlformats.org/drawingml/2006/main" noGrp="1"/>
          </p:cNvSpPr>
          <p:nvPr/>
        </p:nvSpPr>
        <p:spPr>
          <a:xfrm xmlns:a="http://schemas.openxmlformats.org/drawingml/2006/main">
            <a:off x="552450" y="28575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359B64"/>
                </a:solidFill>
                <a:latin typeface="Arial"/>
                <a:ea typeface="Arial"/>
                <a:cs typeface="Arial"/>
              </a:defRPr>
            </a:pPr>
            <a:r>
              <a:rPr sz="1650" b="1" i="0">
                <a:solidFill>
                  <a:srgbClr val="359B64"/>
                </a:solidFill>
                <a:latin typeface="Arial"/>
                <a:ea typeface="Arial"/>
                <a:cs typeface="Arial"/>
              </a:rPr>
              <a:t>BENIGN</a:t>
            </a:r>
          </a:p>
        </p:txBody>
      </p:sp>
      <p:sp>
        <p:nvSpPr>
          <p:cNvPr id="6" name="">
            <a:extLst xmlns:a="http://schemas.openxmlformats.org/drawingml/2006/main">
              <a:ext uri="{FF2B5EF4-FFF2-40B4-BE49-F238E27FC236}">
                <a16:creationId xmlns:a16="http://schemas.microsoft.com/office/drawing/2014/main" id="{489BAF81-3F51-431E-8FAF-0C6B13413628}"/>
              </a:ext>
            </a:extLst>
          </p:cNvPr>
          <p:cNvSpPr>
            <a:spLocks xmlns:a="http://schemas.openxmlformats.org/drawingml/2006/main" noGrp="1"/>
          </p:cNvSpPr>
          <p:nvPr/>
        </p:nvSpPr>
        <p:spPr>
          <a:xfrm xmlns:a="http://schemas.openxmlformats.org/drawingml/2006/main">
            <a:off x="2705100" y="2266950"/>
            <a:ext cx="2095500" cy="1809750"/>
          </a:xfrm>
          <a:prstGeom xmlns:a="http://schemas.openxmlformats.org/drawingml/2006/main" prst="roundRect">
            <a:avLst>
              <a:gd name="adj" fmla="val 4211"/>
            </a:avLst>
          </a:prstGeom>
          <a:solidFill xmlns:a="http://schemas.openxmlformats.org/drawingml/2006/main">
            <a:srgbClr val="E8F6E9"/>
          </a:solidFill>
          <a:ln xmlns:a="http://schemas.openxmlformats.org/drawingml/2006/main" w="0">
            <a:solidFill>
              <a:srgbClr val="E8F6E9"/>
            </a:solidFill>
            <a:prstDash val="solid"/>
          </a:ln>
        </p:spPr>
      </p:sp>
      <p:sp>
        <p:nvSpPr>
          <p:cNvPr id="7" name="">
            <a:extLst xmlns:a="http://schemas.openxmlformats.org/drawingml/2006/main">
              <a:ext uri="{FF2B5EF4-FFF2-40B4-BE49-F238E27FC236}">
                <a16:creationId xmlns:a16="http://schemas.microsoft.com/office/drawing/2014/main" id="{D440503C-8474-4912-9C63-582B89806F7D}"/>
              </a:ext>
            </a:extLst>
          </p:cNvPr>
          <p:cNvSpPr>
            <a:spLocks xmlns:a="http://schemas.openxmlformats.org/drawingml/2006/main" noGrp="1"/>
          </p:cNvSpPr>
          <p:nvPr/>
        </p:nvSpPr>
        <p:spPr>
          <a:xfrm xmlns:a="http://schemas.openxmlformats.org/drawingml/2006/main">
            <a:off x="2819400" y="28575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6FBF73"/>
                </a:solidFill>
                <a:latin typeface="Arial"/>
                <a:ea typeface="Arial"/>
                <a:cs typeface="Arial"/>
              </a:defRPr>
            </a:pPr>
            <a:r>
              <a:rPr sz="1650" b="1" i="0">
                <a:solidFill>
                  <a:srgbClr val="6FBF73"/>
                </a:solidFill>
                <a:latin typeface="Arial"/>
                <a:ea typeface="Arial"/>
                <a:cs typeface="Arial"/>
              </a:rPr>
              <a:t>LIKELY BENIGN</a:t>
            </a:r>
          </a:p>
        </p:txBody>
      </p:sp>
      <p:sp>
        <p:nvSpPr>
          <p:cNvPr id="8" name="">
            <a:extLst xmlns:a="http://schemas.openxmlformats.org/drawingml/2006/main">
              <a:ext uri="{FF2B5EF4-FFF2-40B4-BE49-F238E27FC236}">
                <a16:creationId xmlns:a16="http://schemas.microsoft.com/office/drawing/2014/main" id="{603C2155-88FA-4640-900F-CB9E0C607D11}"/>
              </a:ext>
            </a:extLst>
          </p:cNvPr>
          <p:cNvSpPr>
            <a:spLocks xmlns:a="http://schemas.openxmlformats.org/drawingml/2006/main" noGrp="1"/>
          </p:cNvSpPr>
          <p:nvPr/>
        </p:nvSpPr>
        <p:spPr>
          <a:xfrm xmlns:a="http://schemas.openxmlformats.org/drawingml/2006/main">
            <a:off x="4972050" y="2266950"/>
            <a:ext cx="2095500" cy="1809750"/>
          </a:xfrm>
          <a:prstGeom xmlns:a="http://schemas.openxmlformats.org/drawingml/2006/main" prst="roundRect">
            <a:avLst>
              <a:gd name="adj" fmla="val 4211"/>
            </a:avLst>
          </a:prstGeom>
          <a:solidFill xmlns:a="http://schemas.openxmlformats.org/drawingml/2006/main">
            <a:srgbClr val="FFF1CF"/>
          </a:solidFill>
          <a:ln xmlns:a="http://schemas.openxmlformats.org/drawingml/2006/main" w="0">
            <a:solidFill>
              <a:srgbClr val="FFF1CF"/>
            </a:solidFill>
            <a:prstDash val="solid"/>
          </a:ln>
        </p:spPr>
      </p:sp>
      <p:sp>
        <p:nvSpPr>
          <p:cNvPr id="9" name="">
            <a:extLst xmlns:a="http://schemas.openxmlformats.org/drawingml/2006/main">
              <a:ext uri="{FF2B5EF4-FFF2-40B4-BE49-F238E27FC236}">
                <a16:creationId xmlns:a16="http://schemas.microsoft.com/office/drawing/2014/main" id="{3F694C86-65DE-4786-811B-5D48100051D5}"/>
              </a:ext>
            </a:extLst>
          </p:cNvPr>
          <p:cNvSpPr>
            <a:spLocks xmlns:a="http://schemas.openxmlformats.org/drawingml/2006/main" noGrp="1"/>
          </p:cNvSpPr>
          <p:nvPr/>
        </p:nvSpPr>
        <p:spPr>
          <a:xfrm xmlns:a="http://schemas.openxmlformats.org/drawingml/2006/main">
            <a:off x="5086350" y="28575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E7A62F"/>
                </a:solidFill>
                <a:latin typeface="Arial"/>
                <a:ea typeface="Arial"/>
                <a:cs typeface="Arial"/>
              </a:defRPr>
            </a:pPr>
            <a:r>
              <a:rPr sz="1650" b="1" i="0">
                <a:solidFill>
                  <a:srgbClr val="E7A62F"/>
                </a:solidFill>
                <a:latin typeface="Arial"/>
                <a:ea typeface="Arial"/>
                <a:cs typeface="Arial"/>
              </a:rPr>
              <a:t>UNCERTAIN</a:t>
            </a:r>
          </a:p>
          <a:p xmlns:a="http://schemas.openxmlformats.org/drawingml/2006/main">
            <a:pPr algn="ctr">
              <a:defRPr sz="1650" b="1" i="0">
                <a:solidFill>
                  <a:srgbClr val="E7A62F"/>
                </a:solidFill>
                <a:latin typeface="Arial"/>
                <a:ea typeface="Arial"/>
                <a:cs typeface="Arial"/>
              </a:defRPr>
            </a:pPr>
            <a:r>
              <a:rPr sz="1650" b="1" i="0">
                <a:solidFill>
                  <a:srgbClr val="E7A62F"/>
                </a:solidFill>
                <a:latin typeface="Arial"/>
                <a:ea typeface="Arial"/>
                <a:cs typeface="Arial"/>
              </a:rPr>
              <a:t>SIGNIFICANCE</a:t>
            </a:r>
          </a:p>
        </p:txBody>
      </p:sp>
      <p:sp>
        <p:nvSpPr>
          <p:cNvPr id="10" name="">
            <a:extLst xmlns:a="http://schemas.openxmlformats.org/drawingml/2006/main">
              <a:ext uri="{FF2B5EF4-FFF2-40B4-BE49-F238E27FC236}">
                <a16:creationId xmlns:a16="http://schemas.microsoft.com/office/drawing/2014/main" id="{018E7C14-D772-4B43-A51C-BE012CF4226A}"/>
              </a:ext>
            </a:extLst>
          </p:cNvPr>
          <p:cNvSpPr>
            <a:spLocks xmlns:a="http://schemas.openxmlformats.org/drawingml/2006/main" noGrp="1"/>
          </p:cNvSpPr>
          <p:nvPr/>
        </p:nvSpPr>
        <p:spPr>
          <a:xfrm xmlns:a="http://schemas.openxmlformats.org/drawingml/2006/main">
            <a:off x="7239000" y="2266950"/>
            <a:ext cx="2095500" cy="1809750"/>
          </a:xfrm>
          <a:prstGeom xmlns:a="http://schemas.openxmlformats.org/drawingml/2006/main" prst="roundRect">
            <a:avLst>
              <a:gd name="adj" fmla="val 4211"/>
            </a:avLst>
          </a:prstGeom>
          <a:solidFill xmlns:a="http://schemas.openxmlformats.org/drawingml/2006/main">
            <a:srgbClr val="FBE9E1"/>
          </a:solidFill>
          <a:ln xmlns:a="http://schemas.openxmlformats.org/drawingml/2006/main" w="0">
            <a:solidFill>
              <a:srgbClr val="FBE9E1"/>
            </a:solidFill>
            <a:prstDash val="solid"/>
          </a:ln>
        </p:spPr>
      </p:sp>
      <p:sp>
        <p:nvSpPr>
          <p:cNvPr id="11" name="">
            <a:extLst xmlns:a="http://schemas.openxmlformats.org/drawingml/2006/main">
              <a:ext uri="{FF2B5EF4-FFF2-40B4-BE49-F238E27FC236}">
                <a16:creationId xmlns:a16="http://schemas.microsoft.com/office/drawing/2014/main" id="{597DE8B6-9D21-4644-A06B-8924DC432F01}"/>
              </a:ext>
            </a:extLst>
          </p:cNvPr>
          <p:cNvSpPr>
            <a:spLocks xmlns:a="http://schemas.openxmlformats.org/drawingml/2006/main" noGrp="1"/>
          </p:cNvSpPr>
          <p:nvPr/>
        </p:nvSpPr>
        <p:spPr>
          <a:xfrm xmlns:a="http://schemas.openxmlformats.org/drawingml/2006/main">
            <a:off x="7353300" y="28575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E47D56"/>
                </a:solidFill>
                <a:latin typeface="Arial"/>
                <a:ea typeface="Arial"/>
                <a:cs typeface="Arial"/>
              </a:defRPr>
            </a:pPr>
            <a:r>
              <a:rPr sz="1650" b="1" i="0">
                <a:solidFill>
                  <a:srgbClr val="E47D56"/>
                </a:solidFill>
                <a:latin typeface="Arial"/>
                <a:ea typeface="Arial"/>
                <a:cs typeface="Arial"/>
              </a:rPr>
              <a:t>LIKELY</a:t>
            </a:r>
          </a:p>
          <a:p xmlns:a="http://schemas.openxmlformats.org/drawingml/2006/main">
            <a:pPr algn="ctr">
              <a:defRPr sz="1650" b="1" i="0">
                <a:solidFill>
                  <a:srgbClr val="E47D56"/>
                </a:solidFill>
                <a:latin typeface="Arial"/>
                <a:ea typeface="Arial"/>
                <a:cs typeface="Arial"/>
              </a:defRPr>
            </a:pPr>
            <a:r>
              <a:rPr sz="1650" b="1" i="0">
                <a:solidFill>
                  <a:srgbClr val="E47D56"/>
                </a:solidFill>
                <a:latin typeface="Arial"/>
                <a:ea typeface="Arial"/>
                <a:cs typeface="Arial"/>
              </a:rPr>
              <a:t>PATHOGENIC</a:t>
            </a:r>
          </a:p>
        </p:txBody>
      </p:sp>
      <p:sp>
        <p:nvSpPr>
          <p:cNvPr id="12" name="">
            <a:extLst xmlns:a="http://schemas.openxmlformats.org/drawingml/2006/main">
              <a:ext uri="{FF2B5EF4-FFF2-40B4-BE49-F238E27FC236}">
                <a16:creationId xmlns:a16="http://schemas.microsoft.com/office/drawing/2014/main" id="{E59CF9FD-8052-4468-92D1-24935D4697A9}"/>
              </a:ext>
            </a:extLst>
          </p:cNvPr>
          <p:cNvSpPr>
            <a:spLocks xmlns:a="http://schemas.openxmlformats.org/drawingml/2006/main" noGrp="1"/>
          </p:cNvSpPr>
          <p:nvPr/>
        </p:nvSpPr>
        <p:spPr>
          <a:xfrm xmlns:a="http://schemas.openxmlformats.org/drawingml/2006/main">
            <a:off x="9505950" y="2266950"/>
            <a:ext cx="2095500" cy="1809750"/>
          </a:xfrm>
          <a:prstGeom xmlns:a="http://schemas.openxmlformats.org/drawingml/2006/main" prst="roundRect">
            <a:avLst>
              <a:gd name="adj" fmla="val 4211"/>
            </a:avLst>
          </a:prstGeom>
          <a:solidFill xmlns:a="http://schemas.openxmlformats.org/drawingml/2006/main">
            <a:srgbClr val="FBE3E3"/>
          </a:solidFill>
          <a:ln xmlns:a="http://schemas.openxmlformats.org/drawingml/2006/main" w="0">
            <a:solidFill>
              <a:srgbClr val="FBE3E3"/>
            </a:solidFill>
            <a:prstDash val="solid"/>
          </a:ln>
        </p:spPr>
      </p:sp>
      <p:sp>
        <p:nvSpPr>
          <p:cNvPr id="13" name="">
            <a:extLst xmlns:a="http://schemas.openxmlformats.org/drawingml/2006/main">
              <a:ext uri="{FF2B5EF4-FFF2-40B4-BE49-F238E27FC236}">
                <a16:creationId xmlns:a16="http://schemas.microsoft.com/office/drawing/2014/main" id="{5D4E36A5-CFF4-47D1-8642-1CFE433B39DE}"/>
              </a:ext>
            </a:extLst>
          </p:cNvPr>
          <p:cNvSpPr>
            <a:spLocks xmlns:a="http://schemas.openxmlformats.org/drawingml/2006/main" noGrp="1"/>
          </p:cNvSpPr>
          <p:nvPr/>
        </p:nvSpPr>
        <p:spPr>
          <a:xfrm xmlns:a="http://schemas.openxmlformats.org/drawingml/2006/main">
            <a:off x="9620250" y="2857500"/>
            <a:ext cx="1866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i="0">
                <a:solidFill>
                  <a:srgbClr val="C94E4E"/>
                </a:solidFill>
                <a:latin typeface="Arial"/>
                <a:ea typeface="Arial"/>
                <a:cs typeface="Arial"/>
              </a:defRPr>
            </a:pPr>
            <a:r>
              <a:rPr sz="1650" b="1" i="0">
                <a:solidFill>
                  <a:srgbClr val="C94E4E"/>
                </a:solidFill>
                <a:latin typeface="Arial"/>
                <a:ea typeface="Arial"/>
                <a:cs typeface="Arial"/>
              </a:rPr>
              <a:t>PATHOGENIC</a:t>
            </a:r>
          </a:p>
        </p:txBody>
      </p:sp>
      <p:sp>
        <p:nvSpPr>
          <p:cNvPr id="14" name="">
            <a:extLst xmlns:a="http://schemas.openxmlformats.org/drawingml/2006/main">
              <a:ext uri="{FF2B5EF4-FFF2-40B4-BE49-F238E27FC236}">
                <a16:creationId xmlns:a16="http://schemas.microsoft.com/office/drawing/2014/main" id="{0826D132-41C3-4A94-95AE-D2A77DBA2778}"/>
              </a:ext>
            </a:extLst>
          </p:cNvPr>
          <p:cNvSpPr>
            <a:spLocks xmlns:a="http://schemas.openxmlformats.org/drawingml/2006/main" noGrp="1"/>
          </p:cNvSpPr>
          <p:nvPr/>
        </p:nvSpPr>
        <p:spPr>
          <a:xfrm xmlns:a="http://schemas.openxmlformats.org/drawingml/2006/main">
            <a:off x="6191250" y="4629150"/>
            <a:ext cx="5219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650" b="1" i="0">
                <a:solidFill>
                  <a:srgbClr val="C94E4E"/>
                </a:solidFill>
                <a:latin typeface="Arial"/>
                <a:ea typeface="Arial"/>
                <a:cs typeface="Arial"/>
              </a:defRPr>
            </a:pPr>
            <a:r>
              <a:rPr sz="1650" b="1" i="0">
                <a:solidFill>
                  <a:srgbClr val="C94E4E"/>
                </a:solidFill>
                <a:latin typeface="Arial"/>
                <a:ea typeface="Arial"/>
                <a:cs typeface="Arial"/>
              </a:rPr>
              <a:t>Increasing evidence for a disease-causing role →</a:t>
            </a:r>
          </a:p>
        </p:txBody>
      </p:sp>
      <p:sp>
        <p:nvSpPr>
          <p:cNvPr id="15" name="">
            <a:extLst xmlns:a="http://schemas.openxmlformats.org/drawingml/2006/main">
              <a:ext uri="{FF2B5EF4-FFF2-40B4-BE49-F238E27FC236}">
                <a16:creationId xmlns:a16="http://schemas.microsoft.com/office/drawing/2014/main" id="{13AC7C93-B702-4C76-9CE9-C2E8624CA2AF}"/>
              </a:ext>
            </a:extLst>
          </p:cNvPr>
          <p:cNvSpPr>
            <a:spLocks xmlns:a="http://schemas.openxmlformats.org/drawingml/2006/main" noGrp="1"/>
          </p:cNvSpPr>
          <p:nvPr/>
        </p:nvSpPr>
        <p:spPr>
          <a:xfrm xmlns:a="http://schemas.openxmlformats.org/drawingml/2006/main">
            <a:off x="2343150" y="5238750"/>
            <a:ext cx="750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0B1F33"/>
                </a:solidFill>
                <a:latin typeface="Arial"/>
                <a:ea typeface="Arial"/>
                <a:cs typeface="Arial"/>
              </a:defRPr>
            </a:pPr>
            <a:r>
              <a:rPr sz="1875" b="1" i="0">
                <a:solidFill>
                  <a:srgbClr val="0B1F33"/>
                </a:solidFill>
                <a:latin typeface="Arial"/>
                <a:ea typeface="Arial"/>
                <a:cs typeface="Arial"/>
              </a:rPr>
              <a:t>A category communicates confidence—not 100% certainty.</a:t>
            </a:r>
          </a:p>
        </p:txBody>
      </p:sp>
      <p:sp>
        <p:nvSpPr>
          <p:cNvPr id="16" name="">
            <a:extLst xmlns:a="http://schemas.openxmlformats.org/drawingml/2006/main">
              <a:ext uri="{FF2B5EF4-FFF2-40B4-BE49-F238E27FC236}">
                <a16:creationId xmlns:a16="http://schemas.microsoft.com/office/drawing/2014/main" id="{52503207-8C89-474F-9000-AEA03256B507}"/>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a:t>
            </a:r>
          </a:p>
        </p:txBody>
      </p:sp>
      <p:sp>
        <p:nvSpPr>
          <p:cNvPr id="17" name="">
            <a:extLst xmlns:a="http://schemas.openxmlformats.org/drawingml/2006/main">
              <a:ext uri="{FF2B5EF4-FFF2-40B4-BE49-F238E27FC236}">
                <a16:creationId xmlns:a16="http://schemas.microsoft.com/office/drawing/2014/main" id="{89881360-E959-4BCB-B208-0684CF97A51C}"/>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23</a:t>
            </a:r>
          </a:p>
        </p:txBody>
      </p:sp>
    </p:spTree>
    <p:extLst>
      <p:ext uri="{BB962C8B-B14F-4D97-AF65-F5344CB8AC3E}">
        <p14:creationId xmlns:p14="http://schemas.microsoft.com/office/powerpoint/2010/main" val="4560594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9C90ADF-C12E-4C9C-817D-444C911628AC}"/>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A COMMON THRESHOLD</a:t>
            </a:r>
          </a:p>
        </p:txBody>
      </p:sp>
      <p:sp>
        <p:nvSpPr>
          <p:cNvPr id="2" name="">
            <a:extLst xmlns:a="http://schemas.openxmlformats.org/drawingml/2006/main">
              <a:ext uri="{FF2B5EF4-FFF2-40B4-BE49-F238E27FC236}">
                <a16:creationId xmlns:a16="http://schemas.microsoft.com/office/drawing/2014/main" id="{60F06993-494A-4349-9C60-B2A78D2E02F9}"/>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“Likely” was intended to mean greater than 90% certainty</a:t>
            </a:r>
          </a:p>
        </p:txBody>
      </p:sp>
      <p:cxnSp>
        <p:nvCxnSpPr>
          <p:cNvPr id="16"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D10BB921-F154-4CA0-BE2B-83DC7ACA96B7}"/>
              </a:ext>
            </a:extLst>
          </p:cNvPr>
          <p:cNvSpPr>
            <a:spLocks xmlns:a="http://schemas.openxmlformats.org/drawingml/2006/main" noGrp="1"/>
          </p:cNvSpPr>
          <p:nvPr/>
        </p:nvSpPr>
        <p:spPr>
          <a:xfrm xmlns:a="http://schemas.openxmlformats.org/drawingml/2006/main">
            <a:off x="952500" y="2381250"/>
            <a:ext cx="10287000" cy="781050"/>
          </a:xfrm>
          <a:prstGeom xmlns:a="http://schemas.openxmlformats.org/drawingml/2006/main" prst="roundRect">
            <a:avLst>
              <a:gd name="adj" fmla="val 9756"/>
            </a:avLst>
          </a:prstGeom>
          <a:solidFill xmlns:a="http://schemas.openxmlformats.org/drawingml/2006/main">
            <a:srgbClr val="F3F6F9"/>
          </a:solidFill>
          <a:ln xmlns:a="http://schemas.openxmlformats.org/drawingml/2006/main" w="0">
            <a:solidFill>
              <a:srgbClr val="F3F6F9"/>
            </a:solidFill>
            <a:prstDash val="solid"/>
          </a:ln>
        </p:spPr>
      </p:sp>
      <p:sp>
        <p:nvSpPr>
          <p:cNvPr id="5" name="">
            <a:extLst xmlns:a="http://schemas.openxmlformats.org/drawingml/2006/main">
              <a:ext uri="{FF2B5EF4-FFF2-40B4-BE49-F238E27FC236}">
                <a16:creationId xmlns:a16="http://schemas.microsoft.com/office/drawing/2014/main" id="{ACF94E98-68E0-4F71-BFD0-668E1A716FEA}"/>
              </a:ext>
            </a:extLst>
          </p:cNvPr>
          <p:cNvSpPr>
            <a:spLocks xmlns:a="http://schemas.openxmlformats.org/drawingml/2006/main" noGrp="1"/>
          </p:cNvSpPr>
          <p:nvPr/>
        </p:nvSpPr>
        <p:spPr>
          <a:xfrm xmlns:a="http://schemas.openxmlformats.org/drawingml/2006/main">
            <a:off x="952500" y="2381250"/>
            <a:ext cx="8153400" cy="781050"/>
          </a:xfrm>
          <a:prstGeom xmlns:a="http://schemas.openxmlformats.org/drawingml/2006/main" prst="roundRect">
            <a:avLst>
              <a:gd name="adj" fmla="val 9756"/>
            </a:avLst>
          </a:prstGeom>
          <a:solidFill xmlns:a="http://schemas.openxmlformats.org/drawingml/2006/main">
            <a:srgbClr val="DEF3E7"/>
          </a:solidFill>
          <a:ln xmlns:a="http://schemas.openxmlformats.org/drawingml/2006/main" w="0">
            <a:solidFill>
              <a:srgbClr val="DEF3E7"/>
            </a:solidFill>
            <a:prstDash val="solid"/>
          </a:ln>
        </p:spPr>
      </p:sp>
      <p:cxnSp>
        <p:nvCxnSpPr>
          <p:cNvPr id="19" name=""/>
          <p:cNvCxnSpPr/>
          <p:nvPr/>
        </p:nvCxnSpPr>
        <p:spPr>
          <a:xfrm xmlns:a="http://schemas.openxmlformats.org/drawingml/2006/main">
            <a:off x="9105900" y="2209800"/>
            <a:ext cx="0" cy="1123950"/>
          </a:xfrm>
          <a:prstGeom xmlns:a="http://schemas.openxmlformats.org/drawingml/2006/main" prst="straightConnector1">
            <a:avLst/>
          </a:prstGeom>
          <a:ln xmlns:a="http://schemas.openxmlformats.org/drawingml/2006/main" w="28575">
            <a:solidFill>
              <a:srgbClr val="0B1F33"/>
            </a:solidFill>
            <a:prstDash val="solid"/>
          </a:ln>
        </p:spPr>
      </p:cxnSp>
      <p:sp>
        <p:nvSpPr>
          <p:cNvPr id="7" name="">
            <a:extLst xmlns:a="http://schemas.openxmlformats.org/drawingml/2006/main">
              <a:ext uri="{FF2B5EF4-FFF2-40B4-BE49-F238E27FC236}">
                <a16:creationId xmlns:a16="http://schemas.microsoft.com/office/drawing/2014/main" id="{379738E2-244D-427A-AB54-256D3785C679}"/>
              </a:ext>
            </a:extLst>
          </p:cNvPr>
          <p:cNvSpPr>
            <a:spLocks xmlns:a="http://schemas.openxmlformats.org/drawingml/2006/main" noGrp="1"/>
          </p:cNvSpPr>
          <p:nvPr/>
        </p:nvSpPr>
        <p:spPr>
          <a:xfrm xmlns:a="http://schemas.openxmlformats.org/drawingml/2006/main">
            <a:off x="838200" y="33909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i="0">
                <a:solidFill>
                  <a:srgbClr val="536273"/>
                </a:solidFill>
                <a:latin typeface="Arial"/>
                <a:ea typeface="Arial"/>
                <a:cs typeface="Arial"/>
              </a:defRPr>
            </a:pPr>
            <a:r>
              <a:rPr sz="1200" b="0" i="0">
                <a:solidFill>
                  <a:srgbClr val="536273"/>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E364A984-0E0B-47CB-AA5A-FC5F0D75E79E}"/>
              </a:ext>
            </a:extLst>
          </p:cNvPr>
          <p:cNvSpPr>
            <a:spLocks xmlns:a="http://schemas.openxmlformats.org/drawingml/2006/main" noGrp="1"/>
          </p:cNvSpPr>
          <p:nvPr/>
        </p:nvSpPr>
        <p:spPr>
          <a:xfrm xmlns:a="http://schemas.openxmlformats.org/drawingml/2006/main">
            <a:off x="8782050" y="33909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B1F33"/>
                </a:solidFill>
                <a:latin typeface="Arial"/>
                <a:ea typeface="Arial"/>
                <a:cs typeface="Arial"/>
              </a:defRPr>
            </a:pPr>
            <a:r>
              <a:rPr sz="1350" b="1" i="0">
                <a:solidFill>
                  <a:srgbClr val="0B1F33"/>
                </a:solidFill>
                <a:latin typeface="Arial"/>
                <a:ea typeface="Arial"/>
                <a:cs typeface="Arial"/>
              </a:rPr>
              <a:t>90%</a:t>
            </a:r>
          </a:p>
        </p:txBody>
      </p:sp>
      <p:sp>
        <p:nvSpPr>
          <p:cNvPr id="9" name="">
            <a:extLst xmlns:a="http://schemas.openxmlformats.org/drawingml/2006/main">
              <a:ext uri="{FF2B5EF4-FFF2-40B4-BE49-F238E27FC236}">
                <a16:creationId xmlns:a16="http://schemas.microsoft.com/office/drawing/2014/main" id="{AB08DCF5-1364-4E14-8AEC-A696C2EB3F50}"/>
              </a:ext>
            </a:extLst>
          </p:cNvPr>
          <p:cNvSpPr>
            <a:spLocks xmlns:a="http://schemas.openxmlformats.org/drawingml/2006/main" noGrp="1"/>
          </p:cNvSpPr>
          <p:nvPr/>
        </p:nvSpPr>
        <p:spPr>
          <a:xfrm xmlns:a="http://schemas.openxmlformats.org/drawingml/2006/main">
            <a:off x="10572750" y="33909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0" i="0">
                <a:solidFill>
                  <a:srgbClr val="536273"/>
                </a:solidFill>
                <a:latin typeface="Arial"/>
                <a:ea typeface="Arial"/>
                <a:cs typeface="Arial"/>
              </a:defRPr>
            </a:pPr>
            <a:r>
              <a:rPr sz="1200" b="0" i="0">
                <a:solidFill>
                  <a:srgbClr val="536273"/>
                </a:solidFill>
                <a:latin typeface="Arial"/>
                <a:ea typeface="Arial"/>
                <a:cs typeface="Arial"/>
              </a:rPr>
              <a:t>100%</a:t>
            </a:r>
          </a:p>
        </p:txBody>
      </p:sp>
      <p:sp>
        <p:nvSpPr>
          <p:cNvPr id="10" name="">
            <a:extLst xmlns:a="http://schemas.openxmlformats.org/drawingml/2006/main">
              <a:ext uri="{FF2B5EF4-FFF2-40B4-BE49-F238E27FC236}">
                <a16:creationId xmlns:a16="http://schemas.microsoft.com/office/drawing/2014/main" id="{B6A599D3-028D-41E5-88AF-FB13DAEBEECA}"/>
              </a:ext>
            </a:extLst>
          </p:cNvPr>
          <p:cNvSpPr>
            <a:spLocks xmlns:a="http://schemas.openxmlformats.org/drawingml/2006/main" noGrp="1"/>
          </p:cNvSpPr>
          <p:nvPr/>
        </p:nvSpPr>
        <p:spPr>
          <a:xfrm xmlns:a="http://schemas.openxmlformats.org/drawingml/2006/main">
            <a:off x="3429000" y="41148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0B1F33"/>
                </a:solidFill>
                <a:latin typeface="Arial"/>
                <a:ea typeface="Arial"/>
                <a:cs typeface="Arial"/>
              </a:defRPr>
            </a:pPr>
            <a:r>
              <a:rPr sz="1875" b="1" i="0">
                <a:solidFill>
                  <a:srgbClr val="0B1F33"/>
                </a:solidFill>
                <a:latin typeface="Arial"/>
                <a:ea typeface="Arial"/>
                <a:cs typeface="Arial"/>
              </a:rPr>
              <a:t>likely benign / likely pathogenic</a:t>
            </a:r>
          </a:p>
        </p:txBody>
      </p:sp>
      <p:sp>
        <p:nvSpPr>
          <p:cNvPr id="11" name="">
            <a:extLst xmlns:a="http://schemas.openxmlformats.org/drawingml/2006/main">
              <a:ext uri="{FF2B5EF4-FFF2-40B4-BE49-F238E27FC236}">
                <a16:creationId xmlns:a16="http://schemas.microsoft.com/office/drawing/2014/main" id="{24FA0374-CF8E-4967-AD9B-3E792DBAD7BE}"/>
              </a:ext>
            </a:extLst>
          </p:cNvPr>
          <p:cNvSpPr>
            <a:spLocks xmlns:a="http://schemas.openxmlformats.org/drawingml/2006/main" noGrp="1"/>
          </p:cNvSpPr>
          <p:nvPr/>
        </p:nvSpPr>
        <p:spPr>
          <a:xfrm xmlns:a="http://schemas.openxmlformats.org/drawingml/2006/main">
            <a:off x="2038350" y="4819650"/>
            <a:ext cx="8115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0" i="0">
                <a:solidFill>
                  <a:srgbClr val="536273"/>
                </a:solidFill>
                <a:latin typeface="Arial"/>
                <a:ea typeface="Arial"/>
                <a:cs typeface="Arial"/>
              </a:defRPr>
            </a:pPr>
            <a:r>
              <a:rPr sz="1575" b="0" i="0">
                <a:solidFill>
                  <a:srgbClr val="536273"/>
                </a:solidFill>
                <a:latin typeface="Arial"/>
                <a:ea typeface="Arial"/>
                <a:cs typeface="Arial"/>
              </a:rPr>
              <a:t>The 2015 paper called this a common—but partly arbitrary—definition.</a:t>
            </a:r>
          </a:p>
        </p:txBody>
      </p:sp>
      <p:sp>
        <p:nvSpPr>
          <p:cNvPr id="12" name="">
            <a:extLst xmlns:a="http://schemas.openxmlformats.org/drawingml/2006/main">
              <a:ext uri="{FF2B5EF4-FFF2-40B4-BE49-F238E27FC236}">
                <a16:creationId xmlns:a16="http://schemas.microsoft.com/office/drawing/2014/main" id="{4920CFBE-2072-47A3-8A15-14473771EB86}"/>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Terminology section</a:t>
            </a:r>
          </a:p>
        </p:txBody>
      </p:sp>
      <p:sp>
        <p:nvSpPr>
          <p:cNvPr id="13" name="">
            <a:extLst xmlns:a="http://schemas.openxmlformats.org/drawingml/2006/main">
              <a:ext uri="{FF2B5EF4-FFF2-40B4-BE49-F238E27FC236}">
                <a16:creationId xmlns:a16="http://schemas.microsoft.com/office/drawing/2014/main" id="{F9D0861F-E027-420F-A125-DCEF89DD7E2B}"/>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24</a:t>
            </a:r>
          </a:p>
        </p:txBody>
      </p:sp>
    </p:spTree>
    <p:extLst>
      <p:ext uri="{BB962C8B-B14F-4D97-AF65-F5344CB8AC3E}">
        <p14:creationId xmlns:p14="http://schemas.microsoft.com/office/powerpoint/2010/main" val="93357074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7B565E-1EF7-4BC8-9834-F8BB39C821A1}"/>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KEY DISTINCTION</a:t>
            </a:r>
          </a:p>
        </p:txBody>
      </p:sp>
      <p:sp>
        <p:nvSpPr>
          <p:cNvPr id="2" name="">
            <a:extLst xmlns:a="http://schemas.openxmlformats.org/drawingml/2006/main">
              <a:ext uri="{FF2B5EF4-FFF2-40B4-BE49-F238E27FC236}">
                <a16:creationId xmlns:a16="http://schemas.microsoft.com/office/drawing/2014/main" id="{C5DFAEBB-FF21-4C9E-BD3D-381EAACF324F}"/>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five classes are conclusions; PS1 or PM2 are evidence</a:t>
            </a:r>
          </a:p>
        </p:txBody>
      </p:sp>
      <p:cxnSp>
        <p:nvCxnSpPr>
          <p:cNvPr id="16"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5A75FBDC-0E1A-47B3-BAE7-143A0E341430}"/>
              </a:ext>
            </a:extLst>
          </p:cNvPr>
          <p:cNvSpPr>
            <a:spLocks xmlns:a="http://schemas.openxmlformats.org/drawingml/2006/main" noGrp="1"/>
          </p:cNvSpPr>
          <p:nvPr/>
        </p:nvSpPr>
        <p:spPr>
          <a:xfrm xmlns:a="http://schemas.openxmlformats.org/drawingml/2006/main">
            <a:off x="685800" y="1924050"/>
            <a:ext cx="4552950" cy="2952750"/>
          </a:xfrm>
          <a:prstGeom xmlns:a="http://schemas.openxmlformats.org/drawingml/2006/main" prst="roundRect">
            <a:avLst>
              <a:gd name="adj" fmla="val 2581"/>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7F807B38-10B0-4C31-B907-E752CD5C8791}"/>
              </a:ext>
            </a:extLst>
          </p:cNvPr>
          <p:cNvSpPr>
            <a:spLocks xmlns:a="http://schemas.openxmlformats.org/drawingml/2006/main" noGrp="1"/>
          </p:cNvSpPr>
          <p:nvPr/>
        </p:nvSpPr>
        <p:spPr>
          <a:xfrm xmlns:a="http://schemas.openxmlformats.org/drawingml/2006/main">
            <a:off x="990600" y="2209800"/>
            <a:ext cx="396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2D6CDF"/>
                </a:solidFill>
                <a:latin typeface="Arial"/>
                <a:ea typeface="Arial"/>
                <a:cs typeface="Arial"/>
              </a:defRPr>
            </a:pPr>
            <a:r>
              <a:rPr sz="1200" b="1" i="0">
                <a:solidFill>
                  <a:srgbClr val="2D6CDF"/>
                </a:solidFill>
                <a:latin typeface="Arial"/>
                <a:ea typeface="Arial"/>
                <a:cs typeface="Arial"/>
              </a:rPr>
              <a:t>EVIDENCE CODES</a:t>
            </a:r>
          </a:p>
        </p:txBody>
      </p:sp>
      <p:sp>
        <p:nvSpPr>
          <p:cNvPr id="6" name="">
            <a:extLst xmlns:a="http://schemas.openxmlformats.org/drawingml/2006/main">
              <a:ext uri="{FF2B5EF4-FFF2-40B4-BE49-F238E27FC236}">
                <a16:creationId xmlns:a16="http://schemas.microsoft.com/office/drawing/2014/main" id="{EEEC6518-6F12-4F69-97BA-6B7A4533E635}"/>
              </a:ext>
            </a:extLst>
          </p:cNvPr>
          <p:cNvSpPr>
            <a:spLocks xmlns:a="http://schemas.openxmlformats.org/drawingml/2006/main" noGrp="1"/>
          </p:cNvSpPr>
          <p:nvPr/>
        </p:nvSpPr>
        <p:spPr>
          <a:xfrm xmlns:a="http://schemas.openxmlformats.org/drawingml/2006/main">
            <a:off x="990600" y="2895600"/>
            <a:ext cx="3962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B1F33"/>
                </a:solidFill>
                <a:latin typeface="Arial"/>
                <a:ea typeface="Arial"/>
                <a:cs typeface="Arial"/>
              </a:defRPr>
            </a:pPr>
            <a:r>
              <a:rPr sz="2325" b="1" i="0">
                <a:solidFill>
                  <a:srgbClr val="0B1F33"/>
                </a:solidFill>
                <a:latin typeface="Arial"/>
                <a:ea typeface="Arial"/>
                <a:cs typeface="Arial"/>
              </a:rPr>
              <a:t>PVS1  PS2  PM2</a:t>
            </a:r>
          </a:p>
          <a:p xmlns:a="http://schemas.openxmlformats.org/drawingml/2006/main">
            <a:pPr algn="ctr">
              <a:defRPr sz="2325" b="1" i="0">
                <a:solidFill>
                  <a:srgbClr val="0B1F33"/>
                </a:solidFill>
                <a:latin typeface="Arial"/>
                <a:ea typeface="Arial"/>
                <a:cs typeface="Arial"/>
              </a:defRPr>
            </a:pPr>
            <a:r>
              <a:rPr sz="2325" b="1" i="0">
                <a:solidFill>
                  <a:srgbClr val="0B1F33"/>
                </a:solidFill>
                <a:latin typeface="Arial"/>
                <a:ea typeface="Arial"/>
                <a:cs typeface="Arial"/>
              </a:rPr>
              <a:t>PP3  BA1  BS3</a:t>
            </a:r>
          </a:p>
          <a:p xmlns:a="http://schemas.openxmlformats.org/drawingml/2006/main">
            <a:pPr algn="ctr">
              <a:defRPr sz="2325" b="1" i="0">
                <a:solidFill>
                  <a:srgbClr val="0B1F33"/>
                </a:solidFill>
                <a:latin typeface="Arial"/>
                <a:ea typeface="Arial"/>
                <a:cs typeface="Arial"/>
              </a:defRPr>
            </a:pPr>
            <a:r>
              <a:rPr sz="2325" b="1" i="0">
                <a:solidFill>
                  <a:srgbClr val="0B1F33"/>
                </a:solidFill>
                <a:latin typeface="Arial"/>
                <a:ea typeface="Arial"/>
                <a:cs typeface="Arial"/>
              </a:rPr>
              <a:t>BP4 …</a:t>
            </a:r>
          </a:p>
        </p:txBody>
      </p:sp>
      <p:sp>
        <p:nvSpPr>
          <p:cNvPr id="7" name="">
            <a:extLst xmlns:a="http://schemas.openxmlformats.org/drawingml/2006/main">
              <a:ext uri="{FF2B5EF4-FFF2-40B4-BE49-F238E27FC236}">
                <a16:creationId xmlns:a16="http://schemas.microsoft.com/office/drawing/2014/main" id="{F9CEA442-BE32-4EE3-B637-F00924E9FC46}"/>
              </a:ext>
            </a:extLst>
          </p:cNvPr>
          <p:cNvSpPr>
            <a:spLocks xmlns:a="http://schemas.openxmlformats.org/drawingml/2006/main" noGrp="1"/>
          </p:cNvSpPr>
          <p:nvPr/>
        </p:nvSpPr>
        <p:spPr>
          <a:xfrm xmlns:a="http://schemas.openxmlformats.org/drawingml/2006/main">
            <a:off x="990600" y="4267200"/>
            <a:ext cx="3962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36273"/>
                </a:solidFill>
                <a:latin typeface="Arial"/>
                <a:ea typeface="Arial"/>
                <a:cs typeface="Arial"/>
              </a:defRPr>
            </a:pPr>
            <a:r>
              <a:rPr sz="1350" b="0" i="0">
                <a:solidFill>
                  <a:srgbClr val="536273"/>
                </a:solidFill>
                <a:latin typeface="Arial"/>
                <a:ea typeface="Arial"/>
                <a:cs typeface="Arial"/>
              </a:rPr>
              <a:t>Individual observations with defined strengths</a:t>
            </a:r>
          </a:p>
        </p:txBody>
      </p:sp>
      <p:sp>
        <p:nvSpPr>
          <p:cNvPr id="8" name="">
            <a:extLst xmlns:a="http://schemas.openxmlformats.org/drawingml/2006/main">
              <a:ext uri="{FF2B5EF4-FFF2-40B4-BE49-F238E27FC236}">
                <a16:creationId xmlns:a16="http://schemas.microsoft.com/office/drawing/2014/main" id="{CA07E6EE-2F07-49C4-BB14-9BCB1321D892}"/>
              </a:ext>
            </a:extLst>
          </p:cNvPr>
          <p:cNvSpPr>
            <a:spLocks xmlns:a="http://schemas.openxmlformats.org/drawingml/2006/main" noGrp="1"/>
          </p:cNvSpPr>
          <p:nvPr/>
        </p:nvSpPr>
        <p:spPr>
          <a:xfrm xmlns:a="http://schemas.openxmlformats.org/drawingml/2006/main">
            <a:off x="5505450" y="291465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900" b="1" i="0">
                <a:solidFill>
                  <a:srgbClr val="D6DEE7"/>
                </a:solidFill>
                <a:latin typeface="Arial"/>
                <a:ea typeface="Arial"/>
                <a:cs typeface="Arial"/>
              </a:defRPr>
            </a:pPr>
            <a:r>
              <a:rPr sz="3900" b="1" i="0">
                <a:solidFill>
                  <a:srgbClr val="D6DEE7"/>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5BFC76D2-D68B-4013-BCFC-5F047938D63C}"/>
              </a:ext>
            </a:extLst>
          </p:cNvPr>
          <p:cNvSpPr>
            <a:spLocks xmlns:a="http://schemas.openxmlformats.org/drawingml/2006/main" noGrp="1"/>
          </p:cNvSpPr>
          <p:nvPr/>
        </p:nvSpPr>
        <p:spPr>
          <a:xfrm xmlns:a="http://schemas.openxmlformats.org/drawingml/2006/main">
            <a:off x="6572250" y="1924050"/>
            <a:ext cx="4552950" cy="2952750"/>
          </a:xfrm>
          <a:prstGeom xmlns:a="http://schemas.openxmlformats.org/drawingml/2006/main" prst="roundRect">
            <a:avLst>
              <a:gd name="adj" fmla="val 2581"/>
            </a:avLst>
          </a:prstGeom>
          <a:solidFill xmlns:a="http://schemas.openxmlformats.org/drawingml/2006/main">
            <a:srgbClr val="DEF3E7"/>
          </a:solidFill>
          <a:ln xmlns:a="http://schemas.openxmlformats.org/drawingml/2006/main" w="0">
            <a:solidFill>
              <a:srgbClr val="DEF3E7"/>
            </a:solidFill>
            <a:prstDash val="solid"/>
          </a:ln>
        </p:spPr>
      </p:sp>
      <p:sp>
        <p:nvSpPr>
          <p:cNvPr id="10" name="">
            <a:extLst xmlns:a="http://schemas.openxmlformats.org/drawingml/2006/main">
              <a:ext uri="{FF2B5EF4-FFF2-40B4-BE49-F238E27FC236}">
                <a16:creationId xmlns:a16="http://schemas.microsoft.com/office/drawing/2014/main" id="{94809D09-1405-4FFD-AEFF-3F7C47AADEDA}"/>
              </a:ext>
            </a:extLst>
          </p:cNvPr>
          <p:cNvSpPr>
            <a:spLocks xmlns:a="http://schemas.openxmlformats.org/drawingml/2006/main" noGrp="1"/>
          </p:cNvSpPr>
          <p:nvPr/>
        </p:nvSpPr>
        <p:spPr>
          <a:xfrm xmlns:a="http://schemas.openxmlformats.org/drawingml/2006/main">
            <a:off x="6877050" y="2209800"/>
            <a:ext cx="3962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359B64"/>
                </a:solidFill>
                <a:latin typeface="Arial"/>
                <a:ea typeface="Arial"/>
                <a:cs typeface="Arial"/>
              </a:defRPr>
            </a:pPr>
            <a:r>
              <a:rPr sz="1200" b="1" i="0">
                <a:solidFill>
                  <a:srgbClr val="359B64"/>
                </a:solidFill>
                <a:latin typeface="Arial"/>
                <a:ea typeface="Arial"/>
                <a:cs typeface="Arial"/>
              </a:rPr>
              <a:t>FINAL CLASS</a:t>
            </a:r>
          </a:p>
        </p:txBody>
      </p:sp>
      <p:sp>
        <p:nvSpPr>
          <p:cNvPr id="11" name="">
            <a:extLst xmlns:a="http://schemas.openxmlformats.org/drawingml/2006/main">
              <a:ext uri="{FF2B5EF4-FFF2-40B4-BE49-F238E27FC236}">
                <a16:creationId xmlns:a16="http://schemas.microsoft.com/office/drawing/2014/main" id="{CAE39009-8CDC-45C5-9573-6CF9F14A1497}"/>
              </a:ext>
            </a:extLst>
          </p:cNvPr>
          <p:cNvSpPr>
            <a:spLocks xmlns:a="http://schemas.openxmlformats.org/drawingml/2006/main" noGrp="1"/>
          </p:cNvSpPr>
          <p:nvPr/>
        </p:nvSpPr>
        <p:spPr>
          <a:xfrm xmlns:a="http://schemas.openxmlformats.org/drawingml/2006/main">
            <a:off x="6877050" y="2781300"/>
            <a:ext cx="3962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67"/>
          </a:bodyPr>
          <a:lstStyle xmlns:a="http://schemas.openxmlformats.org/drawingml/2006/main"/>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Pathogenic</a:t>
            </a:r>
          </a:p>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Likely pathogenic</a:t>
            </a:r>
          </a:p>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VUS</a:t>
            </a:r>
          </a:p>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Likely benign</a:t>
            </a:r>
          </a:p>
          <a:p xmlns:a="http://schemas.openxmlformats.org/drawingml/2006/main">
            <a:pPr algn="ctr">
              <a:defRPr sz="2100" b="1" i="0">
                <a:solidFill>
                  <a:srgbClr val="0B1F33"/>
                </a:solidFill>
                <a:latin typeface="Arial"/>
                <a:ea typeface="Arial"/>
                <a:cs typeface="Arial"/>
              </a:defRPr>
            </a:pPr>
            <a:r>
              <a:rPr sz="2100" b="1" i="0">
                <a:solidFill>
                  <a:srgbClr val="0B1F33"/>
                </a:solidFill>
                <a:latin typeface="Arial"/>
                <a:ea typeface="Arial"/>
                <a:cs typeface="Arial"/>
              </a:rPr>
              <a:t>Benign</a:t>
            </a:r>
          </a:p>
        </p:txBody>
      </p:sp>
      <p:sp>
        <p:nvSpPr>
          <p:cNvPr id="12" name="">
            <a:extLst xmlns:a="http://schemas.openxmlformats.org/drawingml/2006/main">
              <a:ext uri="{FF2B5EF4-FFF2-40B4-BE49-F238E27FC236}">
                <a16:creationId xmlns:a16="http://schemas.microsoft.com/office/drawing/2014/main" id="{96CA6EB9-227C-46B3-8C17-FFE870327C71}"/>
              </a:ext>
            </a:extLst>
          </p:cNvPr>
          <p:cNvSpPr>
            <a:spLocks xmlns:a="http://schemas.openxmlformats.org/drawingml/2006/main" noGrp="1"/>
          </p:cNvSpPr>
          <p:nvPr/>
        </p:nvSpPr>
        <p:spPr>
          <a:xfrm xmlns:a="http://schemas.openxmlformats.org/drawingml/2006/main">
            <a:off x="6877050" y="4267200"/>
            <a:ext cx="3962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36273"/>
                </a:solidFill>
                <a:latin typeface="Arial"/>
                <a:ea typeface="Arial"/>
                <a:cs typeface="Arial"/>
              </a:defRPr>
            </a:pPr>
            <a:r>
              <a:rPr sz="1350" b="0" i="0">
                <a:solidFill>
                  <a:srgbClr val="536273"/>
                </a:solidFill>
                <a:latin typeface="Arial"/>
                <a:ea typeface="Arial"/>
                <a:cs typeface="Arial"/>
              </a:rPr>
              <a:t>The combined interpretation</a:t>
            </a:r>
          </a:p>
        </p:txBody>
      </p:sp>
      <p:sp>
        <p:nvSpPr>
          <p:cNvPr id="13" name="">
            <a:extLst xmlns:a="http://schemas.openxmlformats.org/drawingml/2006/main">
              <a:ext uri="{FF2B5EF4-FFF2-40B4-BE49-F238E27FC236}">
                <a16:creationId xmlns:a16="http://schemas.microsoft.com/office/drawing/2014/main" id="{EB1BC742-C71E-482B-94CD-60B88CB25ACC}"/>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25</a:t>
            </a:r>
          </a:p>
        </p:txBody>
      </p:sp>
    </p:spTree>
    <p:extLst>
      <p:ext uri="{BB962C8B-B14F-4D97-AF65-F5344CB8AC3E}">
        <p14:creationId xmlns:p14="http://schemas.microsoft.com/office/powerpoint/2010/main" val="3939894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CB9107-6EE3-458B-AD18-DEF25BE420B8}"/>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HOW TO READ THE CODES</a:t>
            </a:r>
          </a:p>
        </p:txBody>
      </p:sp>
      <p:sp>
        <p:nvSpPr>
          <p:cNvPr id="2" name="">
            <a:extLst xmlns:a="http://schemas.openxmlformats.org/drawingml/2006/main">
              <a:ext uri="{FF2B5EF4-FFF2-40B4-BE49-F238E27FC236}">
                <a16:creationId xmlns:a16="http://schemas.microsoft.com/office/drawing/2014/main" id="{D0A4743F-E660-4423-8489-A3C1360A6998}"/>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letters decode the direction and strength of evidence</a:t>
            </a:r>
          </a:p>
        </p:txBody>
      </p:sp>
      <p:cxnSp>
        <p:nvCxnSpPr>
          <p:cNvPr id="36"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AFAE15F0-0C07-4EEF-A9BD-02866AF8CD80}"/>
              </a:ext>
            </a:extLst>
          </p:cNvPr>
          <p:cNvSpPr>
            <a:spLocks xmlns:a="http://schemas.openxmlformats.org/drawingml/2006/main" noGrp="1"/>
          </p:cNvSpPr>
          <p:nvPr/>
        </p:nvSpPr>
        <p:spPr>
          <a:xfrm xmlns:a="http://schemas.openxmlformats.org/drawingml/2006/main">
            <a:off x="514350" y="1581150"/>
            <a:ext cx="10744200" cy="495300"/>
          </a:xfrm>
          <a:prstGeom xmlns:a="http://schemas.openxmlformats.org/drawingml/2006/main" prst="roundRect">
            <a:avLst>
              <a:gd name="adj" fmla="val 15385"/>
            </a:avLst>
          </a:prstGeom>
          <a:solidFill xmlns:a="http://schemas.openxmlformats.org/drawingml/2006/main">
            <a:srgbClr val="FBE3E3"/>
          </a:solidFill>
          <a:ln xmlns:a="http://schemas.openxmlformats.org/drawingml/2006/main" w="0">
            <a:solidFill>
              <a:srgbClr val="FBE3E3"/>
            </a:solidFill>
            <a:prstDash val="solid"/>
          </a:ln>
        </p:spPr>
      </p:sp>
      <p:sp>
        <p:nvSpPr>
          <p:cNvPr id="5" name="">
            <a:extLst xmlns:a="http://schemas.openxmlformats.org/drawingml/2006/main">
              <a:ext uri="{FF2B5EF4-FFF2-40B4-BE49-F238E27FC236}">
                <a16:creationId xmlns:a16="http://schemas.microsoft.com/office/drawing/2014/main" id="{F2E1B0F9-FBC6-47E6-AEE7-5B38C2D7B42C}"/>
              </a:ext>
            </a:extLst>
          </p:cNvPr>
          <p:cNvSpPr>
            <a:spLocks xmlns:a="http://schemas.openxmlformats.org/drawingml/2006/main" noGrp="1"/>
          </p:cNvSpPr>
          <p:nvPr/>
        </p:nvSpPr>
        <p:spPr>
          <a:xfrm xmlns:a="http://schemas.openxmlformats.org/drawingml/2006/main">
            <a:off x="704850" y="17145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C94E4E"/>
                </a:solidFill>
                <a:latin typeface="Arial"/>
                <a:ea typeface="Arial"/>
                <a:cs typeface="Arial"/>
              </a:defRPr>
            </a:pPr>
            <a:r>
              <a:rPr sz="1350" b="1" i="0">
                <a:solidFill>
                  <a:srgbClr val="C94E4E"/>
                </a:solidFill>
                <a:latin typeface="Arial"/>
                <a:ea typeface="Arial"/>
                <a:cs typeface="Arial"/>
              </a:rPr>
              <a:t>PVS</a:t>
            </a:r>
          </a:p>
        </p:txBody>
      </p:sp>
      <p:sp>
        <p:nvSpPr>
          <p:cNvPr id="6" name="">
            <a:extLst xmlns:a="http://schemas.openxmlformats.org/drawingml/2006/main">
              <a:ext uri="{FF2B5EF4-FFF2-40B4-BE49-F238E27FC236}">
                <a16:creationId xmlns:a16="http://schemas.microsoft.com/office/drawing/2014/main" id="{4D36148F-C153-4C97-BD0D-72DDBB3A592F}"/>
              </a:ext>
            </a:extLst>
          </p:cNvPr>
          <p:cNvSpPr>
            <a:spLocks xmlns:a="http://schemas.openxmlformats.org/drawingml/2006/main" noGrp="1"/>
          </p:cNvSpPr>
          <p:nvPr/>
        </p:nvSpPr>
        <p:spPr>
          <a:xfrm xmlns:a="http://schemas.openxmlformats.org/drawingml/2006/main">
            <a:off x="1733550" y="17049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Pathogenic • Very Strong</a:t>
            </a:r>
          </a:p>
        </p:txBody>
      </p:sp>
      <p:sp>
        <p:nvSpPr>
          <p:cNvPr id="7" name="">
            <a:extLst xmlns:a="http://schemas.openxmlformats.org/drawingml/2006/main">
              <a:ext uri="{FF2B5EF4-FFF2-40B4-BE49-F238E27FC236}">
                <a16:creationId xmlns:a16="http://schemas.microsoft.com/office/drawing/2014/main" id="{8D4F66C0-5CCC-4533-9088-83467337042D}"/>
              </a:ext>
            </a:extLst>
          </p:cNvPr>
          <p:cNvSpPr>
            <a:spLocks xmlns:a="http://schemas.openxmlformats.org/drawingml/2006/main" noGrp="1"/>
          </p:cNvSpPr>
          <p:nvPr/>
        </p:nvSpPr>
        <p:spPr>
          <a:xfrm xmlns:a="http://schemas.openxmlformats.org/drawingml/2006/main">
            <a:off x="8972550" y="17049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C94E4E"/>
                </a:solidFill>
                <a:latin typeface="Arial"/>
                <a:ea typeface="Arial"/>
                <a:cs typeface="Arial"/>
              </a:defRPr>
            </a:pPr>
            <a:r>
              <a:rPr sz="1275" b="1" i="0">
                <a:solidFill>
                  <a:srgbClr val="C94E4E"/>
                </a:solidFill>
                <a:latin typeface="Arial"/>
                <a:ea typeface="Arial"/>
                <a:cs typeface="Arial"/>
              </a:rPr>
              <a:t>PVS1</a:t>
            </a:r>
          </a:p>
        </p:txBody>
      </p:sp>
      <p:sp>
        <p:nvSpPr>
          <p:cNvPr id="8" name="">
            <a:extLst xmlns:a="http://schemas.openxmlformats.org/drawingml/2006/main">
              <a:ext uri="{FF2B5EF4-FFF2-40B4-BE49-F238E27FC236}">
                <a16:creationId xmlns:a16="http://schemas.microsoft.com/office/drawing/2014/main" id="{3F37A4AF-2473-407B-A523-E1E898EF9F17}"/>
              </a:ext>
            </a:extLst>
          </p:cNvPr>
          <p:cNvSpPr>
            <a:spLocks xmlns:a="http://schemas.openxmlformats.org/drawingml/2006/main" noGrp="1"/>
          </p:cNvSpPr>
          <p:nvPr/>
        </p:nvSpPr>
        <p:spPr>
          <a:xfrm xmlns:a="http://schemas.openxmlformats.org/drawingml/2006/main">
            <a:off x="514350" y="2228850"/>
            <a:ext cx="10744200" cy="495300"/>
          </a:xfrm>
          <a:prstGeom xmlns:a="http://schemas.openxmlformats.org/drawingml/2006/main" prst="roundRect">
            <a:avLst>
              <a:gd name="adj" fmla="val 15385"/>
            </a:avLst>
          </a:prstGeom>
          <a:solidFill xmlns:a="http://schemas.openxmlformats.org/drawingml/2006/main">
            <a:srgbClr val="FBE5E1"/>
          </a:solidFill>
          <a:ln xmlns:a="http://schemas.openxmlformats.org/drawingml/2006/main" w="0">
            <a:solidFill>
              <a:srgbClr val="FBE5E1"/>
            </a:solidFill>
            <a:prstDash val="solid"/>
          </a:ln>
        </p:spPr>
      </p:sp>
      <p:sp>
        <p:nvSpPr>
          <p:cNvPr id="9" name="">
            <a:extLst xmlns:a="http://schemas.openxmlformats.org/drawingml/2006/main">
              <a:ext uri="{FF2B5EF4-FFF2-40B4-BE49-F238E27FC236}">
                <a16:creationId xmlns:a16="http://schemas.microsoft.com/office/drawing/2014/main" id="{B2D3D99D-6CBA-4919-BA30-72EF210FF16A}"/>
              </a:ext>
            </a:extLst>
          </p:cNvPr>
          <p:cNvSpPr>
            <a:spLocks xmlns:a="http://schemas.openxmlformats.org/drawingml/2006/main" noGrp="1"/>
          </p:cNvSpPr>
          <p:nvPr/>
        </p:nvSpPr>
        <p:spPr>
          <a:xfrm xmlns:a="http://schemas.openxmlformats.org/drawingml/2006/main">
            <a:off x="704850" y="23622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D96352"/>
                </a:solidFill>
                <a:latin typeface="Arial"/>
                <a:ea typeface="Arial"/>
                <a:cs typeface="Arial"/>
              </a:defRPr>
            </a:pPr>
            <a:r>
              <a:rPr sz="1350" b="1" i="0">
                <a:solidFill>
                  <a:srgbClr val="D96352"/>
                </a:solidFill>
                <a:latin typeface="Arial"/>
                <a:ea typeface="Arial"/>
                <a:cs typeface="Arial"/>
              </a:rPr>
              <a:t>PS</a:t>
            </a:r>
          </a:p>
        </p:txBody>
      </p:sp>
      <p:sp>
        <p:nvSpPr>
          <p:cNvPr id="10" name="">
            <a:extLst xmlns:a="http://schemas.openxmlformats.org/drawingml/2006/main">
              <a:ext uri="{FF2B5EF4-FFF2-40B4-BE49-F238E27FC236}">
                <a16:creationId xmlns:a16="http://schemas.microsoft.com/office/drawing/2014/main" id="{2E583E00-2E52-4131-906D-17786D44F5A8}"/>
              </a:ext>
            </a:extLst>
          </p:cNvPr>
          <p:cNvSpPr>
            <a:spLocks xmlns:a="http://schemas.openxmlformats.org/drawingml/2006/main" noGrp="1"/>
          </p:cNvSpPr>
          <p:nvPr/>
        </p:nvSpPr>
        <p:spPr>
          <a:xfrm xmlns:a="http://schemas.openxmlformats.org/drawingml/2006/main">
            <a:off x="1733550" y="23526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Pathogenic • Strong</a:t>
            </a:r>
          </a:p>
        </p:txBody>
      </p:sp>
      <p:sp>
        <p:nvSpPr>
          <p:cNvPr id="11" name="">
            <a:extLst xmlns:a="http://schemas.openxmlformats.org/drawingml/2006/main">
              <a:ext uri="{FF2B5EF4-FFF2-40B4-BE49-F238E27FC236}">
                <a16:creationId xmlns:a16="http://schemas.microsoft.com/office/drawing/2014/main" id="{A0F6269D-7DD1-404C-979E-C9B1502F2636}"/>
              </a:ext>
            </a:extLst>
          </p:cNvPr>
          <p:cNvSpPr>
            <a:spLocks xmlns:a="http://schemas.openxmlformats.org/drawingml/2006/main" noGrp="1"/>
          </p:cNvSpPr>
          <p:nvPr/>
        </p:nvSpPr>
        <p:spPr>
          <a:xfrm xmlns:a="http://schemas.openxmlformats.org/drawingml/2006/main">
            <a:off x="8972550" y="23526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D96352"/>
                </a:solidFill>
                <a:latin typeface="Arial"/>
                <a:ea typeface="Arial"/>
                <a:cs typeface="Arial"/>
              </a:defRPr>
            </a:pPr>
            <a:r>
              <a:rPr sz="1275" b="1" i="0">
                <a:solidFill>
                  <a:srgbClr val="D96352"/>
                </a:solidFill>
                <a:latin typeface="Arial"/>
                <a:ea typeface="Arial"/>
                <a:cs typeface="Arial"/>
              </a:rPr>
              <a:t>PS1–PS4</a:t>
            </a:r>
          </a:p>
        </p:txBody>
      </p:sp>
      <p:sp>
        <p:nvSpPr>
          <p:cNvPr id="12" name="">
            <a:extLst xmlns:a="http://schemas.openxmlformats.org/drawingml/2006/main">
              <a:ext uri="{FF2B5EF4-FFF2-40B4-BE49-F238E27FC236}">
                <a16:creationId xmlns:a16="http://schemas.microsoft.com/office/drawing/2014/main" id="{FB605C7F-0149-4713-BFD3-01A6BBB73A12}"/>
              </a:ext>
            </a:extLst>
          </p:cNvPr>
          <p:cNvSpPr>
            <a:spLocks xmlns:a="http://schemas.openxmlformats.org/drawingml/2006/main" noGrp="1"/>
          </p:cNvSpPr>
          <p:nvPr/>
        </p:nvSpPr>
        <p:spPr>
          <a:xfrm xmlns:a="http://schemas.openxmlformats.org/drawingml/2006/main">
            <a:off x="514350" y="2876550"/>
            <a:ext cx="10744200" cy="495300"/>
          </a:xfrm>
          <a:prstGeom xmlns:a="http://schemas.openxmlformats.org/drawingml/2006/main" prst="roundRect">
            <a:avLst>
              <a:gd name="adj" fmla="val 15385"/>
            </a:avLst>
          </a:prstGeom>
          <a:solidFill xmlns:a="http://schemas.openxmlformats.org/drawingml/2006/main">
            <a:srgbClr val="FFF1CF"/>
          </a:solidFill>
          <a:ln xmlns:a="http://schemas.openxmlformats.org/drawingml/2006/main" w="0">
            <a:solidFill>
              <a:srgbClr val="FFF1CF"/>
            </a:solidFill>
            <a:prstDash val="solid"/>
          </a:ln>
        </p:spPr>
      </p:sp>
      <p:sp>
        <p:nvSpPr>
          <p:cNvPr id="13" name="">
            <a:extLst xmlns:a="http://schemas.openxmlformats.org/drawingml/2006/main">
              <a:ext uri="{FF2B5EF4-FFF2-40B4-BE49-F238E27FC236}">
                <a16:creationId xmlns:a16="http://schemas.microsoft.com/office/drawing/2014/main" id="{E0E4F65F-64DF-4949-AF6D-7EACFC26FB95}"/>
              </a:ext>
            </a:extLst>
          </p:cNvPr>
          <p:cNvSpPr>
            <a:spLocks xmlns:a="http://schemas.openxmlformats.org/drawingml/2006/main" noGrp="1"/>
          </p:cNvSpPr>
          <p:nvPr/>
        </p:nvSpPr>
        <p:spPr>
          <a:xfrm xmlns:a="http://schemas.openxmlformats.org/drawingml/2006/main">
            <a:off x="704850" y="30099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7A62F"/>
                </a:solidFill>
                <a:latin typeface="Arial"/>
                <a:ea typeface="Arial"/>
                <a:cs typeface="Arial"/>
              </a:defRPr>
            </a:pPr>
            <a:r>
              <a:rPr sz="1350" b="1" i="0">
                <a:solidFill>
                  <a:srgbClr val="E7A62F"/>
                </a:solidFill>
                <a:latin typeface="Arial"/>
                <a:ea typeface="Arial"/>
                <a:cs typeface="Arial"/>
              </a:rPr>
              <a:t>PM</a:t>
            </a:r>
          </a:p>
        </p:txBody>
      </p:sp>
      <p:sp>
        <p:nvSpPr>
          <p:cNvPr id="14" name="">
            <a:extLst xmlns:a="http://schemas.openxmlformats.org/drawingml/2006/main">
              <a:ext uri="{FF2B5EF4-FFF2-40B4-BE49-F238E27FC236}">
                <a16:creationId xmlns:a16="http://schemas.microsoft.com/office/drawing/2014/main" id="{728E99D6-15C3-4A86-BD0A-8540BA658EFD}"/>
              </a:ext>
            </a:extLst>
          </p:cNvPr>
          <p:cNvSpPr>
            <a:spLocks xmlns:a="http://schemas.openxmlformats.org/drawingml/2006/main" noGrp="1"/>
          </p:cNvSpPr>
          <p:nvPr/>
        </p:nvSpPr>
        <p:spPr>
          <a:xfrm xmlns:a="http://schemas.openxmlformats.org/drawingml/2006/main">
            <a:off x="1733550" y="30003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Pathogenic • Moderate</a:t>
            </a:r>
          </a:p>
        </p:txBody>
      </p:sp>
      <p:sp>
        <p:nvSpPr>
          <p:cNvPr id="15" name="">
            <a:extLst xmlns:a="http://schemas.openxmlformats.org/drawingml/2006/main">
              <a:ext uri="{FF2B5EF4-FFF2-40B4-BE49-F238E27FC236}">
                <a16:creationId xmlns:a16="http://schemas.microsoft.com/office/drawing/2014/main" id="{84388ECF-08FF-4FD9-9AA4-50E3932289D5}"/>
              </a:ext>
            </a:extLst>
          </p:cNvPr>
          <p:cNvSpPr>
            <a:spLocks xmlns:a="http://schemas.openxmlformats.org/drawingml/2006/main" noGrp="1"/>
          </p:cNvSpPr>
          <p:nvPr/>
        </p:nvSpPr>
        <p:spPr>
          <a:xfrm xmlns:a="http://schemas.openxmlformats.org/drawingml/2006/main">
            <a:off x="8972550" y="30003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E7A62F"/>
                </a:solidFill>
                <a:latin typeface="Arial"/>
                <a:ea typeface="Arial"/>
                <a:cs typeface="Arial"/>
              </a:defRPr>
            </a:pPr>
            <a:r>
              <a:rPr sz="1275" b="1" i="0">
                <a:solidFill>
                  <a:srgbClr val="E7A62F"/>
                </a:solidFill>
                <a:latin typeface="Arial"/>
                <a:ea typeface="Arial"/>
                <a:cs typeface="Arial"/>
              </a:rPr>
              <a:t>PM1–PM6</a:t>
            </a:r>
          </a:p>
        </p:txBody>
      </p:sp>
      <p:sp>
        <p:nvSpPr>
          <p:cNvPr id="16" name="">
            <a:extLst xmlns:a="http://schemas.openxmlformats.org/drawingml/2006/main">
              <a:ext uri="{FF2B5EF4-FFF2-40B4-BE49-F238E27FC236}">
                <a16:creationId xmlns:a16="http://schemas.microsoft.com/office/drawing/2014/main" id="{4EB28E78-6847-447A-B943-668BCACF096D}"/>
              </a:ext>
            </a:extLst>
          </p:cNvPr>
          <p:cNvSpPr>
            <a:spLocks xmlns:a="http://schemas.openxmlformats.org/drawingml/2006/main" noGrp="1"/>
          </p:cNvSpPr>
          <p:nvPr/>
        </p:nvSpPr>
        <p:spPr>
          <a:xfrm xmlns:a="http://schemas.openxmlformats.org/drawingml/2006/main">
            <a:off x="514350" y="3524250"/>
            <a:ext cx="10744200" cy="495300"/>
          </a:xfrm>
          <a:prstGeom xmlns:a="http://schemas.openxmlformats.org/drawingml/2006/main" prst="roundRect">
            <a:avLst>
              <a:gd name="adj" fmla="val 15385"/>
            </a:avLst>
          </a:prstGeom>
          <a:solidFill xmlns:a="http://schemas.openxmlformats.org/drawingml/2006/main">
            <a:srgbClr val="EEE8FB"/>
          </a:solidFill>
          <a:ln xmlns:a="http://schemas.openxmlformats.org/drawingml/2006/main" w="0">
            <a:solidFill>
              <a:srgbClr val="EEE8FB"/>
            </a:solidFill>
            <a:prstDash val="solid"/>
          </a:ln>
        </p:spPr>
      </p:sp>
      <p:sp>
        <p:nvSpPr>
          <p:cNvPr id="17" name="">
            <a:extLst xmlns:a="http://schemas.openxmlformats.org/drawingml/2006/main">
              <a:ext uri="{FF2B5EF4-FFF2-40B4-BE49-F238E27FC236}">
                <a16:creationId xmlns:a16="http://schemas.microsoft.com/office/drawing/2014/main" id="{4F8BF25F-98E1-406A-B60C-F2383C5FF351}"/>
              </a:ext>
            </a:extLst>
          </p:cNvPr>
          <p:cNvSpPr>
            <a:spLocks xmlns:a="http://schemas.openxmlformats.org/drawingml/2006/main" noGrp="1"/>
          </p:cNvSpPr>
          <p:nvPr/>
        </p:nvSpPr>
        <p:spPr>
          <a:xfrm xmlns:a="http://schemas.openxmlformats.org/drawingml/2006/main">
            <a:off x="704850" y="36576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756C2"/>
                </a:solidFill>
                <a:latin typeface="Arial"/>
                <a:ea typeface="Arial"/>
                <a:cs typeface="Arial"/>
              </a:defRPr>
            </a:pPr>
            <a:r>
              <a:rPr sz="1350" b="1" i="0">
                <a:solidFill>
                  <a:srgbClr val="7756C2"/>
                </a:solidFill>
                <a:latin typeface="Arial"/>
                <a:ea typeface="Arial"/>
                <a:cs typeface="Arial"/>
              </a:rPr>
              <a:t>PP</a:t>
            </a:r>
          </a:p>
        </p:txBody>
      </p:sp>
      <p:sp>
        <p:nvSpPr>
          <p:cNvPr id="18" name="">
            <a:extLst xmlns:a="http://schemas.openxmlformats.org/drawingml/2006/main">
              <a:ext uri="{FF2B5EF4-FFF2-40B4-BE49-F238E27FC236}">
                <a16:creationId xmlns:a16="http://schemas.microsoft.com/office/drawing/2014/main" id="{7F799655-8699-4F1F-B960-D2231D91C4E0}"/>
              </a:ext>
            </a:extLst>
          </p:cNvPr>
          <p:cNvSpPr>
            <a:spLocks xmlns:a="http://schemas.openxmlformats.org/drawingml/2006/main" noGrp="1"/>
          </p:cNvSpPr>
          <p:nvPr/>
        </p:nvSpPr>
        <p:spPr>
          <a:xfrm xmlns:a="http://schemas.openxmlformats.org/drawingml/2006/main">
            <a:off x="1733550" y="36480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Pathogenic • Supporting</a:t>
            </a:r>
          </a:p>
        </p:txBody>
      </p:sp>
      <p:sp>
        <p:nvSpPr>
          <p:cNvPr id="19" name="">
            <a:extLst xmlns:a="http://schemas.openxmlformats.org/drawingml/2006/main">
              <a:ext uri="{FF2B5EF4-FFF2-40B4-BE49-F238E27FC236}">
                <a16:creationId xmlns:a16="http://schemas.microsoft.com/office/drawing/2014/main" id="{71A4CD0B-0F6F-4B55-8DB3-C0A20449B802}"/>
              </a:ext>
            </a:extLst>
          </p:cNvPr>
          <p:cNvSpPr>
            <a:spLocks xmlns:a="http://schemas.openxmlformats.org/drawingml/2006/main" noGrp="1"/>
          </p:cNvSpPr>
          <p:nvPr/>
        </p:nvSpPr>
        <p:spPr>
          <a:xfrm xmlns:a="http://schemas.openxmlformats.org/drawingml/2006/main">
            <a:off x="8972550" y="36480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7756C2"/>
                </a:solidFill>
                <a:latin typeface="Arial"/>
                <a:ea typeface="Arial"/>
                <a:cs typeface="Arial"/>
              </a:defRPr>
            </a:pPr>
            <a:r>
              <a:rPr sz="1275" b="1" i="0">
                <a:solidFill>
                  <a:srgbClr val="7756C2"/>
                </a:solidFill>
                <a:latin typeface="Arial"/>
                <a:ea typeface="Arial"/>
                <a:cs typeface="Arial"/>
              </a:rPr>
              <a:t>PP1–PP5</a:t>
            </a:r>
          </a:p>
        </p:txBody>
      </p:sp>
      <p:sp>
        <p:nvSpPr>
          <p:cNvPr id="20" name="">
            <a:extLst xmlns:a="http://schemas.openxmlformats.org/drawingml/2006/main">
              <a:ext uri="{FF2B5EF4-FFF2-40B4-BE49-F238E27FC236}">
                <a16:creationId xmlns:a16="http://schemas.microsoft.com/office/drawing/2014/main" id="{75054DA0-0FD0-4439-A00B-0EF4A78FF80E}"/>
              </a:ext>
            </a:extLst>
          </p:cNvPr>
          <p:cNvSpPr>
            <a:spLocks xmlns:a="http://schemas.openxmlformats.org/drawingml/2006/main" noGrp="1"/>
          </p:cNvSpPr>
          <p:nvPr/>
        </p:nvSpPr>
        <p:spPr>
          <a:xfrm xmlns:a="http://schemas.openxmlformats.org/drawingml/2006/main">
            <a:off x="514350" y="4171950"/>
            <a:ext cx="10744200" cy="495300"/>
          </a:xfrm>
          <a:prstGeom xmlns:a="http://schemas.openxmlformats.org/drawingml/2006/main" prst="roundRect">
            <a:avLst>
              <a:gd name="adj" fmla="val 15385"/>
            </a:avLst>
          </a:prstGeom>
          <a:solidFill xmlns:a="http://schemas.openxmlformats.org/drawingml/2006/main">
            <a:srgbClr val="DEF3E7"/>
          </a:solidFill>
          <a:ln xmlns:a="http://schemas.openxmlformats.org/drawingml/2006/main" w="0">
            <a:solidFill>
              <a:srgbClr val="DEF3E7"/>
            </a:solidFill>
            <a:prstDash val="solid"/>
          </a:ln>
        </p:spPr>
      </p:sp>
      <p:sp>
        <p:nvSpPr>
          <p:cNvPr id="21" name="">
            <a:extLst xmlns:a="http://schemas.openxmlformats.org/drawingml/2006/main">
              <a:ext uri="{FF2B5EF4-FFF2-40B4-BE49-F238E27FC236}">
                <a16:creationId xmlns:a16="http://schemas.microsoft.com/office/drawing/2014/main" id="{A35658D6-CB4E-4E10-9A4A-1C618A6D6E82}"/>
              </a:ext>
            </a:extLst>
          </p:cNvPr>
          <p:cNvSpPr>
            <a:spLocks xmlns:a="http://schemas.openxmlformats.org/drawingml/2006/main" noGrp="1"/>
          </p:cNvSpPr>
          <p:nvPr/>
        </p:nvSpPr>
        <p:spPr>
          <a:xfrm xmlns:a="http://schemas.openxmlformats.org/drawingml/2006/main">
            <a:off x="704850" y="43053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59B64"/>
                </a:solidFill>
                <a:latin typeface="Arial"/>
                <a:ea typeface="Arial"/>
                <a:cs typeface="Arial"/>
              </a:defRPr>
            </a:pPr>
            <a:r>
              <a:rPr sz="1350" b="1" i="0">
                <a:solidFill>
                  <a:srgbClr val="359B64"/>
                </a:solidFill>
                <a:latin typeface="Arial"/>
                <a:ea typeface="Arial"/>
                <a:cs typeface="Arial"/>
              </a:rPr>
              <a:t>BA</a:t>
            </a:r>
          </a:p>
        </p:txBody>
      </p:sp>
      <p:sp>
        <p:nvSpPr>
          <p:cNvPr id="22" name="">
            <a:extLst xmlns:a="http://schemas.openxmlformats.org/drawingml/2006/main">
              <a:ext uri="{FF2B5EF4-FFF2-40B4-BE49-F238E27FC236}">
                <a16:creationId xmlns:a16="http://schemas.microsoft.com/office/drawing/2014/main" id="{8E35C252-A10F-4639-92B8-D6E697A29C19}"/>
              </a:ext>
            </a:extLst>
          </p:cNvPr>
          <p:cNvSpPr>
            <a:spLocks xmlns:a="http://schemas.openxmlformats.org/drawingml/2006/main" noGrp="1"/>
          </p:cNvSpPr>
          <p:nvPr/>
        </p:nvSpPr>
        <p:spPr>
          <a:xfrm xmlns:a="http://schemas.openxmlformats.org/drawingml/2006/main">
            <a:off x="1733550" y="42957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Benign • Stand-alone</a:t>
            </a:r>
          </a:p>
        </p:txBody>
      </p:sp>
      <p:sp>
        <p:nvSpPr>
          <p:cNvPr id="23" name="">
            <a:extLst xmlns:a="http://schemas.openxmlformats.org/drawingml/2006/main">
              <a:ext uri="{FF2B5EF4-FFF2-40B4-BE49-F238E27FC236}">
                <a16:creationId xmlns:a16="http://schemas.microsoft.com/office/drawing/2014/main" id="{68F231EF-B352-4D8D-936C-E871B38946C1}"/>
              </a:ext>
            </a:extLst>
          </p:cNvPr>
          <p:cNvSpPr>
            <a:spLocks xmlns:a="http://schemas.openxmlformats.org/drawingml/2006/main" noGrp="1"/>
          </p:cNvSpPr>
          <p:nvPr/>
        </p:nvSpPr>
        <p:spPr>
          <a:xfrm xmlns:a="http://schemas.openxmlformats.org/drawingml/2006/main">
            <a:off x="8972550" y="42957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359B64"/>
                </a:solidFill>
                <a:latin typeface="Arial"/>
                <a:ea typeface="Arial"/>
                <a:cs typeface="Arial"/>
              </a:defRPr>
            </a:pPr>
            <a:r>
              <a:rPr sz="1275" b="1" i="0">
                <a:solidFill>
                  <a:srgbClr val="359B64"/>
                </a:solidFill>
                <a:latin typeface="Arial"/>
                <a:ea typeface="Arial"/>
                <a:cs typeface="Arial"/>
              </a:rPr>
              <a:t>BA1</a:t>
            </a:r>
          </a:p>
        </p:txBody>
      </p:sp>
      <p:sp>
        <p:nvSpPr>
          <p:cNvPr id="24" name="">
            <a:extLst xmlns:a="http://schemas.openxmlformats.org/drawingml/2006/main">
              <a:ext uri="{FF2B5EF4-FFF2-40B4-BE49-F238E27FC236}">
                <a16:creationId xmlns:a16="http://schemas.microsoft.com/office/drawing/2014/main" id="{CB9DE537-A0A8-4014-A9DF-03183857B5BC}"/>
              </a:ext>
            </a:extLst>
          </p:cNvPr>
          <p:cNvSpPr>
            <a:spLocks xmlns:a="http://schemas.openxmlformats.org/drawingml/2006/main" noGrp="1"/>
          </p:cNvSpPr>
          <p:nvPr/>
        </p:nvSpPr>
        <p:spPr>
          <a:xfrm xmlns:a="http://schemas.openxmlformats.org/drawingml/2006/main">
            <a:off x="514350" y="4819650"/>
            <a:ext cx="10744200" cy="495300"/>
          </a:xfrm>
          <a:prstGeom xmlns:a="http://schemas.openxmlformats.org/drawingml/2006/main" prst="roundRect">
            <a:avLst>
              <a:gd name="adj" fmla="val 15385"/>
            </a:avLst>
          </a:prstGeom>
          <a:solidFill xmlns:a="http://schemas.openxmlformats.org/drawingml/2006/main">
            <a:srgbClr val="DDF5F3"/>
          </a:solidFill>
          <a:ln xmlns:a="http://schemas.openxmlformats.org/drawingml/2006/main" w="0">
            <a:solidFill>
              <a:srgbClr val="DDF5F3"/>
            </a:solidFill>
            <a:prstDash val="solid"/>
          </a:ln>
        </p:spPr>
      </p:sp>
      <p:sp>
        <p:nvSpPr>
          <p:cNvPr id="25" name="">
            <a:extLst xmlns:a="http://schemas.openxmlformats.org/drawingml/2006/main">
              <a:ext uri="{FF2B5EF4-FFF2-40B4-BE49-F238E27FC236}">
                <a16:creationId xmlns:a16="http://schemas.microsoft.com/office/drawing/2014/main" id="{5A1DF4A3-AF57-4003-9EDA-52E6FC7A1190}"/>
              </a:ext>
            </a:extLst>
          </p:cNvPr>
          <p:cNvSpPr>
            <a:spLocks xmlns:a="http://schemas.openxmlformats.org/drawingml/2006/main" noGrp="1"/>
          </p:cNvSpPr>
          <p:nvPr/>
        </p:nvSpPr>
        <p:spPr>
          <a:xfrm xmlns:a="http://schemas.openxmlformats.org/drawingml/2006/main">
            <a:off x="704850" y="49530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69C9C"/>
                </a:solidFill>
                <a:latin typeface="Arial"/>
                <a:ea typeface="Arial"/>
                <a:cs typeface="Arial"/>
              </a:defRPr>
            </a:pPr>
            <a:r>
              <a:rPr sz="1350" b="1" i="0">
                <a:solidFill>
                  <a:srgbClr val="069C9C"/>
                </a:solidFill>
                <a:latin typeface="Arial"/>
                <a:ea typeface="Arial"/>
                <a:cs typeface="Arial"/>
              </a:rPr>
              <a:t>BS</a:t>
            </a:r>
          </a:p>
        </p:txBody>
      </p:sp>
      <p:sp>
        <p:nvSpPr>
          <p:cNvPr id="26" name="">
            <a:extLst xmlns:a="http://schemas.openxmlformats.org/drawingml/2006/main">
              <a:ext uri="{FF2B5EF4-FFF2-40B4-BE49-F238E27FC236}">
                <a16:creationId xmlns:a16="http://schemas.microsoft.com/office/drawing/2014/main" id="{1B7AFCB8-2BE4-4B8C-ADF5-CE399FE5A841}"/>
              </a:ext>
            </a:extLst>
          </p:cNvPr>
          <p:cNvSpPr>
            <a:spLocks xmlns:a="http://schemas.openxmlformats.org/drawingml/2006/main" noGrp="1"/>
          </p:cNvSpPr>
          <p:nvPr/>
        </p:nvSpPr>
        <p:spPr>
          <a:xfrm xmlns:a="http://schemas.openxmlformats.org/drawingml/2006/main">
            <a:off x="1733550" y="49434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Benign • Strong</a:t>
            </a:r>
          </a:p>
        </p:txBody>
      </p:sp>
      <p:sp>
        <p:nvSpPr>
          <p:cNvPr id="27" name="">
            <a:extLst xmlns:a="http://schemas.openxmlformats.org/drawingml/2006/main">
              <a:ext uri="{FF2B5EF4-FFF2-40B4-BE49-F238E27FC236}">
                <a16:creationId xmlns:a16="http://schemas.microsoft.com/office/drawing/2014/main" id="{1E30EBAC-875B-4B3C-819C-953F79853C88}"/>
              </a:ext>
            </a:extLst>
          </p:cNvPr>
          <p:cNvSpPr>
            <a:spLocks xmlns:a="http://schemas.openxmlformats.org/drawingml/2006/main" noGrp="1"/>
          </p:cNvSpPr>
          <p:nvPr/>
        </p:nvSpPr>
        <p:spPr>
          <a:xfrm xmlns:a="http://schemas.openxmlformats.org/drawingml/2006/main">
            <a:off x="8972550" y="49434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069C9C"/>
                </a:solidFill>
                <a:latin typeface="Arial"/>
                <a:ea typeface="Arial"/>
                <a:cs typeface="Arial"/>
              </a:defRPr>
            </a:pPr>
            <a:r>
              <a:rPr sz="1275" b="1" i="0">
                <a:solidFill>
                  <a:srgbClr val="069C9C"/>
                </a:solidFill>
                <a:latin typeface="Arial"/>
                <a:ea typeface="Arial"/>
                <a:cs typeface="Arial"/>
              </a:rPr>
              <a:t>BS1–BS4</a:t>
            </a:r>
          </a:p>
        </p:txBody>
      </p:sp>
      <p:sp>
        <p:nvSpPr>
          <p:cNvPr id="28" name="">
            <a:extLst xmlns:a="http://schemas.openxmlformats.org/drawingml/2006/main">
              <a:ext uri="{FF2B5EF4-FFF2-40B4-BE49-F238E27FC236}">
                <a16:creationId xmlns:a16="http://schemas.microsoft.com/office/drawing/2014/main" id="{A451FAA3-D4F3-429A-B46D-0E0C223ADAA5}"/>
              </a:ext>
            </a:extLst>
          </p:cNvPr>
          <p:cNvSpPr>
            <a:spLocks xmlns:a="http://schemas.openxmlformats.org/drawingml/2006/main" noGrp="1"/>
          </p:cNvSpPr>
          <p:nvPr/>
        </p:nvSpPr>
        <p:spPr>
          <a:xfrm xmlns:a="http://schemas.openxmlformats.org/drawingml/2006/main">
            <a:off x="514350" y="5467350"/>
            <a:ext cx="10744200" cy="495300"/>
          </a:xfrm>
          <a:prstGeom xmlns:a="http://schemas.openxmlformats.org/drawingml/2006/main" prst="roundRect">
            <a:avLst>
              <a:gd name="adj" fmla="val 15385"/>
            </a:avLst>
          </a:prstGeom>
          <a:solidFill xmlns:a="http://schemas.openxmlformats.org/drawingml/2006/main">
            <a:srgbClr val="DCE8FF"/>
          </a:solidFill>
          <a:ln xmlns:a="http://schemas.openxmlformats.org/drawingml/2006/main" w="0">
            <a:solidFill>
              <a:srgbClr val="DCE8FF"/>
            </a:solidFill>
            <a:prstDash val="solid"/>
          </a:ln>
        </p:spPr>
      </p:sp>
      <p:sp>
        <p:nvSpPr>
          <p:cNvPr id="29" name="">
            <a:extLst xmlns:a="http://schemas.openxmlformats.org/drawingml/2006/main">
              <a:ext uri="{FF2B5EF4-FFF2-40B4-BE49-F238E27FC236}">
                <a16:creationId xmlns:a16="http://schemas.microsoft.com/office/drawing/2014/main" id="{93308C3F-B384-4349-A2AF-24D0F35D3BE4}"/>
              </a:ext>
            </a:extLst>
          </p:cNvPr>
          <p:cNvSpPr>
            <a:spLocks xmlns:a="http://schemas.openxmlformats.org/drawingml/2006/main" noGrp="1"/>
          </p:cNvSpPr>
          <p:nvPr/>
        </p:nvSpPr>
        <p:spPr>
          <a:xfrm xmlns:a="http://schemas.openxmlformats.org/drawingml/2006/main">
            <a:off x="704850" y="5600700"/>
            <a:ext cx="87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D6CDF"/>
                </a:solidFill>
                <a:latin typeface="Arial"/>
                <a:ea typeface="Arial"/>
                <a:cs typeface="Arial"/>
              </a:defRPr>
            </a:pPr>
            <a:r>
              <a:rPr sz="1350" b="1" i="0">
                <a:solidFill>
                  <a:srgbClr val="2D6CDF"/>
                </a:solidFill>
                <a:latin typeface="Arial"/>
                <a:ea typeface="Arial"/>
                <a:cs typeface="Arial"/>
              </a:rPr>
              <a:t>BP</a:t>
            </a:r>
          </a:p>
        </p:txBody>
      </p:sp>
      <p:sp>
        <p:nvSpPr>
          <p:cNvPr id="30" name="">
            <a:extLst xmlns:a="http://schemas.openxmlformats.org/drawingml/2006/main">
              <a:ext uri="{FF2B5EF4-FFF2-40B4-BE49-F238E27FC236}">
                <a16:creationId xmlns:a16="http://schemas.microsoft.com/office/drawing/2014/main" id="{E7FBD327-CE2B-4C7B-B88F-24BCC296E888}"/>
              </a:ext>
            </a:extLst>
          </p:cNvPr>
          <p:cNvSpPr>
            <a:spLocks xmlns:a="http://schemas.openxmlformats.org/drawingml/2006/main" noGrp="1"/>
          </p:cNvSpPr>
          <p:nvPr/>
        </p:nvSpPr>
        <p:spPr>
          <a:xfrm xmlns:a="http://schemas.openxmlformats.org/drawingml/2006/main">
            <a:off x="1733550" y="5591175"/>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Benign • Supporting</a:t>
            </a:r>
          </a:p>
        </p:txBody>
      </p:sp>
      <p:sp>
        <p:nvSpPr>
          <p:cNvPr id="31" name="">
            <a:extLst xmlns:a="http://schemas.openxmlformats.org/drawingml/2006/main">
              <a:ext uri="{FF2B5EF4-FFF2-40B4-BE49-F238E27FC236}">
                <a16:creationId xmlns:a16="http://schemas.microsoft.com/office/drawing/2014/main" id="{E7CB8253-D07F-4B70-B314-A80953CBC4EC}"/>
              </a:ext>
            </a:extLst>
          </p:cNvPr>
          <p:cNvSpPr>
            <a:spLocks xmlns:a="http://schemas.openxmlformats.org/drawingml/2006/main" noGrp="1"/>
          </p:cNvSpPr>
          <p:nvPr/>
        </p:nvSpPr>
        <p:spPr>
          <a:xfrm xmlns:a="http://schemas.openxmlformats.org/drawingml/2006/main">
            <a:off x="8972550" y="55911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1" i="0">
                <a:solidFill>
                  <a:srgbClr val="2D6CDF"/>
                </a:solidFill>
                <a:latin typeface="Arial"/>
                <a:ea typeface="Arial"/>
                <a:cs typeface="Arial"/>
              </a:defRPr>
            </a:pPr>
            <a:r>
              <a:rPr sz="1275" b="1" i="0">
                <a:solidFill>
                  <a:srgbClr val="2D6CDF"/>
                </a:solidFill>
                <a:latin typeface="Arial"/>
                <a:ea typeface="Arial"/>
                <a:cs typeface="Arial"/>
              </a:rPr>
              <a:t>BP1–BP7</a:t>
            </a:r>
          </a:p>
        </p:txBody>
      </p:sp>
      <p:sp>
        <p:nvSpPr>
          <p:cNvPr id="32" name="">
            <a:extLst xmlns:a="http://schemas.openxmlformats.org/drawingml/2006/main">
              <a:ext uri="{FF2B5EF4-FFF2-40B4-BE49-F238E27FC236}">
                <a16:creationId xmlns:a16="http://schemas.microsoft.com/office/drawing/2014/main" id="{3AF4BA92-982F-4C94-824F-EB15F09A7EDE}"/>
              </a:ext>
            </a:extLst>
          </p:cNvPr>
          <p:cNvSpPr>
            <a:spLocks xmlns:a="http://schemas.openxmlformats.org/drawingml/2006/main" noGrp="1"/>
          </p:cNvSpPr>
          <p:nvPr/>
        </p:nvSpPr>
        <p:spPr>
          <a:xfrm xmlns:a="http://schemas.openxmlformats.org/drawingml/2006/main">
            <a:off x="1504950" y="6229350"/>
            <a:ext cx="918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B1F33"/>
                </a:solidFill>
                <a:latin typeface="Arial"/>
                <a:ea typeface="Arial"/>
                <a:cs typeface="Arial"/>
              </a:defRPr>
            </a:pPr>
            <a:r>
              <a:rPr sz="1275" b="1" i="0">
                <a:solidFill>
                  <a:srgbClr val="0B1F33"/>
                </a:solidFill>
                <a:latin typeface="Arial"/>
                <a:ea typeface="Arial"/>
                <a:cs typeface="Arial"/>
              </a:rPr>
              <a:t>The number identifies the criterion; it does not rank criteria within the same strength.</a:t>
            </a:r>
          </a:p>
        </p:txBody>
      </p:sp>
      <p:sp>
        <p:nvSpPr>
          <p:cNvPr id="33" name="">
            <a:extLst xmlns:a="http://schemas.openxmlformats.org/drawingml/2006/main">
              <a:ext uri="{FF2B5EF4-FFF2-40B4-BE49-F238E27FC236}">
                <a16:creationId xmlns:a16="http://schemas.microsoft.com/office/drawing/2014/main" id="{8C589EE9-687A-4352-AFD7-59CB725ED8F4}"/>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26</a:t>
            </a:r>
          </a:p>
        </p:txBody>
      </p:sp>
    </p:spTree>
    <p:extLst>
      <p:ext uri="{BB962C8B-B14F-4D97-AF65-F5344CB8AC3E}">
        <p14:creationId xmlns:p14="http://schemas.microsoft.com/office/powerpoint/2010/main" val="85531216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F82558-5177-485C-87FD-E0F22DDFE26C}"/>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EVIDENCE FAMILIES</a:t>
            </a:r>
          </a:p>
        </p:txBody>
      </p:sp>
      <p:sp>
        <p:nvSpPr>
          <p:cNvPr id="2" name="">
            <a:extLst xmlns:a="http://schemas.openxmlformats.org/drawingml/2006/main">
              <a:ext uri="{FF2B5EF4-FFF2-40B4-BE49-F238E27FC236}">
                <a16:creationId xmlns:a16="http://schemas.microsoft.com/office/drawing/2014/main" id="{51D097B8-44DB-43AD-B0CC-7AA49841D4C5}"/>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Evidence comes from several independent directions</a:t>
            </a:r>
          </a:p>
        </p:txBody>
      </p:sp>
      <p:cxnSp>
        <p:nvCxnSpPr>
          <p:cNvPr id="47"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A61C717B-7A4F-47F5-B3C2-4064CA40B25B}"/>
              </a:ext>
            </a:extLst>
          </p:cNvPr>
          <p:cNvSpPr>
            <a:spLocks xmlns:a="http://schemas.openxmlformats.org/drawingml/2006/main" noGrp="1"/>
          </p:cNvSpPr>
          <p:nvPr/>
        </p:nvSpPr>
        <p:spPr>
          <a:xfrm xmlns:a="http://schemas.openxmlformats.org/drawingml/2006/main">
            <a:off x="457200" y="17335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B24C8C81-34AC-400C-8B03-53172EB4CBCD}"/>
              </a:ext>
            </a:extLst>
          </p:cNvPr>
          <p:cNvSpPr>
            <a:spLocks xmlns:a="http://schemas.openxmlformats.org/drawingml/2006/main" noGrp="1"/>
          </p:cNvSpPr>
          <p:nvPr/>
        </p:nvSpPr>
        <p:spPr>
          <a:xfrm xmlns:a="http://schemas.openxmlformats.org/drawingml/2006/main">
            <a:off x="647700" y="1924050"/>
            <a:ext cx="323850" cy="323850"/>
          </a:xfrm>
          <a:prstGeom xmlns:a="http://schemas.openxmlformats.org/drawingml/2006/main" prst="roundRect">
            <a:avLst>
              <a:gd name="adj" fmla="val 23529"/>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82457B56-FA57-4A15-9762-8B2C8D00B78B}"/>
              </a:ext>
            </a:extLst>
          </p:cNvPr>
          <p:cNvSpPr>
            <a:spLocks xmlns:a="http://schemas.openxmlformats.org/drawingml/2006/main" noGrp="1"/>
          </p:cNvSpPr>
          <p:nvPr/>
        </p:nvSpPr>
        <p:spPr>
          <a:xfrm xmlns:a="http://schemas.openxmlformats.org/drawingml/2006/main">
            <a:off x="647700" y="19335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095B2CD-D68E-4337-96FF-94F6660E1AC3}"/>
              </a:ext>
            </a:extLst>
          </p:cNvPr>
          <p:cNvSpPr>
            <a:spLocks xmlns:a="http://schemas.openxmlformats.org/drawingml/2006/main" noGrp="1"/>
          </p:cNvSpPr>
          <p:nvPr/>
        </p:nvSpPr>
        <p:spPr>
          <a:xfrm xmlns:a="http://schemas.openxmlformats.org/drawingml/2006/main">
            <a:off x="1104900" y="19716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D6CDF"/>
                </a:solidFill>
                <a:latin typeface="Arial"/>
                <a:ea typeface="Arial"/>
                <a:cs typeface="Arial"/>
              </a:defRPr>
            </a:pPr>
            <a:r>
              <a:rPr sz="1425" b="1" i="0">
                <a:solidFill>
                  <a:srgbClr val="2D6CDF"/>
                </a:solidFill>
                <a:latin typeface="Arial"/>
                <a:ea typeface="Arial"/>
                <a:cs typeface="Arial"/>
              </a:rPr>
              <a:t>Population</a:t>
            </a:r>
          </a:p>
        </p:txBody>
      </p:sp>
      <p:sp>
        <p:nvSpPr>
          <p:cNvPr id="8" name="">
            <a:extLst xmlns:a="http://schemas.openxmlformats.org/drawingml/2006/main">
              <a:ext uri="{FF2B5EF4-FFF2-40B4-BE49-F238E27FC236}">
                <a16:creationId xmlns:a16="http://schemas.microsoft.com/office/drawing/2014/main" id="{6B45888B-A991-4CC0-AFE7-B2BF124CE2F3}"/>
              </a:ext>
            </a:extLst>
          </p:cNvPr>
          <p:cNvSpPr>
            <a:spLocks xmlns:a="http://schemas.openxmlformats.org/drawingml/2006/main" noGrp="1"/>
          </p:cNvSpPr>
          <p:nvPr/>
        </p:nvSpPr>
        <p:spPr>
          <a:xfrm xmlns:a="http://schemas.openxmlformats.org/drawingml/2006/main">
            <a:off x="666750" y="24765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Is it too common?</a:t>
            </a:r>
          </a:p>
        </p:txBody>
      </p:sp>
      <p:sp>
        <p:nvSpPr>
          <p:cNvPr id="9" name="">
            <a:extLst xmlns:a="http://schemas.openxmlformats.org/drawingml/2006/main">
              <a:ext uri="{FF2B5EF4-FFF2-40B4-BE49-F238E27FC236}">
                <a16:creationId xmlns:a16="http://schemas.microsoft.com/office/drawing/2014/main" id="{1441747A-ABC2-4B0C-B6D4-448DCF4625C6}"/>
              </a:ext>
            </a:extLst>
          </p:cNvPr>
          <p:cNvSpPr>
            <a:spLocks xmlns:a="http://schemas.openxmlformats.org/drawingml/2006/main" noGrp="1"/>
          </p:cNvSpPr>
          <p:nvPr/>
        </p:nvSpPr>
        <p:spPr>
          <a:xfrm xmlns:a="http://schemas.openxmlformats.org/drawingml/2006/main">
            <a:off x="3333750" y="17335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10" name="">
            <a:extLst xmlns:a="http://schemas.openxmlformats.org/drawingml/2006/main">
              <a:ext uri="{FF2B5EF4-FFF2-40B4-BE49-F238E27FC236}">
                <a16:creationId xmlns:a16="http://schemas.microsoft.com/office/drawing/2014/main" id="{7C0D301D-47B7-4628-93C0-AE39CE0AB3F9}"/>
              </a:ext>
            </a:extLst>
          </p:cNvPr>
          <p:cNvSpPr>
            <a:spLocks xmlns:a="http://schemas.openxmlformats.org/drawingml/2006/main" noGrp="1"/>
          </p:cNvSpPr>
          <p:nvPr/>
        </p:nvSpPr>
        <p:spPr>
          <a:xfrm xmlns:a="http://schemas.openxmlformats.org/drawingml/2006/main">
            <a:off x="3524250" y="1924050"/>
            <a:ext cx="323850" cy="323850"/>
          </a:xfrm>
          <a:prstGeom xmlns:a="http://schemas.openxmlformats.org/drawingml/2006/main" prst="roundRect">
            <a:avLst>
              <a:gd name="adj" fmla="val 23529"/>
            </a:avLst>
          </a:prstGeom>
          <a:solidFill xmlns:a="http://schemas.openxmlformats.org/drawingml/2006/main">
            <a:srgbClr val="069C9C"/>
          </a:solidFill>
          <a:ln xmlns:a="http://schemas.openxmlformats.org/drawingml/2006/main" w="0">
            <a:solidFill>
              <a:srgbClr val="069C9C"/>
            </a:solidFill>
            <a:prstDash val="solid"/>
          </a:ln>
        </p:spPr>
      </p:sp>
      <p:sp>
        <p:nvSpPr>
          <p:cNvPr id="11" name="">
            <a:extLst xmlns:a="http://schemas.openxmlformats.org/drawingml/2006/main">
              <a:ext uri="{FF2B5EF4-FFF2-40B4-BE49-F238E27FC236}">
                <a16:creationId xmlns:a16="http://schemas.microsoft.com/office/drawing/2014/main" id="{DB3905D4-F26B-4A95-8CFD-B2A4D8D3AA3F}"/>
              </a:ext>
            </a:extLst>
          </p:cNvPr>
          <p:cNvSpPr>
            <a:spLocks xmlns:a="http://schemas.openxmlformats.org/drawingml/2006/main" noGrp="1"/>
          </p:cNvSpPr>
          <p:nvPr/>
        </p:nvSpPr>
        <p:spPr>
          <a:xfrm xmlns:a="http://schemas.openxmlformats.org/drawingml/2006/main">
            <a:off x="3524250" y="19335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0C6F7525-4CD5-4B09-ADF5-FD60D73451F0}"/>
              </a:ext>
            </a:extLst>
          </p:cNvPr>
          <p:cNvSpPr>
            <a:spLocks xmlns:a="http://schemas.openxmlformats.org/drawingml/2006/main" noGrp="1"/>
          </p:cNvSpPr>
          <p:nvPr/>
        </p:nvSpPr>
        <p:spPr>
          <a:xfrm xmlns:a="http://schemas.openxmlformats.org/drawingml/2006/main">
            <a:off x="3981450" y="19716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69C9C"/>
                </a:solidFill>
                <a:latin typeface="Arial"/>
                <a:ea typeface="Arial"/>
                <a:cs typeface="Arial"/>
              </a:defRPr>
            </a:pPr>
            <a:r>
              <a:rPr sz="1425" b="1" i="0">
                <a:solidFill>
                  <a:srgbClr val="069C9C"/>
                </a:solidFill>
                <a:latin typeface="Arial"/>
                <a:ea typeface="Arial"/>
                <a:cs typeface="Arial"/>
              </a:rPr>
              <a:t>Variant effect</a:t>
            </a:r>
          </a:p>
        </p:txBody>
      </p:sp>
      <p:sp>
        <p:nvSpPr>
          <p:cNvPr id="13" name="">
            <a:extLst xmlns:a="http://schemas.openxmlformats.org/drawingml/2006/main">
              <a:ext uri="{FF2B5EF4-FFF2-40B4-BE49-F238E27FC236}">
                <a16:creationId xmlns:a16="http://schemas.microsoft.com/office/drawing/2014/main" id="{A0866B44-D39D-4131-811F-AE7552BF88EF}"/>
              </a:ext>
            </a:extLst>
          </p:cNvPr>
          <p:cNvSpPr>
            <a:spLocks xmlns:a="http://schemas.openxmlformats.org/drawingml/2006/main" noGrp="1"/>
          </p:cNvSpPr>
          <p:nvPr/>
        </p:nvSpPr>
        <p:spPr>
          <a:xfrm xmlns:a="http://schemas.openxmlformats.org/drawingml/2006/main">
            <a:off x="3543300" y="24765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Does the molecular consequence fit?</a:t>
            </a:r>
          </a:p>
        </p:txBody>
      </p:sp>
      <p:sp>
        <p:nvSpPr>
          <p:cNvPr id="14" name="">
            <a:extLst xmlns:a="http://schemas.openxmlformats.org/drawingml/2006/main">
              <a:ext uri="{FF2B5EF4-FFF2-40B4-BE49-F238E27FC236}">
                <a16:creationId xmlns:a16="http://schemas.microsoft.com/office/drawing/2014/main" id="{236510D6-01A6-4B9E-B042-3E920CD8EA4E}"/>
              </a:ext>
            </a:extLst>
          </p:cNvPr>
          <p:cNvSpPr>
            <a:spLocks xmlns:a="http://schemas.openxmlformats.org/drawingml/2006/main" noGrp="1"/>
          </p:cNvSpPr>
          <p:nvPr/>
        </p:nvSpPr>
        <p:spPr>
          <a:xfrm xmlns:a="http://schemas.openxmlformats.org/drawingml/2006/main">
            <a:off x="6210300" y="17335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15" name="">
            <a:extLst xmlns:a="http://schemas.openxmlformats.org/drawingml/2006/main">
              <a:ext uri="{FF2B5EF4-FFF2-40B4-BE49-F238E27FC236}">
                <a16:creationId xmlns:a16="http://schemas.microsoft.com/office/drawing/2014/main" id="{3FEC601B-0C5A-47FA-99EA-8BB796E13DB6}"/>
              </a:ext>
            </a:extLst>
          </p:cNvPr>
          <p:cNvSpPr>
            <a:spLocks xmlns:a="http://schemas.openxmlformats.org/drawingml/2006/main" noGrp="1"/>
          </p:cNvSpPr>
          <p:nvPr/>
        </p:nvSpPr>
        <p:spPr>
          <a:xfrm xmlns:a="http://schemas.openxmlformats.org/drawingml/2006/main">
            <a:off x="6400800" y="1924050"/>
            <a:ext cx="323850" cy="323850"/>
          </a:xfrm>
          <a:prstGeom xmlns:a="http://schemas.openxmlformats.org/drawingml/2006/main" prst="roundRect">
            <a:avLst>
              <a:gd name="adj" fmla="val 23529"/>
            </a:avLst>
          </a:prstGeom>
          <a:solidFill xmlns:a="http://schemas.openxmlformats.org/drawingml/2006/main">
            <a:srgbClr val="359B64"/>
          </a:solidFill>
          <a:ln xmlns:a="http://schemas.openxmlformats.org/drawingml/2006/main" w="0">
            <a:solidFill>
              <a:srgbClr val="359B64"/>
            </a:solidFill>
            <a:prstDash val="solid"/>
          </a:ln>
        </p:spPr>
      </p:sp>
      <p:sp>
        <p:nvSpPr>
          <p:cNvPr id="16" name="">
            <a:extLst xmlns:a="http://schemas.openxmlformats.org/drawingml/2006/main">
              <a:ext uri="{FF2B5EF4-FFF2-40B4-BE49-F238E27FC236}">
                <a16:creationId xmlns:a16="http://schemas.microsoft.com/office/drawing/2014/main" id="{C1BB9DB7-80F6-43C8-BF3B-652BDF6D4D0F}"/>
              </a:ext>
            </a:extLst>
          </p:cNvPr>
          <p:cNvSpPr>
            <a:spLocks xmlns:a="http://schemas.openxmlformats.org/drawingml/2006/main" noGrp="1"/>
          </p:cNvSpPr>
          <p:nvPr/>
        </p:nvSpPr>
        <p:spPr>
          <a:xfrm xmlns:a="http://schemas.openxmlformats.org/drawingml/2006/main">
            <a:off x="6400800" y="19335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019C1ED4-10AE-4CF3-8555-F51966A618C9}"/>
              </a:ext>
            </a:extLst>
          </p:cNvPr>
          <p:cNvSpPr>
            <a:spLocks xmlns:a="http://schemas.openxmlformats.org/drawingml/2006/main" noGrp="1"/>
          </p:cNvSpPr>
          <p:nvPr/>
        </p:nvSpPr>
        <p:spPr>
          <a:xfrm xmlns:a="http://schemas.openxmlformats.org/drawingml/2006/main">
            <a:off x="6858000" y="19716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359B64"/>
                </a:solidFill>
                <a:latin typeface="Arial"/>
                <a:ea typeface="Arial"/>
                <a:cs typeface="Arial"/>
              </a:defRPr>
            </a:pPr>
            <a:r>
              <a:rPr sz="1425" b="1" i="0">
                <a:solidFill>
                  <a:srgbClr val="359B64"/>
                </a:solidFill>
                <a:latin typeface="Arial"/>
                <a:ea typeface="Arial"/>
                <a:cs typeface="Arial"/>
              </a:rPr>
              <a:t>Functional</a:t>
            </a:r>
          </a:p>
        </p:txBody>
      </p:sp>
      <p:sp>
        <p:nvSpPr>
          <p:cNvPr id="18" name="">
            <a:extLst xmlns:a="http://schemas.openxmlformats.org/drawingml/2006/main">
              <a:ext uri="{FF2B5EF4-FFF2-40B4-BE49-F238E27FC236}">
                <a16:creationId xmlns:a16="http://schemas.microsoft.com/office/drawing/2014/main" id="{C3FEB143-2101-4862-B9D3-607ABE9D9F62}"/>
              </a:ext>
            </a:extLst>
          </p:cNvPr>
          <p:cNvSpPr>
            <a:spLocks xmlns:a="http://schemas.openxmlformats.org/drawingml/2006/main" noGrp="1"/>
          </p:cNvSpPr>
          <p:nvPr/>
        </p:nvSpPr>
        <p:spPr>
          <a:xfrm xmlns:a="http://schemas.openxmlformats.org/drawingml/2006/main">
            <a:off x="6419850" y="24765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What happens in an assay?</a:t>
            </a:r>
          </a:p>
        </p:txBody>
      </p:sp>
      <p:sp>
        <p:nvSpPr>
          <p:cNvPr id="19" name="">
            <a:extLst xmlns:a="http://schemas.openxmlformats.org/drawingml/2006/main">
              <a:ext uri="{FF2B5EF4-FFF2-40B4-BE49-F238E27FC236}">
                <a16:creationId xmlns:a16="http://schemas.microsoft.com/office/drawing/2014/main" id="{A67A73D5-7C61-4072-8B6E-2EFFF8A87AD5}"/>
              </a:ext>
            </a:extLst>
          </p:cNvPr>
          <p:cNvSpPr>
            <a:spLocks xmlns:a="http://schemas.openxmlformats.org/drawingml/2006/main" noGrp="1"/>
          </p:cNvSpPr>
          <p:nvPr/>
        </p:nvSpPr>
        <p:spPr>
          <a:xfrm xmlns:a="http://schemas.openxmlformats.org/drawingml/2006/main">
            <a:off x="9086850" y="17335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20" name="">
            <a:extLst xmlns:a="http://schemas.openxmlformats.org/drawingml/2006/main">
              <a:ext uri="{FF2B5EF4-FFF2-40B4-BE49-F238E27FC236}">
                <a16:creationId xmlns:a16="http://schemas.microsoft.com/office/drawing/2014/main" id="{91ECC44A-98F8-403E-8680-19001E70F9B3}"/>
              </a:ext>
            </a:extLst>
          </p:cNvPr>
          <p:cNvSpPr>
            <a:spLocks xmlns:a="http://schemas.openxmlformats.org/drawingml/2006/main" noGrp="1"/>
          </p:cNvSpPr>
          <p:nvPr/>
        </p:nvSpPr>
        <p:spPr>
          <a:xfrm xmlns:a="http://schemas.openxmlformats.org/drawingml/2006/main">
            <a:off x="9277350" y="1924050"/>
            <a:ext cx="323850" cy="323850"/>
          </a:xfrm>
          <a:prstGeom xmlns:a="http://schemas.openxmlformats.org/drawingml/2006/main" prst="roundRect">
            <a:avLst>
              <a:gd name="adj" fmla="val 23529"/>
            </a:avLst>
          </a:prstGeom>
          <a:solidFill xmlns:a="http://schemas.openxmlformats.org/drawingml/2006/main">
            <a:srgbClr val="C94E4E"/>
          </a:solidFill>
          <a:ln xmlns:a="http://schemas.openxmlformats.org/drawingml/2006/main" w="0">
            <a:solidFill>
              <a:srgbClr val="C94E4E"/>
            </a:solidFill>
            <a:prstDash val="solid"/>
          </a:ln>
        </p:spPr>
      </p:sp>
      <p:sp>
        <p:nvSpPr>
          <p:cNvPr id="21" name="">
            <a:extLst xmlns:a="http://schemas.openxmlformats.org/drawingml/2006/main">
              <a:ext uri="{FF2B5EF4-FFF2-40B4-BE49-F238E27FC236}">
                <a16:creationId xmlns:a16="http://schemas.microsoft.com/office/drawing/2014/main" id="{AFF1239F-9315-416C-B19F-8F5DB285100A}"/>
              </a:ext>
            </a:extLst>
          </p:cNvPr>
          <p:cNvSpPr>
            <a:spLocks xmlns:a="http://schemas.openxmlformats.org/drawingml/2006/main" noGrp="1"/>
          </p:cNvSpPr>
          <p:nvPr/>
        </p:nvSpPr>
        <p:spPr>
          <a:xfrm xmlns:a="http://schemas.openxmlformats.org/drawingml/2006/main">
            <a:off x="9277350" y="19335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34353BD4-CE4F-4DA5-A037-1C986648457C}"/>
              </a:ext>
            </a:extLst>
          </p:cNvPr>
          <p:cNvSpPr>
            <a:spLocks xmlns:a="http://schemas.openxmlformats.org/drawingml/2006/main" noGrp="1"/>
          </p:cNvSpPr>
          <p:nvPr/>
        </p:nvSpPr>
        <p:spPr>
          <a:xfrm xmlns:a="http://schemas.openxmlformats.org/drawingml/2006/main">
            <a:off x="9734550" y="19716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C94E4E"/>
                </a:solidFill>
                <a:latin typeface="Arial"/>
                <a:ea typeface="Arial"/>
                <a:cs typeface="Arial"/>
              </a:defRPr>
            </a:pPr>
            <a:r>
              <a:rPr sz="1425" b="1" i="0">
                <a:solidFill>
                  <a:srgbClr val="C94E4E"/>
                </a:solidFill>
                <a:latin typeface="Arial"/>
                <a:ea typeface="Arial"/>
                <a:cs typeface="Arial"/>
              </a:rPr>
              <a:t>Cases / controls</a:t>
            </a:r>
          </a:p>
        </p:txBody>
      </p:sp>
      <p:sp>
        <p:nvSpPr>
          <p:cNvPr id="23" name="">
            <a:extLst xmlns:a="http://schemas.openxmlformats.org/drawingml/2006/main">
              <a:ext uri="{FF2B5EF4-FFF2-40B4-BE49-F238E27FC236}">
                <a16:creationId xmlns:a16="http://schemas.microsoft.com/office/drawing/2014/main" id="{FE49A982-1A89-45C6-8215-E48AC90561BB}"/>
              </a:ext>
            </a:extLst>
          </p:cNvPr>
          <p:cNvSpPr>
            <a:spLocks xmlns:a="http://schemas.openxmlformats.org/drawingml/2006/main" noGrp="1"/>
          </p:cNvSpPr>
          <p:nvPr/>
        </p:nvSpPr>
        <p:spPr>
          <a:xfrm xmlns:a="http://schemas.openxmlformats.org/drawingml/2006/main">
            <a:off x="9296400" y="24765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Is it enriched in affected people?</a:t>
            </a:r>
          </a:p>
        </p:txBody>
      </p:sp>
      <p:sp>
        <p:nvSpPr>
          <p:cNvPr id="24" name="">
            <a:extLst xmlns:a="http://schemas.openxmlformats.org/drawingml/2006/main">
              <a:ext uri="{FF2B5EF4-FFF2-40B4-BE49-F238E27FC236}">
                <a16:creationId xmlns:a16="http://schemas.microsoft.com/office/drawing/2014/main" id="{D9A6C039-A375-4486-BDCB-B3FC9CFFE1D0}"/>
              </a:ext>
            </a:extLst>
          </p:cNvPr>
          <p:cNvSpPr>
            <a:spLocks xmlns:a="http://schemas.openxmlformats.org/drawingml/2006/main" noGrp="1"/>
          </p:cNvSpPr>
          <p:nvPr/>
        </p:nvSpPr>
        <p:spPr>
          <a:xfrm xmlns:a="http://schemas.openxmlformats.org/drawingml/2006/main">
            <a:off x="457200" y="34861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25" name="">
            <a:extLst xmlns:a="http://schemas.openxmlformats.org/drawingml/2006/main">
              <a:ext uri="{FF2B5EF4-FFF2-40B4-BE49-F238E27FC236}">
                <a16:creationId xmlns:a16="http://schemas.microsoft.com/office/drawing/2014/main" id="{DAD01A89-8FCD-45DE-A06A-3CC2CCDC04D9}"/>
              </a:ext>
            </a:extLst>
          </p:cNvPr>
          <p:cNvSpPr>
            <a:spLocks xmlns:a="http://schemas.openxmlformats.org/drawingml/2006/main" noGrp="1"/>
          </p:cNvSpPr>
          <p:nvPr/>
        </p:nvSpPr>
        <p:spPr>
          <a:xfrm xmlns:a="http://schemas.openxmlformats.org/drawingml/2006/main">
            <a:off x="647700" y="3676650"/>
            <a:ext cx="323850" cy="323850"/>
          </a:xfrm>
          <a:prstGeom xmlns:a="http://schemas.openxmlformats.org/drawingml/2006/main" prst="roundRect">
            <a:avLst>
              <a:gd name="adj" fmla="val 23529"/>
            </a:avLst>
          </a:prstGeom>
          <a:solidFill xmlns:a="http://schemas.openxmlformats.org/drawingml/2006/main">
            <a:srgbClr val="7756C2"/>
          </a:solidFill>
          <a:ln xmlns:a="http://schemas.openxmlformats.org/drawingml/2006/main" w="0">
            <a:solidFill>
              <a:srgbClr val="7756C2"/>
            </a:solidFill>
            <a:prstDash val="solid"/>
          </a:ln>
        </p:spPr>
      </p:sp>
      <p:sp>
        <p:nvSpPr>
          <p:cNvPr id="26" name="">
            <a:extLst xmlns:a="http://schemas.openxmlformats.org/drawingml/2006/main">
              <a:ext uri="{FF2B5EF4-FFF2-40B4-BE49-F238E27FC236}">
                <a16:creationId xmlns:a16="http://schemas.microsoft.com/office/drawing/2014/main" id="{58F2AB38-CB43-48A3-8CCC-A30BD0D0BDAE}"/>
              </a:ext>
            </a:extLst>
          </p:cNvPr>
          <p:cNvSpPr>
            <a:spLocks xmlns:a="http://schemas.openxmlformats.org/drawingml/2006/main" noGrp="1"/>
          </p:cNvSpPr>
          <p:nvPr/>
        </p:nvSpPr>
        <p:spPr>
          <a:xfrm xmlns:a="http://schemas.openxmlformats.org/drawingml/2006/main">
            <a:off x="64770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5</a:t>
            </a:r>
          </a:p>
        </p:txBody>
      </p:sp>
      <p:sp>
        <p:nvSpPr>
          <p:cNvPr id="27" name="">
            <a:extLst xmlns:a="http://schemas.openxmlformats.org/drawingml/2006/main">
              <a:ext uri="{FF2B5EF4-FFF2-40B4-BE49-F238E27FC236}">
                <a16:creationId xmlns:a16="http://schemas.microsoft.com/office/drawing/2014/main" id="{C04B3B0E-CDD0-474D-8B41-67622E8948E1}"/>
              </a:ext>
            </a:extLst>
          </p:cNvPr>
          <p:cNvSpPr>
            <a:spLocks xmlns:a="http://schemas.openxmlformats.org/drawingml/2006/main" noGrp="1"/>
          </p:cNvSpPr>
          <p:nvPr/>
        </p:nvSpPr>
        <p:spPr>
          <a:xfrm xmlns:a="http://schemas.openxmlformats.org/drawingml/2006/main">
            <a:off x="1104900" y="37242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7756C2"/>
                </a:solidFill>
                <a:latin typeface="Arial"/>
                <a:ea typeface="Arial"/>
                <a:cs typeface="Arial"/>
              </a:defRPr>
            </a:pPr>
            <a:r>
              <a:rPr sz="1425" b="1" i="0">
                <a:solidFill>
                  <a:srgbClr val="7756C2"/>
                </a:solidFill>
                <a:latin typeface="Arial"/>
                <a:ea typeface="Arial"/>
                <a:cs typeface="Arial"/>
              </a:rPr>
              <a:t>De novo</a:t>
            </a:r>
          </a:p>
        </p:txBody>
      </p:sp>
      <p:sp>
        <p:nvSpPr>
          <p:cNvPr id="28" name="">
            <a:extLst xmlns:a="http://schemas.openxmlformats.org/drawingml/2006/main">
              <a:ext uri="{FF2B5EF4-FFF2-40B4-BE49-F238E27FC236}">
                <a16:creationId xmlns:a16="http://schemas.microsoft.com/office/drawing/2014/main" id="{2C151050-3EC3-47A8-A32C-B107D4223A1F}"/>
              </a:ext>
            </a:extLst>
          </p:cNvPr>
          <p:cNvSpPr>
            <a:spLocks xmlns:a="http://schemas.openxmlformats.org/drawingml/2006/main" noGrp="1"/>
          </p:cNvSpPr>
          <p:nvPr/>
        </p:nvSpPr>
        <p:spPr>
          <a:xfrm xmlns:a="http://schemas.openxmlformats.org/drawingml/2006/main">
            <a:off x="666750" y="42291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Did it arise newly?</a:t>
            </a:r>
          </a:p>
        </p:txBody>
      </p:sp>
      <p:sp>
        <p:nvSpPr>
          <p:cNvPr id="29" name="">
            <a:extLst xmlns:a="http://schemas.openxmlformats.org/drawingml/2006/main">
              <a:ext uri="{FF2B5EF4-FFF2-40B4-BE49-F238E27FC236}">
                <a16:creationId xmlns:a16="http://schemas.microsoft.com/office/drawing/2014/main" id="{71839177-720E-4CC5-8E31-E2745EC576E1}"/>
              </a:ext>
            </a:extLst>
          </p:cNvPr>
          <p:cNvSpPr>
            <a:spLocks xmlns:a="http://schemas.openxmlformats.org/drawingml/2006/main" noGrp="1"/>
          </p:cNvSpPr>
          <p:nvPr/>
        </p:nvSpPr>
        <p:spPr>
          <a:xfrm xmlns:a="http://schemas.openxmlformats.org/drawingml/2006/main">
            <a:off x="3333750" y="34861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30" name="">
            <a:extLst xmlns:a="http://schemas.openxmlformats.org/drawingml/2006/main">
              <a:ext uri="{FF2B5EF4-FFF2-40B4-BE49-F238E27FC236}">
                <a16:creationId xmlns:a16="http://schemas.microsoft.com/office/drawing/2014/main" id="{49A8C6BA-DB44-4FD7-89A4-1C191C2E0C94}"/>
              </a:ext>
            </a:extLst>
          </p:cNvPr>
          <p:cNvSpPr>
            <a:spLocks xmlns:a="http://schemas.openxmlformats.org/drawingml/2006/main" noGrp="1"/>
          </p:cNvSpPr>
          <p:nvPr/>
        </p:nvSpPr>
        <p:spPr>
          <a:xfrm xmlns:a="http://schemas.openxmlformats.org/drawingml/2006/main">
            <a:off x="3524250" y="3676650"/>
            <a:ext cx="323850" cy="323850"/>
          </a:xfrm>
          <a:prstGeom xmlns:a="http://schemas.openxmlformats.org/drawingml/2006/main" prst="roundRect">
            <a:avLst>
              <a:gd name="adj" fmla="val 23529"/>
            </a:avLst>
          </a:prstGeom>
          <a:solidFill xmlns:a="http://schemas.openxmlformats.org/drawingml/2006/main">
            <a:srgbClr val="E7A62F"/>
          </a:solidFill>
          <a:ln xmlns:a="http://schemas.openxmlformats.org/drawingml/2006/main" w="0">
            <a:solidFill>
              <a:srgbClr val="E7A62F"/>
            </a:solidFill>
            <a:prstDash val="solid"/>
          </a:ln>
        </p:spPr>
      </p:sp>
      <p:sp>
        <p:nvSpPr>
          <p:cNvPr id="31" name="">
            <a:extLst xmlns:a="http://schemas.openxmlformats.org/drawingml/2006/main">
              <a:ext uri="{FF2B5EF4-FFF2-40B4-BE49-F238E27FC236}">
                <a16:creationId xmlns:a16="http://schemas.microsoft.com/office/drawing/2014/main" id="{65AB1B70-C61D-4006-9760-4D154DC0656F}"/>
              </a:ext>
            </a:extLst>
          </p:cNvPr>
          <p:cNvSpPr>
            <a:spLocks xmlns:a="http://schemas.openxmlformats.org/drawingml/2006/main" noGrp="1"/>
          </p:cNvSpPr>
          <p:nvPr/>
        </p:nvSpPr>
        <p:spPr>
          <a:xfrm xmlns:a="http://schemas.openxmlformats.org/drawingml/2006/main">
            <a:off x="352425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6</a:t>
            </a:r>
          </a:p>
        </p:txBody>
      </p:sp>
      <p:sp>
        <p:nvSpPr>
          <p:cNvPr id="32" name="">
            <a:extLst xmlns:a="http://schemas.openxmlformats.org/drawingml/2006/main">
              <a:ext uri="{FF2B5EF4-FFF2-40B4-BE49-F238E27FC236}">
                <a16:creationId xmlns:a16="http://schemas.microsoft.com/office/drawing/2014/main" id="{B0F1FE39-F373-42AD-8888-E8EA4BCFAAAC}"/>
              </a:ext>
            </a:extLst>
          </p:cNvPr>
          <p:cNvSpPr>
            <a:spLocks xmlns:a="http://schemas.openxmlformats.org/drawingml/2006/main" noGrp="1"/>
          </p:cNvSpPr>
          <p:nvPr/>
        </p:nvSpPr>
        <p:spPr>
          <a:xfrm xmlns:a="http://schemas.openxmlformats.org/drawingml/2006/main">
            <a:off x="3981450" y="37242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E7A62F"/>
                </a:solidFill>
                <a:latin typeface="Arial"/>
                <a:ea typeface="Arial"/>
                <a:cs typeface="Arial"/>
              </a:defRPr>
            </a:pPr>
            <a:r>
              <a:rPr sz="1425" b="1" i="0">
                <a:solidFill>
                  <a:srgbClr val="E7A62F"/>
                </a:solidFill>
                <a:latin typeface="Arial"/>
                <a:ea typeface="Arial"/>
                <a:cs typeface="Arial"/>
              </a:rPr>
              <a:t>Segregation</a:t>
            </a:r>
          </a:p>
        </p:txBody>
      </p:sp>
      <p:sp>
        <p:nvSpPr>
          <p:cNvPr id="33" name="">
            <a:extLst xmlns:a="http://schemas.openxmlformats.org/drawingml/2006/main">
              <a:ext uri="{FF2B5EF4-FFF2-40B4-BE49-F238E27FC236}">
                <a16:creationId xmlns:a16="http://schemas.microsoft.com/office/drawing/2014/main" id="{2EC7E104-E221-47B8-A2BB-FEC3F1E02395}"/>
              </a:ext>
            </a:extLst>
          </p:cNvPr>
          <p:cNvSpPr>
            <a:spLocks xmlns:a="http://schemas.openxmlformats.org/drawingml/2006/main" noGrp="1"/>
          </p:cNvSpPr>
          <p:nvPr/>
        </p:nvSpPr>
        <p:spPr>
          <a:xfrm xmlns:a="http://schemas.openxmlformats.org/drawingml/2006/main">
            <a:off x="3543300" y="42291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Does it track with disease?</a:t>
            </a:r>
          </a:p>
        </p:txBody>
      </p:sp>
      <p:sp>
        <p:nvSpPr>
          <p:cNvPr id="34" name="">
            <a:extLst xmlns:a="http://schemas.openxmlformats.org/drawingml/2006/main">
              <a:ext uri="{FF2B5EF4-FFF2-40B4-BE49-F238E27FC236}">
                <a16:creationId xmlns:a16="http://schemas.microsoft.com/office/drawing/2014/main" id="{837E8CF7-CFC4-42EA-A980-08C0E4AF0ECE}"/>
              </a:ext>
            </a:extLst>
          </p:cNvPr>
          <p:cNvSpPr>
            <a:spLocks xmlns:a="http://schemas.openxmlformats.org/drawingml/2006/main" noGrp="1"/>
          </p:cNvSpPr>
          <p:nvPr/>
        </p:nvSpPr>
        <p:spPr>
          <a:xfrm xmlns:a="http://schemas.openxmlformats.org/drawingml/2006/main">
            <a:off x="6210300" y="34861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35" name="">
            <a:extLst xmlns:a="http://schemas.openxmlformats.org/drawingml/2006/main">
              <a:ext uri="{FF2B5EF4-FFF2-40B4-BE49-F238E27FC236}">
                <a16:creationId xmlns:a16="http://schemas.microsoft.com/office/drawing/2014/main" id="{BFDFE982-E4C0-425A-9B43-8CE3E6429E58}"/>
              </a:ext>
            </a:extLst>
          </p:cNvPr>
          <p:cNvSpPr>
            <a:spLocks xmlns:a="http://schemas.openxmlformats.org/drawingml/2006/main" noGrp="1"/>
          </p:cNvSpPr>
          <p:nvPr/>
        </p:nvSpPr>
        <p:spPr>
          <a:xfrm xmlns:a="http://schemas.openxmlformats.org/drawingml/2006/main">
            <a:off x="6400800" y="3676650"/>
            <a:ext cx="323850" cy="323850"/>
          </a:xfrm>
          <a:prstGeom xmlns:a="http://schemas.openxmlformats.org/drawingml/2006/main" prst="roundRect">
            <a:avLst>
              <a:gd name="adj" fmla="val 23529"/>
            </a:avLst>
          </a:prstGeom>
          <a:solidFill xmlns:a="http://schemas.openxmlformats.org/drawingml/2006/main">
            <a:srgbClr val="557A95"/>
          </a:solidFill>
          <a:ln xmlns:a="http://schemas.openxmlformats.org/drawingml/2006/main" w="0">
            <a:solidFill>
              <a:srgbClr val="557A95"/>
            </a:solidFill>
            <a:prstDash val="solid"/>
          </a:ln>
        </p:spPr>
      </p:sp>
      <p:sp>
        <p:nvSpPr>
          <p:cNvPr id="36" name="">
            <a:extLst xmlns:a="http://schemas.openxmlformats.org/drawingml/2006/main">
              <a:ext uri="{FF2B5EF4-FFF2-40B4-BE49-F238E27FC236}">
                <a16:creationId xmlns:a16="http://schemas.microsoft.com/office/drawing/2014/main" id="{6FDB5083-45BF-4A74-AC5B-0CB7C3B09F4C}"/>
              </a:ext>
            </a:extLst>
          </p:cNvPr>
          <p:cNvSpPr>
            <a:spLocks xmlns:a="http://schemas.openxmlformats.org/drawingml/2006/main" noGrp="1"/>
          </p:cNvSpPr>
          <p:nvPr/>
        </p:nvSpPr>
        <p:spPr>
          <a:xfrm xmlns:a="http://schemas.openxmlformats.org/drawingml/2006/main">
            <a:off x="640080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7</a:t>
            </a:r>
          </a:p>
        </p:txBody>
      </p:sp>
      <p:sp>
        <p:nvSpPr>
          <p:cNvPr id="37" name="">
            <a:extLst xmlns:a="http://schemas.openxmlformats.org/drawingml/2006/main">
              <a:ext uri="{FF2B5EF4-FFF2-40B4-BE49-F238E27FC236}">
                <a16:creationId xmlns:a16="http://schemas.microsoft.com/office/drawing/2014/main" id="{17038696-C493-4D47-BCA8-E20EE2402C30}"/>
              </a:ext>
            </a:extLst>
          </p:cNvPr>
          <p:cNvSpPr>
            <a:spLocks xmlns:a="http://schemas.openxmlformats.org/drawingml/2006/main" noGrp="1"/>
          </p:cNvSpPr>
          <p:nvPr/>
        </p:nvSpPr>
        <p:spPr>
          <a:xfrm xmlns:a="http://schemas.openxmlformats.org/drawingml/2006/main">
            <a:off x="6858000" y="37242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557A95"/>
                </a:solidFill>
                <a:latin typeface="Arial"/>
                <a:ea typeface="Arial"/>
                <a:cs typeface="Arial"/>
              </a:defRPr>
            </a:pPr>
            <a:r>
              <a:rPr sz="1425" b="1" i="0">
                <a:solidFill>
                  <a:srgbClr val="557A95"/>
                </a:solidFill>
                <a:latin typeface="Arial"/>
                <a:ea typeface="Arial"/>
                <a:cs typeface="Arial"/>
              </a:rPr>
              <a:t>Allelic / phase</a:t>
            </a:r>
          </a:p>
        </p:txBody>
      </p:sp>
      <p:sp>
        <p:nvSpPr>
          <p:cNvPr id="38" name="">
            <a:extLst xmlns:a="http://schemas.openxmlformats.org/drawingml/2006/main">
              <a:ext uri="{FF2B5EF4-FFF2-40B4-BE49-F238E27FC236}">
                <a16:creationId xmlns:a16="http://schemas.microsoft.com/office/drawing/2014/main" id="{0795E8B6-5D55-4DA2-B162-0FD86D111024}"/>
              </a:ext>
            </a:extLst>
          </p:cNvPr>
          <p:cNvSpPr>
            <a:spLocks xmlns:a="http://schemas.openxmlformats.org/drawingml/2006/main" noGrp="1"/>
          </p:cNvSpPr>
          <p:nvPr/>
        </p:nvSpPr>
        <p:spPr>
          <a:xfrm xmlns:a="http://schemas.openxmlformats.org/drawingml/2006/main">
            <a:off x="6419850" y="42291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Is it in cis or trans?</a:t>
            </a:r>
          </a:p>
        </p:txBody>
      </p:sp>
      <p:sp>
        <p:nvSpPr>
          <p:cNvPr id="39" name="">
            <a:extLst xmlns:a="http://schemas.openxmlformats.org/drawingml/2006/main">
              <a:ext uri="{FF2B5EF4-FFF2-40B4-BE49-F238E27FC236}">
                <a16:creationId xmlns:a16="http://schemas.microsoft.com/office/drawing/2014/main" id="{392C8EE2-B460-45E0-87FA-AF8EE553A59F}"/>
              </a:ext>
            </a:extLst>
          </p:cNvPr>
          <p:cNvSpPr>
            <a:spLocks xmlns:a="http://schemas.openxmlformats.org/drawingml/2006/main" noGrp="1"/>
          </p:cNvSpPr>
          <p:nvPr/>
        </p:nvSpPr>
        <p:spPr>
          <a:xfrm xmlns:a="http://schemas.openxmlformats.org/drawingml/2006/main">
            <a:off x="9086850" y="3486150"/>
            <a:ext cx="2647950" cy="1428750"/>
          </a:xfrm>
          <a:prstGeom xmlns:a="http://schemas.openxmlformats.org/drawingml/2006/main" prst="roundRect">
            <a:avLst>
              <a:gd name="adj" fmla="val 5333"/>
            </a:avLst>
          </a:prstGeom>
          <a:solidFill xmlns:a="http://schemas.openxmlformats.org/drawingml/2006/main">
            <a:srgbClr val="F3F6F9"/>
          </a:solidFill>
          <a:ln xmlns:a="http://schemas.openxmlformats.org/drawingml/2006/main" w="9525">
            <a:solidFill>
              <a:srgbClr val="D6DEE7"/>
            </a:solidFill>
            <a:prstDash val="solid"/>
          </a:ln>
        </p:spPr>
      </p:sp>
      <p:sp>
        <p:nvSpPr>
          <p:cNvPr id="40" name="">
            <a:extLst xmlns:a="http://schemas.openxmlformats.org/drawingml/2006/main">
              <a:ext uri="{FF2B5EF4-FFF2-40B4-BE49-F238E27FC236}">
                <a16:creationId xmlns:a16="http://schemas.microsoft.com/office/drawing/2014/main" id="{77BD53B6-2220-46E0-828E-4C6968C9E0EE}"/>
              </a:ext>
            </a:extLst>
          </p:cNvPr>
          <p:cNvSpPr>
            <a:spLocks xmlns:a="http://schemas.openxmlformats.org/drawingml/2006/main" noGrp="1"/>
          </p:cNvSpPr>
          <p:nvPr/>
        </p:nvSpPr>
        <p:spPr>
          <a:xfrm xmlns:a="http://schemas.openxmlformats.org/drawingml/2006/main">
            <a:off x="9277350" y="3676650"/>
            <a:ext cx="323850" cy="323850"/>
          </a:xfrm>
          <a:prstGeom xmlns:a="http://schemas.openxmlformats.org/drawingml/2006/main" prst="roundRect">
            <a:avLst>
              <a:gd name="adj" fmla="val 23529"/>
            </a:avLst>
          </a:prstGeom>
          <a:solidFill xmlns:a="http://schemas.openxmlformats.org/drawingml/2006/main">
            <a:srgbClr val="8A5B43"/>
          </a:solidFill>
          <a:ln xmlns:a="http://schemas.openxmlformats.org/drawingml/2006/main" w="0">
            <a:solidFill>
              <a:srgbClr val="8A5B43"/>
            </a:solidFill>
            <a:prstDash val="solid"/>
          </a:ln>
        </p:spPr>
      </p:sp>
      <p:sp>
        <p:nvSpPr>
          <p:cNvPr id="41" name="">
            <a:extLst xmlns:a="http://schemas.openxmlformats.org/drawingml/2006/main">
              <a:ext uri="{FF2B5EF4-FFF2-40B4-BE49-F238E27FC236}">
                <a16:creationId xmlns:a16="http://schemas.microsoft.com/office/drawing/2014/main" id="{E56CE957-8E58-4DC2-8EBE-4FC1C4EF4352}"/>
              </a:ext>
            </a:extLst>
          </p:cNvPr>
          <p:cNvSpPr>
            <a:spLocks xmlns:a="http://schemas.openxmlformats.org/drawingml/2006/main" noGrp="1"/>
          </p:cNvSpPr>
          <p:nvPr/>
        </p:nvSpPr>
        <p:spPr>
          <a:xfrm xmlns:a="http://schemas.openxmlformats.org/drawingml/2006/main">
            <a:off x="9277350" y="36861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i="0">
                <a:solidFill>
                  <a:srgbClr val="FFFFFF"/>
                </a:solidFill>
                <a:latin typeface="Arial"/>
                <a:ea typeface="Arial"/>
                <a:cs typeface="Arial"/>
              </a:defRPr>
            </a:pPr>
            <a:r>
              <a:rPr sz="1125" b="1" i="0">
                <a:solidFill>
                  <a:srgbClr val="FFFFFF"/>
                </a:solidFill>
                <a:latin typeface="Arial"/>
                <a:ea typeface="Arial"/>
                <a:cs typeface="Arial"/>
              </a:rPr>
              <a:t>8</a:t>
            </a:r>
          </a:p>
        </p:txBody>
      </p:sp>
      <p:sp>
        <p:nvSpPr>
          <p:cNvPr id="42" name="">
            <a:extLst xmlns:a="http://schemas.openxmlformats.org/drawingml/2006/main">
              <a:ext uri="{FF2B5EF4-FFF2-40B4-BE49-F238E27FC236}">
                <a16:creationId xmlns:a16="http://schemas.microsoft.com/office/drawing/2014/main" id="{399BD37C-B873-40AF-9F9B-4865E7600996}"/>
              </a:ext>
            </a:extLst>
          </p:cNvPr>
          <p:cNvSpPr>
            <a:spLocks xmlns:a="http://schemas.openxmlformats.org/drawingml/2006/main" noGrp="1"/>
          </p:cNvSpPr>
          <p:nvPr/>
        </p:nvSpPr>
        <p:spPr>
          <a:xfrm xmlns:a="http://schemas.openxmlformats.org/drawingml/2006/main">
            <a:off x="9734550" y="3724275"/>
            <a:ext cx="1752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8A5B43"/>
                </a:solidFill>
                <a:latin typeface="Arial"/>
                <a:ea typeface="Arial"/>
                <a:cs typeface="Arial"/>
              </a:defRPr>
            </a:pPr>
            <a:r>
              <a:rPr sz="1425" b="1" i="0">
                <a:solidFill>
                  <a:srgbClr val="8A5B43"/>
                </a:solidFill>
                <a:latin typeface="Arial"/>
                <a:ea typeface="Arial"/>
                <a:cs typeface="Arial"/>
              </a:rPr>
              <a:t>Phenotype</a:t>
            </a:r>
          </a:p>
        </p:txBody>
      </p:sp>
      <p:sp>
        <p:nvSpPr>
          <p:cNvPr id="43" name="">
            <a:extLst xmlns:a="http://schemas.openxmlformats.org/drawingml/2006/main">
              <a:ext uri="{FF2B5EF4-FFF2-40B4-BE49-F238E27FC236}">
                <a16:creationId xmlns:a16="http://schemas.microsoft.com/office/drawing/2014/main" id="{4AE4DF92-BCE7-463F-A389-A18B10EBF795}"/>
              </a:ext>
            </a:extLst>
          </p:cNvPr>
          <p:cNvSpPr>
            <a:spLocks xmlns:a="http://schemas.openxmlformats.org/drawingml/2006/main" noGrp="1"/>
          </p:cNvSpPr>
          <p:nvPr/>
        </p:nvSpPr>
        <p:spPr>
          <a:xfrm xmlns:a="http://schemas.openxmlformats.org/drawingml/2006/main">
            <a:off x="9296400" y="4229100"/>
            <a:ext cx="2209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Is the clinical picture highly specific?</a:t>
            </a:r>
          </a:p>
        </p:txBody>
      </p:sp>
      <p:sp>
        <p:nvSpPr>
          <p:cNvPr id="44" name="">
            <a:extLst xmlns:a="http://schemas.openxmlformats.org/drawingml/2006/main">
              <a:ext uri="{FF2B5EF4-FFF2-40B4-BE49-F238E27FC236}">
                <a16:creationId xmlns:a16="http://schemas.microsoft.com/office/drawing/2014/main" id="{96B697E8-211F-4328-A334-17168C278583}"/>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27</a:t>
            </a:r>
          </a:p>
        </p:txBody>
      </p:sp>
    </p:spTree>
    <p:extLst>
      <p:ext uri="{BB962C8B-B14F-4D97-AF65-F5344CB8AC3E}">
        <p14:creationId xmlns:p14="http://schemas.microsoft.com/office/powerpoint/2010/main" val="194527914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07F95D-17C5-4230-8BA8-C9AB7B053053}"/>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VERY STRONG PATHOGENIC EVIDENCE</a:t>
            </a:r>
          </a:p>
        </p:txBody>
      </p:sp>
      <p:sp>
        <p:nvSpPr>
          <p:cNvPr id="2" name="">
            <a:extLst xmlns:a="http://schemas.openxmlformats.org/drawingml/2006/main">
              <a:ext uri="{FF2B5EF4-FFF2-40B4-BE49-F238E27FC236}">
                <a16:creationId xmlns:a16="http://schemas.microsoft.com/office/drawing/2014/main" id="{BEC8009E-A496-4D5C-A60F-CB4481C9ACE9}"/>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25"/>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PVS1 is powerful—but only when loss of function is a known mechanism</a:t>
            </a:r>
          </a:p>
        </p:txBody>
      </p:sp>
      <p:cxnSp>
        <p:nvCxnSpPr>
          <p:cNvPr id="22"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D261B5E1-62EA-4003-A3A1-D69C8DDD47C3}"/>
              </a:ext>
            </a:extLst>
          </p:cNvPr>
          <p:cNvSpPr>
            <a:spLocks xmlns:a="http://schemas.openxmlformats.org/drawingml/2006/main" noGrp="1"/>
          </p:cNvSpPr>
          <p:nvPr/>
        </p:nvSpPr>
        <p:spPr>
          <a:xfrm xmlns:a="http://schemas.openxmlformats.org/drawingml/2006/main">
            <a:off x="628650" y="1828800"/>
            <a:ext cx="1714500" cy="3257550"/>
          </a:xfrm>
          <a:prstGeom xmlns:a="http://schemas.openxmlformats.org/drawingml/2006/main" prst="roundRect">
            <a:avLst>
              <a:gd name="adj" fmla="val 4444"/>
            </a:avLst>
          </a:prstGeom>
          <a:solidFill xmlns:a="http://schemas.openxmlformats.org/drawingml/2006/main">
            <a:srgbClr val="C94E4E"/>
          </a:solidFill>
          <a:ln xmlns:a="http://schemas.openxmlformats.org/drawingml/2006/main" w="0">
            <a:solidFill>
              <a:srgbClr val="C94E4E"/>
            </a:solidFill>
            <a:prstDash val="solid"/>
          </a:ln>
        </p:spPr>
      </p:sp>
      <p:sp>
        <p:nvSpPr>
          <p:cNvPr id="5" name="">
            <a:extLst xmlns:a="http://schemas.openxmlformats.org/drawingml/2006/main">
              <a:ext uri="{FF2B5EF4-FFF2-40B4-BE49-F238E27FC236}">
                <a16:creationId xmlns:a16="http://schemas.microsoft.com/office/drawing/2014/main" id="{85C4860F-751A-412F-8096-FAD17A30DBBF}"/>
              </a:ext>
            </a:extLst>
          </p:cNvPr>
          <p:cNvSpPr>
            <a:spLocks xmlns:a="http://schemas.openxmlformats.org/drawingml/2006/main" noGrp="1"/>
          </p:cNvSpPr>
          <p:nvPr/>
        </p:nvSpPr>
        <p:spPr>
          <a:xfrm xmlns:a="http://schemas.openxmlformats.org/drawingml/2006/main">
            <a:off x="628650" y="27622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i="0">
                <a:solidFill>
                  <a:srgbClr val="FFFFFF"/>
                </a:solidFill>
                <a:latin typeface="Arial"/>
                <a:ea typeface="Arial"/>
                <a:cs typeface="Arial"/>
              </a:defRPr>
            </a:pPr>
            <a:r>
              <a:rPr sz="3000" b="1" i="0">
                <a:solidFill>
                  <a:srgbClr val="FFFFFF"/>
                </a:solidFill>
                <a:latin typeface="Arial"/>
                <a:ea typeface="Arial"/>
                <a:cs typeface="Arial"/>
              </a:rPr>
              <a:t>PVS1</a:t>
            </a:r>
          </a:p>
        </p:txBody>
      </p:sp>
      <p:sp>
        <p:nvSpPr>
          <p:cNvPr id="6" name="">
            <a:extLst xmlns:a="http://schemas.openxmlformats.org/drawingml/2006/main">
              <a:ext uri="{FF2B5EF4-FFF2-40B4-BE49-F238E27FC236}">
                <a16:creationId xmlns:a16="http://schemas.microsoft.com/office/drawing/2014/main" id="{09E68FDF-9DBF-4369-A18E-8A1AE4F8967F}"/>
              </a:ext>
            </a:extLst>
          </p:cNvPr>
          <p:cNvSpPr>
            <a:spLocks xmlns:a="http://schemas.openxmlformats.org/drawingml/2006/main" noGrp="1"/>
          </p:cNvSpPr>
          <p:nvPr/>
        </p:nvSpPr>
        <p:spPr>
          <a:xfrm xmlns:a="http://schemas.openxmlformats.org/drawingml/2006/main">
            <a:off x="628650" y="35242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VERY</a:t>
            </a:r>
          </a:p>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STRONG</a:t>
            </a:r>
          </a:p>
        </p:txBody>
      </p:sp>
      <p:sp>
        <p:nvSpPr>
          <p:cNvPr id="7" name="">
            <a:extLst xmlns:a="http://schemas.openxmlformats.org/drawingml/2006/main">
              <a:ext uri="{FF2B5EF4-FFF2-40B4-BE49-F238E27FC236}">
                <a16:creationId xmlns:a16="http://schemas.microsoft.com/office/drawing/2014/main" id="{232985B8-3274-4C69-B1AE-41DF9E4E08AB}"/>
              </a:ext>
            </a:extLst>
          </p:cNvPr>
          <p:cNvSpPr>
            <a:spLocks xmlns:a="http://schemas.openxmlformats.org/drawingml/2006/main" noGrp="1"/>
          </p:cNvSpPr>
          <p:nvPr/>
        </p:nvSpPr>
        <p:spPr>
          <a:xfrm xmlns:a="http://schemas.openxmlformats.org/drawingml/2006/main">
            <a:off x="2895600" y="1943100"/>
            <a:ext cx="7734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0B1F33"/>
                </a:solidFill>
                <a:latin typeface="Arial"/>
                <a:ea typeface="Arial"/>
                <a:cs typeface="Arial"/>
              </a:defRPr>
            </a:pPr>
            <a:r>
              <a:rPr sz="2250" b="1" i="0">
                <a:solidFill>
                  <a:srgbClr val="0B1F33"/>
                </a:solidFill>
                <a:latin typeface="Arial"/>
                <a:ea typeface="Arial"/>
                <a:cs typeface="Arial"/>
              </a:rPr>
              <a:t>A predicted null variant</a:t>
            </a:r>
          </a:p>
        </p:txBody>
      </p:sp>
      <p:sp>
        <p:nvSpPr>
          <p:cNvPr id="8" name="">
            <a:extLst xmlns:a="http://schemas.openxmlformats.org/drawingml/2006/main">
              <a:ext uri="{FF2B5EF4-FFF2-40B4-BE49-F238E27FC236}">
                <a16:creationId xmlns:a16="http://schemas.microsoft.com/office/drawing/2014/main" id="{F133D665-DE7B-4D19-895E-C7F49A71C9CC}"/>
              </a:ext>
            </a:extLst>
          </p:cNvPr>
          <p:cNvSpPr>
            <a:spLocks xmlns:a="http://schemas.openxmlformats.org/drawingml/2006/main" noGrp="1"/>
          </p:cNvSpPr>
          <p:nvPr/>
        </p:nvSpPr>
        <p:spPr>
          <a:xfrm xmlns:a="http://schemas.openxmlformats.org/drawingml/2006/main">
            <a:off x="3009900" y="27336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9" name="">
            <a:extLst xmlns:a="http://schemas.openxmlformats.org/drawingml/2006/main">
              <a:ext uri="{FF2B5EF4-FFF2-40B4-BE49-F238E27FC236}">
                <a16:creationId xmlns:a16="http://schemas.microsoft.com/office/drawing/2014/main" id="{035831E4-D922-486D-991E-0B958A76B85C}"/>
              </a:ext>
            </a:extLst>
          </p:cNvPr>
          <p:cNvSpPr>
            <a:spLocks xmlns:a="http://schemas.openxmlformats.org/drawingml/2006/main" noGrp="1"/>
          </p:cNvSpPr>
          <p:nvPr/>
        </p:nvSpPr>
        <p:spPr>
          <a:xfrm xmlns:a="http://schemas.openxmlformats.org/drawingml/2006/main">
            <a:off x="3238500" y="2667000"/>
            <a:ext cx="7391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0B1F33"/>
                </a:solidFill>
                <a:latin typeface="Arial"/>
                <a:ea typeface="Arial"/>
                <a:cs typeface="Arial"/>
              </a:defRPr>
            </a:pPr>
            <a:r>
              <a:rPr sz="1575" b="0" i="0">
                <a:solidFill>
                  <a:srgbClr val="0B1F33"/>
                </a:solidFill>
                <a:latin typeface="Arial"/>
                <a:ea typeface="Arial"/>
                <a:cs typeface="Arial"/>
              </a:rPr>
              <a:t>nonsense or frameshift</a:t>
            </a:r>
          </a:p>
        </p:txBody>
      </p:sp>
      <p:sp>
        <p:nvSpPr>
          <p:cNvPr id="10" name="">
            <a:extLst xmlns:a="http://schemas.openxmlformats.org/drawingml/2006/main">
              <a:ext uri="{FF2B5EF4-FFF2-40B4-BE49-F238E27FC236}">
                <a16:creationId xmlns:a16="http://schemas.microsoft.com/office/drawing/2014/main" id="{92205327-2981-4A1A-989C-29EC17FDEA5D}"/>
              </a:ext>
            </a:extLst>
          </p:cNvPr>
          <p:cNvSpPr>
            <a:spLocks xmlns:a="http://schemas.openxmlformats.org/drawingml/2006/main" noGrp="1"/>
          </p:cNvSpPr>
          <p:nvPr/>
        </p:nvSpPr>
        <p:spPr>
          <a:xfrm xmlns:a="http://schemas.openxmlformats.org/drawingml/2006/main">
            <a:off x="3009900" y="32289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1" name="">
            <a:extLst xmlns:a="http://schemas.openxmlformats.org/drawingml/2006/main">
              <a:ext uri="{FF2B5EF4-FFF2-40B4-BE49-F238E27FC236}">
                <a16:creationId xmlns:a16="http://schemas.microsoft.com/office/drawing/2014/main" id="{AF291B78-F07D-4F35-AF8C-9F2A2AD61F2D}"/>
              </a:ext>
            </a:extLst>
          </p:cNvPr>
          <p:cNvSpPr>
            <a:spLocks xmlns:a="http://schemas.openxmlformats.org/drawingml/2006/main" noGrp="1"/>
          </p:cNvSpPr>
          <p:nvPr/>
        </p:nvSpPr>
        <p:spPr>
          <a:xfrm xmlns:a="http://schemas.openxmlformats.org/drawingml/2006/main">
            <a:off x="3238500" y="3162300"/>
            <a:ext cx="7391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0B1F33"/>
                </a:solidFill>
                <a:latin typeface="Arial"/>
                <a:ea typeface="Arial"/>
                <a:cs typeface="Arial"/>
              </a:defRPr>
            </a:pPr>
            <a:r>
              <a:rPr sz="1575" b="0" i="0">
                <a:solidFill>
                  <a:srgbClr val="0B1F33"/>
                </a:solidFill>
                <a:latin typeface="Arial"/>
                <a:ea typeface="Arial"/>
                <a:cs typeface="Arial"/>
              </a:rPr>
              <a:t>canonical ±1/2 splice site</a:t>
            </a:r>
          </a:p>
        </p:txBody>
      </p:sp>
      <p:sp>
        <p:nvSpPr>
          <p:cNvPr id="12" name="">
            <a:extLst xmlns:a="http://schemas.openxmlformats.org/drawingml/2006/main">
              <a:ext uri="{FF2B5EF4-FFF2-40B4-BE49-F238E27FC236}">
                <a16:creationId xmlns:a16="http://schemas.microsoft.com/office/drawing/2014/main" id="{2B143756-C7CC-4E09-B5BD-72DE70A6025B}"/>
              </a:ext>
            </a:extLst>
          </p:cNvPr>
          <p:cNvSpPr>
            <a:spLocks xmlns:a="http://schemas.openxmlformats.org/drawingml/2006/main" noGrp="1"/>
          </p:cNvSpPr>
          <p:nvPr/>
        </p:nvSpPr>
        <p:spPr>
          <a:xfrm xmlns:a="http://schemas.openxmlformats.org/drawingml/2006/main">
            <a:off x="3009900" y="37242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3" name="">
            <a:extLst xmlns:a="http://schemas.openxmlformats.org/drawingml/2006/main">
              <a:ext uri="{FF2B5EF4-FFF2-40B4-BE49-F238E27FC236}">
                <a16:creationId xmlns:a16="http://schemas.microsoft.com/office/drawing/2014/main" id="{F57C46D4-0679-4A98-97ED-6F09D92A4844}"/>
              </a:ext>
            </a:extLst>
          </p:cNvPr>
          <p:cNvSpPr>
            <a:spLocks xmlns:a="http://schemas.openxmlformats.org/drawingml/2006/main" noGrp="1"/>
          </p:cNvSpPr>
          <p:nvPr/>
        </p:nvSpPr>
        <p:spPr>
          <a:xfrm xmlns:a="http://schemas.openxmlformats.org/drawingml/2006/main">
            <a:off x="3238500" y="3657600"/>
            <a:ext cx="7391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0B1F33"/>
                </a:solidFill>
                <a:latin typeface="Arial"/>
                <a:ea typeface="Arial"/>
                <a:cs typeface="Arial"/>
              </a:defRPr>
            </a:pPr>
            <a:r>
              <a:rPr sz="1575" b="0" i="0">
                <a:solidFill>
                  <a:srgbClr val="0B1F33"/>
                </a:solidFill>
                <a:latin typeface="Arial"/>
                <a:ea typeface="Arial"/>
                <a:cs typeface="Arial"/>
              </a:rPr>
              <a:t>initiation-codon loss</a:t>
            </a:r>
          </a:p>
        </p:txBody>
      </p:sp>
      <p:sp>
        <p:nvSpPr>
          <p:cNvPr id="14" name="">
            <a:extLst xmlns:a="http://schemas.openxmlformats.org/drawingml/2006/main">
              <a:ext uri="{FF2B5EF4-FFF2-40B4-BE49-F238E27FC236}">
                <a16:creationId xmlns:a16="http://schemas.microsoft.com/office/drawing/2014/main" id="{0BC1D9E2-4215-4BBA-9C8D-6FD3191FA87B}"/>
              </a:ext>
            </a:extLst>
          </p:cNvPr>
          <p:cNvSpPr>
            <a:spLocks xmlns:a="http://schemas.openxmlformats.org/drawingml/2006/main" noGrp="1"/>
          </p:cNvSpPr>
          <p:nvPr/>
        </p:nvSpPr>
        <p:spPr>
          <a:xfrm xmlns:a="http://schemas.openxmlformats.org/drawingml/2006/main">
            <a:off x="3009900" y="42195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5" name="">
            <a:extLst xmlns:a="http://schemas.openxmlformats.org/drawingml/2006/main">
              <a:ext uri="{FF2B5EF4-FFF2-40B4-BE49-F238E27FC236}">
                <a16:creationId xmlns:a16="http://schemas.microsoft.com/office/drawing/2014/main" id="{9F54E313-E509-4F3B-A212-7A08F7A4D2CD}"/>
              </a:ext>
            </a:extLst>
          </p:cNvPr>
          <p:cNvSpPr>
            <a:spLocks xmlns:a="http://schemas.openxmlformats.org/drawingml/2006/main" noGrp="1"/>
          </p:cNvSpPr>
          <p:nvPr/>
        </p:nvSpPr>
        <p:spPr>
          <a:xfrm xmlns:a="http://schemas.openxmlformats.org/drawingml/2006/main">
            <a:off x="3238500" y="4152900"/>
            <a:ext cx="7391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0B1F33"/>
                </a:solidFill>
                <a:latin typeface="Arial"/>
                <a:ea typeface="Arial"/>
                <a:cs typeface="Arial"/>
              </a:defRPr>
            </a:pPr>
            <a:r>
              <a:rPr sz="1575" b="0" i="0">
                <a:solidFill>
                  <a:srgbClr val="0B1F33"/>
                </a:solidFill>
                <a:latin typeface="Arial"/>
                <a:ea typeface="Arial"/>
                <a:cs typeface="Arial"/>
              </a:rPr>
              <a:t>single- or multi-exon deletion</a:t>
            </a:r>
          </a:p>
        </p:txBody>
      </p:sp>
      <p:sp>
        <p:nvSpPr>
          <p:cNvPr id="16" name="">
            <a:extLst xmlns:a="http://schemas.openxmlformats.org/drawingml/2006/main">
              <a:ext uri="{FF2B5EF4-FFF2-40B4-BE49-F238E27FC236}">
                <a16:creationId xmlns:a16="http://schemas.microsoft.com/office/drawing/2014/main" id="{91AD4EB0-4399-4EDC-9130-60480B01DF33}"/>
              </a:ext>
            </a:extLst>
          </p:cNvPr>
          <p:cNvSpPr>
            <a:spLocks xmlns:a="http://schemas.openxmlformats.org/drawingml/2006/main" noGrp="1"/>
          </p:cNvSpPr>
          <p:nvPr/>
        </p:nvSpPr>
        <p:spPr>
          <a:xfrm xmlns:a="http://schemas.openxmlformats.org/drawingml/2006/main">
            <a:off x="2895600" y="4762500"/>
            <a:ext cx="7810500" cy="704850"/>
          </a:xfrm>
          <a:prstGeom xmlns:a="http://schemas.openxmlformats.org/drawingml/2006/main" prst="roundRect">
            <a:avLst>
              <a:gd name="adj" fmla="val 10811"/>
            </a:avLst>
          </a:prstGeom>
          <a:solidFill xmlns:a="http://schemas.openxmlformats.org/drawingml/2006/main">
            <a:srgbClr val="FBE3E3"/>
          </a:solidFill>
          <a:ln xmlns:a="http://schemas.openxmlformats.org/drawingml/2006/main" w="0">
            <a:solidFill>
              <a:srgbClr val="FBE3E3"/>
            </a:solidFill>
            <a:prstDash val="solid"/>
          </a:ln>
        </p:spPr>
      </p:sp>
      <p:sp>
        <p:nvSpPr>
          <p:cNvPr id="17" name="">
            <a:extLst xmlns:a="http://schemas.openxmlformats.org/drawingml/2006/main">
              <a:ext uri="{FF2B5EF4-FFF2-40B4-BE49-F238E27FC236}">
                <a16:creationId xmlns:a16="http://schemas.microsoft.com/office/drawing/2014/main" id="{8211FC87-FC2F-4A1A-A75B-1864A8BC5BF5}"/>
              </a:ext>
            </a:extLst>
          </p:cNvPr>
          <p:cNvSpPr>
            <a:spLocks xmlns:a="http://schemas.openxmlformats.org/drawingml/2006/main" noGrp="1"/>
          </p:cNvSpPr>
          <p:nvPr/>
        </p:nvSpPr>
        <p:spPr>
          <a:xfrm xmlns:a="http://schemas.openxmlformats.org/drawingml/2006/main">
            <a:off x="3105150" y="4972050"/>
            <a:ext cx="7391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i="0">
                <a:solidFill>
                  <a:srgbClr val="C94E4E"/>
                </a:solidFill>
                <a:latin typeface="Arial"/>
                <a:ea typeface="Arial"/>
                <a:cs typeface="Arial"/>
              </a:defRPr>
            </a:pPr>
            <a:r>
              <a:rPr sz="1425" b="1" i="0">
                <a:solidFill>
                  <a:srgbClr val="C94E4E"/>
                </a:solidFill>
                <a:latin typeface="Arial"/>
                <a:ea typeface="Arial"/>
                <a:cs typeface="Arial"/>
              </a:rPr>
              <a:t>Caution: the gene–disease mechanism, transcript, exon and NMD context must fit.</a:t>
            </a:r>
          </a:p>
        </p:txBody>
      </p:sp>
      <p:sp>
        <p:nvSpPr>
          <p:cNvPr id="18" name="">
            <a:extLst xmlns:a="http://schemas.openxmlformats.org/drawingml/2006/main">
              <a:ext uri="{FF2B5EF4-FFF2-40B4-BE49-F238E27FC236}">
                <a16:creationId xmlns:a16="http://schemas.microsoft.com/office/drawing/2014/main" id="{86C6440F-4486-4FA7-8D10-37CCAEEE40DE}"/>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ClinGen PVS1 guidance</a:t>
            </a:r>
          </a:p>
        </p:txBody>
      </p:sp>
      <p:sp>
        <p:nvSpPr>
          <p:cNvPr id="19" name="">
            <a:extLst xmlns:a="http://schemas.openxmlformats.org/drawingml/2006/main">
              <a:ext uri="{FF2B5EF4-FFF2-40B4-BE49-F238E27FC236}">
                <a16:creationId xmlns:a16="http://schemas.microsoft.com/office/drawing/2014/main" id="{D3C7EA24-3A6D-47A8-A916-33F23F18031B}"/>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28</a:t>
            </a:r>
          </a:p>
        </p:txBody>
      </p:sp>
    </p:spTree>
    <p:extLst>
      <p:ext uri="{BB962C8B-B14F-4D97-AF65-F5344CB8AC3E}">
        <p14:creationId xmlns:p14="http://schemas.microsoft.com/office/powerpoint/2010/main" val="70014433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FF99EE-0583-420E-B9CB-DE128E4D1EA7}"/>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PS1–PS4</a:t>
            </a:r>
          </a:p>
        </p:txBody>
      </p:sp>
      <p:sp>
        <p:nvSpPr>
          <p:cNvPr id="2" name="">
            <a:extLst xmlns:a="http://schemas.openxmlformats.org/drawingml/2006/main">
              <a:ext uri="{FF2B5EF4-FFF2-40B4-BE49-F238E27FC236}">
                <a16:creationId xmlns:a16="http://schemas.microsoft.com/office/drawing/2014/main" id="{A393D5DB-D079-4B67-9408-1852AED8AF91}"/>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28"/>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Strong pathogenic evidence asks for convincing real-world support</a:t>
            </a:r>
          </a:p>
        </p:txBody>
      </p:sp>
      <p:cxnSp>
        <p:nvCxnSpPr>
          <p:cNvPr id="28"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7287417E-4E45-41F6-924D-2EC3C94511A7}"/>
              </a:ext>
            </a:extLst>
          </p:cNvPr>
          <p:cNvSpPr>
            <a:spLocks xmlns:a="http://schemas.openxmlformats.org/drawingml/2006/main" noGrp="1"/>
          </p:cNvSpPr>
          <p:nvPr/>
        </p:nvSpPr>
        <p:spPr>
          <a:xfrm xmlns:a="http://schemas.openxmlformats.org/drawingml/2006/main">
            <a:off x="514350" y="1657350"/>
            <a:ext cx="723900" cy="323850"/>
          </a:xfrm>
          <a:prstGeom xmlns:a="http://schemas.openxmlformats.org/drawingml/2006/main" prst="roundRect">
            <a:avLst>
              <a:gd name="adj" fmla="val 23529"/>
            </a:avLst>
          </a:prstGeom>
          <a:solidFill xmlns:a="http://schemas.openxmlformats.org/drawingml/2006/main">
            <a:srgbClr val="FBE3E3"/>
          </a:solidFill>
          <a:ln xmlns:a="http://schemas.openxmlformats.org/drawingml/2006/main" w="0">
            <a:solidFill>
              <a:srgbClr val="FBE3E3"/>
            </a:solidFill>
            <a:prstDash val="solid"/>
          </a:ln>
        </p:spPr>
      </p:sp>
      <p:sp>
        <p:nvSpPr>
          <p:cNvPr id="5" name="">
            <a:extLst xmlns:a="http://schemas.openxmlformats.org/drawingml/2006/main">
              <a:ext uri="{FF2B5EF4-FFF2-40B4-BE49-F238E27FC236}">
                <a16:creationId xmlns:a16="http://schemas.microsoft.com/office/drawing/2014/main" id="{9C5EAD1C-733C-4CAE-9A61-9BEFE2F1AD2A}"/>
              </a:ext>
            </a:extLst>
          </p:cNvPr>
          <p:cNvSpPr>
            <a:spLocks xmlns:a="http://schemas.openxmlformats.org/drawingml/2006/main" noGrp="1"/>
          </p:cNvSpPr>
          <p:nvPr/>
        </p:nvSpPr>
        <p:spPr>
          <a:xfrm xmlns:a="http://schemas.openxmlformats.org/drawingml/2006/main">
            <a:off x="514350" y="172402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C94E4E"/>
                </a:solidFill>
                <a:latin typeface="Arial"/>
                <a:ea typeface="Arial"/>
                <a:cs typeface="Arial"/>
              </a:defRPr>
            </a:pPr>
            <a:r>
              <a:rPr sz="975" b="1" i="0">
                <a:solidFill>
                  <a:srgbClr val="C94E4E"/>
                </a:solidFill>
                <a:latin typeface="Arial"/>
                <a:ea typeface="Arial"/>
                <a:cs typeface="Arial"/>
              </a:rPr>
              <a:t>PS1</a:t>
            </a:r>
          </a:p>
        </p:txBody>
      </p:sp>
      <p:sp>
        <p:nvSpPr>
          <p:cNvPr id="6" name="">
            <a:extLst xmlns:a="http://schemas.openxmlformats.org/drawingml/2006/main">
              <a:ext uri="{FF2B5EF4-FFF2-40B4-BE49-F238E27FC236}">
                <a16:creationId xmlns:a16="http://schemas.microsoft.com/office/drawing/2014/main" id="{838071FE-1803-4AD3-87CD-4FE69B03F676}"/>
              </a:ext>
            </a:extLst>
          </p:cNvPr>
          <p:cNvSpPr>
            <a:spLocks xmlns:a="http://schemas.openxmlformats.org/drawingml/2006/main" noGrp="1"/>
          </p:cNvSpPr>
          <p:nvPr/>
        </p:nvSpPr>
        <p:spPr>
          <a:xfrm xmlns:a="http://schemas.openxmlformats.org/drawingml/2006/main">
            <a:off x="1466850" y="16383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112"/>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Same amino-acid change as an established pathogenic variant</a:t>
            </a:r>
          </a:p>
        </p:txBody>
      </p:sp>
      <p:sp>
        <p:nvSpPr>
          <p:cNvPr id="7" name="">
            <a:extLst xmlns:a="http://schemas.openxmlformats.org/drawingml/2006/main">
              <a:ext uri="{FF2B5EF4-FFF2-40B4-BE49-F238E27FC236}">
                <a16:creationId xmlns:a16="http://schemas.microsoft.com/office/drawing/2014/main" id="{475CC86A-411E-46B9-9F02-8089F60E51F0}"/>
              </a:ext>
            </a:extLst>
          </p:cNvPr>
          <p:cNvSpPr>
            <a:spLocks xmlns:a="http://schemas.openxmlformats.org/drawingml/2006/main" noGrp="1"/>
          </p:cNvSpPr>
          <p:nvPr/>
        </p:nvSpPr>
        <p:spPr>
          <a:xfrm xmlns:a="http://schemas.openxmlformats.org/drawingml/2006/main">
            <a:off x="6705600" y="1638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Check whether nucleotide-level splicing effects differ.</a:t>
            </a:r>
          </a:p>
        </p:txBody>
      </p:sp>
      <p:cxnSp>
        <p:nvCxnSpPr>
          <p:cNvPr id="33" name=""/>
          <p:cNvCxnSpPr/>
          <p:nvPr/>
        </p:nvCxnSpPr>
        <p:spPr>
          <a:xfrm xmlns:a="http://schemas.openxmlformats.org/drawingml/2006/main">
            <a:off x="514350" y="2343150"/>
            <a:ext cx="10725150" cy="0"/>
          </a:xfrm>
          <a:prstGeom xmlns:a="http://schemas.openxmlformats.org/drawingml/2006/main" prst="straightConnector1">
            <a:avLst/>
          </a:prstGeom>
          <a:ln xmlns:a="http://schemas.openxmlformats.org/drawingml/2006/main" w="9525">
            <a:solidFill>
              <a:srgbClr val="D6DEE7"/>
            </a:solidFill>
            <a:prstDash val="solid"/>
          </a:ln>
        </p:spPr>
      </p:cxnSp>
      <p:sp>
        <p:nvSpPr>
          <p:cNvPr id="9" name="">
            <a:extLst xmlns:a="http://schemas.openxmlformats.org/drawingml/2006/main">
              <a:ext uri="{FF2B5EF4-FFF2-40B4-BE49-F238E27FC236}">
                <a16:creationId xmlns:a16="http://schemas.microsoft.com/office/drawing/2014/main" id="{7AEC86ED-39F7-4000-9A3E-8C76EAC12A00}"/>
              </a:ext>
            </a:extLst>
          </p:cNvPr>
          <p:cNvSpPr>
            <a:spLocks xmlns:a="http://schemas.openxmlformats.org/drawingml/2006/main" noGrp="1"/>
          </p:cNvSpPr>
          <p:nvPr/>
        </p:nvSpPr>
        <p:spPr>
          <a:xfrm xmlns:a="http://schemas.openxmlformats.org/drawingml/2006/main">
            <a:off x="514350" y="2705100"/>
            <a:ext cx="723900" cy="323850"/>
          </a:xfrm>
          <a:prstGeom xmlns:a="http://schemas.openxmlformats.org/drawingml/2006/main" prst="roundRect">
            <a:avLst>
              <a:gd name="adj" fmla="val 23529"/>
            </a:avLst>
          </a:prstGeom>
          <a:solidFill xmlns:a="http://schemas.openxmlformats.org/drawingml/2006/main">
            <a:srgbClr val="FBE3E3"/>
          </a:solidFill>
          <a:ln xmlns:a="http://schemas.openxmlformats.org/drawingml/2006/main" w="0">
            <a:solidFill>
              <a:srgbClr val="FBE3E3"/>
            </a:solidFill>
            <a:prstDash val="solid"/>
          </a:ln>
        </p:spPr>
      </p:sp>
      <p:sp>
        <p:nvSpPr>
          <p:cNvPr id="10" name="">
            <a:extLst xmlns:a="http://schemas.openxmlformats.org/drawingml/2006/main">
              <a:ext uri="{FF2B5EF4-FFF2-40B4-BE49-F238E27FC236}">
                <a16:creationId xmlns:a16="http://schemas.microsoft.com/office/drawing/2014/main" id="{A114BCDF-B348-4E7C-81FD-61969354EADE}"/>
              </a:ext>
            </a:extLst>
          </p:cNvPr>
          <p:cNvSpPr>
            <a:spLocks xmlns:a="http://schemas.openxmlformats.org/drawingml/2006/main" noGrp="1"/>
          </p:cNvSpPr>
          <p:nvPr/>
        </p:nvSpPr>
        <p:spPr>
          <a:xfrm xmlns:a="http://schemas.openxmlformats.org/drawingml/2006/main">
            <a:off x="514350" y="277177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C94E4E"/>
                </a:solidFill>
                <a:latin typeface="Arial"/>
                <a:ea typeface="Arial"/>
                <a:cs typeface="Arial"/>
              </a:defRPr>
            </a:pPr>
            <a:r>
              <a:rPr sz="975" b="1" i="0">
                <a:solidFill>
                  <a:srgbClr val="C94E4E"/>
                </a:solidFill>
                <a:latin typeface="Arial"/>
                <a:ea typeface="Arial"/>
                <a:cs typeface="Arial"/>
              </a:rPr>
              <a:t>PS2</a:t>
            </a:r>
          </a:p>
        </p:txBody>
      </p:sp>
      <p:sp>
        <p:nvSpPr>
          <p:cNvPr id="11" name="">
            <a:extLst xmlns:a="http://schemas.openxmlformats.org/drawingml/2006/main">
              <a:ext uri="{FF2B5EF4-FFF2-40B4-BE49-F238E27FC236}">
                <a16:creationId xmlns:a16="http://schemas.microsoft.com/office/drawing/2014/main" id="{ED813CD5-7D4A-4A67-9E92-ECA7920900E6}"/>
              </a:ext>
            </a:extLst>
          </p:cNvPr>
          <p:cNvSpPr>
            <a:spLocks xmlns:a="http://schemas.openxmlformats.org/drawingml/2006/main" noGrp="1"/>
          </p:cNvSpPr>
          <p:nvPr/>
        </p:nvSpPr>
        <p:spPr>
          <a:xfrm xmlns:a="http://schemas.openxmlformats.org/drawingml/2006/main">
            <a:off x="1466850" y="26860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Confirmed de novo occurrence</a:t>
            </a:r>
          </a:p>
        </p:txBody>
      </p:sp>
      <p:sp>
        <p:nvSpPr>
          <p:cNvPr id="12" name="">
            <a:extLst xmlns:a="http://schemas.openxmlformats.org/drawingml/2006/main">
              <a:ext uri="{FF2B5EF4-FFF2-40B4-BE49-F238E27FC236}">
                <a16:creationId xmlns:a16="http://schemas.microsoft.com/office/drawing/2014/main" id="{626857B4-7B1C-4ECB-B566-ADCD338614B3}"/>
              </a:ext>
            </a:extLst>
          </p:cNvPr>
          <p:cNvSpPr>
            <a:spLocks xmlns:a="http://schemas.openxmlformats.org/drawingml/2006/main" noGrp="1"/>
          </p:cNvSpPr>
          <p:nvPr/>
        </p:nvSpPr>
        <p:spPr>
          <a:xfrm xmlns:a="http://schemas.openxmlformats.org/drawingml/2006/main">
            <a:off x="6705600" y="26860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Maternity and paternity confirmed; phenotype fits.</a:t>
            </a:r>
          </a:p>
        </p:txBody>
      </p:sp>
      <p:cxnSp>
        <p:nvCxnSpPr>
          <p:cNvPr id="38" name=""/>
          <p:cNvCxnSpPr/>
          <p:nvPr/>
        </p:nvCxnSpPr>
        <p:spPr>
          <a:xfrm xmlns:a="http://schemas.openxmlformats.org/drawingml/2006/main">
            <a:off x="514350" y="3390900"/>
            <a:ext cx="10725150" cy="0"/>
          </a:xfrm>
          <a:prstGeom xmlns:a="http://schemas.openxmlformats.org/drawingml/2006/main" prst="straightConnector1">
            <a:avLst/>
          </a:prstGeom>
          <a:ln xmlns:a="http://schemas.openxmlformats.org/drawingml/2006/main" w="9525">
            <a:solidFill>
              <a:srgbClr val="D6DEE7"/>
            </a:solidFill>
            <a:prstDash val="solid"/>
          </a:ln>
        </p:spPr>
      </p:cxnSp>
      <p:sp>
        <p:nvSpPr>
          <p:cNvPr id="14" name="">
            <a:extLst xmlns:a="http://schemas.openxmlformats.org/drawingml/2006/main">
              <a:ext uri="{FF2B5EF4-FFF2-40B4-BE49-F238E27FC236}">
                <a16:creationId xmlns:a16="http://schemas.microsoft.com/office/drawing/2014/main" id="{292DC8B6-78C5-43EF-81D2-3AE7025DB606}"/>
              </a:ext>
            </a:extLst>
          </p:cNvPr>
          <p:cNvSpPr>
            <a:spLocks xmlns:a="http://schemas.openxmlformats.org/drawingml/2006/main" noGrp="1"/>
          </p:cNvSpPr>
          <p:nvPr/>
        </p:nvSpPr>
        <p:spPr>
          <a:xfrm xmlns:a="http://schemas.openxmlformats.org/drawingml/2006/main">
            <a:off x="514350" y="3752850"/>
            <a:ext cx="723900" cy="323850"/>
          </a:xfrm>
          <a:prstGeom xmlns:a="http://schemas.openxmlformats.org/drawingml/2006/main" prst="roundRect">
            <a:avLst>
              <a:gd name="adj" fmla="val 23529"/>
            </a:avLst>
          </a:prstGeom>
          <a:solidFill xmlns:a="http://schemas.openxmlformats.org/drawingml/2006/main">
            <a:srgbClr val="FBE3E3"/>
          </a:solidFill>
          <a:ln xmlns:a="http://schemas.openxmlformats.org/drawingml/2006/main" w="0">
            <a:solidFill>
              <a:srgbClr val="FBE3E3"/>
            </a:solidFill>
            <a:prstDash val="solid"/>
          </a:ln>
        </p:spPr>
      </p:sp>
      <p:sp>
        <p:nvSpPr>
          <p:cNvPr id="15" name="">
            <a:extLst xmlns:a="http://schemas.openxmlformats.org/drawingml/2006/main">
              <a:ext uri="{FF2B5EF4-FFF2-40B4-BE49-F238E27FC236}">
                <a16:creationId xmlns:a16="http://schemas.microsoft.com/office/drawing/2014/main" id="{D520EEE9-5C02-4233-B732-86E4AE74BA53}"/>
              </a:ext>
            </a:extLst>
          </p:cNvPr>
          <p:cNvSpPr>
            <a:spLocks xmlns:a="http://schemas.openxmlformats.org/drawingml/2006/main" noGrp="1"/>
          </p:cNvSpPr>
          <p:nvPr/>
        </p:nvSpPr>
        <p:spPr>
          <a:xfrm xmlns:a="http://schemas.openxmlformats.org/drawingml/2006/main">
            <a:off x="514350" y="381952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C94E4E"/>
                </a:solidFill>
                <a:latin typeface="Arial"/>
                <a:ea typeface="Arial"/>
                <a:cs typeface="Arial"/>
              </a:defRPr>
            </a:pPr>
            <a:r>
              <a:rPr sz="975" b="1" i="0">
                <a:solidFill>
                  <a:srgbClr val="C94E4E"/>
                </a:solidFill>
                <a:latin typeface="Arial"/>
                <a:ea typeface="Arial"/>
                <a:cs typeface="Arial"/>
              </a:rPr>
              <a:t>PS3</a:t>
            </a:r>
          </a:p>
        </p:txBody>
      </p:sp>
      <p:sp>
        <p:nvSpPr>
          <p:cNvPr id="16" name="">
            <a:extLst xmlns:a="http://schemas.openxmlformats.org/drawingml/2006/main">
              <a:ext uri="{FF2B5EF4-FFF2-40B4-BE49-F238E27FC236}">
                <a16:creationId xmlns:a16="http://schemas.microsoft.com/office/drawing/2014/main" id="{E0796B96-CE06-4438-A73A-0E7BD715DDD9}"/>
              </a:ext>
            </a:extLst>
          </p:cNvPr>
          <p:cNvSpPr>
            <a:spLocks xmlns:a="http://schemas.openxmlformats.org/drawingml/2006/main" noGrp="1"/>
          </p:cNvSpPr>
          <p:nvPr/>
        </p:nvSpPr>
        <p:spPr>
          <a:xfrm xmlns:a="http://schemas.openxmlformats.org/drawingml/2006/main">
            <a:off x="1466850" y="37338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855"/>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Well-established functional evidence of damaging effect</a:t>
            </a:r>
          </a:p>
        </p:txBody>
      </p:sp>
      <p:sp>
        <p:nvSpPr>
          <p:cNvPr id="17" name="">
            <a:extLst xmlns:a="http://schemas.openxmlformats.org/drawingml/2006/main">
              <a:ext uri="{FF2B5EF4-FFF2-40B4-BE49-F238E27FC236}">
                <a16:creationId xmlns:a16="http://schemas.microsoft.com/office/drawing/2014/main" id="{1CFF84D2-EE56-4E79-B6FB-650D8298438E}"/>
              </a:ext>
            </a:extLst>
          </p:cNvPr>
          <p:cNvSpPr>
            <a:spLocks xmlns:a="http://schemas.openxmlformats.org/drawingml/2006/main" noGrp="1"/>
          </p:cNvSpPr>
          <p:nvPr/>
        </p:nvSpPr>
        <p:spPr>
          <a:xfrm xmlns:a="http://schemas.openxmlformats.org/drawingml/2006/main">
            <a:off x="6705600" y="37338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Assay must be valid, relevant and well controlled.</a:t>
            </a:r>
          </a:p>
        </p:txBody>
      </p:sp>
      <p:cxnSp>
        <p:nvCxnSpPr>
          <p:cNvPr id="43" name=""/>
          <p:cNvCxnSpPr/>
          <p:nvPr/>
        </p:nvCxnSpPr>
        <p:spPr>
          <a:xfrm xmlns:a="http://schemas.openxmlformats.org/drawingml/2006/main">
            <a:off x="514350" y="4438650"/>
            <a:ext cx="10725150" cy="0"/>
          </a:xfrm>
          <a:prstGeom xmlns:a="http://schemas.openxmlformats.org/drawingml/2006/main" prst="straightConnector1">
            <a:avLst/>
          </a:prstGeom>
          <a:ln xmlns:a="http://schemas.openxmlformats.org/drawingml/2006/main" w="9525">
            <a:solidFill>
              <a:srgbClr val="D6DEE7"/>
            </a:solidFill>
            <a:prstDash val="solid"/>
          </a:ln>
        </p:spPr>
      </p:cxnSp>
      <p:sp>
        <p:nvSpPr>
          <p:cNvPr id="19" name="">
            <a:extLst xmlns:a="http://schemas.openxmlformats.org/drawingml/2006/main">
              <a:ext uri="{FF2B5EF4-FFF2-40B4-BE49-F238E27FC236}">
                <a16:creationId xmlns:a16="http://schemas.microsoft.com/office/drawing/2014/main" id="{DACAEF49-B899-4A9F-A9A0-78BD11A00DC2}"/>
              </a:ext>
            </a:extLst>
          </p:cNvPr>
          <p:cNvSpPr>
            <a:spLocks xmlns:a="http://schemas.openxmlformats.org/drawingml/2006/main" noGrp="1"/>
          </p:cNvSpPr>
          <p:nvPr/>
        </p:nvSpPr>
        <p:spPr>
          <a:xfrm xmlns:a="http://schemas.openxmlformats.org/drawingml/2006/main">
            <a:off x="514350" y="4800600"/>
            <a:ext cx="723900" cy="323850"/>
          </a:xfrm>
          <a:prstGeom xmlns:a="http://schemas.openxmlformats.org/drawingml/2006/main" prst="roundRect">
            <a:avLst>
              <a:gd name="adj" fmla="val 23529"/>
            </a:avLst>
          </a:prstGeom>
          <a:solidFill xmlns:a="http://schemas.openxmlformats.org/drawingml/2006/main">
            <a:srgbClr val="FBE3E3"/>
          </a:solidFill>
          <a:ln xmlns:a="http://schemas.openxmlformats.org/drawingml/2006/main" w="0">
            <a:solidFill>
              <a:srgbClr val="FBE3E3"/>
            </a:solidFill>
            <a:prstDash val="solid"/>
          </a:ln>
        </p:spPr>
      </p:sp>
      <p:sp>
        <p:nvSpPr>
          <p:cNvPr id="20" name="">
            <a:extLst xmlns:a="http://schemas.openxmlformats.org/drawingml/2006/main">
              <a:ext uri="{FF2B5EF4-FFF2-40B4-BE49-F238E27FC236}">
                <a16:creationId xmlns:a16="http://schemas.microsoft.com/office/drawing/2014/main" id="{5C3BCC0A-B24B-4CA5-8E83-17EFEF1461E7}"/>
              </a:ext>
            </a:extLst>
          </p:cNvPr>
          <p:cNvSpPr>
            <a:spLocks xmlns:a="http://schemas.openxmlformats.org/drawingml/2006/main" noGrp="1"/>
          </p:cNvSpPr>
          <p:nvPr/>
        </p:nvSpPr>
        <p:spPr>
          <a:xfrm xmlns:a="http://schemas.openxmlformats.org/drawingml/2006/main">
            <a:off x="514350" y="4867275"/>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C94E4E"/>
                </a:solidFill>
                <a:latin typeface="Arial"/>
                <a:ea typeface="Arial"/>
                <a:cs typeface="Arial"/>
              </a:defRPr>
            </a:pPr>
            <a:r>
              <a:rPr sz="975" b="1" i="0">
                <a:solidFill>
                  <a:srgbClr val="C94E4E"/>
                </a:solidFill>
                <a:latin typeface="Arial"/>
                <a:ea typeface="Arial"/>
                <a:cs typeface="Arial"/>
              </a:rPr>
              <a:t>PS4</a:t>
            </a:r>
          </a:p>
        </p:txBody>
      </p:sp>
      <p:sp>
        <p:nvSpPr>
          <p:cNvPr id="21" name="">
            <a:extLst xmlns:a="http://schemas.openxmlformats.org/drawingml/2006/main">
              <a:ext uri="{FF2B5EF4-FFF2-40B4-BE49-F238E27FC236}">
                <a16:creationId xmlns:a16="http://schemas.microsoft.com/office/drawing/2014/main" id="{36EB7218-2E05-4605-9DF8-F5F6C4985A7C}"/>
              </a:ext>
            </a:extLst>
          </p:cNvPr>
          <p:cNvSpPr>
            <a:spLocks xmlns:a="http://schemas.openxmlformats.org/drawingml/2006/main" noGrp="1"/>
          </p:cNvSpPr>
          <p:nvPr/>
        </p:nvSpPr>
        <p:spPr>
          <a:xfrm xmlns:a="http://schemas.openxmlformats.org/drawingml/2006/main">
            <a:off x="1466850" y="47815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Variant enriched in affected individuals</a:t>
            </a:r>
          </a:p>
        </p:txBody>
      </p:sp>
      <p:sp>
        <p:nvSpPr>
          <p:cNvPr id="22" name="">
            <a:extLst xmlns:a="http://schemas.openxmlformats.org/drawingml/2006/main">
              <a:ext uri="{FF2B5EF4-FFF2-40B4-BE49-F238E27FC236}">
                <a16:creationId xmlns:a16="http://schemas.microsoft.com/office/drawing/2014/main" id="{34DE9690-9DB6-4721-86C3-6BFCDBA48434}"/>
              </a:ext>
            </a:extLst>
          </p:cNvPr>
          <p:cNvSpPr>
            <a:spLocks xmlns:a="http://schemas.openxmlformats.org/drawingml/2006/main" noGrp="1"/>
          </p:cNvSpPr>
          <p:nvPr/>
        </p:nvSpPr>
        <p:spPr>
          <a:xfrm xmlns:a="http://schemas.openxmlformats.org/drawingml/2006/main">
            <a:off x="6705600" y="47815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536273"/>
                </a:solidFill>
                <a:latin typeface="Arial"/>
                <a:ea typeface="Arial"/>
                <a:cs typeface="Arial"/>
              </a:defRPr>
            </a:pPr>
            <a:r>
              <a:rPr sz="1275" b="0" i="0">
                <a:solidFill>
                  <a:srgbClr val="536273"/>
                </a:solidFill>
                <a:latin typeface="Arial"/>
                <a:ea typeface="Arial"/>
                <a:cs typeface="Arial"/>
              </a:rPr>
              <a:t>Case–control or multiple convincing affected observations.</a:t>
            </a:r>
          </a:p>
        </p:txBody>
      </p:sp>
      <p:cxnSp>
        <p:nvCxnSpPr>
          <p:cNvPr id="48" name=""/>
          <p:cNvCxnSpPr/>
          <p:nvPr/>
        </p:nvCxnSpPr>
        <p:spPr>
          <a:xfrm xmlns:a="http://schemas.openxmlformats.org/drawingml/2006/main">
            <a:off x="514350" y="5486400"/>
            <a:ext cx="10725150" cy="0"/>
          </a:xfrm>
          <a:prstGeom xmlns:a="http://schemas.openxmlformats.org/drawingml/2006/main" prst="straightConnector1">
            <a:avLst/>
          </a:prstGeom>
          <a:ln xmlns:a="http://schemas.openxmlformats.org/drawingml/2006/main" w="9525">
            <a:solidFill>
              <a:srgbClr val="D6DEE7"/>
            </a:solidFill>
            <a:prstDash val="solid"/>
          </a:ln>
        </p:spPr>
      </p:cxnSp>
      <p:sp>
        <p:nvSpPr>
          <p:cNvPr id="24" name="">
            <a:extLst xmlns:a="http://schemas.openxmlformats.org/drawingml/2006/main">
              <a:ext uri="{FF2B5EF4-FFF2-40B4-BE49-F238E27FC236}">
                <a16:creationId xmlns:a16="http://schemas.microsoft.com/office/drawing/2014/main" id="{FCD3CA75-CD9C-4133-90B1-69155C0FD6E6}"/>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ClinGen criteria-specific guidance</a:t>
            </a:r>
          </a:p>
        </p:txBody>
      </p:sp>
      <p:sp>
        <p:nvSpPr>
          <p:cNvPr id="25" name="">
            <a:extLst xmlns:a="http://schemas.openxmlformats.org/drawingml/2006/main">
              <a:ext uri="{FF2B5EF4-FFF2-40B4-BE49-F238E27FC236}">
                <a16:creationId xmlns:a16="http://schemas.microsoft.com/office/drawing/2014/main" id="{712371F8-9C09-4BE3-806D-79E3ABA6F9DA}"/>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29</a:t>
            </a:r>
          </a:p>
        </p:txBody>
      </p:sp>
    </p:spTree>
    <p:extLst>
      <p:ext uri="{BB962C8B-B14F-4D97-AF65-F5344CB8AC3E}">
        <p14:creationId xmlns:p14="http://schemas.microsoft.com/office/powerpoint/2010/main" val="156592308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4056DB-75D2-4183-AA7F-4F0DBC7A9E0B}"/>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PM1–PM6</a:t>
            </a:r>
          </a:p>
        </p:txBody>
      </p:sp>
      <p:sp>
        <p:nvSpPr>
          <p:cNvPr id="2" name="">
            <a:extLst xmlns:a="http://schemas.openxmlformats.org/drawingml/2006/main">
              <a:ext uri="{FF2B5EF4-FFF2-40B4-BE49-F238E27FC236}">
                <a16:creationId xmlns:a16="http://schemas.microsoft.com/office/drawing/2014/main" id="{BD2F5AEA-0447-44E7-AA52-BA1F2D85CB1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Moderate evidence connects rarity, mechanism and inheritance</a:t>
            </a:r>
          </a:p>
        </p:txBody>
      </p:sp>
      <p:cxnSp>
        <p:nvCxnSpPr>
          <p:cNvPr id="3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69261846-791D-449F-8460-39A35C3E7774}"/>
              </a:ext>
            </a:extLst>
          </p:cNvPr>
          <p:cNvSpPr>
            <a:spLocks xmlns:a="http://schemas.openxmlformats.org/drawingml/2006/main" noGrp="1"/>
          </p:cNvSpPr>
          <p:nvPr/>
        </p:nvSpPr>
        <p:spPr>
          <a:xfrm xmlns:a="http://schemas.openxmlformats.org/drawingml/2006/main">
            <a:off x="495300" y="1619250"/>
            <a:ext cx="542925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5" name="">
            <a:extLst xmlns:a="http://schemas.openxmlformats.org/drawingml/2006/main">
              <a:ext uri="{FF2B5EF4-FFF2-40B4-BE49-F238E27FC236}">
                <a16:creationId xmlns:a16="http://schemas.microsoft.com/office/drawing/2014/main" id="{E1B95464-104E-4464-BE60-EC00AE6B5BEE}"/>
              </a:ext>
            </a:extLst>
          </p:cNvPr>
          <p:cNvSpPr>
            <a:spLocks xmlns:a="http://schemas.openxmlformats.org/drawingml/2006/main" noGrp="1"/>
          </p:cNvSpPr>
          <p:nvPr/>
        </p:nvSpPr>
        <p:spPr>
          <a:xfrm xmlns:a="http://schemas.openxmlformats.org/drawingml/2006/main">
            <a:off x="666750" y="1790700"/>
            <a:ext cx="8001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CFCA934-D02F-4E50-B20F-8DFCDA8D138E}"/>
              </a:ext>
            </a:extLst>
          </p:cNvPr>
          <p:cNvSpPr>
            <a:spLocks xmlns:a="http://schemas.openxmlformats.org/drawingml/2006/main" noGrp="1"/>
          </p:cNvSpPr>
          <p:nvPr/>
        </p:nvSpPr>
        <p:spPr>
          <a:xfrm xmlns:a="http://schemas.openxmlformats.org/drawingml/2006/main">
            <a:off x="666750" y="185737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PM1</a:t>
            </a:r>
          </a:p>
        </p:txBody>
      </p:sp>
      <p:sp>
        <p:nvSpPr>
          <p:cNvPr id="7" name="">
            <a:extLst xmlns:a="http://schemas.openxmlformats.org/drawingml/2006/main">
              <a:ext uri="{FF2B5EF4-FFF2-40B4-BE49-F238E27FC236}">
                <a16:creationId xmlns:a16="http://schemas.microsoft.com/office/drawing/2014/main" id="{8FA43D35-AFAE-4F6C-8239-E56A5E7AE2FE}"/>
              </a:ext>
            </a:extLst>
          </p:cNvPr>
          <p:cNvSpPr>
            <a:spLocks xmlns:a="http://schemas.openxmlformats.org/drawingml/2006/main" noGrp="1"/>
          </p:cNvSpPr>
          <p:nvPr/>
        </p:nvSpPr>
        <p:spPr>
          <a:xfrm xmlns:a="http://schemas.openxmlformats.org/drawingml/2006/main">
            <a:off x="1657350" y="181927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Hot spot / critical functional domain</a:t>
            </a:r>
          </a:p>
        </p:txBody>
      </p:sp>
      <p:sp>
        <p:nvSpPr>
          <p:cNvPr id="8" name="">
            <a:extLst xmlns:a="http://schemas.openxmlformats.org/drawingml/2006/main">
              <a:ext uri="{FF2B5EF4-FFF2-40B4-BE49-F238E27FC236}">
                <a16:creationId xmlns:a16="http://schemas.microsoft.com/office/drawing/2014/main" id="{634401B3-1B88-4A28-BEE7-34BA2DFEC47E}"/>
              </a:ext>
            </a:extLst>
          </p:cNvPr>
          <p:cNvSpPr>
            <a:spLocks xmlns:a="http://schemas.openxmlformats.org/drawingml/2006/main" noGrp="1"/>
          </p:cNvSpPr>
          <p:nvPr/>
        </p:nvSpPr>
        <p:spPr>
          <a:xfrm xmlns:a="http://schemas.openxmlformats.org/drawingml/2006/main">
            <a:off x="6248400" y="1619250"/>
            <a:ext cx="542925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9" name="">
            <a:extLst xmlns:a="http://schemas.openxmlformats.org/drawingml/2006/main">
              <a:ext uri="{FF2B5EF4-FFF2-40B4-BE49-F238E27FC236}">
                <a16:creationId xmlns:a16="http://schemas.microsoft.com/office/drawing/2014/main" id="{04CB9D9B-C3EF-41AA-A89B-2B88DD020DCC}"/>
              </a:ext>
            </a:extLst>
          </p:cNvPr>
          <p:cNvSpPr>
            <a:spLocks xmlns:a="http://schemas.openxmlformats.org/drawingml/2006/main" noGrp="1"/>
          </p:cNvSpPr>
          <p:nvPr/>
        </p:nvSpPr>
        <p:spPr>
          <a:xfrm xmlns:a="http://schemas.openxmlformats.org/drawingml/2006/main">
            <a:off x="6419850" y="1790700"/>
            <a:ext cx="8001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D7EE1537-F58F-4700-B8C5-D4A48E21F782}"/>
              </a:ext>
            </a:extLst>
          </p:cNvPr>
          <p:cNvSpPr>
            <a:spLocks xmlns:a="http://schemas.openxmlformats.org/drawingml/2006/main" noGrp="1"/>
          </p:cNvSpPr>
          <p:nvPr/>
        </p:nvSpPr>
        <p:spPr>
          <a:xfrm xmlns:a="http://schemas.openxmlformats.org/drawingml/2006/main">
            <a:off x="6419850" y="185737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PM2</a:t>
            </a:r>
          </a:p>
        </p:txBody>
      </p:sp>
      <p:sp>
        <p:nvSpPr>
          <p:cNvPr id="11" name="">
            <a:extLst xmlns:a="http://schemas.openxmlformats.org/drawingml/2006/main">
              <a:ext uri="{FF2B5EF4-FFF2-40B4-BE49-F238E27FC236}">
                <a16:creationId xmlns:a16="http://schemas.microsoft.com/office/drawing/2014/main" id="{32A1CEE1-5DC1-4504-8DF6-2C541D056C8D}"/>
              </a:ext>
            </a:extLst>
          </p:cNvPr>
          <p:cNvSpPr>
            <a:spLocks xmlns:a="http://schemas.openxmlformats.org/drawingml/2006/main" noGrp="1"/>
          </p:cNvSpPr>
          <p:nvPr/>
        </p:nvSpPr>
        <p:spPr>
          <a:xfrm xmlns:a="http://schemas.openxmlformats.org/drawingml/2006/main">
            <a:off x="7410450" y="181927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Absent or extremely rare in population data</a:t>
            </a:r>
          </a:p>
        </p:txBody>
      </p:sp>
      <p:sp>
        <p:nvSpPr>
          <p:cNvPr id="12" name="">
            <a:extLst xmlns:a="http://schemas.openxmlformats.org/drawingml/2006/main">
              <a:ext uri="{FF2B5EF4-FFF2-40B4-BE49-F238E27FC236}">
                <a16:creationId xmlns:a16="http://schemas.microsoft.com/office/drawing/2014/main" id="{0882ED0B-0A39-4592-92FF-DD3C592AE9CA}"/>
              </a:ext>
            </a:extLst>
          </p:cNvPr>
          <p:cNvSpPr>
            <a:spLocks xmlns:a="http://schemas.openxmlformats.org/drawingml/2006/main" noGrp="1"/>
          </p:cNvSpPr>
          <p:nvPr/>
        </p:nvSpPr>
        <p:spPr>
          <a:xfrm xmlns:a="http://schemas.openxmlformats.org/drawingml/2006/main">
            <a:off x="495300" y="2895600"/>
            <a:ext cx="542925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13" name="">
            <a:extLst xmlns:a="http://schemas.openxmlformats.org/drawingml/2006/main">
              <a:ext uri="{FF2B5EF4-FFF2-40B4-BE49-F238E27FC236}">
                <a16:creationId xmlns:a16="http://schemas.microsoft.com/office/drawing/2014/main" id="{0E6B9230-D6BA-40A2-B30B-41EAABA60536}"/>
              </a:ext>
            </a:extLst>
          </p:cNvPr>
          <p:cNvSpPr>
            <a:spLocks xmlns:a="http://schemas.openxmlformats.org/drawingml/2006/main" noGrp="1"/>
          </p:cNvSpPr>
          <p:nvPr/>
        </p:nvSpPr>
        <p:spPr>
          <a:xfrm xmlns:a="http://schemas.openxmlformats.org/drawingml/2006/main">
            <a:off x="666750" y="3067050"/>
            <a:ext cx="8001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E075FDA7-987C-4983-B344-28FD3A9033E1}"/>
              </a:ext>
            </a:extLst>
          </p:cNvPr>
          <p:cNvSpPr>
            <a:spLocks xmlns:a="http://schemas.openxmlformats.org/drawingml/2006/main" noGrp="1"/>
          </p:cNvSpPr>
          <p:nvPr/>
        </p:nvSpPr>
        <p:spPr>
          <a:xfrm xmlns:a="http://schemas.openxmlformats.org/drawingml/2006/main">
            <a:off x="666750" y="313372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PM3</a:t>
            </a:r>
          </a:p>
        </p:txBody>
      </p:sp>
      <p:sp>
        <p:nvSpPr>
          <p:cNvPr id="15" name="">
            <a:extLst xmlns:a="http://schemas.openxmlformats.org/drawingml/2006/main">
              <a:ext uri="{FF2B5EF4-FFF2-40B4-BE49-F238E27FC236}">
                <a16:creationId xmlns:a16="http://schemas.microsoft.com/office/drawing/2014/main" id="{09E8E7DC-6EBE-4C52-BD84-D9B0D10F82E0}"/>
              </a:ext>
            </a:extLst>
          </p:cNvPr>
          <p:cNvSpPr>
            <a:spLocks xmlns:a="http://schemas.openxmlformats.org/drawingml/2006/main" noGrp="1"/>
          </p:cNvSpPr>
          <p:nvPr/>
        </p:nvSpPr>
        <p:spPr>
          <a:xfrm xmlns:a="http://schemas.openxmlformats.org/drawingml/2006/main">
            <a:off x="1657350" y="30956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In trans with a pathogenic variant in recessive disease</a:t>
            </a:r>
          </a:p>
        </p:txBody>
      </p:sp>
      <p:sp>
        <p:nvSpPr>
          <p:cNvPr id="16" name="">
            <a:extLst xmlns:a="http://schemas.openxmlformats.org/drawingml/2006/main">
              <a:ext uri="{FF2B5EF4-FFF2-40B4-BE49-F238E27FC236}">
                <a16:creationId xmlns:a16="http://schemas.microsoft.com/office/drawing/2014/main" id="{39DC03AA-D09F-42D6-BCEC-05D103934041}"/>
              </a:ext>
            </a:extLst>
          </p:cNvPr>
          <p:cNvSpPr>
            <a:spLocks xmlns:a="http://schemas.openxmlformats.org/drawingml/2006/main" noGrp="1"/>
          </p:cNvSpPr>
          <p:nvPr/>
        </p:nvSpPr>
        <p:spPr>
          <a:xfrm xmlns:a="http://schemas.openxmlformats.org/drawingml/2006/main">
            <a:off x="6248400" y="2895600"/>
            <a:ext cx="542925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17" name="">
            <a:extLst xmlns:a="http://schemas.openxmlformats.org/drawingml/2006/main">
              <a:ext uri="{FF2B5EF4-FFF2-40B4-BE49-F238E27FC236}">
                <a16:creationId xmlns:a16="http://schemas.microsoft.com/office/drawing/2014/main" id="{7F0DAFFA-0864-49E4-8FA8-D43EED695DA0}"/>
              </a:ext>
            </a:extLst>
          </p:cNvPr>
          <p:cNvSpPr>
            <a:spLocks xmlns:a="http://schemas.openxmlformats.org/drawingml/2006/main" noGrp="1"/>
          </p:cNvSpPr>
          <p:nvPr/>
        </p:nvSpPr>
        <p:spPr>
          <a:xfrm xmlns:a="http://schemas.openxmlformats.org/drawingml/2006/main">
            <a:off x="6419850" y="3067050"/>
            <a:ext cx="8001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06593BA7-DCA5-48B5-9196-C9A2333C4501}"/>
              </a:ext>
            </a:extLst>
          </p:cNvPr>
          <p:cNvSpPr>
            <a:spLocks xmlns:a="http://schemas.openxmlformats.org/drawingml/2006/main" noGrp="1"/>
          </p:cNvSpPr>
          <p:nvPr/>
        </p:nvSpPr>
        <p:spPr>
          <a:xfrm xmlns:a="http://schemas.openxmlformats.org/drawingml/2006/main">
            <a:off x="6419850" y="313372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PM4</a:t>
            </a:r>
          </a:p>
        </p:txBody>
      </p:sp>
      <p:sp>
        <p:nvSpPr>
          <p:cNvPr id="19" name="">
            <a:extLst xmlns:a="http://schemas.openxmlformats.org/drawingml/2006/main">
              <a:ext uri="{FF2B5EF4-FFF2-40B4-BE49-F238E27FC236}">
                <a16:creationId xmlns:a16="http://schemas.microsoft.com/office/drawing/2014/main" id="{71986AFC-75D8-4967-BB7F-9298C4EA9715}"/>
              </a:ext>
            </a:extLst>
          </p:cNvPr>
          <p:cNvSpPr>
            <a:spLocks xmlns:a="http://schemas.openxmlformats.org/drawingml/2006/main" noGrp="1"/>
          </p:cNvSpPr>
          <p:nvPr/>
        </p:nvSpPr>
        <p:spPr>
          <a:xfrm xmlns:a="http://schemas.openxmlformats.org/drawingml/2006/main">
            <a:off x="7410450" y="309562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Protein-length change or stop-loss</a:t>
            </a:r>
          </a:p>
        </p:txBody>
      </p:sp>
      <p:sp>
        <p:nvSpPr>
          <p:cNvPr id="20" name="">
            <a:extLst xmlns:a="http://schemas.openxmlformats.org/drawingml/2006/main">
              <a:ext uri="{FF2B5EF4-FFF2-40B4-BE49-F238E27FC236}">
                <a16:creationId xmlns:a16="http://schemas.microsoft.com/office/drawing/2014/main" id="{697668B0-41FE-440F-9FE8-5BAD9D52BF64}"/>
              </a:ext>
            </a:extLst>
          </p:cNvPr>
          <p:cNvSpPr>
            <a:spLocks xmlns:a="http://schemas.openxmlformats.org/drawingml/2006/main" noGrp="1"/>
          </p:cNvSpPr>
          <p:nvPr/>
        </p:nvSpPr>
        <p:spPr>
          <a:xfrm xmlns:a="http://schemas.openxmlformats.org/drawingml/2006/main">
            <a:off x="495300" y="4171950"/>
            <a:ext cx="542925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21" name="">
            <a:extLst xmlns:a="http://schemas.openxmlformats.org/drawingml/2006/main">
              <a:ext uri="{FF2B5EF4-FFF2-40B4-BE49-F238E27FC236}">
                <a16:creationId xmlns:a16="http://schemas.microsoft.com/office/drawing/2014/main" id="{6709F00E-5A7F-433E-8581-D75761FEC730}"/>
              </a:ext>
            </a:extLst>
          </p:cNvPr>
          <p:cNvSpPr>
            <a:spLocks xmlns:a="http://schemas.openxmlformats.org/drawingml/2006/main" noGrp="1"/>
          </p:cNvSpPr>
          <p:nvPr/>
        </p:nvSpPr>
        <p:spPr>
          <a:xfrm xmlns:a="http://schemas.openxmlformats.org/drawingml/2006/main">
            <a:off x="666750" y="4343400"/>
            <a:ext cx="8001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solidFill>
              <a:srgbClr val="FFFFFF"/>
            </a:solidFill>
            <a:prstDash val="solid"/>
          </a:ln>
        </p:spPr>
      </p:sp>
      <p:sp>
        <p:nvSpPr>
          <p:cNvPr id="22" name="">
            <a:extLst xmlns:a="http://schemas.openxmlformats.org/drawingml/2006/main">
              <a:ext uri="{FF2B5EF4-FFF2-40B4-BE49-F238E27FC236}">
                <a16:creationId xmlns:a16="http://schemas.microsoft.com/office/drawing/2014/main" id="{98CA4B10-A8FC-4FE7-9B25-DC6AD08179DC}"/>
              </a:ext>
            </a:extLst>
          </p:cNvPr>
          <p:cNvSpPr>
            <a:spLocks xmlns:a="http://schemas.openxmlformats.org/drawingml/2006/main" noGrp="1"/>
          </p:cNvSpPr>
          <p:nvPr/>
        </p:nvSpPr>
        <p:spPr>
          <a:xfrm xmlns:a="http://schemas.openxmlformats.org/drawingml/2006/main">
            <a:off x="666750" y="441007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PM5</a:t>
            </a:r>
          </a:p>
        </p:txBody>
      </p:sp>
      <p:sp>
        <p:nvSpPr>
          <p:cNvPr id="23" name="">
            <a:extLst xmlns:a="http://schemas.openxmlformats.org/drawingml/2006/main">
              <a:ext uri="{FF2B5EF4-FFF2-40B4-BE49-F238E27FC236}">
                <a16:creationId xmlns:a16="http://schemas.microsoft.com/office/drawing/2014/main" id="{B545B1A5-0649-448A-B98C-4526306E6953}"/>
              </a:ext>
            </a:extLst>
          </p:cNvPr>
          <p:cNvSpPr>
            <a:spLocks xmlns:a="http://schemas.openxmlformats.org/drawingml/2006/main" noGrp="1"/>
          </p:cNvSpPr>
          <p:nvPr/>
        </p:nvSpPr>
        <p:spPr>
          <a:xfrm xmlns:a="http://schemas.openxmlformats.org/drawingml/2006/main">
            <a:off x="1657350" y="437197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Different pathogenic missense change at same residue</a:t>
            </a:r>
          </a:p>
        </p:txBody>
      </p:sp>
      <p:sp>
        <p:nvSpPr>
          <p:cNvPr id="24" name="">
            <a:extLst xmlns:a="http://schemas.openxmlformats.org/drawingml/2006/main">
              <a:ext uri="{FF2B5EF4-FFF2-40B4-BE49-F238E27FC236}">
                <a16:creationId xmlns:a16="http://schemas.microsoft.com/office/drawing/2014/main" id="{A3D65893-7495-4EB1-BB21-7B70289111B8}"/>
              </a:ext>
            </a:extLst>
          </p:cNvPr>
          <p:cNvSpPr>
            <a:spLocks xmlns:a="http://schemas.openxmlformats.org/drawingml/2006/main" noGrp="1"/>
          </p:cNvSpPr>
          <p:nvPr/>
        </p:nvSpPr>
        <p:spPr>
          <a:xfrm xmlns:a="http://schemas.openxmlformats.org/drawingml/2006/main">
            <a:off x="6248400" y="4171950"/>
            <a:ext cx="5429250" cy="1009650"/>
          </a:xfrm>
          <a:prstGeom xmlns:a="http://schemas.openxmlformats.org/drawingml/2006/main" prst="roundRect">
            <a:avLst>
              <a:gd name="adj" fmla="val 7547"/>
            </a:avLst>
          </a:prstGeom>
          <a:solidFill xmlns:a="http://schemas.openxmlformats.org/drawingml/2006/main">
            <a:srgbClr val="FFF1CF"/>
          </a:solidFill>
          <a:ln xmlns:a="http://schemas.openxmlformats.org/drawingml/2006/main" w="0">
            <a:solidFill>
              <a:srgbClr val="FFF1CF"/>
            </a:solidFill>
            <a:prstDash val="solid"/>
          </a:ln>
        </p:spPr>
      </p:sp>
      <p:sp>
        <p:nvSpPr>
          <p:cNvPr id="25" name="">
            <a:extLst xmlns:a="http://schemas.openxmlformats.org/drawingml/2006/main">
              <a:ext uri="{FF2B5EF4-FFF2-40B4-BE49-F238E27FC236}">
                <a16:creationId xmlns:a16="http://schemas.microsoft.com/office/drawing/2014/main" id="{60C5C113-5E33-4226-9F7F-DF9433B23A91}"/>
              </a:ext>
            </a:extLst>
          </p:cNvPr>
          <p:cNvSpPr>
            <a:spLocks xmlns:a="http://schemas.openxmlformats.org/drawingml/2006/main" noGrp="1"/>
          </p:cNvSpPr>
          <p:nvPr/>
        </p:nvSpPr>
        <p:spPr>
          <a:xfrm xmlns:a="http://schemas.openxmlformats.org/drawingml/2006/main">
            <a:off x="6419850" y="4343400"/>
            <a:ext cx="8001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179229EE-AC4D-42BB-8C4E-63CE25EF5A83}"/>
              </a:ext>
            </a:extLst>
          </p:cNvPr>
          <p:cNvSpPr>
            <a:spLocks xmlns:a="http://schemas.openxmlformats.org/drawingml/2006/main" noGrp="1"/>
          </p:cNvSpPr>
          <p:nvPr/>
        </p:nvSpPr>
        <p:spPr>
          <a:xfrm xmlns:a="http://schemas.openxmlformats.org/drawingml/2006/main">
            <a:off x="6419850" y="4410075"/>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PM6</a:t>
            </a:r>
          </a:p>
        </p:txBody>
      </p:sp>
      <p:sp>
        <p:nvSpPr>
          <p:cNvPr id="27" name="">
            <a:extLst xmlns:a="http://schemas.openxmlformats.org/drawingml/2006/main">
              <a:ext uri="{FF2B5EF4-FFF2-40B4-BE49-F238E27FC236}">
                <a16:creationId xmlns:a16="http://schemas.microsoft.com/office/drawing/2014/main" id="{80D8E0D4-5FBC-4AC0-88B9-870C0885012E}"/>
              </a:ext>
            </a:extLst>
          </p:cNvPr>
          <p:cNvSpPr>
            <a:spLocks xmlns:a="http://schemas.openxmlformats.org/drawingml/2006/main" noGrp="1"/>
          </p:cNvSpPr>
          <p:nvPr/>
        </p:nvSpPr>
        <p:spPr>
          <a:xfrm xmlns:a="http://schemas.openxmlformats.org/drawingml/2006/main">
            <a:off x="7410450" y="4371975"/>
            <a:ext cx="3981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Assumed de novo without confirmed parentage</a:t>
            </a:r>
          </a:p>
        </p:txBody>
      </p:sp>
      <p:sp>
        <p:nvSpPr>
          <p:cNvPr id="28" name="">
            <a:extLst xmlns:a="http://schemas.openxmlformats.org/drawingml/2006/main">
              <a:ext uri="{FF2B5EF4-FFF2-40B4-BE49-F238E27FC236}">
                <a16:creationId xmlns:a16="http://schemas.microsoft.com/office/drawing/2014/main" id="{592C2FD5-BD8B-446D-A0C6-5DF8995DBE6F}"/>
              </a:ext>
            </a:extLst>
          </p:cNvPr>
          <p:cNvSpPr>
            <a:spLocks xmlns:a="http://schemas.openxmlformats.org/drawingml/2006/main" noGrp="1"/>
          </p:cNvSpPr>
          <p:nvPr/>
        </p:nvSpPr>
        <p:spPr>
          <a:xfrm xmlns:a="http://schemas.openxmlformats.org/drawingml/2006/main">
            <a:off x="1562100" y="5638800"/>
            <a:ext cx="906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C94E4E"/>
                </a:solidFill>
                <a:latin typeface="Arial"/>
                <a:ea typeface="Arial"/>
                <a:cs typeface="Arial"/>
              </a:defRPr>
            </a:pPr>
            <a:r>
              <a:rPr sz="1350" b="1" i="0">
                <a:solidFill>
                  <a:srgbClr val="C94E4E"/>
                </a:solidFill>
                <a:latin typeface="Arial"/>
                <a:ea typeface="Arial"/>
                <a:cs typeface="Arial"/>
              </a:rPr>
              <a:t>Current note: ClinGen commonly applies PM2 at supporting strength—not moderate by default.</a:t>
            </a:r>
          </a:p>
        </p:txBody>
      </p:sp>
      <p:sp>
        <p:nvSpPr>
          <p:cNvPr id="29" name="">
            <a:extLst xmlns:a="http://schemas.openxmlformats.org/drawingml/2006/main">
              <a:ext uri="{FF2B5EF4-FFF2-40B4-BE49-F238E27FC236}">
                <a16:creationId xmlns:a16="http://schemas.microsoft.com/office/drawing/2014/main" id="{E31FC5A7-0909-426F-9D7F-CB44D8E1D260}"/>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ClinGen Variant Classification Guidance</a:t>
            </a:r>
          </a:p>
        </p:txBody>
      </p:sp>
      <p:sp>
        <p:nvSpPr>
          <p:cNvPr id="30" name="">
            <a:extLst xmlns:a="http://schemas.openxmlformats.org/drawingml/2006/main">
              <a:ext uri="{FF2B5EF4-FFF2-40B4-BE49-F238E27FC236}">
                <a16:creationId xmlns:a16="http://schemas.microsoft.com/office/drawing/2014/main" id="{C5047D52-A3D1-4153-A8D3-F48BEB474D3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30</a:t>
            </a:r>
          </a:p>
        </p:txBody>
      </p:sp>
    </p:spTree>
    <p:extLst>
      <p:ext uri="{BB962C8B-B14F-4D97-AF65-F5344CB8AC3E}">
        <p14:creationId xmlns:p14="http://schemas.microsoft.com/office/powerpoint/2010/main" val="113663371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0E9CB3-31A0-460E-AAF9-522500450A61}"/>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PP1–PP5</a:t>
            </a:r>
          </a:p>
        </p:txBody>
      </p:sp>
      <p:sp>
        <p:nvSpPr>
          <p:cNvPr id="2" name="">
            <a:extLst xmlns:a="http://schemas.openxmlformats.org/drawingml/2006/main">
              <a:ext uri="{FF2B5EF4-FFF2-40B4-BE49-F238E27FC236}">
                <a16:creationId xmlns:a16="http://schemas.microsoft.com/office/drawing/2014/main" id="{3A029699-3DC1-4687-B5E7-0C38F21BA854}"/>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36"/>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Supporting evidence adds context—but rarely settles the case alone</a:t>
            </a:r>
          </a:p>
        </p:txBody>
      </p:sp>
      <p:cxnSp>
        <p:nvCxnSpPr>
          <p:cNvPr id="29"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1BF39D91-1C9C-434F-BF1E-C9EAA6275F4D}"/>
              </a:ext>
            </a:extLst>
          </p:cNvPr>
          <p:cNvSpPr>
            <a:spLocks xmlns:a="http://schemas.openxmlformats.org/drawingml/2006/main" noGrp="1"/>
          </p:cNvSpPr>
          <p:nvPr/>
        </p:nvSpPr>
        <p:spPr>
          <a:xfrm xmlns:a="http://schemas.openxmlformats.org/drawingml/2006/main">
            <a:off x="552450" y="1581150"/>
            <a:ext cx="762000" cy="323850"/>
          </a:xfrm>
          <a:prstGeom xmlns:a="http://schemas.openxmlformats.org/drawingml/2006/main" prst="roundRect">
            <a:avLst>
              <a:gd name="adj" fmla="val 23529"/>
            </a:avLst>
          </a:prstGeom>
          <a:solidFill xmlns:a="http://schemas.openxmlformats.org/drawingml/2006/main">
            <a:srgbClr val="EEE8FB"/>
          </a:solidFill>
          <a:ln xmlns:a="http://schemas.openxmlformats.org/drawingml/2006/main" w="0">
            <a:solidFill>
              <a:srgbClr val="EEE8FB"/>
            </a:solidFill>
            <a:prstDash val="solid"/>
          </a:ln>
        </p:spPr>
      </p:sp>
      <p:sp>
        <p:nvSpPr>
          <p:cNvPr id="5" name="">
            <a:extLst xmlns:a="http://schemas.openxmlformats.org/drawingml/2006/main">
              <a:ext uri="{FF2B5EF4-FFF2-40B4-BE49-F238E27FC236}">
                <a16:creationId xmlns:a16="http://schemas.microsoft.com/office/drawing/2014/main" id="{419E2073-D3C3-42C8-8392-857515C58516}"/>
              </a:ext>
            </a:extLst>
          </p:cNvPr>
          <p:cNvSpPr>
            <a:spLocks xmlns:a="http://schemas.openxmlformats.org/drawingml/2006/main" noGrp="1"/>
          </p:cNvSpPr>
          <p:nvPr/>
        </p:nvSpPr>
        <p:spPr>
          <a:xfrm xmlns:a="http://schemas.openxmlformats.org/drawingml/2006/main">
            <a:off x="552450" y="16478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PP1</a:t>
            </a:r>
          </a:p>
        </p:txBody>
      </p:sp>
      <p:sp>
        <p:nvSpPr>
          <p:cNvPr id="6" name="">
            <a:extLst xmlns:a="http://schemas.openxmlformats.org/drawingml/2006/main">
              <a:ext uri="{FF2B5EF4-FFF2-40B4-BE49-F238E27FC236}">
                <a16:creationId xmlns:a16="http://schemas.microsoft.com/office/drawing/2014/main" id="{F7B3A349-45A3-4A29-B606-DE432944D185}"/>
              </a:ext>
            </a:extLst>
          </p:cNvPr>
          <p:cNvSpPr>
            <a:spLocks xmlns:a="http://schemas.openxmlformats.org/drawingml/2006/main" noGrp="1"/>
          </p:cNvSpPr>
          <p:nvPr/>
        </p:nvSpPr>
        <p:spPr>
          <a:xfrm xmlns:a="http://schemas.openxmlformats.org/drawingml/2006/main">
            <a:off x="1600200" y="1619250"/>
            <a:ext cx="893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Cosegregation with disease</a:t>
            </a:r>
          </a:p>
        </p:txBody>
      </p:sp>
      <p:cxnSp>
        <p:nvCxnSpPr>
          <p:cNvPr id="33" name=""/>
          <p:cNvCxnSpPr/>
          <p:nvPr/>
        </p:nvCxnSpPr>
        <p:spPr>
          <a:xfrm xmlns:a="http://schemas.openxmlformats.org/drawingml/2006/main">
            <a:off x="552450" y="2162175"/>
            <a:ext cx="10191750" cy="0"/>
          </a:xfrm>
          <a:prstGeom xmlns:a="http://schemas.openxmlformats.org/drawingml/2006/main" prst="straightConnector1">
            <a:avLst/>
          </a:prstGeom>
          <a:ln xmlns:a="http://schemas.openxmlformats.org/drawingml/2006/main" w="9525">
            <a:solidFill>
              <a:srgbClr val="D6DEE7"/>
            </a:solidFill>
            <a:prstDash val="solid"/>
          </a:ln>
        </p:spPr>
      </p:cxnSp>
      <p:sp>
        <p:nvSpPr>
          <p:cNvPr id="8" name="">
            <a:extLst xmlns:a="http://schemas.openxmlformats.org/drawingml/2006/main">
              <a:ext uri="{FF2B5EF4-FFF2-40B4-BE49-F238E27FC236}">
                <a16:creationId xmlns:a16="http://schemas.microsoft.com/office/drawing/2014/main" id="{EDC2B014-4B75-4EEF-8A84-A52497A9F822}"/>
              </a:ext>
            </a:extLst>
          </p:cNvPr>
          <p:cNvSpPr>
            <a:spLocks xmlns:a="http://schemas.openxmlformats.org/drawingml/2006/main" noGrp="1"/>
          </p:cNvSpPr>
          <p:nvPr/>
        </p:nvSpPr>
        <p:spPr>
          <a:xfrm xmlns:a="http://schemas.openxmlformats.org/drawingml/2006/main">
            <a:off x="552450" y="2381250"/>
            <a:ext cx="762000" cy="323850"/>
          </a:xfrm>
          <a:prstGeom xmlns:a="http://schemas.openxmlformats.org/drawingml/2006/main" prst="roundRect">
            <a:avLst>
              <a:gd name="adj" fmla="val 23529"/>
            </a:avLst>
          </a:prstGeom>
          <a:solidFill xmlns:a="http://schemas.openxmlformats.org/drawingml/2006/main">
            <a:srgbClr val="EEE8FB"/>
          </a:solidFill>
          <a:ln xmlns:a="http://schemas.openxmlformats.org/drawingml/2006/main" w="0">
            <a:solidFill>
              <a:srgbClr val="EEE8FB"/>
            </a:solidFill>
            <a:prstDash val="solid"/>
          </a:ln>
        </p:spPr>
      </p:sp>
      <p:sp>
        <p:nvSpPr>
          <p:cNvPr id="9" name="">
            <a:extLst xmlns:a="http://schemas.openxmlformats.org/drawingml/2006/main">
              <a:ext uri="{FF2B5EF4-FFF2-40B4-BE49-F238E27FC236}">
                <a16:creationId xmlns:a16="http://schemas.microsoft.com/office/drawing/2014/main" id="{4792F55B-5863-4C66-972C-91B7512973D0}"/>
              </a:ext>
            </a:extLst>
          </p:cNvPr>
          <p:cNvSpPr>
            <a:spLocks xmlns:a="http://schemas.openxmlformats.org/drawingml/2006/main" noGrp="1"/>
          </p:cNvSpPr>
          <p:nvPr/>
        </p:nvSpPr>
        <p:spPr>
          <a:xfrm xmlns:a="http://schemas.openxmlformats.org/drawingml/2006/main">
            <a:off x="552450" y="24479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PP2</a:t>
            </a:r>
          </a:p>
        </p:txBody>
      </p:sp>
      <p:sp>
        <p:nvSpPr>
          <p:cNvPr id="10" name="">
            <a:extLst xmlns:a="http://schemas.openxmlformats.org/drawingml/2006/main">
              <a:ext uri="{FF2B5EF4-FFF2-40B4-BE49-F238E27FC236}">
                <a16:creationId xmlns:a16="http://schemas.microsoft.com/office/drawing/2014/main" id="{4E90A6E6-D6D2-471D-8731-C4B4E9A31B81}"/>
              </a:ext>
            </a:extLst>
          </p:cNvPr>
          <p:cNvSpPr>
            <a:spLocks xmlns:a="http://schemas.openxmlformats.org/drawingml/2006/main" noGrp="1"/>
          </p:cNvSpPr>
          <p:nvPr/>
        </p:nvSpPr>
        <p:spPr>
          <a:xfrm xmlns:a="http://schemas.openxmlformats.org/drawingml/2006/main">
            <a:off x="1600200" y="2419350"/>
            <a:ext cx="893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Missense is a common disease mechanism in this gene</a:t>
            </a:r>
          </a:p>
        </p:txBody>
      </p:sp>
      <p:cxnSp>
        <p:nvCxnSpPr>
          <p:cNvPr id="37" name=""/>
          <p:cNvCxnSpPr/>
          <p:nvPr/>
        </p:nvCxnSpPr>
        <p:spPr>
          <a:xfrm xmlns:a="http://schemas.openxmlformats.org/drawingml/2006/main">
            <a:off x="552450" y="2962275"/>
            <a:ext cx="10191750" cy="0"/>
          </a:xfrm>
          <a:prstGeom xmlns:a="http://schemas.openxmlformats.org/drawingml/2006/main" prst="straightConnector1">
            <a:avLst/>
          </a:prstGeom>
          <a:ln xmlns:a="http://schemas.openxmlformats.org/drawingml/2006/main" w="9525">
            <a:solidFill>
              <a:srgbClr val="D6DEE7"/>
            </a:solidFill>
            <a:prstDash val="solid"/>
          </a:ln>
        </p:spPr>
      </p:cxnSp>
      <p:sp>
        <p:nvSpPr>
          <p:cNvPr id="12" name="">
            <a:extLst xmlns:a="http://schemas.openxmlformats.org/drawingml/2006/main">
              <a:ext uri="{FF2B5EF4-FFF2-40B4-BE49-F238E27FC236}">
                <a16:creationId xmlns:a16="http://schemas.microsoft.com/office/drawing/2014/main" id="{D99ABE50-7577-44A6-A385-DC58049FC157}"/>
              </a:ext>
            </a:extLst>
          </p:cNvPr>
          <p:cNvSpPr>
            <a:spLocks xmlns:a="http://schemas.openxmlformats.org/drawingml/2006/main" noGrp="1"/>
          </p:cNvSpPr>
          <p:nvPr/>
        </p:nvSpPr>
        <p:spPr>
          <a:xfrm xmlns:a="http://schemas.openxmlformats.org/drawingml/2006/main">
            <a:off x="552450" y="3181350"/>
            <a:ext cx="762000" cy="323850"/>
          </a:xfrm>
          <a:prstGeom xmlns:a="http://schemas.openxmlformats.org/drawingml/2006/main" prst="roundRect">
            <a:avLst>
              <a:gd name="adj" fmla="val 23529"/>
            </a:avLst>
          </a:prstGeom>
          <a:solidFill xmlns:a="http://schemas.openxmlformats.org/drawingml/2006/main">
            <a:srgbClr val="EEE8FB"/>
          </a:solidFill>
          <a:ln xmlns:a="http://schemas.openxmlformats.org/drawingml/2006/main" w="0">
            <a:solidFill>
              <a:srgbClr val="EEE8FB"/>
            </a:solidFill>
            <a:prstDash val="solid"/>
          </a:ln>
        </p:spPr>
      </p:sp>
      <p:sp>
        <p:nvSpPr>
          <p:cNvPr id="13" name="">
            <a:extLst xmlns:a="http://schemas.openxmlformats.org/drawingml/2006/main">
              <a:ext uri="{FF2B5EF4-FFF2-40B4-BE49-F238E27FC236}">
                <a16:creationId xmlns:a16="http://schemas.microsoft.com/office/drawing/2014/main" id="{05D25B06-DD2B-475F-842F-E9DD9FC93E9F}"/>
              </a:ext>
            </a:extLst>
          </p:cNvPr>
          <p:cNvSpPr>
            <a:spLocks xmlns:a="http://schemas.openxmlformats.org/drawingml/2006/main" noGrp="1"/>
          </p:cNvSpPr>
          <p:nvPr/>
        </p:nvSpPr>
        <p:spPr>
          <a:xfrm xmlns:a="http://schemas.openxmlformats.org/drawingml/2006/main">
            <a:off x="552450" y="32480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PP3</a:t>
            </a:r>
          </a:p>
        </p:txBody>
      </p:sp>
      <p:sp>
        <p:nvSpPr>
          <p:cNvPr id="14" name="">
            <a:extLst xmlns:a="http://schemas.openxmlformats.org/drawingml/2006/main">
              <a:ext uri="{FF2B5EF4-FFF2-40B4-BE49-F238E27FC236}">
                <a16:creationId xmlns:a16="http://schemas.microsoft.com/office/drawing/2014/main" id="{D4653274-ACC4-4760-9F4F-83E0FCA7DF5E}"/>
              </a:ext>
            </a:extLst>
          </p:cNvPr>
          <p:cNvSpPr>
            <a:spLocks xmlns:a="http://schemas.openxmlformats.org/drawingml/2006/main" noGrp="1"/>
          </p:cNvSpPr>
          <p:nvPr/>
        </p:nvSpPr>
        <p:spPr>
          <a:xfrm xmlns:a="http://schemas.openxmlformats.org/drawingml/2006/main">
            <a:off x="1600200" y="3219450"/>
            <a:ext cx="893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Calibrated computational evidence supports damage</a:t>
            </a:r>
          </a:p>
        </p:txBody>
      </p:sp>
      <p:cxnSp>
        <p:nvCxnSpPr>
          <p:cNvPr id="41" name=""/>
          <p:cNvCxnSpPr/>
          <p:nvPr/>
        </p:nvCxnSpPr>
        <p:spPr>
          <a:xfrm xmlns:a="http://schemas.openxmlformats.org/drawingml/2006/main">
            <a:off x="552450" y="3762375"/>
            <a:ext cx="10191750" cy="0"/>
          </a:xfrm>
          <a:prstGeom xmlns:a="http://schemas.openxmlformats.org/drawingml/2006/main" prst="straightConnector1">
            <a:avLst/>
          </a:prstGeom>
          <a:ln xmlns:a="http://schemas.openxmlformats.org/drawingml/2006/main" w="9525">
            <a:solidFill>
              <a:srgbClr val="D6DEE7"/>
            </a:solidFill>
            <a:prstDash val="solid"/>
          </a:ln>
        </p:spPr>
      </p:cxnSp>
      <p:sp>
        <p:nvSpPr>
          <p:cNvPr id="16" name="">
            <a:extLst xmlns:a="http://schemas.openxmlformats.org/drawingml/2006/main">
              <a:ext uri="{FF2B5EF4-FFF2-40B4-BE49-F238E27FC236}">
                <a16:creationId xmlns:a16="http://schemas.microsoft.com/office/drawing/2014/main" id="{D9B76711-05A5-4AB2-92E6-98A45CC4FE88}"/>
              </a:ext>
            </a:extLst>
          </p:cNvPr>
          <p:cNvSpPr>
            <a:spLocks xmlns:a="http://schemas.openxmlformats.org/drawingml/2006/main" noGrp="1"/>
          </p:cNvSpPr>
          <p:nvPr/>
        </p:nvSpPr>
        <p:spPr>
          <a:xfrm xmlns:a="http://schemas.openxmlformats.org/drawingml/2006/main">
            <a:off x="552450" y="3981450"/>
            <a:ext cx="762000" cy="323850"/>
          </a:xfrm>
          <a:prstGeom xmlns:a="http://schemas.openxmlformats.org/drawingml/2006/main" prst="roundRect">
            <a:avLst>
              <a:gd name="adj" fmla="val 23529"/>
            </a:avLst>
          </a:prstGeom>
          <a:solidFill xmlns:a="http://schemas.openxmlformats.org/drawingml/2006/main">
            <a:srgbClr val="EEE8FB"/>
          </a:solidFill>
          <a:ln xmlns:a="http://schemas.openxmlformats.org/drawingml/2006/main" w="0">
            <a:solidFill>
              <a:srgbClr val="EEE8FB"/>
            </a:solidFill>
            <a:prstDash val="solid"/>
          </a:ln>
        </p:spPr>
      </p:sp>
      <p:sp>
        <p:nvSpPr>
          <p:cNvPr id="17" name="">
            <a:extLst xmlns:a="http://schemas.openxmlformats.org/drawingml/2006/main">
              <a:ext uri="{FF2B5EF4-FFF2-40B4-BE49-F238E27FC236}">
                <a16:creationId xmlns:a16="http://schemas.microsoft.com/office/drawing/2014/main" id="{CC57C732-0C41-4278-A29D-8A6F9F35230B}"/>
              </a:ext>
            </a:extLst>
          </p:cNvPr>
          <p:cNvSpPr>
            <a:spLocks xmlns:a="http://schemas.openxmlformats.org/drawingml/2006/main" noGrp="1"/>
          </p:cNvSpPr>
          <p:nvPr/>
        </p:nvSpPr>
        <p:spPr>
          <a:xfrm xmlns:a="http://schemas.openxmlformats.org/drawingml/2006/main">
            <a:off x="552450" y="40481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PP4</a:t>
            </a:r>
          </a:p>
        </p:txBody>
      </p:sp>
      <p:sp>
        <p:nvSpPr>
          <p:cNvPr id="18" name="">
            <a:extLst xmlns:a="http://schemas.openxmlformats.org/drawingml/2006/main">
              <a:ext uri="{FF2B5EF4-FFF2-40B4-BE49-F238E27FC236}">
                <a16:creationId xmlns:a16="http://schemas.microsoft.com/office/drawing/2014/main" id="{0620D969-C638-4A54-B087-A47FE2710E4A}"/>
              </a:ext>
            </a:extLst>
          </p:cNvPr>
          <p:cNvSpPr>
            <a:spLocks xmlns:a="http://schemas.openxmlformats.org/drawingml/2006/main" noGrp="1"/>
          </p:cNvSpPr>
          <p:nvPr/>
        </p:nvSpPr>
        <p:spPr>
          <a:xfrm xmlns:a="http://schemas.openxmlformats.org/drawingml/2006/main">
            <a:off x="1600200" y="4019550"/>
            <a:ext cx="893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B1F33"/>
                </a:solidFill>
                <a:latin typeface="Arial"/>
                <a:ea typeface="Arial"/>
                <a:cs typeface="Arial"/>
              </a:defRPr>
            </a:pPr>
            <a:r>
              <a:rPr sz="1575" b="1" i="0">
                <a:solidFill>
                  <a:srgbClr val="0B1F33"/>
                </a:solidFill>
                <a:latin typeface="Arial"/>
                <a:ea typeface="Arial"/>
                <a:cs typeface="Arial"/>
              </a:rPr>
              <a:t>Phenotype is highly specific for a single genetic etiology</a:t>
            </a:r>
          </a:p>
        </p:txBody>
      </p:sp>
      <p:cxnSp>
        <p:nvCxnSpPr>
          <p:cNvPr id="45" name=""/>
          <p:cNvCxnSpPr/>
          <p:nvPr/>
        </p:nvCxnSpPr>
        <p:spPr>
          <a:xfrm xmlns:a="http://schemas.openxmlformats.org/drawingml/2006/main">
            <a:off x="552450" y="4562475"/>
            <a:ext cx="10191750" cy="0"/>
          </a:xfrm>
          <a:prstGeom xmlns:a="http://schemas.openxmlformats.org/drawingml/2006/main" prst="straightConnector1">
            <a:avLst/>
          </a:prstGeom>
          <a:ln xmlns:a="http://schemas.openxmlformats.org/drawingml/2006/main" w="9525">
            <a:solidFill>
              <a:srgbClr val="D6DEE7"/>
            </a:solidFill>
            <a:prstDash val="solid"/>
          </a:ln>
        </p:spPr>
      </p:cxnSp>
      <p:sp>
        <p:nvSpPr>
          <p:cNvPr id="20" name="">
            <a:extLst xmlns:a="http://schemas.openxmlformats.org/drawingml/2006/main">
              <a:ext uri="{FF2B5EF4-FFF2-40B4-BE49-F238E27FC236}">
                <a16:creationId xmlns:a16="http://schemas.microsoft.com/office/drawing/2014/main" id="{539AABE5-ABAC-4BE8-B62C-2659F18C2B43}"/>
              </a:ext>
            </a:extLst>
          </p:cNvPr>
          <p:cNvSpPr>
            <a:spLocks xmlns:a="http://schemas.openxmlformats.org/drawingml/2006/main" noGrp="1"/>
          </p:cNvSpPr>
          <p:nvPr/>
        </p:nvSpPr>
        <p:spPr>
          <a:xfrm xmlns:a="http://schemas.openxmlformats.org/drawingml/2006/main">
            <a:off x="552450" y="4781550"/>
            <a:ext cx="762000" cy="323850"/>
          </a:xfrm>
          <a:prstGeom xmlns:a="http://schemas.openxmlformats.org/drawingml/2006/main" prst="roundRect">
            <a:avLst>
              <a:gd name="adj" fmla="val 23529"/>
            </a:avLst>
          </a:prstGeom>
          <a:solidFill xmlns:a="http://schemas.openxmlformats.org/drawingml/2006/main">
            <a:srgbClr val="EEE8FB"/>
          </a:solidFill>
          <a:ln xmlns:a="http://schemas.openxmlformats.org/drawingml/2006/main" w="0">
            <a:solidFill>
              <a:srgbClr val="EEE8FB"/>
            </a:solidFill>
            <a:prstDash val="solid"/>
          </a:ln>
        </p:spPr>
      </p:sp>
      <p:sp>
        <p:nvSpPr>
          <p:cNvPr id="21" name="">
            <a:extLst xmlns:a="http://schemas.openxmlformats.org/drawingml/2006/main">
              <a:ext uri="{FF2B5EF4-FFF2-40B4-BE49-F238E27FC236}">
                <a16:creationId xmlns:a16="http://schemas.microsoft.com/office/drawing/2014/main" id="{DD5544E3-A583-4556-892D-FC46730A37A4}"/>
              </a:ext>
            </a:extLst>
          </p:cNvPr>
          <p:cNvSpPr>
            <a:spLocks xmlns:a="http://schemas.openxmlformats.org/drawingml/2006/main" noGrp="1"/>
          </p:cNvSpPr>
          <p:nvPr/>
        </p:nvSpPr>
        <p:spPr>
          <a:xfrm xmlns:a="http://schemas.openxmlformats.org/drawingml/2006/main">
            <a:off x="552450" y="4848225"/>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PP5</a:t>
            </a:r>
          </a:p>
        </p:txBody>
      </p:sp>
      <p:sp>
        <p:nvSpPr>
          <p:cNvPr id="22" name="">
            <a:extLst xmlns:a="http://schemas.openxmlformats.org/drawingml/2006/main">
              <a:ext uri="{FF2B5EF4-FFF2-40B4-BE49-F238E27FC236}">
                <a16:creationId xmlns:a16="http://schemas.microsoft.com/office/drawing/2014/main" id="{971A2168-887E-43D1-8F72-555430449ADB}"/>
              </a:ext>
            </a:extLst>
          </p:cNvPr>
          <p:cNvSpPr>
            <a:spLocks xmlns:a="http://schemas.openxmlformats.org/drawingml/2006/main" noGrp="1"/>
          </p:cNvSpPr>
          <p:nvPr/>
        </p:nvSpPr>
        <p:spPr>
          <a:xfrm xmlns:a="http://schemas.openxmlformats.org/drawingml/2006/main">
            <a:off x="1600200" y="4819650"/>
            <a:ext cx="893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C94E4E"/>
                </a:solidFill>
                <a:latin typeface="Arial"/>
                <a:ea typeface="Arial"/>
                <a:cs typeface="Arial"/>
              </a:defRPr>
            </a:pPr>
            <a:r>
              <a:rPr sz="1575" b="1" i="0">
                <a:solidFill>
                  <a:srgbClr val="C94E4E"/>
                </a:solidFill>
                <a:latin typeface="Arial"/>
                <a:ea typeface="Arial"/>
                <a:cs typeface="Arial"/>
              </a:rPr>
              <a:t>Reputable source without accessible evidence — avoid today</a:t>
            </a:r>
          </a:p>
        </p:txBody>
      </p:sp>
      <p:sp>
        <p:nvSpPr>
          <p:cNvPr id="23" name="">
            <a:extLst xmlns:a="http://schemas.openxmlformats.org/drawingml/2006/main">
              <a:ext uri="{FF2B5EF4-FFF2-40B4-BE49-F238E27FC236}">
                <a16:creationId xmlns:a16="http://schemas.microsoft.com/office/drawing/2014/main" id="{8FFCC8D6-AB77-49D1-B63F-E01C1D3FB8A0}"/>
              </a:ext>
            </a:extLst>
          </p:cNvPr>
          <p:cNvSpPr>
            <a:spLocks xmlns:a="http://schemas.openxmlformats.org/drawingml/2006/main" noGrp="1"/>
          </p:cNvSpPr>
          <p:nvPr/>
        </p:nvSpPr>
        <p:spPr>
          <a:xfrm xmlns:a="http://schemas.openxmlformats.org/drawingml/2006/main">
            <a:off x="6972300" y="5467350"/>
            <a:ext cx="4000500" cy="514350"/>
          </a:xfrm>
          <a:prstGeom xmlns:a="http://schemas.openxmlformats.org/drawingml/2006/main" prst="roundRect">
            <a:avLst>
              <a:gd name="adj" fmla="val 14815"/>
            </a:avLst>
          </a:prstGeom>
          <a:solidFill xmlns:a="http://schemas.openxmlformats.org/drawingml/2006/main">
            <a:srgbClr val="FBE3E3"/>
          </a:solidFill>
          <a:ln xmlns:a="http://schemas.openxmlformats.org/drawingml/2006/main" w="0">
            <a:solidFill>
              <a:srgbClr val="FBE3E3"/>
            </a:solidFill>
            <a:prstDash val="solid"/>
          </a:ln>
        </p:spPr>
      </p:sp>
      <p:sp>
        <p:nvSpPr>
          <p:cNvPr id="24" name="">
            <a:extLst xmlns:a="http://schemas.openxmlformats.org/drawingml/2006/main">
              <a:ext uri="{FF2B5EF4-FFF2-40B4-BE49-F238E27FC236}">
                <a16:creationId xmlns:a16="http://schemas.microsoft.com/office/drawing/2014/main" id="{9C6D80A3-02B9-4E37-BE3D-1275EA3208F3}"/>
              </a:ext>
            </a:extLst>
          </p:cNvPr>
          <p:cNvSpPr>
            <a:spLocks xmlns:a="http://schemas.openxmlformats.org/drawingml/2006/main" noGrp="1"/>
          </p:cNvSpPr>
          <p:nvPr/>
        </p:nvSpPr>
        <p:spPr>
          <a:xfrm xmlns:a="http://schemas.openxmlformats.org/drawingml/2006/main">
            <a:off x="7143750" y="5619750"/>
            <a:ext cx="365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57"/>
          </a:bodyPr>
          <a:lstStyle xmlns:a="http://schemas.openxmlformats.org/drawingml/2006/main"/>
          <a:p xmlns:a="http://schemas.openxmlformats.org/drawingml/2006/main">
            <a:pPr algn="ctr">
              <a:defRPr sz="1125" b="1" i="0">
                <a:solidFill>
                  <a:srgbClr val="C94E4E"/>
                </a:solidFill>
                <a:latin typeface="Arial"/>
                <a:ea typeface="Arial"/>
                <a:cs typeface="Arial"/>
              </a:defRPr>
            </a:pPr>
            <a:r>
              <a:rPr sz="1125" b="1" i="0">
                <a:solidFill>
                  <a:srgbClr val="C94E4E"/>
                </a:solidFill>
                <a:latin typeface="Arial"/>
                <a:ea typeface="Arial"/>
                <a:cs typeface="Arial"/>
              </a:rPr>
              <a:t>PP5 should not replace evaluation of the actual evidence.</a:t>
            </a:r>
          </a:p>
        </p:txBody>
      </p:sp>
      <p:sp>
        <p:nvSpPr>
          <p:cNvPr id="25" name="">
            <a:extLst xmlns:a="http://schemas.openxmlformats.org/drawingml/2006/main">
              <a:ext uri="{FF2B5EF4-FFF2-40B4-BE49-F238E27FC236}">
                <a16:creationId xmlns:a16="http://schemas.microsoft.com/office/drawing/2014/main" id="{C8F26B9E-414D-42FD-BBD1-8C3ED66A49CE}"/>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ClinGen PP5/BP6 recommendation</a:t>
            </a:r>
          </a:p>
        </p:txBody>
      </p:sp>
      <p:sp>
        <p:nvSpPr>
          <p:cNvPr id="26" name="">
            <a:extLst xmlns:a="http://schemas.openxmlformats.org/drawingml/2006/main">
              <a:ext uri="{FF2B5EF4-FFF2-40B4-BE49-F238E27FC236}">
                <a16:creationId xmlns:a16="http://schemas.microsoft.com/office/drawing/2014/main" id="{2DEB8EBF-B140-4945-9DE7-D8D2998EA8A0}"/>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31</a:t>
            </a:r>
          </a:p>
        </p:txBody>
      </p:sp>
    </p:spTree>
    <p:extLst>
      <p:ext uri="{BB962C8B-B14F-4D97-AF65-F5344CB8AC3E}">
        <p14:creationId xmlns:p14="http://schemas.microsoft.com/office/powerpoint/2010/main" val="96538631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610A60-77C4-4FB9-A462-5D4B85E537AD}"/>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BA1 AND BS1–BS4</a:t>
            </a:r>
          </a:p>
        </p:txBody>
      </p:sp>
      <p:sp>
        <p:nvSpPr>
          <p:cNvPr id="2" name="">
            <a:extLst xmlns:a="http://schemas.openxmlformats.org/drawingml/2006/main">
              <a:ext uri="{FF2B5EF4-FFF2-40B4-BE49-F238E27FC236}">
                <a16:creationId xmlns:a16="http://schemas.microsoft.com/office/drawing/2014/main" id="{92E11C73-689D-4464-B607-65D09F22BE3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Benign evidence asks whether disease causation is implausible</a:t>
            </a:r>
          </a:p>
        </p:txBody>
      </p:sp>
      <p:cxnSp>
        <p:nvCxnSpPr>
          <p:cNvPr id="27"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6B9DFFA3-5370-4445-A9D9-1550EDAEC924}"/>
              </a:ext>
            </a:extLst>
          </p:cNvPr>
          <p:cNvSpPr>
            <a:spLocks xmlns:a="http://schemas.openxmlformats.org/drawingml/2006/main" noGrp="1"/>
          </p:cNvSpPr>
          <p:nvPr/>
        </p:nvSpPr>
        <p:spPr>
          <a:xfrm xmlns:a="http://schemas.openxmlformats.org/drawingml/2006/main">
            <a:off x="514350" y="1714500"/>
            <a:ext cx="3276600" cy="3638550"/>
          </a:xfrm>
          <a:prstGeom xmlns:a="http://schemas.openxmlformats.org/drawingml/2006/main" prst="roundRect">
            <a:avLst>
              <a:gd name="adj" fmla="val 2326"/>
            </a:avLst>
          </a:prstGeom>
          <a:solidFill xmlns:a="http://schemas.openxmlformats.org/drawingml/2006/main">
            <a:srgbClr val="DEF3E7"/>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2308AA70-6011-44CD-BCED-3AD684562BD1}"/>
              </a:ext>
            </a:extLst>
          </p:cNvPr>
          <p:cNvSpPr>
            <a:spLocks xmlns:a="http://schemas.openxmlformats.org/drawingml/2006/main" noGrp="1"/>
          </p:cNvSpPr>
          <p:nvPr/>
        </p:nvSpPr>
        <p:spPr>
          <a:xfrm xmlns:a="http://schemas.openxmlformats.org/drawingml/2006/main">
            <a:off x="514350" y="1714500"/>
            <a:ext cx="66675" cy="3638550"/>
          </a:xfrm>
          <a:prstGeom xmlns:a="http://schemas.openxmlformats.org/drawingml/2006/main" prst="roundRect">
            <a:avLst>
              <a:gd name="adj" fmla="val 50000"/>
            </a:avLst>
          </a:prstGeom>
          <a:solidFill xmlns:a="http://schemas.openxmlformats.org/drawingml/2006/main">
            <a:srgbClr val="359B64"/>
          </a:solidFill>
          <a:ln xmlns:a="http://schemas.openxmlformats.org/drawingml/2006/main" w="0">
            <a:solidFill>
              <a:srgbClr val="359B64"/>
            </a:solidFill>
            <a:prstDash val="solid"/>
          </a:ln>
        </p:spPr>
      </p:sp>
      <p:sp>
        <p:nvSpPr>
          <p:cNvPr id="6" name="">
            <a:extLst xmlns:a="http://schemas.openxmlformats.org/drawingml/2006/main">
              <a:ext uri="{FF2B5EF4-FFF2-40B4-BE49-F238E27FC236}">
                <a16:creationId xmlns:a16="http://schemas.microsoft.com/office/drawing/2014/main" id="{162B2260-7E61-4649-840D-E96519E0FC48}"/>
              </a:ext>
            </a:extLst>
          </p:cNvPr>
          <p:cNvSpPr>
            <a:spLocks xmlns:a="http://schemas.openxmlformats.org/drawingml/2006/main" noGrp="1"/>
          </p:cNvSpPr>
          <p:nvPr/>
        </p:nvSpPr>
        <p:spPr>
          <a:xfrm xmlns:a="http://schemas.openxmlformats.org/drawingml/2006/main">
            <a:off x="742950" y="190500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BA1 • Stand-alone</a:t>
            </a:r>
          </a:p>
        </p:txBody>
      </p:sp>
      <p:sp>
        <p:nvSpPr>
          <p:cNvPr id="7" name="">
            <a:extLst xmlns:a="http://schemas.openxmlformats.org/drawingml/2006/main">
              <a:ext uri="{FF2B5EF4-FFF2-40B4-BE49-F238E27FC236}">
                <a16:creationId xmlns:a16="http://schemas.microsoft.com/office/drawing/2014/main" id="{07B0A46B-6610-483C-9CBB-40FFBD223C3A}"/>
              </a:ext>
            </a:extLst>
          </p:cNvPr>
          <p:cNvSpPr>
            <a:spLocks xmlns:a="http://schemas.openxmlformats.org/drawingml/2006/main" noGrp="1"/>
          </p:cNvSpPr>
          <p:nvPr/>
        </p:nvSpPr>
        <p:spPr>
          <a:xfrm xmlns:a="http://schemas.openxmlformats.org/drawingml/2006/main">
            <a:off x="742950" y="2305050"/>
            <a:ext cx="287655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Population frequency is too high for the disorder.</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2015 used a &gt;5% general threshold, but modern use includes disease-specific thresholds and exceptions.</a:t>
            </a:r>
          </a:p>
        </p:txBody>
      </p:sp>
      <p:sp>
        <p:nvSpPr>
          <p:cNvPr id="8" name="">
            <a:extLst xmlns:a="http://schemas.openxmlformats.org/drawingml/2006/main">
              <a:ext uri="{FF2B5EF4-FFF2-40B4-BE49-F238E27FC236}">
                <a16:creationId xmlns:a16="http://schemas.microsoft.com/office/drawing/2014/main" id="{6795A4F0-2A52-495D-8446-F5860CC5E1FB}"/>
              </a:ext>
            </a:extLst>
          </p:cNvPr>
          <p:cNvSpPr>
            <a:spLocks xmlns:a="http://schemas.openxmlformats.org/drawingml/2006/main" noGrp="1"/>
          </p:cNvSpPr>
          <p:nvPr/>
        </p:nvSpPr>
        <p:spPr>
          <a:xfrm xmlns:a="http://schemas.openxmlformats.org/drawingml/2006/main">
            <a:off x="4286250" y="1714500"/>
            <a:ext cx="781050" cy="323850"/>
          </a:xfrm>
          <a:prstGeom xmlns:a="http://schemas.openxmlformats.org/drawingml/2006/main" prst="roundRect">
            <a:avLst>
              <a:gd name="adj" fmla="val 23529"/>
            </a:avLst>
          </a:prstGeom>
          <a:solidFill xmlns:a="http://schemas.openxmlformats.org/drawingml/2006/main">
            <a:srgbClr val="DDF5F3"/>
          </a:solidFill>
          <a:ln xmlns:a="http://schemas.openxmlformats.org/drawingml/2006/main" w="0">
            <a:solidFill>
              <a:srgbClr val="DDF5F3"/>
            </a:solidFill>
            <a:prstDash val="solid"/>
          </a:ln>
        </p:spPr>
      </p:sp>
      <p:sp>
        <p:nvSpPr>
          <p:cNvPr id="9" name="">
            <a:extLst xmlns:a="http://schemas.openxmlformats.org/drawingml/2006/main">
              <a:ext uri="{FF2B5EF4-FFF2-40B4-BE49-F238E27FC236}">
                <a16:creationId xmlns:a16="http://schemas.microsoft.com/office/drawing/2014/main" id="{07AE993F-4E28-4FB1-BDE8-7D5B4339CBDC}"/>
              </a:ext>
            </a:extLst>
          </p:cNvPr>
          <p:cNvSpPr>
            <a:spLocks xmlns:a="http://schemas.openxmlformats.org/drawingml/2006/main" noGrp="1"/>
          </p:cNvSpPr>
          <p:nvPr/>
        </p:nvSpPr>
        <p:spPr>
          <a:xfrm xmlns:a="http://schemas.openxmlformats.org/drawingml/2006/main">
            <a:off x="4286250" y="1781175"/>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069C9C"/>
                </a:solidFill>
                <a:latin typeface="Arial"/>
                <a:ea typeface="Arial"/>
                <a:cs typeface="Arial"/>
              </a:defRPr>
            </a:pPr>
            <a:r>
              <a:rPr sz="975" b="1" i="0">
                <a:solidFill>
                  <a:srgbClr val="069C9C"/>
                </a:solidFill>
                <a:latin typeface="Arial"/>
                <a:ea typeface="Arial"/>
                <a:cs typeface="Arial"/>
              </a:rPr>
              <a:t>BS1</a:t>
            </a:r>
          </a:p>
        </p:txBody>
      </p:sp>
      <p:sp>
        <p:nvSpPr>
          <p:cNvPr id="10" name="">
            <a:extLst xmlns:a="http://schemas.openxmlformats.org/drawingml/2006/main">
              <a:ext uri="{FF2B5EF4-FFF2-40B4-BE49-F238E27FC236}">
                <a16:creationId xmlns:a16="http://schemas.microsoft.com/office/drawing/2014/main" id="{FE7DA22D-638F-414A-A94F-51D405CC82A9}"/>
              </a:ext>
            </a:extLst>
          </p:cNvPr>
          <p:cNvSpPr>
            <a:spLocks xmlns:a="http://schemas.openxmlformats.org/drawingml/2006/main" noGrp="1"/>
          </p:cNvSpPr>
          <p:nvPr/>
        </p:nvSpPr>
        <p:spPr>
          <a:xfrm xmlns:a="http://schemas.openxmlformats.org/drawingml/2006/main">
            <a:off x="5314950" y="175260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Frequency greater than expected for the disease</a:t>
            </a:r>
          </a:p>
        </p:txBody>
      </p:sp>
      <p:cxnSp>
        <p:nvCxnSpPr>
          <p:cNvPr id="35" name=""/>
          <p:cNvCxnSpPr/>
          <p:nvPr/>
        </p:nvCxnSpPr>
        <p:spPr>
          <a:xfrm xmlns:a="http://schemas.openxmlformats.org/drawingml/2006/main">
            <a:off x="4286250" y="2362200"/>
            <a:ext cx="6743700" cy="0"/>
          </a:xfrm>
          <a:prstGeom xmlns:a="http://schemas.openxmlformats.org/drawingml/2006/main" prst="straightConnector1">
            <a:avLst/>
          </a:prstGeom>
          <a:ln xmlns:a="http://schemas.openxmlformats.org/drawingml/2006/main" w="9525">
            <a:solidFill>
              <a:srgbClr val="D6DEE7"/>
            </a:solidFill>
            <a:prstDash val="solid"/>
          </a:ln>
        </p:spPr>
      </p:cxnSp>
      <p:sp>
        <p:nvSpPr>
          <p:cNvPr id="12" name="">
            <a:extLst xmlns:a="http://schemas.openxmlformats.org/drawingml/2006/main">
              <a:ext uri="{FF2B5EF4-FFF2-40B4-BE49-F238E27FC236}">
                <a16:creationId xmlns:a16="http://schemas.microsoft.com/office/drawing/2014/main" id="{B3367D0F-4112-41AB-AA92-F60ABB1069AA}"/>
              </a:ext>
            </a:extLst>
          </p:cNvPr>
          <p:cNvSpPr>
            <a:spLocks xmlns:a="http://schemas.openxmlformats.org/drawingml/2006/main" noGrp="1"/>
          </p:cNvSpPr>
          <p:nvPr/>
        </p:nvSpPr>
        <p:spPr>
          <a:xfrm xmlns:a="http://schemas.openxmlformats.org/drawingml/2006/main">
            <a:off x="4286250" y="2609850"/>
            <a:ext cx="781050" cy="323850"/>
          </a:xfrm>
          <a:prstGeom xmlns:a="http://schemas.openxmlformats.org/drawingml/2006/main" prst="roundRect">
            <a:avLst>
              <a:gd name="adj" fmla="val 23529"/>
            </a:avLst>
          </a:prstGeom>
          <a:solidFill xmlns:a="http://schemas.openxmlformats.org/drawingml/2006/main">
            <a:srgbClr val="DDF5F3"/>
          </a:solidFill>
          <a:ln xmlns:a="http://schemas.openxmlformats.org/drawingml/2006/main" w="0">
            <a:solidFill>
              <a:srgbClr val="DDF5F3"/>
            </a:solidFill>
            <a:prstDash val="solid"/>
          </a:ln>
        </p:spPr>
      </p:sp>
      <p:sp>
        <p:nvSpPr>
          <p:cNvPr id="13" name="">
            <a:extLst xmlns:a="http://schemas.openxmlformats.org/drawingml/2006/main">
              <a:ext uri="{FF2B5EF4-FFF2-40B4-BE49-F238E27FC236}">
                <a16:creationId xmlns:a16="http://schemas.microsoft.com/office/drawing/2014/main" id="{7F31B11A-BC18-4A13-ABF1-05754FE67109}"/>
              </a:ext>
            </a:extLst>
          </p:cNvPr>
          <p:cNvSpPr>
            <a:spLocks xmlns:a="http://schemas.openxmlformats.org/drawingml/2006/main" noGrp="1"/>
          </p:cNvSpPr>
          <p:nvPr/>
        </p:nvSpPr>
        <p:spPr>
          <a:xfrm xmlns:a="http://schemas.openxmlformats.org/drawingml/2006/main">
            <a:off x="4286250" y="2676525"/>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069C9C"/>
                </a:solidFill>
                <a:latin typeface="Arial"/>
                <a:ea typeface="Arial"/>
                <a:cs typeface="Arial"/>
              </a:defRPr>
            </a:pPr>
            <a:r>
              <a:rPr sz="975" b="1" i="0">
                <a:solidFill>
                  <a:srgbClr val="069C9C"/>
                </a:solidFill>
                <a:latin typeface="Arial"/>
                <a:ea typeface="Arial"/>
                <a:cs typeface="Arial"/>
              </a:rPr>
              <a:t>BS2</a:t>
            </a:r>
          </a:p>
        </p:txBody>
      </p:sp>
      <p:sp>
        <p:nvSpPr>
          <p:cNvPr id="14" name="">
            <a:extLst xmlns:a="http://schemas.openxmlformats.org/drawingml/2006/main">
              <a:ext uri="{FF2B5EF4-FFF2-40B4-BE49-F238E27FC236}">
                <a16:creationId xmlns:a16="http://schemas.microsoft.com/office/drawing/2014/main" id="{46FCAAC7-EF8B-456F-9DF6-5DC27E8A582B}"/>
              </a:ext>
            </a:extLst>
          </p:cNvPr>
          <p:cNvSpPr>
            <a:spLocks xmlns:a="http://schemas.openxmlformats.org/drawingml/2006/main" noGrp="1"/>
          </p:cNvSpPr>
          <p:nvPr/>
        </p:nvSpPr>
        <p:spPr>
          <a:xfrm xmlns:a="http://schemas.openxmlformats.org/drawingml/2006/main">
            <a:off x="5314950" y="264795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Observed in a healthy person incompatible with full penetrance</a:t>
            </a:r>
          </a:p>
        </p:txBody>
      </p:sp>
      <p:cxnSp>
        <p:nvCxnSpPr>
          <p:cNvPr id="39" name=""/>
          <p:cNvCxnSpPr/>
          <p:nvPr/>
        </p:nvCxnSpPr>
        <p:spPr>
          <a:xfrm xmlns:a="http://schemas.openxmlformats.org/drawingml/2006/main">
            <a:off x="4286250" y="3257550"/>
            <a:ext cx="6743700" cy="0"/>
          </a:xfrm>
          <a:prstGeom xmlns:a="http://schemas.openxmlformats.org/drawingml/2006/main" prst="straightConnector1">
            <a:avLst/>
          </a:prstGeom>
          <a:ln xmlns:a="http://schemas.openxmlformats.org/drawingml/2006/main" w="9525">
            <a:solidFill>
              <a:srgbClr val="D6DEE7"/>
            </a:solidFill>
            <a:prstDash val="solid"/>
          </a:ln>
        </p:spPr>
      </p:cxnSp>
      <p:sp>
        <p:nvSpPr>
          <p:cNvPr id="16" name="">
            <a:extLst xmlns:a="http://schemas.openxmlformats.org/drawingml/2006/main">
              <a:ext uri="{FF2B5EF4-FFF2-40B4-BE49-F238E27FC236}">
                <a16:creationId xmlns:a16="http://schemas.microsoft.com/office/drawing/2014/main" id="{12FE29C7-EB29-485B-8253-4E966F4EEEFE}"/>
              </a:ext>
            </a:extLst>
          </p:cNvPr>
          <p:cNvSpPr>
            <a:spLocks xmlns:a="http://schemas.openxmlformats.org/drawingml/2006/main" noGrp="1"/>
          </p:cNvSpPr>
          <p:nvPr/>
        </p:nvSpPr>
        <p:spPr>
          <a:xfrm xmlns:a="http://schemas.openxmlformats.org/drawingml/2006/main">
            <a:off x="4286250" y="3505200"/>
            <a:ext cx="781050" cy="323850"/>
          </a:xfrm>
          <a:prstGeom xmlns:a="http://schemas.openxmlformats.org/drawingml/2006/main" prst="roundRect">
            <a:avLst>
              <a:gd name="adj" fmla="val 23529"/>
            </a:avLst>
          </a:prstGeom>
          <a:solidFill xmlns:a="http://schemas.openxmlformats.org/drawingml/2006/main">
            <a:srgbClr val="DDF5F3"/>
          </a:solidFill>
          <a:ln xmlns:a="http://schemas.openxmlformats.org/drawingml/2006/main" w="0">
            <a:solidFill>
              <a:srgbClr val="DDF5F3"/>
            </a:solidFill>
            <a:prstDash val="solid"/>
          </a:ln>
        </p:spPr>
      </p:sp>
      <p:sp>
        <p:nvSpPr>
          <p:cNvPr id="17" name="">
            <a:extLst xmlns:a="http://schemas.openxmlformats.org/drawingml/2006/main">
              <a:ext uri="{FF2B5EF4-FFF2-40B4-BE49-F238E27FC236}">
                <a16:creationId xmlns:a16="http://schemas.microsoft.com/office/drawing/2014/main" id="{37F3D395-361A-4B34-9E58-18BEBBEB93D0}"/>
              </a:ext>
            </a:extLst>
          </p:cNvPr>
          <p:cNvSpPr>
            <a:spLocks xmlns:a="http://schemas.openxmlformats.org/drawingml/2006/main" noGrp="1"/>
          </p:cNvSpPr>
          <p:nvPr/>
        </p:nvSpPr>
        <p:spPr>
          <a:xfrm xmlns:a="http://schemas.openxmlformats.org/drawingml/2006/main">
            <a:off x="4286250" y="3571875"/>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069C9C"/>
                </a:solidFill>
                <a:latin typeface="Arial"/>
                <a:ea typeface="Arial"/>
                <a:cs typeface="Arial"/>
              </a:defRPr>
            </a:pPr>
            <a:r>
              <a:rPr sz="975" b="1" i="0">
                <a:solidFill>
                  <a:srgbClr val="069C9C"/>
                </a:solidFill>
                <a:latin typeface="Arial"/>
                <a:ea typeface="Arial"/>
                <a:cs typeface="Arial"/>
              </a:rPr>
              <a:t>BS3</a:t>
            </a:r>
          </a:p>
        </p:txBody>
      </p:sp>
      <p:sp>
        <p:nvSpPr>
          <p:cNvPr id="18" name="">
            <a:extLst xmlns:a="http://schemas.openxmlformats.org/drawingml/2006/main">
              <a:ext uri="{FF2B5EF4-FFF2-40B4-BE49-F238E27FC236}">
                <a16:creationId xmlns:a16="http://schemas.microsoft.com/office/drawing/2014/main" id="{D601150A-ED90-417E-AEE0-791A9C9C1F37}"/>
              </a:ext>
            </a:extLst>
          </p:cNvPr>
          <p:cNvSpPr>
            <a:spLocks xmlns:a="http://schemas.openxmlformats.org/drawingml/2006/main" noGrp="1"/>
          </p:cNvSpPr>
          <p:nvPr/>
        </p:nvSpPr>
        <p:spPr>
          <a:xfrm xmlns:a="http://schemas.openxmlformats.org/drawingml/2006/main">
            <a:off x="5314950" y="354330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Reliable functional studies show no damaging effect</a:t>
            </a:r>
          </a:p>
        </p:txBody>
      </p:sp>
      <p:cxnSp>
        <p:nvCxnSpPr>
          <p:cNvPr id="43" name=""/>
          <p:cNvCxnSpPr/>
          <p:nvPr/>
        </p:nvCxnSpPr>
        <p:spPr>
          <a:xfrm xmlns:a="http://schemas.openxmlformats.org/drawingml/2006/main">
            <a:off x="4286250" y="4152900"/>
            <a:ext cx="6743700" cy="0"/>
          </a:xfrm>
          <a:prstGeom xmlns:a="http://schemas.openxmlformats.org/drawingml/2006/main" prst="straightConnector1">
            <a:avLst/>
          </a:prstGeom>
          <a:ln xmlns:a="http://schemas.openxmlformats.org/drawingml/2006/main" w="9525">
            <a:solidFill>
              <a:srgbClr val="D6DEE7"/>
            </a:solidFill>
            <a:prstDash val="solid"/>
          </a:ln>
        </p:spPr>
      </p:cxnSp>
      <p:sp>
        <p:nvSpPr>
          <p:cNvPr id="20" name="">
            <a:extLst xmlns:a="http://schemas.openxmlformats.org/drawingml/2006/main">
              <a:ext uri="{FF2B5EF4-FFF2-40B4-BE49-F238E27FC236}">
                <a16:creationId xmlns:a16="http://schemas.microsoft.com/office/drawing/2014/main" id="{8BF74278-E650-46B7-B78C-4D8FE5B3B505}"/>
              </a:ext>
            </a:extLst>
          </p:cNvPr>
          <p:cNvSpPr>
            <a:spLocks xmlns:a="http://schemas.openxmlformats.org/drawingml/2006/main" noGrp="1"/>
          </p:cNvSpPr>
          <p:nvPr/>
        </p:nvSpPr>
        <p:spPr>
          <a:xfrm xmlns:a="http://schemas.openxmlformats.org/drawingml/2006/main">
            <a:off x="4286250" y="4400550"/>
            <a:ext cx="781050" cy="323850"/>
          </a:xfrm>
          <a:prstGeom xmlns:a="http://schemas.openxmlformats.org/drawingml/2006/main" prst="roundRect">
            <a:avLst>
              <a:gd name="adj" fmla="val 23529"/>
            </a:avLst>
          </a:prstGeom>
          <a:solidFill xmlns:a="http://schemas.openxmlformats.org/drawingml/2006/main">
            <a:srgbClr val="DDF5F3"/>
          </a:solidFill>
          <a:ln xmlns:a="http://schemas.openxmlformats.org/drawingml/2006/main" w="0">
            <a:solidFill>
              <a:srgbClr val="DDF5F3"/>
            </a:solidFill>
            <a:prstDash val="solid"/>
          </a:ln>
        </p:spPr>
      </p:sp>
      <p:sp>
        <p:nvSpPr>
          <p:cNvPr id="21" name="">
            <a:extLst xmlns:a="http://schemas.openxmlformats.org/drawingml/2006/main">
              <a:ext uri="{FF2B5EF4-FFF2-40B4-BE49-F238E27FC236}">
                <a16:creationId xmlns:a16="http://schemas.microsoft.com/office/drawing/2014/main" id="{3306C781-5B1D-47DD-A282-40269664247B}"/>
              </a:ext>
            </a:extLst>
          </p:cNvPr>
          <p:cNvSpPr>
            <a:spLocks xmlns:a="http://schemas.openxmlformats.org/drawingml/2006/main" noGrp="1"/>
          </p:cNvSpPr>
          <p:nvPr/>
        </p:nvSpPr>
        <p:spPr>
          <a:xfrm xmlns:a="http://schemas.openxmlformats.org/drawingml/2006/main">
            <a:off x="4286250" y="4467225"/>
            <a:ext cx="781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069C9C"/>
                </a:solidFill>
                <a:latin typeface="Arial"/>
                <a:ea typeface="Arial"/>
                <a:cs typeface="Arial"/>
              </a:defRPr>
            </a:pPr>
            <a:r>
              <a:rPr sz="975" b="1" i="0">
                <a:solidFill>
                  <a:srgbClr val="069C9C"/>
                </a:solidFill>
                <a:latin typeface="Arial"/>
                <a:ea typeface="Arial"/>
                <a:cs typeface="Arial"/>
              </a:rPr>
              <a:t>BS4</a:t>
            </a:r>
          </a:p>
        </p:txBody>
      </p:sp>
      <p:sp>
        <p:nvSpPr>
          <p:cNvPr id="22" name="">
            <a:extLst xmlns:a="http://schemas.openxmlformats.org/drawingml/2006/main">
              <a:ext uri="{FF2B5EF4-FFF2-40B4-BE49-F238E27FC236}">
                <a16:creationId xmlns:a16="http://schemas.microsoft.com/office/drawing/2014/main" id="{56616D59-1D98-4103-BAC5-95BE6F007C40}"/>
              </a:ext>
            </a:extLst>
          </p:cNvPr>
          <p:cNvSpPr>
            <a:spLocks xmlns:a="http://schemas.openxmlformats.org/drawingml/2006/main" noGrp="1"/>
          </p:cNvSpPr>
          <p:nvPr/>
        </p:nvSpPr>
        <p:spPr>
          <a:xfrm xmlns:a="http://schemas.openxmlformats.org/drawingml/2006/main">
            <a:off x="5314950" y="443865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B1F33"/>
                </a:solidFill>
                <a:latin typeface="Arial"/>
                <a:ea typeface="Arial"/>
                <a:cs typeface="Arial"/>
              </a:defRPr>
            </a:pPr>
            <a:r>
              <a:rPr sz="1425" b="1" i="0">
                <a:solidFill>
                  <a:srgbClr val="0B1F33"/>
                </a:solidFill>
                <a:latin typeface="Arial"/>
                <a:ea typeface="Arial"/>
                <a:cs typeface="Arial"/>
              </a:rPr>
              <a:t>Lack of segregation with disease</a:t>
            </a:r>
          </a:p>
        </p:txBody>
      </p:sp>
      <p:sp>
        <p:nvSpPr>
          <p:cNvPr id="23" name="">
            <a:extLst xmlns:a="http://schemas.openxmlformats.org/drawingml/2006/main">
              <a:ext uri="{FF2B5EF4-FFF2-40B4-BE49-F238E27FC236}">
                <a16:creationId xmlns:a16="http://schemas.microsoft.com/office/drawing/2014/main" id="{68A13450-072D-4E35-B7B5-A7F3E8FB0BA5}"/>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ClinGen BA1 and PS3/BS3 guidance</a:t>
            </a:r>
          </a:p>
        </p:txBody>
      </p:sp>
      <p:sp>
        <p:nvSpPr>
          <p:cNvPr id="24" name="">
            <a:extLst xmlns:a="http://schemas.openxmlformats.org/drawingml/2006/main">
              <a:ext uri="{FF2B5EF4-FFF2-40B4-BE49-F238E27FC236}">
                <a16:creationId xmlns:a16="http://schemas.microsoft.com/office/drawing/2014/main" id="{3E828091-2809-4621-AC05-831EF51AC39E}"/>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32</a:t>
            </a:r>
          </a:p>
        </p:txBody>
      </p:sp>
    </p:spTree>
    <p:extLst>
      <p:ext uri="{BB962C8B-B14F-4D97-AF65-F5344CB8AC3E}">
        <p14:creationId xmlns:p14="http://schemas.microsoft.com/office/powerpoint/2010/main" val="97596531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988B5B-045C-41A5-BA26-43638B6F5651}"/>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BP1–BP7</a:t>
            </a:r>
          </a:p>
        </p:txBody>
      </p:sp>
      <p:sp>
        <p:nvSpPr>
          <p:cNvPr id="2" name="">
            <a:extLst xmlns:a="http://schemas.openxmlformats.org/drawingml/2006/main">
              <a:ext uri="{FF2B5EF4-FFF2-40B4-BE49-F238E27FC236}">
                <a16:creationId xmlns:a16="http://schemas.microsoft.com/office/drawing/2014/main" id="{D96B6EC4-E1EB-4C82-BDDF-25DF0DA7CF38}"/>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188"/>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Supporting benign evidence usually weakens a proposed mechanism</a:t>
            </a:r>
          </a:p>
        </p:txBody>
      </p:sp>
      <p:cxnSp>
        <p:nvCxnSpPr>
          <p:cNvPr id="31"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FE4AE25D-6148-49BA-8511-348D4A2CEC85}"/>
              </a:ext>
            </a:extLst>
          </p:cNvPr>
          <p:cNvSpPr>
            <a:spLocks xmlns:a="http://schemas.openxmlformats.org/drawingml/2006/main" noGrp="1"/>
          </p:cNvSpPr>
          <p:nvPr/>
        </p:nvSpPr>
        <p:spPr>
          <a:xfrm xmlns:a="http://schemas.openxmlformats.org/drawingml/2006/main">
            <a:off x="495300" y="15621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64DB8C01-A09A-4AC0-8EAE-DD95A0EAE5CF}"/>
              </a:ext>
            </a:extLst>
          </p:cNvPr>
          <p:cNvSpPr>
            <a:spLocks xmlns:a="http://schemas.openxmlformats.org/drawingml/2006/main" noGrp="1"/>
          </p:cNvSpPr>
          <p:nvPr/>
        </p:nvSpPr>
        <p:spPr>
          <a:xfrm xmlns:a="http://schemas.openxmlformats.org/drawingml/2006/main">
            <a:off x="495300" y="16287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BP1</a:t>
            </a:r>
          </a:p>
        </p:txBody>
      </p:sp>
      <p:sp>
        <p:nvSpPr>
          <p:cNvPr id="6" name="">
            <a:extLst xmlns:a="http://schemas.openxmlformats.org/drawingml/2006/main">
              <a:ext uri="{FF2B5EF4-FFF2-40B4-BE49-F238E27FC236}">
                <a16:creationId xmlns:a16="http://schemas.microsoft.com/office/drawing/2014/main" id="{D95CA8E7-7A4D-418A-A30E-818C3B740481}"/>
              </a:ext>
            </a:extLst>
          </p:cNvPr>
          <p:cNvSpPr>
            <a:spLocks xmlns:a="http://schemas.openxmlformats.org/drawingml/2006/main" noGrp="1"/>
          </p:cNvSpPr>
          <p:nvPr/>
        </p:nvSpPr>
        <p:spPr>
          <a:xfrm xmlns:a="http://schemas.openxmlformats.org/drawingml/2006/main">
            <a:off x="1466850" y="15716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Missense where disease is mainly truncating</a:t>
            </a:r>
          </a:p>
        </p:txBody>
      </p:sp>
      <p:sp>
        <p:nvSpPr>
          <p:cNvPr id="7" name="">
            <a:extLst xmlns:a="http://schemas.openxmlformats.org/drawingml/2006/main">
              <a:ext uri="{FF2B5EF4-FFF2-40B4-BE49-F238E27FC236}">
                <a16:creationId xmlns:a16="http://schemas.microsoft.com/office/drawing/2014/main" id="{74CA246F-304F-42AD-8B2E-2854BAA669DE}"/>
              </a:ext>
            </a:extLst>
          </p:cNvPr>
          <p:cNvSpPr>
            <a:spLocks xmlns:a="http://schemas.openxmlformats.org/drawingml/2006/main" noGrp="1"/>
          </p:cNvSpPr>
          <p:nvPr/>
        </p:nvSpPr>
        <p:spPr>
          <a:xfrm xmlns:a="http://schemas.openxmlformats.org/drawingml/2006/main">
            <a:off x="495300" y="25146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8" name="">
            <a:extLst xmlns:a="http://schemas.openxmlformats.org/drawingml/2006/main">
              <a:ext uri="{FF2B5EF4-FFF2-40B4-BE49-F238E27FC236}">
                <a16:creationId xmlns:a16="http://schemas.microsoft.com/office/drawing/2014/main" id="{66A97E3B-9AE2-42ED-A4F2-A60CEDB39974}"/>
              </a:ext>
            </a:extLst>
          </p:cNvPr>
          <p:cNvSpPr>
            <a:spLocks xmlns:a="http://schemas.openxmlformats.org/drawingml/2006/main" noGrp="1"/>
          </p:cNvSpPr>
          <p:nvPr/>
        </p:nvSpPr>
        <p:spPr>
          <a:xfrm xmlns:a="http://schemas.openxmlformats.org/drawingml/2006/main">
            <a:off x="495300" y="25812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BP2</a:t>
            </a:r>
          </a:p>
        </p:txBody>
      </p:sp>
      <p:sp>
        <p:nvSpPr>
          <p:cNvPr id="9" name="">
            <a:extLst xmlns:a="http://schemas.openxmlformats.org/drawingml/2006/main">
              <a:ext uri="{FF2B5EF4-FFF2-40B4-BE49-F238E27FC236}">
                <a16:creationId xmlns:a16="http://schemas.microsoft.com/office/drawing/2014/main" id="{1F5AF4D4-6F92-4AC0-B20B-B93C4406502D}"/>
              </a:ext>
            </a:extLst>
          </p:cNvPr>
          <p:cNvSpPr>
            <a:spLocks xmlns:a="http://schemas.openxmlformats.org/drawingml/2006/main" noGrp="1"/>
          </p:cNvSpPr>
          <p:nvPr/>
        </p:nvSpPr>
        <p:spPr>
          <a:xfrm xmlns:a="http://schemas.openxmlformats.org/drawingml/2006/main">
            <a:off x="1466850" y="25241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Observed in cis/trans in a configuration arguing against causality</a:t>
            </a:r>
          </a:p>
        </p:txBody>
      </p:sp>
      <p:sp>
        <p:nvSpPr>
          <p:cNvPr id="10" name="">
            <a:extLst xmlns:a="http://schemas.openxmlformats.org/drawingml/2006/main">
              <a:ext uri="{FF2B5EF4-FFF2-40B4-BE49-F238E27FC236}">
                <a16:creationId xmlns:a16="http://schemas.microsoft.com/office/drawing/2014/main" id="{B0C80764-F884-4EA8-AE6F-EFBC01CD8E51}"/>
              </a:ext>
            </a:extLst>
          </p:cNvPr>
          <p:cNvSpPr>
            <a:spLocks xmlns:a="http://schemas.openxmlformats.org/drawingml/2006/main" noGrp="1"/>
          </p:cNvSpPr>
          <p:nvPr/>
        </p:nvSpPr>
        <p:spPr>
          <a:xfrm xmlns:a="http://schemas.openxmlformats.org/drawingml/2006/main">
            <a:off x="495300" y="34671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11" name="">
            <a:extLst xmlns:a="http://schemas.openxmlformats.org/drawingml/2006/main">
              <a:ext uri="{FF2B5EF4-FFF2-40B4-BE49-F238E27FC236}">
                <a16:creationId xmlns:a16="http://schemas.microsoft.com/office/drawing/2014/main" id="{D72B92FC-905D-4252-86CB-A40DE575B227}"/>
              </a:ext>
            </a:extLst>
          </p:cNvPr>
          <p:cNvSpPr>
            <a:spLocks xmlns:a="http://schemas.openxmlformats.org/drawingml/2006/main" noGrp="1"/>
          </p:cNvSpPr>
          <p:nvPr/>
        </p:nvSpPr>
        <p:spPr>
          <a:xfrm xmlns:a="http://schemas.openxmlformats.org/drawingml/2006/main">
            <a:off x="495300" y="35337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BP3</a:t>
            </a:r>
          </a:p>
        </p:txBody>
      </p:sp>
      <p:sp>
        <p:nvSpPr>
          <p:cNvPr id="12" name="">
            <a:extLst xmlns:a="http://schemas.openxmlformats.org/drawingml/2006/main">
              <a:ext uri="{FF2B5EF4-FFF2-40B4-BE49-F238E27FC236}">
                <a16:creationId xmlns:a16="http://schemas.microsoft.com/office/drawing/2014/main" id="{183E121D-E2F5-4B12-8490-C900AA65E82B}"/>
              </a:ext>
            </a:extLst>
          </p:cNvPr>
          <p:cNvSpPr>
            <a:spLocks xmlns:a="http://schemas.openxmlformats.org/drawingml/2006/main" noGrp="1"/>
          </p:cNvSpPr>
          <p:nvPr/>
        </p:nvSpPr>
        <p:spPr>
          <a:xfrm xmlns:a="http://schemas.openxmlformats.org/drawingml/2006/main">
            <a:off x="1466850" y="34766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In-frame indel in a repetitive region without known function</a:t>
            </a:r>
          </a:p>
        </p:txBody>
      </p:sp>
      <p:sp>
        <p:nvSpPr>
          <p:cNvPr id="13" name="">
            <a:extLst xmlns:a="http://schemas.openxmlformats.org/drawingml/2006/main">
              <a:ext uri="{FF2B5EF4-FFF2-40B4-BE49-F238E27FC236}">
                <a16:creationId xmlns:a16="http://schemas.microsoft.com/office/drawing/2014/main" id="{0EA5A2CB-B856-4FE0-B909-97A516532FFF}"/>
              </a:ext>
            </a:extLst>
          </p:cNvPr>
          <p:cNvSpPr>
            <a:spLocks xmlns:a="http://schemas.openxmlformats.org/drawingml/2006/main" noGrp="1"/>
          </p:cNvSpPr>
          <p:nvPr/>
        </p:nvSpPr>
        <p:spPr>
          <a:xfrm xmlns:a="http://schemas.openxmlformats.org/drawingml/2006/main">
            <a:off x="495300" y="44196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14" name="">
            <a:extLst xmlns:a="http://schemas.openxmlformats.org/drawingml/2006/main">
              <a:ext uri="{FF2B5EF4-FFF2-40B4-BE49-F238E27FC236}">
                <a16:creationId xmlns:a16="http://schemas.microsoft.com/office/drawing/2014/main" id="{298E4445-6E85-48C1-A064-96F00D565BBC}"/>
              </a:ext>
            </a:extLst>
          </p:cNvPr>
          <p:cNvSpPr>
            <a:spLocks xmlns:a="http://schemas.openxmlformats.org/drawingml/2006/main" noGrp="1"/>
          </p:cNvSpPr>
          <p:nvPr/>
        </p:nvSpPr>
        <p:spPr>
          <a:xfrm xmlns:a="http://schemas.openxmlformats.org/drawingml/2006/main">
            <a:off x="495300" y="44862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BP4</a:t>
            </a:r>
          </a:p>
        </p:txBody>
      </p:sp>
      <p:sp>
        <p:nvSpPr>
          <p:cNvPr id="15" name="">
            <a:extLst xmlns:a="http://schemas.openxmlformats.org/drawingml/2006/main">
              <a:ext uri="{FF2B5EF4-FFF2-40B4-BE49-F238E27FC236}">
                <a16:creationId xmlns:a16="http://schemas.microsoft.com/office/drawing/2014/main" id="{D4CADF8B-2A8F-43D4-8267-8AE4FC86B5D4}"/>
              </a:ext>
            </a:extLst>
          </p:cNvPr>
          <p:cNvSpPr>
            <a:spLocks xmlns:a="http://schemas.openxmlformats.org/drawingml/2006/main" noGrp="1"/>
          </p:cNvSpPr>
          <p:nvPr/>
        </p:nvSpPr>
        <p:spPr>
          <a:xfrm xmlns:a="http://schemas.openxmlformats.org/drawingml/2006/main">
            <a:off x="1466850" y="44291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Computational evidence suggests no impact</a:t>
            </a:r>
          </a:p>
        </p:txBody>
      </p:sp>
      <p:sp>
        <p:nvSpPr>
          <p:cNvPr id="16" name="">
            <a:extLst xmlns:a="http://schemas.openxmlformats.org/drawingml/2006/main">
              <a:ext uri="{FF2B5EF4-FFF2-40B4-BE49-F238E27FC236}">
                <a16:creationId xmlns:a16="http://schemas.microsoft.com/office/drawing/2014/main" id="{6DE600F8-0944-49A9-9F12-3D7B3B6297B5}"/>
              </a:ext>
            </a:extLst>
          </p:cNvPr>
          <p:cNvSpPr>
            <a:spLocks xmlns:a="http://schemas.openxmlformats.org/drawingml/2006/main" noGrp="1"/>
          </p:cNvSpPr>
          <p:nvPr/>
        </p:nvSpPr>
        <p:spPr>
          <a:xfrm xmlns:a="http://schemas.openxmlformats.org/drawingml/2006/main">
            <a:off x="6305550" y="15621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17" name="">
            <a:extLst xmlns:a="http://schemas.openxmlformats.org/drawingml/2006/main">
              <a:ext uri="{FF2B5EF4-FFF2-40B4-BE49-F238E27FC236}">
                <a16:creationId xmlns:a16="http://schemas.microsoft.com/office/drawing/2014/main" id="{3E246EB0-7BAD-454E-A168-BB664CE16B02}"/>
              </a:ext>
            </a:extLst>
          </p:cNvPr>
          <p:cNvSpPr>
            <a:spLocks xmlns:a="http://schemas.openxmlformats.org/drawingml/2006/main" noGrp="1"/>
          </p:cNvSpPr>
          <p:nvPr/>
        </p:nvSpPr>
        <p:spPr>
          <a:xfrm xmlns:a="http://schemas.openxmlformats.org/drawingml/2006/main">
            <a:off x="6305550" y="16287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BP5</a:t>
            </a:r>
          </a:p>
        </p:txBody>
      </p:sp>
      <p:sp>
        <p:nvSpPr>
          <p:cNvPr id="18" name="">
            <a:extLst xmlns:a="http://schemas.openxmlformats.org/drawingml/2006/main">
              <a:ext uri="{FF2B5EF4-FFF2-40B4-BE49-F238E27FC236}">
                <a16:creationId xmlns:a16="http://schemas.microsoft.com/office/drawing/2014/main" id="{B2D18EFC-28AB-4D93-9049-9B4884A7EFE5}"/>
              </a:ext>
            </a:extLst>
          </p:cNvPr>
          <p:cNvSpPr>
            <a:spLocks xmlns:a="http://schemas.openxmlformats.org/drawingml/2006/main" noGrp="1"/>
          </p:cNvSpPr>
          <p:nvPr/>
        </p:nvSpPr>
        <p:spPr>
          <a:xfrm xmlns:a="http://schemas.openxmlformats.org/drawingml/2006/main">
            <a:off x="7277100" y="15716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Alternative molecular cause identified</a:t>
            </a:r>
          </a:p>
        </p:txBody>
      </p:sp>
      <p:sp>
        <p:nvSpPr>
          <p:cNvPr id="19" name="">
            <a:extLst xmlns:a="http://schemas.openxmlformats.org/drawingml/2006/main">
              <a:ext uri="{FF2B5EF4-FFF2-40B4-BE49-F238E27FC236}">
                <a16:creationId xmlns:a16="http://schemas.microsoft.com/office/drawing/2014/main" id="{F044502F-6141-4269-8A7A-C5E421DB9BB4}"/>
              </a:ext>
            </a:extLst>
          </p:cNvPr>
          <p:cNvSpPr>
            <a:spLocks xmlns:a="http://schemas.openxmlformats.org/drawingml/2006/main" noGrp="1"/>
          </p:cNvSpPr>
          <p:nvPr/>
        </p:nvSpPr>
        <p:spPr>
          <a:xfrm xmlns:a="http://schemas.openxmlformats.org/drawingml/2006/main">
            <a:off x="6305550" y="25146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20" name="">
            <a:extLst xmlns:a="http://schemas.openxmlformats.org/drawingml/2006/main">
              <a:ext uri="{FF2B5EF4-FFF2-40B4-BE49-F238E27FC236}">
                <a16:creationId xmlns:a16="http://schemas.microsoft.com/office/drawing/2014/main" id="{36796643-E15F-430A-AFD6-F857030D3933}"/>
              </a:ext>
            </a:extLst>
          </p:cNvPr>
          <p:cNvSpPr>
            <a:spLocks xmlns:a="http://schemas.openxmlformats.org/drawingml/2006/main" noGrp="1"/>
          </p:cNvSpPr>
          <p:nvPr/>
        </p:nvSpPr>
        <p:spPr>
          <a:xfrm xmlns:a="http://schemas.openxmlformats.org/drawingml/2006/main">
            <a:off x="6305550" y="25812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BP6</a:t>
            </a:r>
          </a:p>
        </p:txBody>
      </p:sp>
      <p:sp>
        <p:nvSpPr>
          <p:cNvPr id="21" name="">
            <a:extLst xmlns:a="http://schemas.openxmlformats.org/drawingml/2006/main">
              <a:ext uri="{FF2B5EF4-FFF2-40B4-BE49-F238E27FC236}">
                <a16:creationId xmlns:a16="http://schemas.microsoft.com/office/drawing/2014/main" id="{70A22FFF-C74A-4ACC-B390-6D7147448869}"/>
              </a:ext>
            </a:extLst>
          </p:cNvPr>
          <p:cNvSpPr>
            <a:spLocks xmlns:a="http://schemas.openxmlformats.org/drawingml/2006/main" noGrp="1"/>
          </p:cNvSpPr>
          <p:nvPr/>
        </p:nvSpPr>
        <p:spPr>
          <a:xfrm xmlns:a="http://schemas.openxmlformats.org/drawingml/2006/main">
            <a:off x="7277100" y="25241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C94E4E"/>
                </a:solidFill>
                <a:latin typeface="Arial"/>
                <a:ea typeface="Arial"/>
                <a:cs typeface="Arial"/>
              </a:defRPr>
            </a:pPr>
            <a:r>
              <a:rPr sz="1350" b="1" i="0">
                <a:solidFill>
                  <a:srgbClr val="C94E4E"/>
                </a:solidFill>
                <a:latin typeface="Arial"/>
                <a:ea typeface="Arial"/>
                <a:cs typeface="Arial"/>
              </a:rPr>
              <a:t>Reputable source without evidence — avoid today</a:t>
            </a:r>
          </a:p>
        </p:txBody>
      </p:sp>
      <p:sp>
        <p:nvSpPr>
          <p:cNvPr id="22" name="">
            <a:extLst xmlns:a="http://schemas.openxmlformats.org/drawingml/2006/main">
              <a:ext uri="{FF2B5EF4-FFF2-40B4-BE49-F238E27FC236}">
                <a16:creationId xmlns:a16="http://schemas.microsoft.com/office/drawing/2014/main" id="{034260CE-1C2D-498B-91D5-D65BC491B5EF}"/>
              </a:ext>
            </a:extLst>
          </p:cNvPr>
          <p:cNvSpPr>
            <a:spLocks xmlns:a="http://schemas.openxmlformats.org/drawingml/2006/main" noGrp="1"/>
          </p:cNvSpPr>
          <p:nvPr/>
        </p:nvSpPr>
        <p:spPr>
          <a:xfrm xmlns:a="http://schemas.openxmlformats.org/drawingml/2006/main">
            <a:off x="6305550" y="3467100"/>
            <a:ext cx="7429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23" name="">
            <a:extLst xmlns:a="http://schemas.openxmlformats.org/drawingml/2006/main">
              <a:ext uri="{FF2B5EF4-FFF2-40B4-BE49-F238E27FC236}">
                <a16:creationId xmlns:a16="http://schemas.microsoft.com/office/drawing/2014/main" id="{CDD744DA-49B1-4B09-8AE0-AAE67C507D93}"/>
              </a:ext>
            </a:extLst>
          </p:cNvPr>
          <p:cNvSpPr>
            <a:spLocks xmlns:a="http://schemas.openxmlformats.org/drawingml/2006/main" noGrp="1"/>
          </p:cNvSpPr>
          <p:nvPr/>
        </p:nvSpPr>
        <p:spPr>
          <a:xfrm xmlns:a="http://schemas.openxmlformats.org/drawingml/2006/main">
            <a:off x="6305550" y="35337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BP7</a:t>
            </a:r>
          </a:p>
        </p:txBody>
      </p:sp>
      <p:sp>
        <p:nvSpPr>
          <p:cNvPr id="24" name="">
            <a:extLst xmlns:a="http://schemas.openxmlformats.org/drawingml/2006/main">
              <a:ext uri="{FF2B5EF4-FFF2-40B4-BE49-F238E27FC236}">
                <a16:creationId xmlns:a16="http://schemas.microsoft.com/office/drawing/2014/main" id="{66AAAD1B-C316-4DD5-9400-A9DBEB7B5F6E}"/>
              </a:ext>
            </a:extLst>
          </p:cNvPr>
          <p:cNvSpPr>
            <a:spLocks xmlns:a="http://schemas.openxmlformats.org/drawingml/2006/main" noGrp="1"/>
          </p:cNvSpPr>
          <p:nvPr/>
        </p:nvSpPr>
        <p:spPr>
          <a:xfrm xmlns:a="http://schemas.openxmlformats.org/drawingml/2006/main">
            <a:off x="7277100" y="3476625"/>
            <a:ext cx="4514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Synonymous, no predicted splice impact, low conservation</a:t>
            </a:r>
          </a:p>
        </p:txBody>
      </p:sp>
      <p:sp>
        <p:nvSpPr>
          <p:cNvPr id="25" name="">
            <a:extLst xmlns:a="http://schemas.openxmlformats.org/drawingml/2006/main">
              <a:ext uri="{FF2B5EF4-FFF2-40B4-BE49-F238E27FC236}">
                <a16:creationId xmlns:a16="http://schemas.microsoft.com/office/drawing/2014/main" id="{9C9F7850-BA4C-4BC6-A53C-4EBCEA40FC60}"/>
              </a:ext>
            </a:extLst>
          </p:cNvPr>
          <p:cNvSpPr>
            <a:spLocks xmlns:a="http://schemas.openxmlformats.org/drawingml/2006/main" noGrp="1"/>
          </p:cNvSpPr>
          <p:nvPr/>
        </p:nvSpPr>
        <p:spPr>
          <a:xfrm xmlns:a="http://schemas.openxmlformats.org/drawingml/2006/main">
            <a:off x="6305550" y="4724400"/>
            <a:ext cx="4953000" cy="781050"/>
          </a:xfrm>
          <a:prstGeom xmlns:a="http://schemas.openxmlformats.org/drawingml/2006/main" prst="roundRect">
            <a:avLst>
              <a:gd name="adj" fmla="val 9756"/>
            </a:avLst>
          </a:prstGeom>
          <a:solidFill xmlns:a="http://schemas.openxmlformats.org/drawingml/2006/main">
            <a:srgbClr val="FBE3E3"/>
          </a:solidFill>
          <a:ln xmlns:a="http://schemas.openxmlformats.org/drawingml/2006/main" w="0">
            <a:solidFill>
              <a:srgbClr val="FBE3E3"/>
            </a:solidFill>
            <a:prstDash val="solid"/>
          </a:ln>
        </p:spPr>
      </p:sp>
      <p:sp>
        <p:nvSpPr>
          <p:cNvPr id="26" name="">
            <a:extLst xmlns:a="http://schemas.openxmlformats.org/drawingml/2006/main">
              <a:ext uri="{FF2B5EF4-FFF2-40B4-BE49-F238E27FC236}">
                <a16:creationId xmlns:a16="http://schemas.microsoft.com/office/drawing/2014/main" id="{F683FE91-7453-4864-B6AC-3189A27A8514}"/>
              </a:ext>
            </a:extLst>
          </p:cNvPr>
          <p:cNvSpPr>
            <a:spLocks xmlns:a="http://schemas.openxmlformats.org/drawingml/2006/main" noGrp="1"/>
          </p:cNvSpPr>
          <p:nvPr/>
        </p:nvSpPr>
        <p:spPr>
          <a:xfrm xmlns:a="http://schemas.openxmlformats.org/drawingml/2006/main">
            <a:off x="6515100" y="4933950"/>
            <a:ext cx="4533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C94E4E"/>
                </a:solidFill>
                <a:latin typeface="Arial"/>
                <a:ea typeface="Arial"/>
                <a:cs typeface="Arial"/>
              </a:defRPr>
            </a:pPr>
            <a:r>
              <a:rPr sz="1275" b="1" i="0">
                <a:solidFill>
                  <a:srgbClr val="C94E4E"/>
                </a:solidFill>
                <a:latin typeface="Arial"/>
                <a:ea typeface="Arial"/>
                <a:cs typeface="Arial"/>
              </a:rPr>
              <a:t>A second diagnosis does not automatically make every other candidate benign.</a:t>
            </a:r>
          </a:p>
        </p:txBody>
      </p:sp>
      <p:sp>
        <p:nvSpPr>
          <p:cNvPr id="27" name="">
            <a:extLst xmlns:a="http://schemas.openxmlformats.org/drawingml/2006/main">
              <a:ext uri="{FF2B5EF4-FFF2-40B4-BE49-F238E27FC236}">
                <a16:creationId xmlns:a16="http://schemas.microsoft.com/office/drawing/2014/main" id="{8AA3954C-EE58-4A2D-9A51-69286FF2CD91}"/>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current ClinGen guidance</a:t>
            </a:r>
          </a:p>
        </p:txBody>
      </p:sp>
      <p:sp>
        <p:nvSpPr>
          <p:cNvPr id="28" name="">
            <a:extLst xmlns:a="http://schemas.openxmlformats.org/drawingml/2006/main">
              <a:ext uri="{FF2B5EF4-FFF2-40B4-BE49-F238E27FC236}">
                <a16:creationId xmlns:a16="http://schemas.microsoft.com/office/drawing/2014/main" id="{E2693A81-002B-41B8-8733-CC66912292E1}"/>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33</a:t>
            </a:r>
          </a:p>
        </p:txBody>
      </p:sp>
    </p:spTree>
    <p:extLst>
      <p:ext uri="{BB962C8B-B14F-4D97-AF65-F5344CB8AC3E}">
        <p14:creationId xmlns:p14="http://schemas.microsoft.com/office/powerpoint/2010/main" val="148343237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F3EDCD-346E-4165-BDE6-4AA22D471B16}"/>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THE ORIGINAL 2015 LOGIC</a:t>
            </a:r>
          </a:p>
        </p:txBody>
      </p:sp>
      <p:sp>
        <p:nvSpPr>
          <p:cNvPr id="2" name="">
            <a:extLst xmlns:a="http://schemas.openxmlformats.org/drawingml/2006/main">
              <a:ext uri="{FF2B5EF4-FFF2-40B4-BE49-F238E27FC236}">
                <a16:creationId xmlns:a16="http://schemas.microsoft.com/office/drawing/2014/main" id="{A2964992-1106-4F50-A484-BC20F6BFE6C7}"/>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Combination rules translate evidence strength into a final class</a:t>
            </a:r>
          </a:p>
        </p:txBody>
      </p:sp>
      <p:cxnSp>
        <p:nvCxnSpPr>
          <p:cNvPr id="24"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63543B82-E06D-48E7-9DF9-D38DD79C3523}"/>
              </a:ext>
            </a:extLst>
          </p:cNvPr>
          <p:cNvSpPr>
            <a:spLocks xmlns:a="http://schemas.openxmlformats.org/drawingml/2006/main" noGrp="1"/>
          </p:cNvSpPr>
          <p:nvPr/>
        </p:nvSpPr>
        <p:spPr>
          <a:xfrm xmlns:a="http://schemas.openxmlformats.org/drawingml/2006/main">
            <a:off x="552450" y="1562100"/>
            <a:ext cx="10668000" cy="647700"/>
          </a:xfrm>
          <a:prstGeom xmlns:a="http://schemas.openxmlformats.org/drawingml/2006/main" prst="roundRect">
            <a:avLst>
              <a:gd name="adj" fmla="val 11765"/>
            </a:avLst>
          </a:prstGeom>
          <a:solidFill xmlns:a="http://schemas.openxmlformats.org/drawingml/2006/main">
            <a:srgbClr val="FBE3E3"/>
          </a:solidFill>
          <a:ln xmlns:a="http://schemas.openxmlformats.org/drawingml/2006/main" w="0">
            <a:solidFill>
              <a:srgbClr val="FBE3E3"/>
            </a:solidFill>
            <a:prstDash val="solid"/>
          </a:ln>
        </p:spPr>
      </p:sp>
      <p:sp>
        <p:nvSpPr>
          <p:cNvPr id="5" name="">
            <a:extLst xmlns:a="http://schemas.openxmlformats.org/drawingml/2006/main">
              <a:ext uri="{FF2B5EF4-FFF2-40B4-BE49-F238E27FC236}">
                <a16:creationId xmlns:a16="http://schemas.microsoft.com/office/drawing/2014/main" id="{8E21FA88-5F2A-454A-AB99-731D598FA4BB}"/>
              </a:ext>
            </a:extLst>
          </p:cNvPr>
          <p:cNvSpPr>
            <a:spLocks xmlns:a="http://schemas.openxmlformats.org/drawingml/2006/main" noGrp="1"/>
          </p:cNvSpPr>
          <p:nvPr/>
        </p:nvSpPr>
        <p:spPr>
          <a:xfrm xmlns:a="http://schemas.openxmlformats.org/drawingml/2006/main">
            <a:off x="742950" y="17526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C94E4E"/>
                </a:solidFill>
                <a:latin typeface="Arial"/>
                <a:ea typeface="Arial"/>
                <a:cs typeface="Arial"/>
              </a:defRPr>
            </a:pPr>
            <a:r>
              <a:rPr sz="1350" b="1" i="0">
                <a:solidFill>
                  <a:srgbClr val="C94E4E"/>
                </a:solidFill>
                <a:latin typeface="Arial"/>
                <a:ea typeface="Arial"/>
                <a:cs typeface="Arial"/>
              </a:rPr>
              <a:t>PATHOGENIC</a:t>
            </a:r>
          </a:p>
        </p:txBody>
      </p:sp>
      <p:sp>
        <p:nvSpPr>
          <p:cNvPr id="6" name="">
            <a:extLst xmlns:a="http://schemas.openxmlformats.org/drawingml/2006/main">
              <a:ext uri="{FF2B5EF4-FFF2-40B4-BE49-F238E27FC236}">
                <a16:creationId xmlns:a16="http://schemas.microsoft.com/office/drawing/2014/main" id="{C361B2E1-BBD1-46B5-8DED-BAF10E3DB112}"/>
              </a:ext>
            </a:extLst>
          </p:cNvPr>
          <p:cNvSpPr>
            <a:spLocks xmlns:a="http://schemas.openxmlformats.org/drawingml/2006/main" noGrp="1"/>
          </p:cNvSpPr>
          <p:nvPr/>
        </p:nvSpPr>
        <p:spPr>
          <a:xfrm xmlns:a="http://schemas.openxmlformats.org/drawingml/2006/main">
            <a:off x="3886200" y="1733550"/>
            <a:ext cx="693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Examples: PVS1 + PS1 • or ≥2 PS</a:t>
            </a:r>
          </a:p>
        </p:txBody>
      </p:sp>
      <p:sp>
        <p:nvSpPr>
          <p:cNvPr id="7" name="">
            <a:extLst xmlns:a="http://schemas.openxmlformats.org/drawingml/2006/main">
              <a:ext uri="{FF2B5EF4-FFF2-40B4-BE49-F238E27FC236}">
                <a16:creationId xmlns:a16="http://schemas.microsoft.com/office/drawing/2014/main" id="{4B06CF49-FA7B-4FD1-ACBD-55AF4528238E}"/>
              </a:ext>
            </a:extLst>
          </p:cNvPr>
          <p:cNvSpPr>
            <a:spLocks xmlns:a="http://schemas.openxmlformats.org/drawingml/2006/main" noGrp="1"/>
          </p:cNvSpPr>
          <p:nvPr/>
        </p:nvSpPr>
        <p:spPr>
          <a:xfrm xmlns:a="http://schemas.openxmlformats.org/drawingml/2006/main">
            <a:off x="552450" y="2400300"/>
            <a:ext cx="10668000" cy="647700"/>
          </a:xfrm>
          <a:prstGeom xmlns:a="http://schemas.openxmlformats.org/drawingml/2006/main" prst="roundRect">
            <a:avLst>
              <a:gd name="adj" fmla="val 11765"/>
            </a:avLst>
          </a:prstGeom>
          <a:solidFill xmlns:a="http://schemas.openxmlformats.org/drawingml/2006/main">
            <a:srgbClr val="FFF1CF"/>
          </a:solidFill>
          <a:ln xmlns:a="http://schemas.openxmlformats.org/drawingml/2006/main" w="0">
            <a:solidFill>
              <a:srgbClr val="FFF1CF"/>
            </a:solidFill>
            <a:prstDash val="solid"/>
          </a:ln>
        </p:spPr>
      </p:sp>
      <p:sp>
        <p:nvSpPr>
          <p:cNvPr id="8" name="">
            <a:extLst xmlns:a="http://schemas.openxmlformats.org/drawingml/2006/main">
              <a:ext uri="{FF2B5EF4-FFF2-40B4-BE49-F238E27FC236}">
                <a16:creationId xmlns:a16="http://schemas.microsoft.com/office/drawing/2014/main" id="{D2B4FE8B-D733-4BD5-9F27-24F19A32EF30}"/>
              </a:ext>
            </a:extLst>
          </p:cNvPr>
          <p:cNvSpPr>
            <a:spLocks xmlns:a="http://schemas.openxmlformats.org/drawingml/2006/main" noGrp="1"/>
          </p:cNvSpPr>
          <p:nvPr/>
        </p:nvSpPr>
        <p:spPr>
          <a:xfrm xmlns:a="http://schemas.openxmlformats.org/drawingml/2006/main">
            <a:off x="742950" y="25908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E7A62F"/>
                </a:solidFill>
                <a:latin typeface="Arial"/>
                <a:ea typeface="Arial"/>
                <a:cs typeface="Arial"/>
              </a:defRPr>
            </a:pPr>
            <a:r>
              <a:rPr sz="1350" b="1" i="0">
                <a:solidFill>
                  <a:srgbClr val="E7A62F"/>
                </a:solidFill>
                <a:latin typeface="Arial"/>
                <a:ea typeface="Arial"/>
                <a:cs typeface="Arial"/>
              </a:rPr>
              <a:t>LIKELY PATHOGENIC</a:t>
            </a:r>
          </a:p>
        </p:txBody>
      </p:sp>
      <p:sp>
        <p:nvSpPr>
          <p:cNvPr id="9" name="">
            <a:extLst xmlns:a="http://schemas.openxmlformats.org/drawingml/2006/main">
              <a:ext uri="{FF2B5EF4-FFF2-40B4-BE49-F238E27FC236}">
                <a16:creationId xmlns:a16="http://schemas.microsoft.com/office/drawing/2014/main" id="{A6B76FA7-1319-421C-8CEC-73D2F4C3C40B}"/>
              </a:ext>
            </a:extLst>
          </p:cNvPr>
          <p:cNvSpPr>
            <a:spLocks xmlns:a="http://schemas.openxmlformats.org/drawingml/2006/main" noGrp="1"/>
          </p:cNvSpPr>
          <p:nvPr/>
        </p:nvSpPr>
        <p:spPr>
          <a:xfrm xmlns:a="http://schemas.openxmlformats.org/drawingml/2006/main">
            <a:off x="3886200" y="2571750"/>
            <a:ext cx="693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Examples: PVS1 + PM • or PS + PM</a:t>
            </a:r>
          </a:p>
        </p:txBody>
      </p:sp>
      <p:sp>
        <p:nvSpPr>
          <p:cNvPr id="10" name="">
            <a:extLst xmlns:a="http://schemas.openxmlformats.org/drawingml/2006/main">
              <a:ext uri="{FF2B5EF4-FFF2-40B4-BE49-F238E27FC236}">
                <a16:creationId xmlns:a16="http://schemas.microsoft.com/office/drawing/2014/main" id="{1139437F-5F54-43A6-9938-C24757DC8CC5}"/>
              </a:ext>
            </a:extLst>
          </p:cNvPr>
          <p:cNvSpPr>
            <a:spLocks xmlns:a="http://schemas.openxmlformats.org/drawingml/2006/main" noGrp="1"/>
          </p:cNvSpPr>
          <p:nvPr/>
        </p:nvSpPr>
        <p:spPr>
          <a:xfrm xmlns:a="http://schemas.openxmlformats.org/drawingml/2006/main">
            <a:off x="552450" y="3238500"/>
            <a:ext cx="10668000" cy="647700"/>
          </a:xfrm>
          <a:prstGeom xmlns:a="http://schemas.openxmlformats.org/drawingml/2006/main" prst="roundRect">
            <a:avLst>
              <a:gd name="adj" fmla="val 11765"/>
            </a:avLst>
          </a:prstGeom>
          <a:solidFill xmlns:a="http://schemas.openxmlformats.org/drawingml/2006/main">
            <a:srgbClr val="EEE8FB"/>
          </a:solidFill>
          <a:ln xmlns:a="http://schemas.openxmlformats.org/drawingml/2006/main" w="0">
            <a:solidFill>
              <a:srgbClr val="EEE8FB"/>
            </a:solidFill>
            <a:prstDash val="solid"/>
          </a:ln>
        </p:spPr>
      </p:sp>
      <p:sp>
        <p:nvSpPr>
          <p:cNvPr id="11" name="">
            <a:extLst xmlns:a="http://schemas.openxmlformats.org/drawingml/2006/main">
              <a:ext uri="{FF2B5EF4-FFF2-40B4-BE49-F238E27FC236}">
                <a16:creationId xmlns:a16="http://schemas.microsoft.com/office/drawing/2014/main" id="{8437F7D9-C2F3-44EF-B4D2-4873965A71ED}"/>
              </a:ext>
            </a:extLst>
          </p:cNvPr>
          <p:cNvSpPr>
            <a:spLocks xmlns:a="http://schemas.openxmlformats.org/drawingml/2006/main" noGrp="1"/>
          </p:cNvSpPr>
          <p:nvPr/>
        </p:nvSpPr>
        <p:spPr>
          <a:xfrm xmlns:a="http://schemas.openxmlformats.org/drawingml/2006/main">
            <a:off x="742950" y="3429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756C2"/>
                </a:solidFill>
                <a:latin typeface="Arial"/>
                <a:ea typeface="Arial"/>
                <a:cs typeface="Arial"/>
              </a:defRPr>
            </a:pPr>
            <a:r>
              <a:rPr sz="1350" b="1" i="0">
                <a:solidFill>
                  <a:srgbClr val="7756C2"/>
                </a:solidFill>
                <a:latin typeface="Arial"/>
                <a:ea typeface="Arial"/>
                <a:cs typeface="Arial"/>
              </a:rPr>
              <a:t>VUS</a:t>
            </a:r>
          </a:p>
        </p:txBody>
      </p:sp>
      <p:sp>
        <p:nvSpPr>
          <p:cNvPr id="12" name="">
            <a:extLst xmlns:a="http://schemas.openxmlformats.org/drawingml/2006/main">
              <a:ext uri="{FF2B5EF4-FFF2-40B4-BE49-F238E27FC236}">
                <a16:creationId xmlns:a16="http://schemas.microsoft.com/office/drawing/2014/main" id="{56749502-D6EB-40B0-8C3E-490D764B4F17}"/>
              </a:ext>
            </a:extLst>
          </p:cNvPr>
          <p:cNvSpPr>
            <a:spLocks xmlns:a="http://schemas.openxmlformats.org/drawingml/2006/main" noGrp="1"/>
          </p:cNvSpPr>
          <p:nvPr/>
        </p:nvSpPr>
        <p:spPr>
          <a:xfrm xmlns:a="http://schemas.openxmlformats.org/drawingml/2006/main">
            <a:off x="3886200" y="3409950"/>
            <a:ext cx="693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Required combinations not met • or evidence conflicts</a:t>
            </a:r>
          </a:p>
        </p:txBody>
      </p:sp>
      <p:sp>
        <p:nvSpPr>
          <p:cNvPr id="13" name="">
            <a:extLst xmlns:a="http://schemas.openxmlformats.org/drawingml/2006/main">
              <a:ext uri="{FF2B5EF4-FFF2-40B4-BE49-F238E27FC236}">
                <a16:creationId xmlns:a16="http://schemas.microsoft.com/office/drawing/2014/main" id="{1EDA2B44-ED87-4532-AD3B-24D35CF3E7F2}"/>
              </a:ext>
            </a:extLst>
          </p:cNvPr>
          <p:cNvSpPr>
            <a:spLocks xmlns:a="http://schemas.openxmlformats.org/drawingml/2006/main" noGrp="1"/>
          </p:cNvSpPr>
          <p:nvPr/>
        </p:nvSpPr>
        <p:spPr>
          <a:xfrm xmlns:a="http://schemas.openxmlformats.org/drawingml/2006/main">
            <a:off x="552450" y="4076700"/>
            <a:ext cx="10668000" cy="647700"/>
          </a:xfrm>
          <a:prstGeom xmlns:a="http://schemas.openxmlformats.org/drawingml/2006/main" prst="roundRect">
            <a:avLst>
              <a:gd name="adj" fmla="val 11765"/>
            </a:avLst>
          </a:prstGeom>
          <a:solidFill xmlns:a="http://schemas.openxmlformats.org/drawingml/2006/main">
            <a:srgbClr val="DDF5F3"/>
          </a:solidFill>
          <a:ln xmlns:a="http://schemas.openxmlformats.org/drawingml/2006/main" w="0">
            <a:solidFill>
              <a:srgbClr val="DDF5F3"/>
            </a:solidFill>
            <a:prstDash val="solid"/>
          </a:ln>
        </p:spPr>
      </p:sp>
      <p:sp>
        <p:nvSpPr>
          <p:cNvPr id="14" name="">
            <a:extLst xmlns:a="http://schemas.openxmlformats.org/drawingml/2006/main">
              <a:ext uri="{FF2B5EF4-FFF2-40B4-BE49-F238E27FC236}">
                <a16:creationId xmlns:a16="http://schemas.microsoft.com/office/drawing/2014/main" id="{9FD19774-A6A0-4B71-8298-537982437E13}"/>
              </a:ext>
            </a:extLst>
          </p:cNvPr>
          <p:cNvSpPr>
            <a:spLocks xmlns:a="http://schemas.openxmlformats.org/drawingml/2006/main" noGrp="1"/>
          </p:cNvSpPr>
          <p:nvPr/>
        </p:nvSpPr>
        <p:spPr>
          <a:xfrm xmlns:a="http://schemas.openxmlformats.org/drawingml/2006/main">
            <a:off x="742950" y="42672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69C9C"/>
                </a:solidFill>
                <a:latin typeface="Arial"/>
                <a:ea typeface="Arial"/>
                <a:cs typeface="Arial"/>
              </a:defRPr>
            </a:pPr>
            <a:r>
              <a:rPr sz="1350" b="1" i="0">
                <a:solidFill>
                  <a:srgbClr val="069C9C"/>
                </a:solidFill>
                <a:latin typeface="Arial"/>
                <a:ea typeface="Arial"/>
                <a:cs typeface="Arial"/>
              </a:rPr>
              <a:t>LIKELY BENIGN</a:t>
            </a:r>
          </a:p>
        </p:txBody>
      </p:sp>
      <p:sp>
        <p:nvSpPr>
          <p:cNvPr id="15" name="">
            <a:extLst xmlns:a="http://schemas.openxmlformats.org/drawingml/2006/main">
              <a:ext uri="{FF2B5EF4-FFF2-40B4-BE49-F238E27FC236}">
                <a16:creationId xmlns:a16="http://schemas.microsoft.com/office/drawing/2014/main" id="{D7675080-704B-40B2-8048-23567F969455}"/>
              </a:ext>
            </a:extLst>
          </p:cNvPr>
          <p:cNvSpPr>
            <a:spLocks xmlns:a="http://schemas.openxmlformats.org/drawingml/2006/main" noGrp="1"/>
          </p:cNvSpPr>
          <p:nvPr/>
        </p:nvSpPr>
        <p:spPr>
          <a:xfrm xmlns:a="http://schemas.openxmlformats.org/drawingml/2006/main">
            <a:off x="3886200" y="4248150"/>
            <a:ext cx="693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BS + BP • or ≥2 BP</a:t>
            </a:r>
          </a:p>
        </p:txBody>
      </p:sp>
      <p:sp>
        <p:nvSpPr>
          <p:cNvPr id="16" name="">
            <a:extLst xmlns:a="http://schemas.openxmlformats.org/drawingml/2006/main">
              <a:ext uri="{FF2B5EF4-FFF2-40B4-BE49-F238E27FC236}">
                <a16:creationId xmlns:a16="http://schemas.microsoft.com/office/drawing/2014/main" id="{AF3A6A3D-0D82-438C-BCE2-FB11AC0535DA}"/>
              </a:ext>
            </a:extLst>
          </p:cNvPr>
          <p:cNvSpPr>
            <a:spLocks xmlns:a="http://schemas.openxmlformats.org/drawingml/2006/main" noGrp="1"/>
          </p:cNvSpPr>
          <p:nvPr/>
        </p:nvSpPr>
        <p:spPr>
          <a:xfrm xmlns:a="http://schemas.openxmlformats.org/drawingml/2006/main">
            <a:off x="552450" y="4914900"/>
            <a:ext cx="10668000" cy="647700"/>
          </a:xfrm>
          <a:prstGeom xmlns:a="http://schemas.openxmlformats.org/drawingml/2006/main" prst="roundRect">
            <a:avLst>
              <a:gd name="adj" fmla="val 11765"/>
            </a:avLst>
          </a:prstGeom>
          <a:solidFill xmlns:a="http://schemas.openxmlformats.org/drawingml/2006/main">
            <a:srgbClr val="DEF3E7"/>
          </a:solidFill>
          <a:ln xmlns:a="http://schemas.openxmlformats.org/drawingml/2006/main" w="0">
            <a:solidFill>
              <a:srgbClr val="DEF3E7"/>
            </a:solidFill>
            <a:prstDash val="solid"/>
          </a:ln>
        </p:spPr>
      </p:sp>
      <p:sp>
        <p:nvSpPr>
          <p:cNvPr id="17" name="">
            <a:extLst xmlns:a="http://schemas.openxmlformats.org/drawingml/2006/main">
              <a:ext uri="{FF2B5EF4-FFF2-40B4-BE49-F238E27FC236}">
                <a16:creationId xmlns:a16="http://schemas.microsoft.com/office/drawing/2014/main" id="{883A7030-EBDF-47CD-B263-B257B4C7F99F}"/>
              </a:ext>
            </a:extLst>
          </p:cNvPr>
          <p:cNvSpPr>
            <a:spLocks xmlns:a="http://schemas.openxmlformats.org/drawingml/2006/main" noGrp="1"/>
          </p:cNvSpPr>
          <p:nvPr/>
        </p:nvSpPr>
        <p:spPr>
          <a:xfrm xmlns:a="http://schemas.openxmlformats.org/drawingml/2006/main">
            <a:off x="742950" y="51054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59B64"/>
                </a:solidFill>
                <a:latin typeface="Arial"/>
                <a:ea typeface="Arial"/>
                <a:cs typeface="Arial"/>
              </a:defRPr>
            </a:pPr>
            <a:r>
              <a:rPr sz="1350" b="1" i="0">
                <a:solidFill>
                  <a:srgbClr val="359B64"/>
                </a:solidFill>
                <a:latin typeface="Arial"/>
                <a:ea typeface="Arial"/>
                <a:cs typeface="Arial"/>
              </a:rPr>
              <a:t>BENIGN</a:t>
            </a:r>
          </a:p>
        </p:txBody>
      </p:sp>
      <p:sp>
        <p:nvSpPr>
          <p:cNvPr id="18" name="">
            <a:extLst xmlns:a="http://schemas.openxmlformats.org/drawingml/2006/main">
              <a:ext uri="{FF2B5EF4-FFF2-40B4-BE49-F238E27FC236}">
                <a16:creationId xmlns:a16="http://schemas.microsoft.com/office/drawing/2014/main" id="{EAEF5233-FD87-4F3A-95FD-C23024DBD7FE}"/>
              </a:ext>
            </a:extLst>
          </p:cNvPr>
          <p:cNvSpPr>
            <a:spLocks xmlns:a="http://schemas.openxmlformats.org/drawingml/2006/main" noGrp="1"/>
          </p:cNvSpPr>
          <p:nvPr/>
        </p:nvSpPr>
        <p:spPr>
          <a:xfrm xmlns:a="http://schemas.openxmlformats.org/drawingml/2006/main">
            <a:off x="3886200" y="5086350"/>
            <a:ext cx="693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0B1F33"/>
                </a:solidFill>
                <a:latin typeface="Arial"/>
                <a:ea typeface="Arial"/>
                <a:cs typeface="Arial"/>
              </a:defRPr>
            </a:pPr>
            <a:r>
              <a:rPr sz="1500" b="1" i="0">
                <a:solidFill>
                  <a:srgbClr val="0B1F33"/>
                </a:solidFill>
                <a:latin typeface="Arial"/>
                <a:ea typeface="Arial"/>
                <a:cs typeface="Arial"/>
              </a:rPr>
              <a:t>BA1 • or ≥2 BS</a:t>
            </a:r>
          </a:p>
        </p:txBody>
      </p:sp>
      <p:sp>
        <p:nvSpPr>
          <p:cNvPr id="19" name="">
            <a:extLst xmlns:a="http://schemas.openxmlformats.org/drawingml/2006/main">
              <a:ext uri="{FF2B5EF4-FFF2-40B4-BE49-F238E27FC236}">
                <a16:creationId xmlns:a16="http://schemas.microsoft.com/office/drawing/2014/main" id="{A032ACB5-5E56-4560-AF26-8BE52861A4F3}"/>
              </a:ext>
            </a:extLst>
          </p:cNvPr>
          <p:cNvSpPr>
            <a:spLocks xmlns:a="http://schemas.openxmlformats.org/drawingml/2006/main" noGrp="1"/>
          </p:cNvSpPr>
          <p:nvPr/>
        </p:nvSpPr>
        <p:spPr>
          <a:xfrm xmlns:a="http://schemas.openxmlformats.org/drawingml/2006/main">
            <a:off x="3276600" y="5962650"/>
            <a:ext cx="563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i="0">
                <a:solidFill>
                  <a:srgbClr val="536273"/>
                </a:solidFill>
                <a:latin typeface="Arial"/>
                <a:ea typeface="Arial"/>
                <a:cs typeface="Arial"/>
              </a:defRPr>
            </a:pPr>
            <a:r>
              <a:rPr sz="1125" b="0" i="0">
                <a:solidFill>
                  <a:srgbClr val="536273"/>
                </a:solidFill>
                <a:latin typeface="Arial"/>
                <a:ea typeface="Arial"/>
                <a:cs typeface="Arial"/>
              </a:rPr>
              <a:t>These are examples—not the complete Table 5 combinations.</a:t>
            </a:r>
          </a:p>
        </p:txBody>
      </p:sp>
      <p:sp>
        <p:nvSpPr>
          <p:cNvPr id="20" name="">
            <a:extLst xmlns:a="http://schemas.openxmlformats.org/drawingml/2006/main">
              <a:ext uri="{FF2B5EF4-FFF2-40B4-BE49-F238E27FC236}">
                <a16:creationId xmlns:a16="http://schemas.microsoft.com/office/drawing/2014/main" id="{31A2AB31-B75E-4317-B395-BFB793901DD2}"/>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ACMG/AMP 2015 — Table 5</a:t>
            </a:r>
          </a:p>
        </p:txBody>
      </p:sp>
      <p:sp>
        <p:nvSpPr>
          <p:cNvPr id="21" name="">
            <a:extLst xmlns:a="http://schemas.openxmlformats.org/drawingml/2006/main">
              <a:ext uri="{FF2B5EF4-FFF2-40B4-BE49-F238E27FC236}">
                <a16:creationId xmlns:a16="http://schemas.microsoft.com/office/drawing/2014/main" id="{DA7319D2-8BF6-4D00-A1AD-7C0D9E3D899E}"/>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34</a:t>
            </a:r>
          </a:p>
        </p:txBody>
      </p:sp>
    </p:spTree>
    <p:extLst>
      <p:ext uri="{BB962C8B-B14F-4D97-AF65-F5344CB8AC3E}">
        <p14:creationId xmlns:p14="http://schemas.microsoft.com/office/powerpoint/2010/main" val="86584797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90222C-EE76-4099-8AF1-147FA426DEB1}"/>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PATHOGENIC AND BENIGN EVIDENCE COEXIST</a:t>
            </a:r>
          </a:p>
        </p:txBody>
      </p:sp>
      <p:sp>
        <p:nvSpPr>
          <p:cNvPr id="2" name="">
            <a:extLst xmlns:a="http://schemas.openxmlformats.org/drawingml/2006/main">
              <a:ext uri="{FF2B5EF4-FFF2-40B4-BE49-F238E27FC236}">
                <a16:creationId xmlns:a16="http://schemas.microsoft.com/office/drawing/2014/main" id="{6F41BF2F-C961-4ED3-869B-D00575068ECF}"/>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Classification uses two evidence directions—and conflict matters</a:t>
            </a:r>
          </a:p>
        </p:txBody>
      </p:sp>
      <p:cxnSp>
        <p:nvCxnSpPr>
          <p:cNvPr id="18"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606EEFBC-0B6A-4039-AA4D-B583C518BA06}"/>
              </a:ext>
            </a:extLst>
          </p:cNvPr>
          <p:cNvSpPr>
            <a:spLocks xmlns:a="http://schemas.openxmlformats.org/drawingml/2006/main" noGrp="1"/>
          </p:cNvSpPr>
          <p:nvPr/>
        </p:nvSpPr>
        <p:spPr>
          <a:xfrm xmlns:a="http://schemas.openxmlformats.org/drawingml/2006/main">
            <a:off x="571500" y="1962150"/>
            <a:ext cx="4572000" cy="2381250"/>
          </a:xfrm>
          <a:prstGeom xmlns:a="http://schemas.openxmlformats.org/drawingml/2006/main" prst="roundRect">
            <a:avLst>
              <a:gd name="adj" fmla="val 3200"/>
            </a:avLst>
          </a:prstGeom>
          <a:solidFill xmlns:a="http://schemas.openxmlformats.org/drawingml/2006/main">
            <a:srgbClr val="FBE3E3"/>
          </a:solidFill>
          <a:ln xmlns:a="http://schemas.openxmlformats.org/drawingml/2006/main" w="0">
            <a:solidFill>
              <a:srgbClr val="FBE3E3"/>
            </a:solidFill>
            <a:prstDash val="solid"/>
          </a:ln>
        </p:spPr>
      </p:sp>
      <p:sp>
        <p:nvSpPr>
          <p:cNvPr id="5" name="">
            <a:extLst xmlns:a="http://schemas.openxmlformats.org/drawingml/2006/main">
              <a:ext uri="{FF2B5EF4-FFF2-40B4-BE49-F238E27FC236}">
                <a16:creationId xmlns:a16="http://schemas.microsoft.com/office/drawing/2014/main" id="{0679AFB9-4BD7-420D-8F61-3995F9D7478A}"/>
              </a:ext>
            </a:extLst>
          </p:cNvPr>
          <p:cNvSpPr>
            <a:spLocks xmlns:a="http://schemas.openxmlformats.org/drawingml/2006/main" noGrp="1"/>
          </p:cNvSpPr>
          <p:nvPr/>
        </p:nvSpPr>
        <p:spPr>
          <a:xfrm xmlns:a="http://schemas.openxmlformats.org/drawingml/2006/main">
            <a:off x="838200" y="224790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C94E4E"/>
                </a:solidFill>
                <a:latin typeface="Arial"/>
                <a:ea typeface="Arial"/>
                <a:cs typeface="Arial"/>
              </a:defRPr>
            </a:pPr>
            <a:r>
              <a:rPr sz="1275" b="1" i="0">
                <a:solidFill>
                  <a:srgbClr val="C94E4E"/>
                </a:solidFill>
                <a:latin typeface="Arial"/>
                <a:ea typeface="Arial"/>
                <a:cs typeface="Arial"/>
              </a:rPr>
              <a:t>PATHOGENIC DIRECTION</a:t>
            </a:r>
          </a:p>
        </p:txBody>
      </p:sp>
      <p:sp>
        <p:nvSpPr>
          <p:cNvPr id="6" name="">
            <a:extLst xmlns:a="http://schemas.openxmlformats.org/drawingml/2006/main">
              <a:ext uri="{FF2B5EF4-FFF2-40B4-BE49-F238E27FC236}">
                <a16:creationId xmlns:a16="http://schemas.microsoft.com/office/drawing/2014/main" id="{EB747233-EDB3-4B53-835C-F33A36EF3424}"/>
              </a:ext>
            </a:extLst>
          </p:cNvPr>
          <p:cNvSpPr>
            <a:spLocks xmlns:a="http://schemas.openxmlformats.org/drawingml/2006/main" noGrp="1"/>
          </p:cNvSpPr>
          <p:nvPr/>
        </p:nvSpPr>
        <p:spPr>
          <a:xfrm xmlns:a="http://schemas.openxmlformats.org/drawingml/2006/main">
            <a:off x="838200" y="2876550"/>
            <a:ext cx="403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C94E4E"/>
                </a:solidFill>
                <a:latin typeface="Arial"/>
                <a:ea typeface="Arial"/>
                <a:cs typeface="Arial"/>
              </a:defRPr>
            </a:pPr>
            <a:r>
              <a:rPr sz="2325" b="1" i="0">
                <a:solidFill>
                  <a:srgbClr val="C94E4E"/>
                </a:solidFill>
                <a:latin typeface="Arial"/>
                <a:ea typeface="Arial"/>
                <a:cs typeface="Arial"/>
              </a:rPr>
              <a:t>PVS • PS • PM • PP</a:t>
            </a:r>
          </a:p>
        </p:txBody>
      </p:sp>
      <p:sp>
        <p:nvSpPr>
          <p:cNvPr id="7" name="">
            <a:extLst xmlns:a="http://schemas.openxmlformats.org/drawingml/2006/main">
              <a:ext uri="{FF2B5EF4-FFF2-40B4-BE49-F238E27FC236}">
                <a16:creationId xmlns:a16="http://schemas.microsoft.com/office/drawing/2014/main" id="{C56E3CD0-2FBB-4D1D-A74E-704FE5FF7E1C}"/>
              </a:ext>
            </a:extLst>
          </p:cNvPr>
          <p:cNvSpPr>
            <a:spLocks xmlns:a="http://schemas.openxmlformats.org/drawingml/2006/main" noGrp="1"/>
          </p:cNvSpPr>
          <p:nvPr/>
        </p:nvSpPr>
        <p:spPr>
          <a:xfrm xmlns:a="http://schemas.openxmlformats.org/drawingml/2006/main">
            <a:off x="838200" y="3619500"/>
            <a:ext cx="403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36273"/>
                </a:solidFill>
                <a:latin typeface="Arial"/>
                <a:ea typeface="Arial"/>
                <a:cs typeface="Arial"/>
              </a:defRPr>
            </a:pPr>
            <a:r>
              <a:rPr sz="1350" b="0" i="0">
                <a:solidFill>
                  <a:srgbClr val="536273"/>
                </a:solidFill>
                <a:latin typeface="Arial"/>
                <a:ea typeface="Arial"/>
                <a:cs typeface="Arial"/>
              </a:rPr>
              <a:t>Evidence supporting disease causation</a:t>
            </a:r>
          </a:p>
        </p:txBody>
      </p:sp>
      <p:sp>
        <p:nvSpPr>
          <p:cNvPr id="8" name="">
            <a:extLst xmlns:a="http://schemas.openxmlformats.org/drawingml/2006/main">
              <a:ext uri="{FF2B5EF4-FFF2-40B4-BE49-F238E27FC236}">
                <a16:creationId xmlns:a16="http://schemas.microsoft.com/office/drawing/2014/main" id="{A0A6B6DB-6834-443D-B57D-0FD2DD611250}"/>
              </a:ext>
            </a:extLst>
          </p:cNvPr>
          <p:cNvSpPr>
            <a:spLocks xmlns:a="http://schemas.openxmlformats.org/drawingml/2006/main" noGrp="1"/>
          </p:cNvSpPr>
          <p:nvPr/>
        </p:nvSpPr>
        <p:spPr>
          <a:xfrm xmlns:a="http://schemas.openxmlformats.org/drawingml/2006/main">
            <a:off x="7048500" y="1962150"/>
            <a:ext cx="4572000" cy="2381250"/>
          </a:xfrm>
          <a:prstGeom xmlns:a="http://schemas.openxmlformats.org/drawingml/2006/main" prst="roundRect">
            <a:avLst>
              <a:gd name="adj" fmla="val 3200"/>
            </a:avLst>
          </a:prstGeom>
          <a:solidFill xmlns:a="http://schemas.openxmlformats.org/drawingml/2006/main">
            <a:srgbClr val="DEF3E7"/>
          </a:solidFill>
          <a:ln xmlns:a="http://schemas.openxmlformats.org/drawingml/2006/main" w="0">
            <a:solidFill>
              <a:srgbClr val="DEF3E7"/>
            </a:solidFill>
            <a:prstDash val="solid"/>
          </a:ln>
        </p:spPr>
      </p:sp>
      <p:sp>
        <p:nvSpPr>
          <p:cNvPr id="9" name="">
            <a:extLst xmlns:a="http://schemas.openxmlformats.org/drawingml/2006/main">
              <a:ext uri="{FF2B5EF4-FFF2-40B4-BE49-F238E27FC236}">
                <a16:creationId xmlns:a16="http://schemas.microsoft.com/office/drawing/2014/main" id="{2318F9D0-6891-48DA-B226-54D210153283}"/>
              </a:ext>
            </a:extLst>
          </p:cNvPr>
          <p:cNvSpPr>
            <a:spLocks xmlns:a="http://schemas.openxmlformats.org/drawingml/2006/main" noGrp="1"/>
          </p:cNvSpPr>
          <p:nvPr/>
        </p:nvSpPr>
        <p:spPr>
          <a:xfrm xmlns:a="http://schemas.openxmlformats.org/drawingml/2006/main">
            <a:off x="7315200" y="2247900"/>
            <a:ext cx="4038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359B64"/>
                </a:solidFill>
                <a:latin typeface="Arial"/>
                <a:ea typeface="Arial"/>
                <a:cs typeface="Arial"/>
              </a:defRPr>
            </a:pPr>
            <a:r>
              <a:rPr sz="1275" b="1" i="0">
                <a:solidFill>
                  <a:srgbClr val="359B64"/>
                </a:solidFill>
                <a:latin typeface="Arial"/>
                <a:ea typeface="Arial"/>
                <a:cs typeface="Arial"/>
              </a:rPr>
              <a:t>BENIGN DIRECTION</a:t>
            </a:r>
          </a:p>
        </p:txBody>
      </p:sp>
      <p:sp>
        <p:nvSpPr>
          <p:cNvPr id="10" name="">
            <a:extLst xmlns:a="http://schemas.openxmlformats.org/drawingml/2006/main">
              <a:ext uri="{FF2B5EF4-FFF2-40B4-BE49-F238E27FC236}">
                <a16:creationId xmlns:a16="http://schemas.microsoft.com/office/drawing/2014/main" id="{17914D4A-F503-4CDD-81A4-689AC1C5AED3}"/>
              </a:ext>
            </a:extLst>
          </p:cNvPr>
          <p:cNvSpPr>
            <a:spLocks xmlns:a="http://schemas.openxmlformats.org/drawingml/2006/main" noGrp="1"/>
          </p:cNvSpPr>
          <p:nvPr/>
        </p:nvSpPr>
        <p:spPr>
          <a:xfrm xmlns:a="http://schemas.openxmlformats.org/drawingml/2006/main">
            <a:off x="7315200" y="2876550"/>
            <a:ext cx="403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359B64"/>
                </a:solidFill>
                <a:latin typeface="Arial"/>
                <a:ea typeface="Arial"/>
                <a:cs typeface="Arial"/>
              </a:defRPr>
            </a:pPr>
            <a:r>
              <a:rPr sz="2325" b="1" i="0">
                <a:solidFill>
                  <a:srgbClr val="359B64"/>
                </a:solidFill>
                <a:latin typeface="Arial"/>
                <a:ea typeface="Arial"/>
                <a:cs typeface="Arial"/>
              </a:rPr>
              <a:t>BA • BS • BP</a:t>
            </a:r>
          </a:p>
        </p:txBody>
      </p:sp>
      <p:sp>
        <p:nvSpPr>
          <p:cNvPr id="11" name="">
            <a:extLst xmlns:a="http://schemas.openxmlformats.org/drawingml/2006/main">
              <a:ext uri="{FF2B5EF4-FFF2-40B4-BE49-F238E27FC236}">
                <a16:creationId xmlns:a16="http://schemas.microsoft.com/office/drawing/2014/main" id="{EF28FB6C-948F-41B6-8416-1B4C6A68C7BB}"/>
              </a:ext>
            </a:extLst>
          </p:cNvPr>
          <p:cNvSpPr>
            <a:spLocks xmlns:a="http://schemas.openxmlformats.org/drawingml/2006/main" noGrp="1"/>
          </p:cNvSpPr>
          <p:nvPr/>
        </p:nvSpPr>
        <p:spPr>
          <a:xfrm xmlns:a="http://schemas.openxmlformats.org/drawingml/2006/main">
            <a:off x="7315200" y="3619500"/>
            <a:ext cx="4038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36273"/>
                </a:solidFill>
                <a:latin typeface="Arial"/>
                <a:ea typeface="Arial"/>
                <a:cs typeface="Arial"/>
              </a:defRPr>
            </a:pPr>
            <a:r>
              <a:rPr sz="1350" b="0" i="0">
                <a:solidFill>
                  <a:srgbClr val="536273"/>
                </a:solidFill>
                <a:latin typeface="Arial"/>
                <a:ea typeface="Arial"/>
                <a:cs typeface="Arial"/>
              </a:rPr>
              <a:t>Evidence arguing against disease causation</a:t>
            </a:r>
          </a:p>
        </p:txBody>
      </p:sp>
      <p:sp>
        <p:nvSpPr>
          <p:cNvPr id="12" name="">
            <a:extLst xmlns:a="http://schemas.openxmlformats.org/drawingml/2006/main">
              <a:ext uri="{FF2B5EF4-FFF2-40B4-BE49-F238E27FC236}">
                <a16:creationId xmlns:a16="http://schemas.microsoft.com/office/drawing/2014/main" id="{B80E58CC-F688-4E8B-AE67-7D5042936894}"/>
              </a:ext>
            </a:extLst>
          </p:cNvPr>
          <p:cNvSpPr>
            <a:spLocks xmlns:a="http://schemas.openxmlformats.org/drawingml/2006/main" noGrp="1"/>
          </p:cNvSpPr>
          <p:nvPr/>
        </p:nvSpPr>
        <p:spPr>
          <a:xfrm xmlns:a="http://schemas.openxmlformats.org/drawingml/2006/main">
            <a:off x="5657850" y="2724150"/>
            <a:ext cx="876300" cy="876300"/>
          </a:xfrm>
          <a:prstGeom xmlns:a="http://schemas.openxmlformats.org/drawingml/2006/main" prst="roundRect">
            <a:avLst>
              <a:gd name="adj" fmla="val 8696"/>
            </a:avLst>
          </a:prstGeom>
          <a:solidFill xmlns:a="http://schemas.openxmlformats.org/drawingml/2006/main">
            <a:srgbClr val="EEE8FB"/>
          </a:solidFill>
          <a:ln xmlns:a="http://schemas.openxmlformats.org/drawingml/2006/main" w="0">
            <a:solidFill>
              <a:srgbClr val="EEE8FB"/>
            </a:solidFill>
            <a:prstDash val="solid"/>
          </a:ln>
        </p:spPr>
      </p:sp>
      <p:sp>
        <p:nvSpPr>
          <p:cNvPr id="13" name="">
            <a:extLst xmlns:a="http://schemas.openxmlformats.org/drawingml/2006/main">
              <a:ext uri="{FF2B5EF4-FFF2-40B4-BE49-F238E27FC236}">
                <a16:creationId xmlns:a16="http://schemas.microsoft.com/office/drawing/2014/main" id="{B08F605F-59C1-4FF9-806F-BA8035EBDA79}"/>
              </a:ext>
            </a:extLst>
          </p:cNvPr>
          <p:cNvSpPr>
            <a:spLocks xmlns:a="http://schemas.openxmlformats.org/drawingml/2006/main" noGrp="1"/>
          </p:cNvSpPr>
          <p:nvPr/>
        </p:nvSpPr>
        <p:spPr>
          <a:xfrm xmlns:a="http://schemas.openxmlformats.org/drawingml/2006/main">
            <a:off x="5657850" y="2733675"/>
            <a:ext cx="876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i="0">
                <a:solidFill>
                  <a:srgbClr val="7756C2"/>
                </a:solidFill>
                <a:latin typeface="Arial"/>
                <a:ea typeface="Arial"/>
                <a:cs typeface="Arial"/>
              </a:defRPr>
            </a:pPr>
            <a:r>
              <a:rPr sz="1800" b="1" i="0">
                <a:solidFill>
                  <a:srgbClr val="7756C2"/>
                </a:solidFill>
                <a:latin typeface="Arial"/>
                <a:ea typeface="Arial"/>
                <a:cs typeface="Arial"/>
              </a:rPr>
              <a:t>VUS</a:t>
            </a:r>
          </a:p>
        </p:txBody>
      </p:sp>
      <p:sp>
        <p:nvSpPr>
          <p:cNvPr id="14" name="">
            <a:extLst xmlns:a="http://schemas.openxmlformats.org/drawingml/2006/main">
              <a:ext uri="{FF2B5EF4-FFF2-40B4-BE49-F238E27FC236}">
                <a16:creationId xmlns:a16="http://schemas.microsoft.com/office/drawing/2014/main" id="{6BCB6E02-C072-4FD6-BAFD-391CEC8EA446}"/>
              </a:ext>
            </a:extLst>
          </p:cNvPr>
          <p:cNvSpPr>
            <a:spLocks xmlns:a="http://schemas.openxmlformats.org/drawingml/2006/main" noGrp="1"/>
          </p:cNvSpPr>
          <p:nvPr/>
        </p:nvSpPr>
        <p:spPr>
          <a:xfrm xmlns:a="http://schemas.openxmlformats.org/drawingml/2006/main">
            <a:off x="3714750" y="48958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0B1F33"/>
                </a:solidFill>
                <a:latin typeface="Arial"/>
                <a:ea typeface="Arial"/>
                <a:cs typeface="Arial"/>
              </a:defRPr>
            </a:pPr>
            <a:r>
              <a:rPr sz="1575" b="1" i="0">
                <a:solidFill>
                  <a:srgbClr val="0B1F33"/>
                </a:solidFill>
                <a:latin typeface="Arial"/>
                <a:ea typeface="Arial"/>
                <a:cs typeface="Arial"/>
              </a:rPr>
              <a:t>Insufficient or contradictory evidence</a:t>
            </a:r>
          </a:p>
        </p:txBody>
      </p:sp>
      <p:sp>
        <p:nvSpPr>
          <p:cNvPr id="15" name="">
            <a:extLst xmlns:a="http://schemas.openxmlformats.org/drawingml/2006/main">
              <a:ext uri="{FF2B5EF4-FFF2-40B4-BE49-F238E27FC236}">
                <a16:creationId xmlns:a16="http://schemas.microsoft.com/office/drawing/2014/main" id="{FDD7C0C4-D967-4252-B4C3-0F175A193B11}"/>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35</a:t>
            </a:r>
          </a:p>
        </p:txBody>
      </p:sp>
    </p:spTree>
    <p:extLst>
      <p:ext uri="{BB962C8B-B14F-4D97-AF65-F5344CB8AC3E}">
        <p14:creationId xmlns:p14="http://schemas.microsoft.com/office/powerpoint/2010/main" val="57693941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BE1BF1-F9FE-4F01-B53B-9A8FCB49C0F8}"/>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VARIANT X • HYPOTHETICAL CASE</a:t>
            </a:r>
          </a:p>
        </p:txBody>
      </p:sp>
      <p:sp>
        <p:nvSpPr>
          <p:cNvPr id="2" name="">
            <a:extLst xmlns:a="http://schemas.openxmlformats.org/drawingml/2006/main">
              <a:ext uri="{FF2B5EF4-FFF2-40B4-BE49-F238E27FC236}">
                <a16:creationId xmlns:a16="http://schemas.microsoft.com/office/drawing/2014/main" id="{D9725EA5-AF72-49FA-B98E-8EE18B315B4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A teaching example shows how codes become a conclusion</a:t>
            </a:r>
          </a:p>
        </p:txBody>
      </p:sp>
      <p:cxnSp>
        <p:nvCxnSpPr>
          <p:cNvPr id="20"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7BE76DAF-289D-4E9E-8A6F-995FA5658B7F}"/>
              </a:ext>
            </a:extLst>
          </p:cNvPr>
          <p:cNvSpPr>
            <a:spLocks xmlns:a="http://schemas.openxmlformats.org/drawingml/2006/main" noGrp="1"/>
          </p:cNvSpPr>
          <p:nvPr/>
        </p:nvSpPr>
        <p:spPr>
          <a:xfrm xmlns:a="http://schemas.openxmlformats.org/drawingml/2006/main">
            <a:off x="476250" y="1676400"/>
            <a:ext cx="3257550" cy="3733800"/>
          </a:xfrm>
          <a:prstGeom xmlns:a="http://schemas.openxmlformats.org/drawingml/2006/main" prst="roundRect">
            <a:avLst>
              <a:gd name="adj" fmla="val 2339"/>
            </a:avLst>
          </a:prstGeom>
          <a:solidFill xmlns:a="http://schemas.openxmlformats.org/drawingml/2006/main">
            <a:srgbClr val="DCE8FF"/>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22C82DAC-451F-4F5F-A407-FEAF3E05F389}"/>
              </a:ext>
            </a:extLst>
          </p:cNvPr>
          <p:cNvSpPr>
            <a:spLocks xmlns:a="http://schemas.openxmlformats.org/drawingml/2006/main" noGrp="1"/>
          </p:cNvSpPr>
          <p:nvPr/>
        </p:nvSpPr>
        <p:spPr>
          <a:xfrm xmlns:a="http://schemas.openxmlformats.org/drawingml/2006/main">
            <a:off x="476250" y="1676400"/>
            <a:ext cx="66675" cy="37338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DC13BB51-DA3F-443F-8CDF-742F320629B6}"/>
              </a:ext>
            </a:extLst>
          </p:cNvPr>
          <p:cNvSpPr>
            <a:spLocks xmlns:a="http://schemas.openxmlformats.org/drawingml/2006/main" noGrp="1"/>
          </p:cNvSpPr>
          <p:nvPr/>
        </p:nvSpPr>
        <p:spPr>
          <a:xfrm xmlns:a="http://schemas.openxmlformats.org/drawingml/2006/main">
            <a:off x="704850" y="1866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Clinical context</a:t>
            </a:r>
          </a:p>
        </p:txBody>
      </p:sp>
      <p:sp>
        <p:nvSpPr>
          <p:cNvPr id="7" name="">
            <a:extLst xmlns:a="http://schemas.openxmlformats.org/drawingml/2006/main">
              <a:ext uri="{FF2B5EF4-FFF2-40B4-BE49-F238E27FC236}">
                <a16:creationId xmlns:a16="http://schemas.microsoft.com/office/drawing/2014/main" id="{6C088C53-A8C8-4854-B8EE-096B6F69E5DA}"/>
              </a:ext>
            </a:extLst>
          </p:cNvPr>
          <p:cNvSpPr>
            <a:spLocks xmlns:a="http://schemas.openxmlformats.org/drawingml/2006/main" noGrp="1"/>
          </p:cNvSpPr>
          <p:nvPr/>
        </p:nvSpPr>
        <p:spPr>
          <a:xfrm xmlns:a="http://schemas.openxmlformats.org/drawingml/2006/main">
            <a:off x="704850" y="2266950"/>
            <a:ext cx="28575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Autosomal recessive disorder</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Gene–disease relationship established</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Loss of function is a known mechanism</a:t>
            </a:r>
          </a:p>
        </p:txBody>
      </p:sp>
      <p:sp>
        <p:nvSpPr>
          <p:cNvPr id="8" name="">
            <a:extLst xmlns:a="http://schemas.openxmlformats.org/drawingml/2006/main">
              <a:ext uri="{FF2B5EF4-FFF2-40B4-BE49-F238E27FC236}">
                <a16:creationId xmlns:a16="http://schemas.microsoft.com/office/drawing/2014/main" id="{D6756B50-4783-45FE-8908-31988CBBA14A}"/>
              </a:ext>
            </a:extLst>
          </p:cNvPr>
          <p:cNvSpPr>
            <a:spLocks xmlns:a="http://schemas.openxmlformats.org/drawingml/2006/main" noGrp="1"/>
          </p:cNvSpPr>
          <p:nvPr/>
        </p:nvSpPr>
        <p:spPr>
          <a:xfrm xmlns:a="http://schemas.openxmlformats.org/drawingml/2006/main">
            <a:off x="4457700" y="1676400"/>
            <a:ext cx="3257550" cy="3733800"/>
          </a:xfrm>
          <a:prstGeom xmlns:a="http://schemas.openxmlformats.org/drawingml/2006/main" prst="roundRect">
            <a:avLst>
              <a:gd name="adj" fmla="val 2339"/>
            </a:avLst>
          </a:prstGeom>
          <a:solidFill xmlns:a="http://schemas.openxmlformats.org/drawingml/2006/main">
            <a:srgbClr val="FFF1CF"/>
          </a:solidFill>
          <a:ln xmlns:a="http://schemas.openxmlformats.org/drawingml/2006/main" w="9525">
            <a:solidFill>
              <a:srgbClr val="D6DEE7"/>
            </a:solidFill>
            <a:prstDash val="solid"/>
          </a:ln>
        </p:spPr>
      </p:sp>
      <p:sp>
        <p:nvSpPr>
          <p:cNvPr id="9" name="">
            <a:extLst xmlns:a="http://schemas.openxmlformats.org/drawingml/2006/main">
              <a:ext uri="{FF2B5EF4-FFF2-40B4-BE49-F238E27FC236}">
                <a16:creationId xmlns:a16="http://schemas.microsoft.com/office/drawing/2014/main" id="{7584066E-C3C8-48A3-9829-77EDDB2AF946}"/>
              </a:ext>
            </a:extLst>
          </p:cNvPr>
          <p:cNvSpPr>
            <a:spLocks xmlns:a="http://schemas.openxmlformats.org/drawingml/2006/main" noGrp="1"/>
          </p:cNvSpPr>
          <p:nvPr/>
        </p:nvSpPr>
        <p:spPr>
          <a:xfrm xmlns:a="http://schemas.openxmlformats.org/drawingml/2006/main">
            <a:off x="4457700" y="1676400"/>
            <a:ext cx="66675" cy="3733800"/>
          </a:xfrm>
          <a:prstGeom xmlns:a="http://schemas.openxmlformats.org/drawingml/2006/main" prst="roundRect">
            <a:avLst>
              <a:gd name="adj" fmla="val 50000"/>
            </a:avLst>
          </a:prstGeom>
          <a:solidFill xmlns:a="http://schemas.openxmlformats.org/drawingml/2006/main">
            <a:srgbClr val="E7A62F"/>
          </a:solidFill>
          <a:ln xmlns:a="http://schemas.openxmlformats.org/drawingml/2006/main" w="0">
            <a:solidFill>
              <a:srgbClr val="E7A62F"/>
            </a:solidFill>
            <a:prstDash val="solid"/>
          </a:ln>
        </p:spPr>
      </p:sp>
      <p:sp>
        <p:nvSpPr>
          <p:cNvPr id="10" name="">
            <a:extLst xmlns:a="http://schemas.openxmlformats.org/drawingml/2006/main">
              <a:ext uri="{FF2B5EF4-FFF2-40B4-BE49-F238E27FC236}">
                <a16:creationId xmlns:a16="http://schemas.microsoft.com/office/drawing/2014/main" id="{581D4FC2-017E-4BBB-986D-E849C59585F3}"/>
              </a:ext>
            </a:extLst>
          </p:cNvPr>
          <p:cNvSpPr>
            <a:spLocks xmlns:a="http://schemas.openxmlformats.org/drawingml/2006/main" noGrp="1"/>
          </p:cNvSpPr>
          <p:nvPr/>
        </p:nvSpPr>
        <p:spPr>
          <a:xfrm xmlns:a="http://schemas.openxmlformats.org/drawingml/2006/main">
            <a:off x="4686300" y="1866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Observed evidence</a:t>
            </a:r>
          </a:p>
        </p:txBody>
      </p:sp>
      <p:sp>
        <p:nvSpPr>
          <p:cNvPr id="11" name="">
            <a:extLst xmlns:a="http://schemas.openxmlformats.org/drawingml/2006/main">
              <a:ext uri="{FF2B5EF4-FFF2-40B4-BE49-F238E27FC236}">
                <a16:creationId xmlns:a16="http://schemas.microsoft.com/office/drawing/2014/main" id="{0EA21D7E-BE49-4E16-8464-28AEF02CA2F7}"/>
              </a:ext>
            </a:extLst>
          </p:cNvPr>
          <p:cNvSpPr>
            <a:spLocks xmlns:a="http://schemas.openxmlformats.org/drawingml/2006/main" noGrp="1"/>
          </p:cNvSpPr>
          <p:nvPr/>
        </p:nvSpPr>
        <p:spPr>
          <a:xfrm xmlns:a="http://schemas.openxmlformats.org/drawingml/2006/main">
            <a:off x="4686300" y="2266950"/>
            <a:ext cx="28575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Nonsense variant in a relevant exon</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Absent from well-covered population data</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Phenotype compatible, but not specific enough for PP4</a:t>
            </a:r>
          </a:p>
        </p:txBody>
      </p:sp>
      <p:sp>
        <p:nvSpPr>
          <p:cNvPr id="12" name="">
            <a:extLst xmlns:a="http://schemas.openxmlformats.org/drawingml/2006/main">
              <a:ext uri="{FF2B5EF4-FFF2-40B4-BE49-F238E27FC236}">
                <a16:creationId xmlns:a16="http://schemas.microsoft.com/office/drawing/2014/main" id="{8E9A2C25-082D-447E-9DCE-CDFC09C45D11}"/>
              </a:ext>
            </a:extLst>
          </p:cNvPr>
          <p:cNvSpPr>
            <a:spLocks xmlns:a="http://schemas.openxmlformats.org/drawingml/2006/main" noGrp="1"/>
          </p:cNvSpPr>
          <p:nvPr/>
        </p:nvSpPr>
        <p:spPr>
          <a:xfrm xmlns:a="http://schemas.openxmlformats.org/drawingml/2006/main">
            <a:off x="8439150" y="1676400"/>
            <a:ext cx="3257550" cy="3733800"/>
          </a:xfrm>
          <a:prstGeom xmlns:a="http://schemas.openxmlformats.org/drawingml/2006/main" prst="roundRect">
            <a:avLst>
              <a:gd name="adj" fmla="val 2339"/>
            </a:avLst>
          </a:prstGeom>
          <a:solidFill xmlns:a="http://schemas.openxmlformats.org/drawingml/2006/main">
            <a:srgbClr val="DEF3E7"/>
          </a:solidFill>
          <a:ln xmlns:a="http://schemas.openxmlformats.org/drawingml/2006/main" w="9525">
            <a:solidFill>
              <a:srgbClr val="D6DEE7"/>
            </a:solidFill>
            <a:prstDash val="solid"/>
          </a:ln>
        </p:spPr>
      </p:sp>
      <p:sp>
        <p:nvSpPr>
          <p:cNvPr id="13" name="">
            <a:extLst xmlns:a="http://schemas.openxmlformats.org/drawingml/2006/main">
              <a:ext uri="{FF2B5EF4-FFF2-40B4-BE49-F238E27FC236}">
                <a16:creationId xmlns:a16="http://schemas.microsoft.com/office/drawing/2014/main" id="{00A6D9A1-613A-4355-94F1-980B1985DCFD}"/>
              </a:ext>
            </a:extLst>
          </p:cNvPr>
          <p:cNvSpPr>
            <a:spLocks xmlns:a="http://schemas.openxmlformats.org/drawingml/2006/main" noGrp="1"/>
          </p:cNvSpPr>
          <p:nvPr/>
        </p:nvSpPr>
        <p:spPr>
          <a:xfrm xmlns:a="http://schemas.openxmlformats.org/drawingml/2006/main">
            <a:off x="8439150" y="1676400"/>
            <a:ext cx="66675" cy="3733800"/>
          </a:xfrm>
          <a:prstGeom xmlns:a="http://schemas.openxmlformats.org/drawingml/2006/main" prst="roundRect">
            <a:avLst>
              <a:gd name="adj" fmla="val 50000"/>
            </a:avLst>
          </a:prstGeom>
          <a:solidFill xmlns:a="http://schemas.openxmlformats.org/drawingml/2006/main">
            <a:srgbClr val="359B64"/>
          </a:solidFill>
          <a:ln xmlns:a="http://schemas.openxmlformats.org/drawingml/2006/main" w="0">
            <a:solidFill>
              <a:srgbClr val="359B64"/>
            </a:solidFill>
            <a:prstDash val="solid"/>
          </a:ln>
        </p:spPr>
      </p:sp>
      <p:sp>
        <p:nvSpPr>
          <p:cNvPr id="14" name="">
            <a:extLst xmlns:a="http://schemas.openxmlformats.org/drawingml/2006/main">
              <a:ext uri="{FF2B5EF4-FFF2-40B4-BE49-F238E27FC236}">
                <a16:creationId xmlns:a16="http://schemas.microsoft.com/office/drawing/2014/main" id="{E0B9F61C-A184-4CBB-9E96-0807ED72EFBF}"/>
              </a:ext>
            </a:extLst>
          </p:cNvPr>
          <p:cNvSpPr>
            <a:spLocks xmlns:a="http://schemas.openxmlformats.org/drawingml/2006/main" noGrp="1"/>
          </p:cNvSpPr>
          <p:nvPr/>
        </p:nvSpPr>
        <p:spPr>
          <a:xfrm xmlns:a="http://schemas.openxmlformats.org/drawingml/2006/main">
            <a:off x="8667750" y="18669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Assigned criteria</a:t>
            </a:r>
          </a:p>
        </p:txBody>
      </p:sp>
      <p:sp>
        <p:nvSpPr>
          <p:cNvPr id="15" name="">
            <a:extLst xmlns:a="http://schemas.openxmlformats.org/drawingml/2006/main">
              <a:ext uri="{FF2B5EF4-FFF2-40B4-BE49-F238E27FC236}">
                <a16:creationId xmlns:a16="http://schemas.microsoft.com/office/drawing/2014/main" id="{43495D5D-D408-4F08-9EA4-95016B4D8E23}"/>
              </a:ext>
            </a:extLst>
          </p:cNvPr>
          <p:cNvSpPr>
            <a:spLocks xmlns:a="http://schemas.openxmlformats.org/drawingml/2006/main" noGrp="1"/>
          </p:cNvSpPr>
          <p:nvPr/>
        </p:nvSpPr>
        <p:spPr>
          <a:xfrm xmlns:a="http://schemas.openxmlformats.org/drawingml/2006/main">
            <a:off x="8667750" y="2266950"/>
            <a:ext cx="28575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PVS1 • 8 points</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PM2_supporting • 1 point</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Total: 9 points</a:t>
            </a:r>
          </a:p>
          <a:p xmlns:a="http://schemas.openxmlformats.org/drawingml/2006/main">
            <a:r>
              <a:t/>
            </a:r>
          </a:p>
          <a:p xmlns:a="http://schemas.openxmlformats.org/drawingml/2006/main">
            <a:pPr algn="l">
              <a:defRPr sz="1500" b="0" i="0">
                <a:solidFill>
                  <a:srgbClr val="536273"/>
                </a:solidFill>
                <a:latin typeface="Arial"/>
                <a:ea typeface="Arial"/>
                <a:cs typeface="Arial"/>
              </a:defRPr>
            </a:pPr>
            <a:r>
              <a:rPr sz="1500" b="0" i="0">
                <a:solidFill>
                  <a:srgbClr val="536273"/>
                </a:solidFill>
                <a:latin typeface="Arial"/>
                <a:ea typeface="Arial"/>
                <a:cs typeface="Arial"/>
              </a:rPr>
              <a:t>→ likely pathogenic in this Bayesian teaching example</a:t>
            </a:r>
          </a:p>
        </p:txBody>
      </p:sp>
      <p:sp>
        <p:nvSpPr>
          <p:cNvPr id="16" name="">
            <a:extLst xmlns:a="http://schemas.openxmlformats.org/drawingml/2006/main">
              <a:ext uri="{FF2B5EF4-FFF2-40B4-BE49-F238E27FC236}">
                <a16:creationId xmlns:a16="http://schemas.microsoft.com/office/drawing/2014/main" id="{1032DCF0-5187-4BCF-9F0B-B096CEB38322}"/>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Teaching example informed by ACMG/AMP and ClinGen Bayesian guidance</a:t>
            </a:r>
          </a:p>
        </p:txBody>
      </p:sp>
      <p:sp>
        <p:nvSpPr>
          <p:cNvPr id="17" name="">
            <a:extLst xmlns:a="http://schemas.openxmlformats.org/drawingml/2006/main">
              <a:ext uri="{FF2B5EF4-FFF2-40B4-BE49-F238E27FC236}">
                <a16:creationId xmlns:a16="http://schemas.microsoft.com/office/drawing/2014/main" id="{40A4D099-A8D7-44DF-8B05-0628A0C21DD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36</a:t>
            </a:r>
          </a:p>
        </p:txBody>
      </p:sp>
    </p:spTree>
    <p:extLst>
      <p:ext uri="{BB962C8B-B14F-4D97-AF65-F5344CB8AC3E}">
        <p14:creationId xmlns:p14="http://schemas.microsoft.com/office/powerpoint/2010/main" val="123052638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9B7E85-ECAC-4A6C-A893-AE7EEA330EF2}"/>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CLINICAL MEANING</a:t>
            </a:r>
          </a:p>
        </p:txBody>
      </p:sp>
      <p:sp>
        <p:nvSpPr>
          <p:cNvPr id="2" name="">
            <a:extLst xmlns:a="http://schemas.openxmlformats.org/drawingml/2006/main">
              <a:ext uri="{FF2B5EF4-FFF2-40B4-BE49-F238E27FC236}">
                <a16:creationId xmlns:a16="http://schemas.microsoft.com/office/drawing/2014/main" id="{FE16648B-B909-4A23-9E56-A084935A8497}"/>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A VUS is a statement about evidence—not a diagnosis</a:t>
            </a:r>
          </a:p>
        </p:txBody>
      </p:sp>
      <p:cxnSp>
        <p:nvCxnSpPr>
          <p:cNvPr id="22"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930F5E6E-F2B3-4157-A844-A6CC14D57147}"/>
              </a:ext>
            </a:extLst>
          </p:cNvPr>
          <p:cNvSpPr>
            <a:spLocks xmlns:a="http://schemas.openxmlformats.org/drawingml/2006/main" noGrp="1"/>
          </p:cNvSpPr>
          <p:nvPr/>
        </p:nvSpPr>
        <p:spPr>
          <a:xfrm xmlns:a="http://schemas.openxmlformats.org/drawingml/2006/main">
            <a:off x="685800" y="2000250"/>
            <a:ext cx="4953000" cy="2724150"/>
          </a:xfrm>
          <a:prstGeom xmlns:a="http://schemas.openxmlformats.org/drawingml/2006/main" prst="roundRect">
            <a:avLst>
              <a:gd name="adj" fmla="val 2797"/>
            </a:avLst>
          </a:prstGeom>
          <a:solidFill xmlns:a="http://schemas.openxmlformats.org/drawingml/2006/main">
            <a:srgbClr val="FFF1CF"/>
          </a:solidFill>
          <a:ln xmlns:a="http://schemas.openxmlformats.org/drawingml/2006/main" w="0">
            <a:solidFill>
              <a:srgbClr val="FFF1CF"/>
            </a:solidFill>
            <a:prstDash val="solid"/>
          </a:ln>
        </p:spPr>
      </p:sp>
      <p:sp>
        <p:nvSpPr>
          <p:cNvPr id="5" name="">
            <a:extLst xmlns:a="http://schemas.openxmlformats.org/drawingml/2006/main">
              <a:ext uri="{FF2B5EF4-FFF2-40B4-BE49-F238E27FC236}">
                <a16:creationId xmlns:a16="http://schemas.microsoft.com/office/drawing/2014/main" id="{E5891D3D-9149-457C-BCAA-3E768EA6083C}"/>
              </a:ext>
            </a:extLst>
          </p:cNvPr>
          <p:cNvSpPr>
            <a:spLocks xmlns:a="http://schemas.openxmlformats.org/drawingml/2006/main" noGrp="1"/>
          </p:cNvSpPr>
          <p:nvPr/>
        </p:nvSpPr>
        <p:spPr>
          <a:xfrm xmlns:a="http://schemas.openxmlformats.org/drawingml/2006/main">
            <a:off x="685800" y="24574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4050" b="1" i="0">
                <a:solidFill>
                  <a:srgbClr val="E7A62F"/>
                </a:solidFill>
                <a:latin typeface="Arial"/>
                <a:ea typeface="Arial"/>
                <a:cs typeface="Arial"/>
              </a:defRPr>
            </a:pPr>
            <a:r>
              <a:rPr sz="4050" b="1" i="0">
                <a:solidFill>
                  <a:srgbClr val="E7A62F"/>
                </a:solidFill>
                <a:latin typeface="Arial"/>
                <a:ea typeface="Arial"/>
                <a:cs typeface="Arial"/>
              </a:rPr>
              <a:t>VUS</a:t>
            </a:r>
          </a:p>
        </p:txBody>
      </p:sp>
      <p:sp>
        <p:nvSpPr>
          <p:cNvPr id="6" name="">
            <a:extLst xmlns:a="http://schemas.openxmlformats.org/drawingml/2006/main">
              <a:ext uri="{FF2B5EF4-FFF2-40B4-BE49-F238E27FC236}">
                <a16:creationId xmlns:a16="http://schemas.microsoft.com/office/drawing/2014/main" id="{9E50089D-82FC-44A7-8660-E9DE31E24040}"/>
              </a:ext>
            </a:extLst>
          </p:cNvPr>
          <p:cNvSpPr>
            <a:spLocks xmlns:a="http://schemas.openxmlformats.org/drawingml/2006/main" noGrp="1"/>
          </p:cNvSpPr>
          <p:nvPr/>
        </p:nvSpPr>
        <p:spPr>
          <a:xfrm xmlns:a="http://schemas.openxmlformats.org/drawingml/2006/main">
            <a:off x="1066800" y="3486150"/>
            <a:ext cx="419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0B1F33"/>
                </a:solidFill>
                <a:latin typeface="Arial"/>
                <a:ea typeface="Arial"/>
                <a:cs typeface="Arial"/>
              </a:defRPr>
            </a:pPr>
            <a:r>
              <a:rPr sz="1725" b="1" i="0">
                <a:solidFill>
                  <a:srgbClr val="0B1F33"/>
                </a:solidFill>
                <a:latin typeface="Arial"/>
                <a:ea typeface="Arial"/>
                <a:cs typeface="Arial"/>
              </a:rPr>
              <a:t>Evidence is insufficient or conflicting</a:t>
            </a:r>
          </a:p>
        </p:txBody>
      </p:sp>
      <p:sp>
        <p:nvSpPr>
          <p:cNvPr id="7" name="">
            <a:extLst xmlns:a="http://schemas.openxmlformats.org/drawingml/2006/main">
              <a:ext uri="{FF2B5EF4-FFF2-40B4-BE49-F238E27FC236}">
                <a16:creationId xmlns:a16="http://schemas.microsoft.com/office/drawing/2014/main" id="{3F3D853D-A50F-4499-B629-FB39F3991509}"/>
              </a:ext>
            </a:extLst>
          </p:cNvPr>
          <p:cNvSpPr>
            <a:spLocks xmlns:a="http://schemas.openxmlformats.org/drawingml/2006/main" noGrp="1"/>
          </p:cNvSpPr>
          <p:nvPr/>
        </p:nvSpPr>
        <p:spPr>
          <a:xfrm xmlns:a="http://schemas.openxmlformats.org/drawingml/2006/main">
            <a:off x="6477000" y="2000250"/>
            <a:ext cx="4953000" cy="2724150"/>
          </a:xfrm>
          <a:prstGeom xmlns:a="http://schemas.openxmlformats.org/drawingml/2006/main" prst="roundRect">
            <a:avLst>
              <a:gd name="adj" fmla="val 2797"/>
            </a:avLst>
          </a:prstGeom>
          <a:solidFill xmlns:a="http://schemas.openxmlformats.org/drawingml/2006/main">
            <a:srgbClr val="FBE3E3"/>
          </a:solidFill>
          <a:ln xmlns:a="http://schemas.openxmlformats.org/drawingml/2006/main" w="0">
            <a:solidFill>
              <a:srgbClr val="FBE3E3"/>
            </a:solidFill>
            <a:prstDash val="solid"/>
          </a:ln>
        </p:spPr>
      </p:sp>
      <p:sp>
        <p:nvSpPr>
          <p:cNvPr id="8" name="">
            <a:extLst xmlns:a="http://schemas.openxmlformats.org/drawingml/2006/main">
              <a:ext uri="{FF2B5EF4-FFF2-40B4-BE49-F238E27FC236}">
                <a16:creationId xmlns:a16="http://schemas.microsoft.com/office/drawing/2014/main" id="{BB71EF0C-9BF0-4BAD-85B8-C593C2DF1D42}"/>
              </a:ext>
            </a:extLst>
          </p:cNvPr>
          <p:cNvSpPr>
            <a:spLocks xmlns:a="http://schemas.openxmlformats.org/drawingml/2006/main" noGrp="1"/>
          </p:cNvSpPr>
          <p:nvPr/>
        </p:nvSpPr>
        <p:spPr>
          <a:xfrm xmlns:a="http://schemas.openxmlformats.org/drawingml/2006/main">
            <a:off x="6477000" y="23812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C94E4E"/>
                </a:solidFill>
                <a:latin typeface="Arial"/>
                <a:ea typeface="Arial"/>
                <a:cs typeface="Arial"/>
              </a:defRPr>
            </a:pPr>
            <a:r>
              <a:rPr sz="2400" b="1" i="0">
                <a:solidFill>
                  <a:srgbClr val="C94E4E"/>
                </a:solidFill>
                <a:latin typeface="Arial"/>
                <a:ea typeface="Arial"/>
                <a:cs typeface="Arial"/>
              </a:rPr>
              <a:t>DO NOT</a:t>
            </a:r>
          </a:p>
        </p:txBody>
      </p:sp>
      <p:sp>
        <p:nvSpPr>
          <p:cNvPr id="9" name="">
            <a:extLst xmlns:a="http://schemas.openxmlformats.org/drawingml/2006/main">
              <a:ext uri="{FF2B5EF4-FFF2-40B4-BE49-F238E27FC236}">
                <a16:creationId xmlns:a16="http://schemas.microsoft.com/office/drawing/2014/main" id="{119520D7-9D99-4C66-91A8-DDAE851E0151}"/>
              </a:ext>
            </a:extLst>
          </p:cNvPr>
          <p:cNvSpPr>
            <a:spLocks xmlns:a="http://schemas.openxmlformats.org/drawingml/2006/main" noGrp="1"/>
          </p:cNvSpPr>
          <p:nvPr/>
        </p:nvSpPr>
        <p:spPr>
          <a:xfrm xmlns:a="http://schemas.openxmlformats.org/drawingml/2006/main">
            <a:off x="7010400" y="31527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0" name="">
            <a:extLst xmlns:a="http://schemas.openxmlformats.org/drawingml/2006/main">
              <a:ext uri="{FF2B5EF4-FFF2-40B4-BE49-F238E27FC236}">
                <a16:creationId xmlns:a16="http://schemas.microsoft.com/office/drawing/2014/main" id="{7471C3CC-BE8B-45C7-953F-B8F283F1530A}"/>
              </a:ext>
            </a:extLst>
          </p:cNvPr>
          <p:cNvSpPr>
            <a:spLocks xmlns:a="http://schemas.openxmlformats.org/drawingml/2006/main" noGrp="1"/>
          </p:cNvSpPr>
          <p:nvPr/>
        </p:nvSpPr>
        <p:spPr>
          <a:xfrm xmlns:a="http://schemas.openxmlformats.org/drawingml/2006/main">
            <a:off x="7239000" y="30861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B1F33"/>
                </a:solidFill>
                <a:latin typeface="Arial"/>
                <a:ea typeface="Arial"/>
                <a:cs typeface="Arial"/>
              </a:defRPr>
            </a:pPr>
            <a:r>
              <a:rPr sz="1350" b="0" i="0">
                <a:solidFill>
                  <a:srgbClr val="0B1F33"/>
                </a:solidFill>
                <a:latin typeface="Arial"/>
                <a:ea typeface="Arial"/>
                <a:cs typeface="Arial"/>
              </a:rPr>
              <a:t>call it disease-causing</a:t>
            </a:r>
          </a:p>
        </p:txBody>
      </p:sp>
      <p:sp>
        <p:nvSpPr>
          <p:cNvPr id="11" name="">
            <a:extLst xmlns:a="http://schemas.openxmlformats.org/drawingml/2006/main">
              <a:ext uri="{FF2B5EF4-FFF2-40B4-BE49-F238E27FC236}">
                <a16:creationId xmlns:a16="http://schemas.microsoft.com/office/drawing/2014/main" id="{D53740CF-854C-48E5-BBB0-1D5C9E711D49}"/>
              </a:ext>
            </a:extLst>
          </p:cNvPr>
          <p:cNvSpPr>
            <a:spLocks xmlns:a="http://schemas.openxmlformats.org/drawingml/2006/main" noGrp="1"/>
          </p:cNvSpPr>
          <p:nvPr/>
        </p:nvSpPr>
        <p:spPr>
          <a:xfrm xmlns:a="http://schemas.openxmlformats.org/drawingml/2006/main">
            <a:off x="7010400" y="35718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2" name="">
            <a:extLst xmlns:a="http://schemas.openxmlformats.org/drawingml/2006/main">
              <a:ext uri="{FF2B5EF4-FFF2-40B4-BE49-F238E27FC236}">
                <a16:creationId xmlns:a16="http://schemas.microsoft.com/office/drawing/2014/main" id="{84B2A1AD-BE02-47CD-BFAD-ACA263E6997A}"/>
              </a:ext>
            </a:extLst>
          </p:cNvPr>
          <p:cNvSpPr>
            <a:spLocks xmlns:a="http://schemas.openxmlformats.org/drawingml/2006/main" noGrp="1"/>
          </p:cNvSpPr>
          <p:nvPr/>
        </p:nvSpPr>
        <p:spPr>
          <a:xfrm xmlns:a="http://schemas.openxmlformats.org/drawingml/2006/main">
            <a:off x="7239000" y="35052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B1F33"/>
                </a:solidFill>
                <a:latin typeface="Arial"/>
                <a:ea typeface="Arial"/>
                <a:cs typeface="Arial"/>
              </a:defRPr>
            </a:pPr>
            <a:r>
              <a:rPr sz="1350" b="0" i="0">
                <a:solidFill>
                  <a:srgbClr val="0B1F33"/>
                </a:solidFill>
                <a:latin typeface="Arial"/>
                <a:ea typeface="Arial"/>
                <a:cs typeface="Arial"/>
              </a:rPr>
              <a:t>use it alone for treatment</a:t>
            </a:r>
          </a:p>
        </p:txBody>
      </p:sp>
      <p:sp>
        <p:nvSpPr>
          <p:cNvPr id="13" name="">
            <a:extLst xmlns:a="http://schemas.openxmlformats.org/drawingml/2006/main">
              <a:ext uri="{FF2B5EF4-FFF2-40B4-BE49-F238E27FC236}">
                <a16:creationId xmlns:a16="http://schemas.microsoft.com/office/drawing/2014/main" id="{37BC7E02-2DBB-4F0D-918B-58CFC5FBB034}"/>
              </a:ext>
            </a:extLst>
          </p:cNvPr>
          <p:cNvSpPr>
            <a:spLocks xmlns:a="http://schemas.openxmlformats.org/drawingml/2006/main" noGrp="1"/>
          </p:cNvSpPr>
          <p:nvPr/>
        </p:nvSpPr>
        <p:spPr>
          <a:xfrm xmlns:a="http://schemas.openxmlformats.org/drawingml/2006/main">
            <a:off x="7010400" y="39909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4" name="">
            <a:extLst xmlns:a="http://schemas.openxmlformats.org/drawingml/2006/main">
              <a:ext uri="{FF2B5EF4-FFF2-40B4-BE49-F238E27FC236}">
                <a16:creationId xmlns:a16="http://schemas.microsoft.com/office/drawing/2014/main" id="{5E8D57AF-E8A7-442C-9ADB-73D20420ED42}"/>
              </a:ext>
            </a:extLst>
          </p:cNvPr>
          <p:cNvSpPr>
            <a:spLocks xmlns:a="http://schemas.openxmlformats.org/drawingml/2006/main" noGrp="1"/>
          </p:cNvSpPr>
          <p:nvPr/>
        </p:nvSpPr>
        <p:spPr>
          <a:xfrm xmlns:a="http://schemas.openxmlformats.org/drawingml/2006/main">
            <a:off x="7239000" y="39243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B1F33"/>
                </a:solidFill>
                <a:latin typeface="Arial"/>
                <a:ea typeface="Arial"/>
                <a:cs typeface="Arial"/>
              </a:defRPr>
            </a:pPr>
            <a:r>
              <a:rPr sz="1350" b="0" i="0">
                <a:solidFill>
                  <a:srgbClr val="0B1F33"/>
                </a:solidFill>
                <a:latin typeface="Arial"/>
                <a:ea typeface="Arial"/>
                <a:cs typeface="Arial"/>
              </a:rPr>
              <a:t>force it into likely pathogenic</a:t>
            </a:r>
          </a:p>
        </p:txBody>
      </p:sp>
      <p:sp>
        <p:nvSpPr>
          <p:cNvPr id="15" name="">
            <a:extLst xmlns:a="http://schemas.openxmlformats.org/drawingml/2006/main">
              <a:ext uri="{FF2B5EF4-FFF2-40B4-BE49-F238E27FC236}">
                <a16:creationId xmlns:a16="http://schemas.microsoft.com/office/drawing/2014/main" id="{3D445A8A-CB55-4BC8-9315-6C73A6C523A5}"/>
              </a:ext>
            </a:extLst>
          </p:cNvPr>
          <p:cNvSpPr>
            <a:spLocks xmlns:a="http://schemas.openxmlformats.org/drawingml/2006/main" noGrp="1"/>
          </p:cNvSpPr>
          <p:nvPr/>
        </p:nvSpPr>
        <p:spPr>
          <a:xfrm xmlns:a="http://schemas.openxmlformats.org/drawingml/2006/main">
            <a:off x="7010400" y="4410075"/>
            <a:ext cx="95250" cy="952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6" name="">
            <a:extLst xmlns:a="http://schemas.openxmlformats.org/drawingml/2006/main">
              <a:ext uri="{FF2B5EF4-FFF2-40B4-BE49-F238E27FC236}">
                <a16:creationId xmlns:a16="http://schemas.microsoft.com/office/drawing/2014/main" id="{4ACF1CA2-ABA2-4E3D-BDD5-7AC2AE14CE88}"/>
              </a:ext>
            </a:extLst>
          </p:cNvPr>
          <p:cNvSpPr>
            <a:spLocks xmlns:a="http://schemas.openxmlformats.org/drawingml/2006/main" noGrp="1"/>
          </p:cNvSpPr>
          <p:nvPr/>
        </p:nvSpPr>
        <p:spPr>
          <a:xfrm xmlns:a="http://schemas.openxmlformats.org/drawingml/2006/main">
            <a:off x="7239000" y="434340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0B1F33"/>
                </a:solidFill>
                <a:latin typeface="Arial"/>
                <a:ea typeface="Arial"/>
                <a:cs typeface="Arial"/>
              </a:defRPr>
            </a:pPr>
            <a:r>
              <a:rPr sz="1350" b="0" i="0">
                <a:solidFill>
                  <a:srgbClr val="0B1F33"/>
                </a:solidFill>
                <a:latin typeface="Arial"/>
                <a:ea typeface="Arial"/>
                <a:cs typeface="Arial"/>
              </a:rPr>
              <a:t>hide the uncertainty</a:t>
            </a:r>
          </a:p>
        </p:txBody>
      </p:sp>
      <p:sp>
        <p:nvSpPr>
          <p:cNvPr id="17" name="">
            <a:extLst xmlns:a="http://schemas.openxmlformats.org/drawingml/2006/main">
              <a:ext uri="{FF2B5EF4-FFF2-40B4-BE49-F238E27FC236}">
                <a16:creationId xmlns:a16="http://schemas.microsoft.com/office/drawing/2014/main" id="{CEF84A13-5E66-4DAE-873A-641048B37D6F}"/>
              </a:ext>
            </a:extLst>
          </p:cNvPr>
          <p:cNvSpPr>
            <a:spLocks xmlns:a="http://schemas.openxmlformats.org/drawingml/2006/main" noGrp="1"/>
          </p:cNvSpPr>
          <p:nvPr/>
        </p:nvSpPr>
        <p:spPr>
          <a:xfrm xmlns:a="http://schemas.openxmlformats.org/drawingml/2006/main">
            <a:off x="1466850" y="5257800"/>
            <a:ext cx="925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i="0">
                <a:solidFill>
                  <a:srgbClr val="7756C2"/>
                </a:solidFill>
                <a:latin typeface="Arial"/>
                <a:ea typeface="Arial"/>
                <a:cs typeface="Arial"/>
              </a:defRPr>
            </a:pPr>
            <a:r>
              <a:rPr sz="1650" b="1" i="0">
                <a:solidFill>
                  <a:srgbClr val="7756C2"/>
                </a:solidFill>
                <a:latin typeface="Arial"/>
                <a:ea typeface="Arial"/>
                <a:cs typeface="Arial"/>
              </a:rPr>
              <a:t>Seek more evidence • consider family studies • re-evaluate over time</a:t>
            </a:r>
          </a:p>
        </p:txBody>
      </p:sp>
      <p:sp>
        <p:nvSpPr>
          <p:cNvPr id="18" name="">
            <a:extLst xmlns:a="http://schemas.openxmlformats.org/drawingml/2006/main">
              <a:ext uri="{FF2B5EF4-FFF2-40B4-BE49-F238E27FC236}">
                <a16:creationId xmlns:a16="http://schemas.microsoft.com/office/drawing/2014/main" id="{85869620-9F2D-49FE-90FF-BF95088CE125}"/>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clinical use section</a:t>
            </a:r>
          </a:p>
        </p:txBody>
      </p:sp>
      <p:sp>
        <p:nvSpPr>
          <p:cNvPr id="19" name="">
            <a:extLst xmlns:a="http://schemas.openxmlformats.org/drawingml/2006/main">
              <a:ext uri="{FF2B5EF4-FFF2-40B4-BE49-F238E27FC236}">
                <a16:creationId xmlns:a16="http://schemas.microsoft.com/office/drawing/2014/main" id="{0EAA7F21-5574-4FA5-8ACA-F2982F708BF5}"/>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37</a:t>
            </a:r>
          </a:p>
        </p:txBody>
      </p:sp>
    </p:spTree>
    <p:extLst>
      <p:ext uri="{BB962C8B-B14F-4D97-AF65-F5344CB8AC3E}">
        <p14:creationId xmlns:p14="http://schemas.microsoft.com/office/powerpoint/2010/main" val="194302289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ACE49B-9EE7-47F5-B442-4C735A89EB35}"/>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COMMON TRAPS</a:t>
            </a:r>
          </a:p>
        </p:txBody>
      </p:sp>
      <p:sp>
        <p:nvSpPr>
          <p:cNvPr id="2" name="">
            <a:extLst xmlns:a="http://schemas.openxmlformats.org/drawingml/2006/main">
              <a:ext uri="{FF2B5EF4-FFF2-40B4-BE49-F238E27FC236}">
                <a16:creationId xmlns:a16="http://schemas.microsoft.com/office/drawing/2014/main" id="{228536C8-55D7-4AB4-838C-0C846AD89161}"/>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Most classification errors come from overclaiming evidence</a:t>
            </a:r>
          </a:p>
        </p:txBody>
      </p:sp>
      <p:cxnSp>
        <p:nvCxnSpPr>
          <p:cNvPr id="25"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70F70032-E884-44EF-B864-88E77E297AFC}"/>
              </a:ext>
            </a:extLst>
          </p:cNvPr>
          <p:cNvSpPr>
            <a:spLocks xmlns:a="http://schemas.openxmlformats.org/drawingml/2006/main" noGrp="1"/>
          </p:cNvSpPr>
          <p:nvPr/>
        </p:nvSpPr>
        <p:spPr>
          <a:xfrm xmlns:a="http://schemas.openxmlformats.org/drawingml/2006/main">
            <a:off x="476250" y="1562100"/>
            <a:ext cx="5429250" cy="1066800"/>
          </a:xfrm>
          <a:prstGeom xmlns:a="http://schemas.openxmlformats.org/drawingml/2006/main" prst="roundRect">
            <a:avLst>
              <a:gd name="adj" fmla="val 7143"/>
            </a:avLst>
          </a:prstGeom>
          <a:solidFill xmlns:a="http://schemas.openxmlformats.org/drawingml/2006/main">
            <a:srgbClr val="F3F6F9"/>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2DA6A8F8-2D4E-4634-AF89-CD124153AB55}"/>
              </a:ext>
            </a:extLst>
          </p:cNvPr>
          <p:cNvSpPr>
            <a:spLocks xmlns:a="http://schemas.openxmlformats.org/drawingml/2006/main" noGrp="1"/>
          </p:cNvSpPr>
          <p:nvPr/>
        </p:nvSpPr>
        <p:spPr>
          <a:xfrm xmlns:a="http://schemas.openxmlformats.org/drawingml/2006/main">
            <a:off x="685800" y="1733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C94E4E"/>
                </a:solidFill>
                <a:latin typeface="Arial"/>
                <a:ea typeface="Arial"/>
                <a:cs typeface="Arial"/>
              </a:defRPr>
            </a:pPr>
            <a:r>
              <a:rPr sz="1425" b="1" i="0">
                <a:solidFill>
                  <a:srgbClr val="C94E4E"/>
                </a:solidFill>
                <a:latin typeface="Arial"/>
                <a:ea typeface="Arial"/>
                <a:cs typeface="Arial"/>
              </a:rPr>
              <a:t>Rare = pathogenic</a:t>
            </a:r>
          </a:p>
        </p:txBody>
      </p:sp>
      <p:sp>
        <p:nvSpPr>
          <p:cNvPr id="6" name="">
            <a:extLst xmlns:a="http://schemas.openxmlformats.org/drawingml/2006/main">
              <a:ext uri="{FF2B5EF4-FFF2-40B4-BE49-F238E27FC236}">
                <a16:creationId xmlns:a16="http://schemas.microsoft.com/office/drawing/2014/main" id="{EAD85C02-026A-4385-BEEC-F7BF040BF2AE}"/>
              </a:ext>
            </a:extLst>
          </p:cNvPr>
          <p:cNvSpPr>
            <a:spLocks xmlns:a="http://schemas.openxmlformats.org/drawingml/2006/main" noGrp="1"/>
          </p:cNvSpPr>
          <p:nvPr/>
        </p:nvSpPr>
        <p:spPr>
          <a:xfrm xmlns:a="http://schemas.openxmlformats.org/drawingml/2006/main">
            <a:off x="2933700" y="1704975"/>
            <a:ext cx="2705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0B1F33"/>
                </a:solidFill>
                <a:latin typeface="Arial"/>
                <a:ea typeface="Arial"/>
                <a:cs typeface="Arial"/>
              </a:defRPr>
            </a:pPr>
            <a:r>
              <a:rPr sz="1275" b="0" i="0">
                <a:solidFill>
                  <a:srgbClr val="0B1F33"/>
                </a:solidFill>
                <a:latin typeface="Arial"/>
                <a:ea typeface="Arial"/>
                <a:cs typeface="Arial"/>
              </a:rPr>
              <a:t>Rarity is necessary for many disorders, but not sufficient.</a:t>
            </a:r>
          </a:p>
        </p:txBody>
      </p:sp>
      <p:sp>
        <p:nvSpPr>
          <p:cNvPr id="7" name="">
            <a:extLst xmlns:a="http://schemas.openxmlformats.org/drawingml/2006/main">
              <a:ext uri="{FF2B5EF4-FFF2-40B4-BE49-F238E27FC236}">
                <a16:creationId xmlns:a16="http://schemas.microsoft.com/office/drawing/2014/main" id="{741D2349-CEF1-428D-948B-22AE20EE3A17}"/>
              </a:ext>
            </a:extLst>
          </p:cNvPr>
          <p:cNvSpPr>
            <a:spLocks xmlns:a="http://schemas.openxmlformats.org/drawingml/2006/main" noGrp="1"/>
          </p:cNvSpPr>
          <p:nvPr/>
        </p:nvSpPr>
        <p:spPr>
          <a:xfrm xmlns:a="http://schemas.openxmlformats.org/drawingml/2006/main">
            <a:off x="6286500" y="1562100"/>
            <a:ext cx="5429250" cy="1066800"/>
          </a:xfrm>
          <a:prstGeom xmlns:a="http://schemas.openxmlformats.org/drawingml/2006/main" prst="roundRect">
            <a:avLst>
              <a:gd name="adj" fmla="val 7143"/>
            </a:avLst>
          </a:prstGeom>
          <a:solidFill xmlns:a="http://schemas.openxmlformats.org/drawingml/2006/main">
            <a:srgbClr val="F3F6F9"/>
          </a:solidFill>
          <a:ln xmlns:a="http://schemas.openxmlformats.org/drawingml/2006/main" w="9525">
            <a:solidFill>
              <a:srgbClr val="D6DEE7"/>
            </a:solidFill>
            <a:prstDash val="solid"/>
          </a:ln>
        </p:spPr>
      </p:sp>
      <p:sp>
        <p:nvSpPr>
          <p:cNvPr id="8" name="">
            <a:extLst xmlns:a="http://schemas.openxmlformats.org/drawingml/2006/main">
              <a:ext uri="{FF2B5EF4-FFF2-40B4-BE49-F238E27FC236}">
                <a16:creationId xmlns:a16="http://schemas.microsoft.com/office/drawing/2014/main" id="{521048C7-8A8C-490D-9179-38A63880B86F}"/>
              </a:ext>
            </a:extLst>
          </p:cNvPr>
          <p:cNvSpPr>
            <a:spLocks xmlns:a="http://schemas.openxmlformats.org/drawingml/2006/main" noGrp="1"/>
          </p:cNvSpPr>
          <p:nvPr/>
        </p:nvSpPr>
        <p:spPr>
          <a:xfrm xmlns:a="http://schemas.openxmlformats.org/drawingml/2006/main">
            <a:off x="6496050" y="17335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808"/>
          </a:bodyPr>
          <a:lstStyle xmlns:a="http://schemas.openxmlformats.org/drawingml/2006/main"/>
          <a:p xmlns:a="http://schemas.openxmlformats.org/drawingml/2006/main">
            <a:pPr algn="l">
              <a:defRPr sz="1425" b="1" i="0">
                <a:solidFill>
                  <a:srgbClr val="7756C2"/>
                </a:solidFill>
                <a:latin typeface="Arial"/>
                <a:ea typeface="Arial"/>
                <a:cs typeface="Arial"/>
              </a:defRPr>
            </a:pPr>
            <a:r>
              <a:rPr sz="1425" b="1" i="0">
                <a:solidFill>
                  <a:srgbClr val="7756C2"/>
                </a:solidFill>
                <a:latin typeface="Arial"/>
                <a:ea typeface="Arial"/>
                <a:cs typeface="Arial"/>
              </a:rPr>
              <a:t>Three predictors = three criteria</a:t>
            </a:r>
          </a:p>
        </p:txBody>
      </p:sp>
      <p:sp>
        <p:nvSpPr>
          <p:cNvPr id="9" name="">
            <a:extLst xmlns:a="http://schemas.openxmlformats.org/drawingml/2006/main">
              <a:ext uri="{FF2B5EF4-FFF2-40B4-BE49-F238E27FC236}">
                <a16:creationId xmlns:a16="http://schemas.microsoft.com/office/drawing/2014/main" id="{8183F377-E27B-4EA5-B54E-2AFEE24A363A}"/>
              </a:ext>
            </a:extLst>
          </p:cNvPr>
          <p:cNvSpPr>
            <a:spLocks xmlns:a="http://schemas.openxmlformats.org/drawingml/2006/main" noGrp="1"/>
          </p:cNvSpPr>
          <p:nvPr/>
        </p:nvSpPr>
        <p:spPr>
          <a:xfrm xmlns:a="http://schemas.openxmlformats.org/drawingml/2006/main">
            <a:off x="8743950" y="1704975"/>
            <a:ext cx="2705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0B1F33"/>
                </a:solidFill>
                <a:latin typeface="Arial"/>
                <a:ea typeface="Arial"/>
                <a:cs typeface="Arial"/>
              </a:defRPr>
            </a:pPr>
            <a:r>
              <a:rPr sz="1275" b="0" i="0">
                <a:solidFill>
                  <a:srgbClr val="0B1F33"/>
                </a:solidFill>
                <a:latin typeface="Arial"/>
                <a:ea typeface="Arial"/>
                <a:cs typeface="Arial"/>
              </a:rPr>
              <a:t>Correlated tools usually count once as PP3 or BP4.</a:t>
            </a:r>
          </a:p>
        </p:txBody>
      </p:sp>
      <p:sp>
        <p:nvSpPr>
          <p:cNvPr id="10" name="">
            <a:extLst xmlns:a="http://schemas.openxmlformats.org/drawingml/2006/main">
              <a:ext uri="{FF2B5EF4-FFF2-40B4-BE49-F238E27FC236}">
                <a16:creationId xmlns:a16="http://schemas.microsoft.com/office/drawing/2014/main" id="{BE279031-B9EC-4ADB-A6D4-360CE0FB582E}"/>
              </a:ext>
            </a:extLst>
          </p:cNvPr>
          <p:cNvSpPr>
            <a:spLocks xmlns:a="http://schemas.openxmlformats.org/drawingml/2006/main" noGrp="1"/>
          </p:cNvSpPr>
          <p:nvPr/>
        </p:nvSpPr>
        <p:spPr>
          <a:xfrm xmlns:a="http://schemas.openxmlformats.org/drawingml/2006/main">
            <a:off x="476250" y="2933700"/>
            <a:ext cx="5429250" cy="1066800"/>
          </a:xfrm>
          <a:prstGeom xmlns:a="http://schemas.openxmlformats.org/drawingml/2006/main" prst="roundRect">
            <a:avLst>
              <a:gd name="adj" fmla="val 7143"/>
            </a:avLst>
          </a:prstGeom>
          <a:solidFill xmlns:a="http://schemas.openxmlformats.org/drawingml/2006/main">
            <a:srgbClr val="F3F6F9"/>
          </a:solidFill>
          <a:ln xmlns:a="http://schemas.openxmlformats.org/drawingml/2006/main" w="9525">
            <a:solidFill>
              <a:srgbClr val="D6DEE7"/>
            </a:solidFill>
            <a:prstDash val="solid"/>
          </a:ln>
        </p:spPr>
      </p:sp>
      <p:sp>
        <p:nvSpPr>
          <p:cNvPr id="11" name="">
            <a:extLst xmlns:a="http://schemas.openxmlformats.org/drawingml/2006/main">
              <a:ext uri="{FF2B5EF4-FFF2-40B4-BE49-F238E27FC236}">
                <a16:creationId xmlns:a16="http://schemas.microsoft.com/office/drawing/2014/main" id="{3698D50E-AC7F-4831-8E0F-C15BABB836B8}"/>
              </a:ext>
            </a:extLst>
          </p:cNvPr>
          <p:cNvSpPr>
            <a:spLocks xmlns:a="http://schemas.openxmlformats.org/drawingml/2006/main" noGrp="1"/>
          </p:cNvSpPr>
          <p:nvPr/>
        </p:nvSpPr>
        <p:spPr>
          <a:xfrm xmlns:a="http://schemas.openxmlformats.org/drawingml/2006/main">
            <a:off x="685800" y="3105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2D6CDF"/>
                </a:solidFill>
                <a:latin typeface="Arial"/>
                <a:ea typeface="Arial"/>
                <a:cs typeface="Arial"/>
              </a:defRPr>
            </a:pPr>
            <a:r>
              <a:rPr sz="1425" b="1" i="0">
                <a:solidFill>
                  <a:srgbClr val="2D6CDF"/>
                </a:solidFill>
                <a:latin typeface="Arial"/>
                <a:ea typeface="Arial"/>
                <a:cs typeface="Arial"/>
              </a:rPr>
              <a:t>ClinVar says so</a:t>
            </a:r>
          </a:p>
        </p:txBody>
      </p:sp>
      <p:sp>
        <p:nvSpPr>
          <p:cNvPr id="12" name="">
            <a:extLst xmlns:a="http://schemas.openxmlformats.org/drawingml/2006/main">
              <a:ext uri="{FF2B5EF4-FFF2-40B4-BE49-F238E27FC236}">
                <a16:creationId xmlns:a16="http://schemas.microsoft.com/office/drawing/2014/main" id="{CA6E9F9A-01C4-450C-A24B-83C7DEC3F3B0}"/>
              </a:ext>
            </a:extLst>
          </p:cNvPr>
          <p:cNvSpPr>
            <a:spLocks xmlns:a="http://schemas.openxmlformats.org/drawingml/2006/main" noGrp="1"/>
          </p:cNvSpPr>
          <p:nvPr/>
        </p:nvSpPr>
        <p:spPr>
          <a:xfrm xmlns:a="http://schemas.openxmlformats.org/drawingml/2006/main">
            <a:off x="2933700" y="3076575"/>
            <a:ext cx="2705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0B1F33"/>
                </a:solidFill>
                <a:latin typeface="Arial"/>
                <a:ea typeface="Arial"/>
                <a:cs typeface="Arial"/>
              </a:defRPr>
            </a:pPr>
            <a:r>
              <a:rPr sz="1275" b="0" i="0">
                <a:solidFill>
                  <a:srgbClr val="0B1F33"/>
                </a:solidFill>
                <a:latin typeface="Arial"/>
                <a:ea typeface="Arial"/>
                <a:cs typeface="Arial"/>
              </a:rPr>
              <a:t>Review submitter, date, stars and underlying evidence.</a:t>
            </a:r>
          </a:p>
        </p:txBody>
      </p:sp>
      <p:sp>
        <p:nvSpPr>
          <p:cNvPr id="13" name="">
            <a:extLst xmlns:a="http://schemas.openxmlformats.org/drawingml/2006/main">
              <a:ext uri="{FF2B5EF4-FFF2-40B4-BE49-F238E27FC236}">
                <a16:creationId xmlns:a16="http://schemas.microsoft.com/office/drawing/2014/main" id="{015531C5-0313-4F2D-B760-076C63676C3A}"/>
              </a:ext>
            </a:extLst>
          </p:cNvPr>
          <p:cNvSpPr>
            <a:spLocks xmlns:a="http://schemas.openxmlformats.org/drawingml/2006/main" noGrp="1"/>
          </p:cNvSpPr>
          <p:nvPr/>
        </p:nvSpPr>
        <p:spPr>
          <a:xfrm xmlns:a="http://schemas.openxmlformats.org/drawingml/2006/main">
            <a:off x="6286500" y="2933700"/>
            <a:ext cx="5429250" cy="1066800"/>
          </a:xfrm>
          <a:prstGeom xmlns:a="http://schemas.openxmlformats.org/drawingml/2006/main" prst="roundRect">
            <a:avLst>
              <a:gd name="adj" fmla="val 7143"/>
            </a:avLst>
          </a:prstGeom>
          <a:solidFill xmlns:a="http://schemas.openxmlformats.org/drawingml/2006/main">
            <a:srgbClr val="F3F6F9"/>
          </a:solidFill>
          <a:ln xmlns:a="http://schemas.openxmlformats.org/drawingml/2006/main" w="9525">
            <a:solidFill>
              <a:srgbClr val="D6DEE7"/>
            </a:solidFill>
            <a:prstDash val="solid"/>
          </a:ln>
        </p:spPr>
      </p:sp>
      <p:sp>
        <p:nvSpPr>
          <p:cNvPr id="14" name="">
            <a:extLst xmlns:a="http://schemas.openxmlformats.org/drawingml/2006/main">
              <a:ext uri="{FF2B5EF4-FFF2-40B4-BE49-F238E27FC236}">
                <a16:creationId xmlns:a16="http://schemas.microsoft.com/office/drawing/2014/main" id="{4AD47470-3819-482E-B840-47433529D64A}"/>
              </a:ext>
            </a:extLst>
          </p:cNvPr>
          <p:cNvSpPr>
            <a:spLocks xmlns:a="http://schemas.openxmlformats.org/drawingml/2006/main" noGrp="1"/>
          </p:cNvSpPr>
          <p:nvPr/>
        </p:nvSpPr>
        <p:spPr>
          <a:xfrm xmlns:a="http://schemas.openxmlformats.org/drawingml/2006/main">
            <a:off x="6496050" y="3105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359B64"/>
                </a:solidFill>
                <a:latin typeface="Arial"/>
                <a:ea typeface="Arial"/>
                <a:cs typeface="Arial"/>
              </a:defRPr>
            </a:pPr>
            <a:r>
              <a:rPr sz="1425" b="1" i="0">
                <a:solidFill>
                  <a:srgbClr val="359B64"/>
                </a:solidFill>
                <a:latin typeface="Arial"/>
                <a:ea typeface="Arial"/>
                <a:cs typeface="Arial"/>
              </a:rPr>
              <a:t>Any assay = PS3</a:t>
            </a:r>
          </a:p>
        </p:txBody>
      </p:sp>
      <p:sp>
        <p:nvSpPr>
          <p:cNvPr id="15" name="">
            <a:extLst xmlns:a="http://schemas.openxmlformats.org/drawingml/2006/main">
              <a:ext uri="{FF2B5EF4-FFF2-40B4-BE49-F238E27FC236}">
                <a16:creationId xmlns:a16="http://schemas.microsoft.com/office/drawing/2014/main" id="{3369CC46-D716-42E9-8568-FDF9C6E46E16}"/>
              </a:ext>
            </a:extLst>
          </p:cNvPr>
          <p:cNvSpPr>
            <a:spLocks xmlns:a="http://schemas.openxmlformats.org/drawingml/2006/main" noGrp="1"/>
          </p:cNvSpPr>
          <p:nvPr/>
        </p:nvSpPr>
        <p:spPr>
          <a:xfrm xmlns:a="http://schemas.openxmlformats.org/drawingml/2006/main">
            <a:off x="8743950" y="3076575"/>
            <a:ext cx="2705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0B1F33"/>
                </a:solidFill>
                <a:latin typeface="Arial"/>
                <a:ea typeface="Arial"/>
                <a:cs typeface="Arial"/>
              </a:defRPr>
            </a:pPr>
            <a:r>
              <a:rPr sz="1275" b="0" i="0">
                <a:solidFill>
                  <a:srgbClr val="0B1F33"/>
                </a:solidFill>
                <a:latin typeface="Arial"/>
                <a:ea typeface="Arial"/>
                <a:cs typeface="Arial"/>
              </a:rPr>
              <a:t>Functional evidence must be validated and relevant.</a:t>
            </a:r>
          </a:p>
        </p:txBody>
      </p:sp>
      <p:sp>
        <p:nvSpPr>
          <p:cNvPr id="16" name="">
            <a:extLst xmlns:a="http://schemas.openxmlformats.org/drawingml/2006/main">
              <a:ext uri="{FF2B5EF4-FFF2-40B4-BE49-F238E27FC236}">
                <a16:creationId xmlns:a16="http://schemas.microsoft.com/office/drawing/2014/main" id="{83101AE7-7402-4F16-86D7-1A9162BB8256}"/>
              </a:ext>
            </a:extLst>
          </p:cNvPr>
          <p:cNvSpPr>
            <a:spLocks xmlns:a="http://schemas.openxmlformats.org/drawingml/2006/main" noGrp="1"/>
          </p:cNvSpPr>
          <p:nvPr/>
        </p:nvSpPr>
        <p:spPr>
          <a:xfrm xmlns:a="http://schemas.openxmlformats.org/drawingml/2006/main">
            <a:off x="476250" y="4305300"/>
            <a:ext cx="5429250" cy="1066800"/>
          </a:xfrm>
          <a:prstGeom xmlns:a="http://schemas.openxmlformats.org/drawingml/2006/main" prst="roundRect">
            <a:avLst>
              <a:gd name="adj" fmla="val 7143"/>
            </a:avLst>
          </a:prstGeom>
          <a:solidFill xmlns:a="http://schemas.openxmlformats.org/drawingml/2006/main">
            <a:srgbClr val="F3F6F9"/>
          </a:solidFill>
          <a:ln xmlns:a="http://schemas.openxmlformats.org/drawingml/2006/main" w="9525">
            <a:solidFill>
              <a:srgbClr val="D6DEE7"/>
            </a:solidFill>
            <a:prstDash val="solid"/>
          </a:ln>
        </p:spPr>
      </p:sp>
      <p:sp>
        <p:nvSpPr>
          <p:cNvPr id="17" name="">
            <a:extLst xmlns:a="http://schemas.openxmlformats.org/drawingml/2006/main">
              <a:ext uri="{FF2B5EF4-FFF2-40B4-BE49-F238E27FC236}">
                <a16:creationId xmlns:a16="http://schemas.microsoft.com/office/drawing/2014/main" id="{87445FBC-1952-4C6D-966F-D8399959781D}"/>
              </a:ext>
            </a:extLst>
          </p:cNvPr>
          <p:cNvSpPr>
            <a:spLocks xmlns:a="http://schemas.openxmlformats.org/drawingml/2006/main" noGrp="1"/>
          </p:cNvSpPr>
          <p:nvPr/>
        </p:nvSpPr>
        <p:spPr>
          <a:xfrm xmlns:a="http://schemas.openxmlformats.org/drawingml/2006/main">
            <a:off x="685800" y="4476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E7A62F"/>
                </a:solidFill>
                <a:latin typeface="Arial"/>
                <a:ea typeface="Arial"/>
                <a:cs typeface="Arial"/>
              </a:defRPr>
            </a:pPr>
            <a:r>
              <a:rPr sz="1425" b="1" i="0">
                <a:solidFill>
                  <a:srgbClr val="E7A62F"/>
                </a:solidFill>
                <a:latin typeface="Arial"/>
                <a:ea typeface="Arial"/>
                <a:cs typeface="Arial"/>
              </a:rPr>
              <a:t>Any stop = PVS1</a:t>
            </a:r>
          </a:p>
        </p:txBody>
      </p:sp>
      <p:sp>
        <p:nvSpPr>
          <p:cNvPr id="18" name="">
            <a:extLst xmlns:a="http://schemas.openxmlformats.org/drawingml/2006/main">
              <a:ext uri="{FF2B5EF4-FFF2-40B4-BE49-F238E27FC236}">
                <a16:creationId xmlns:a16="http://schemas.microsoft.com/office/drawing/2014/main" id="{12E4DC92-C09C-47BC-ADCA-2B42BAE5B8C9}"/>
              </a:ext>
            </a:extLst>
          </p:cNvPr>
          <p:cNvSpPr>
            <a:spLocks xmlns:a="http://schemas.openxmlformats.org/drawingml/2006/main" noGrp="1"/>
          </p:cNvSpPr>
          <p:nvPr/>
        </p:nvSpPr>
        <p:spPr>
          <a:xfrm xmlns:a="http://schemas.openxmlformats.org/drawingml/2006/main">
            <a:off x="2933700" y="4448175"/>
            <a:ext cx="2705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0B1F33"/>
                </a:solidFill>
                <a:latin typeface="Arial"/>
                <a:ea typeface="Arial"/>
                <a:cs typeface="Arial"/>
              </a:defRPr>
            </a:pPr>
            <a:r>
              <a:rPr sz="1275" b="0" i="0">
                <a:solidFill>
                  <a:srgbClr val="0B1F33"/>
                </a:solidFill>
                <a:latin typeface="Arial"/>
                <a:ea typeface="Arial"/>
                <a:cs typeface="Arial"/>
              </a:rPr>
              <a:t>Mechanism, transcript and NMD context must fit.</a:t>
            </a:r>
          </a:p>
        </p:txBody>
      </p:sp>
      <p:sp>
        <p:nvSpPr>
          <p:cNvPr id="19" name="">
            <a:extLst xmlns:a="http://schemas.openxmlformats.org/drawingml/2006/main">
              <a:ext uri="{FF2B5EF4-FFF2-40B4-BE49-F238E27FC236}">
                <a16:creationId xmlns:a16="http://schemas.microsoft.com/office/drawing/2014/main" id="{772197D5-9CAF-4026-89AC-6725DDA8CA28}"/>
              </a:ext>
            </a:extLst>
          </p:cNvPr>
          <p:cNvSpPr>
            <a:spLocks xmlns:a="http://schemas.openxmlformats.org/drawingml/2006/main" noGrp="1"/>
          </p:cNvSpPr>
          <p:nvPr/>
        </p:nvSpPr>
        <p:spPr>
          <a:xfrm xmlns:a="http://schemas.openxmlformats.org/drawingml/2006/main">
            <a:off x="6286500" y="4305300"/>
            <a:ext cx="5429250" cy="1066800"/>
          </a:xfrm>
          <a:prstGeom xmlns:a="http://schemas.openxmlformats.org/drawingml/2006/main" prst="roundRect">
            <a:avLst>
              <a:gd name="adj" fmla="val 7143"/>
            </a:avLst>
          </a:prstGeom>
          <a:solidFill xmlns:a="http://schemas.openxmlformats.org/drawingml/2006/main">
            <a:srgbClr val="F3F6F9"/>
          </a:solidFill>
          <a:ln xmlns:a="http://schemas.openxmlformats.org/drawingml/2006/main" w="9525">
            <a:solidFill>
              <a:srgbClr val="D6DEE7"/>
            </a:solidFill>
            <a:prstDash val="solid"/>
          </a:ln>
        </p:spPr>
      </p:sp>
      <p:sp>
        <p:nvSpPr>
          <p:cNvPr id="20" name="">
            <a:extLst xmlns:a="http://schemas.openxmlformats.org/drawingml/2006/main">
              <a:ext uri="{FF2B5EF4-FFF2-40B4-BE49-F238E27FC236}">
                <a16:creationId xmlns:a16="http://schemas.microsoft.com/office/drawing/2014/main" id="{AD22D800-F345-4552-A15A-31AE30AD79F4}"/>
              </a:ext>
            </a:extLst>
          </p:cNvPr>
          <p:cNvSpPr>
            <a:spLocks xmlns:a="http://schemas.openxmlformats.org/drawingml/2006/main" noGrp="1"/>
          </p:cNvSpPr>
          <p:nvPr/>
        </p:nvSpPr>
        <p:spPr>
          <a:xfrm xmlns:a="http://schemas.openxmlformats.org/drawingml/2006/main">
            <a:off x="6496050" y="44767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069C9C"/>
                </a:solidFill>
                <a:latin typeface="Arial"/>
                <a:ea typeface="Arial"/>
                <a:cs typeface="Arial"/>
              </a:defRPr>
            </a:pPr>
            <a:r>
              <a:rPr sz="1425" b="1" i="0">
                <a:solidFill>
                  <a:srgbClr val="069C9C"/>
                </a:solidFill>
                <a:latin typeface="Arial"/>
                <a:ea typeface="Arial"/>
                <a:cs typeface="Arial"/>
              </a:rPr>
              <a:t>A code is automatic</a:t>
            </a:r>
          </a:p>
        </p:txBody>
      </p:sp>
      <p:sp>
        <p:nvSpPr>
          <p:cNvPr id="21" name="">
            <a:extLst xmlns:a="http://schemas.openxmlformats.org/drawingml/2006/main">
              <a:ext uri="{FF2B5EF4-FFF2-40B4-BE49-F238E27FC236}">
                <a16:creationId xmlns:a16="http://schemas.microsoft.com/office/drawing/2014/main" id="{C8DFD375-3333-42FD-9DA3-661AB000EE33}"/>
              </a:ext>
            </a:extLst>
          </p:cNvPr>
          <p:cNvSpPr>
            <a:spLocks xmlns:a="http://schemas.openxmlformats.org/drawingml/2006/main" noGrp="1"/>
          </p:cNvSpPr>
          <p:nvPr/>
        </p:nvSpPr>
        <p:spPr>
          <a:xfrm xmlns:a="http://schemas.openxmlformats.org/drawingml/2006/main">
            <a:off x="8743950" y="4448175"/>
            <a:ext cx="2705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i="0">
                <a:solidFill>
                  <a:srgbClr val="0B1F33"/>
                </a:solidFill>
                <a:latin typeface="Arial"/>
                <a:ea typeface="Arial"/>
                <a:cs typeface="Arial"/>
              </a:defRPr>
            </a:pPr>
            <a:r>
              <a:rPr sz="1275" b="0" i="0">
                <a:solidFill>
                  <a:srgbClr val="0B1F33"/>
                </a:solidFill>
                <a:latin typeface="Arial"/>
                <a:ea typeface="Arial"/>
                <a:cs typeface="Arial"/>
              </a:rPr>
              <a:t>Professional judgment and gene-specific rules remain essential.</a:t>
            </a:r>
          </a:p>
        </p:txBody>
      </p:sp>
      <p:sp>
        <p:nvSpPr>
          <p:cNvPr id="22" name="">
            <a:extLst xmlns:a="http://schemas.openxmlformats.org/drawingml/2006/main">
              <a:ext uri="{FF2B5EF4-FFF2-40B4-BE49-F238E27FC236}">
                <a16:creationId xmlns:a16="http://schemas.microsoft.com/office/drawing/2014/main" id="{2187B038-CF5E-4A3C-8367-2549F64E2573}"/>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38</a:t>
            </a:r>
          </a:p>
        </p:txBody>
      </p:sp>
    </p:spTree>
    <p:extLst>
      <p:ext uri="{BB962C8B-B14F-4D97-AF65-F5344CB8AC3E}">
        <p14:creationId xmlns:p14="http://schemas.microsoft.com/office/powerpoint/2010/main" val="206462528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24B535F-BFFD-45C4-AB1C-B56746324696}"/>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USE CURRENT SPECIFICATIONS</a:t>
            </a:r>
          </a:p>
        </p:txBody>
      </p:sp>
      <p:sp>
        <p:nvSpPr>
          <p:cNvPr id="2" name="">
            <a:extLst xmlns:a="http://schemas.openxmlformats.org/drawingml/2006/main">
              <a:ext uri="{FF2B5EF4-FFF2-40B4-BE49-F238E27FC236}">
                <a16:creationId xmlns:a16="http://schemas.microsoft.com/office/drawing/2014/main" id="{6B1A0042-33BA-4E19-A3F7-2FE70661DD5E}"/>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2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2015 framework is the foundation—not the final frozen version</a:t>
            </a:r>
          </a:p>
        </p:txBody>
      </p:sp>
      <p:cxnSp>
        <p:nvCxnSpPr>
          <p:cNvPr id="23"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cxnSp>
        <p:nvCxnSpPr>
          <p:cNvPr id="24" name=""/>
          <p:cNvCxnSpPr/>
          <p:nvPr/>
        </p:nvCxnSpPr>
        <p:spPr>
          <a:xfrm xmlns:a="http://schemas.openxmlformats.org/drawingml/2006/main">
            <a:off x="876300" y="3390900"/>
            <a:ext cx="9715500" cy="0"/>
          </a:xfrm>
          <a:prstGeom xmlns:a="http://schemas.openxmlformats.org/drawingml/2006/main" prst="straightConnector1">
            <a:avLst/>
          </a:prstGeom>
          <a:ln xmlns:a="http://schemas.openxmlformats.org/drawingml/2006/main" w="19050">
            <a:solidFill>
              <a:srgbClr val="0B1F33"/>
            </a:solidFill>
            <a:prstDash val="solid"/>
          </a:ln>
        </p:spPr>
      </p:cxnSp>
      <p:sp>
        <p:nvSpPr>
          <p:cNvPr id="5" name="">
            <a:extLst xmlns:a="http://schemas.openxmlformats.org/drawingml/2006/main">
              <a:ext uri="{FF2B5EF4-FFF2-40B4-BE49-F238E27FC236}">
                <a16:creationId xmlns:a16="http://schemas.microsoft.com/office/drawing/2014/main" id="{14B7D0A1-941D-4DFB-8D9C-B3661F3F0CF0}"/>
              </a:ext>
            </a:extLst>
          </p:cNvPr>
          <p:cNvSpPr>
            <a:spLocks xmlns:a="http://schemas.openxmlformats.org/drawingml/2006/main" noGrp="1"/>
          </p:cNvSpPr>
          <p:nvPr/>
        </p:nvSpPr>
        <p:spPr>
          <a:xfrm xmlns:a="http://schemas.openxmlformats.org/drawingml/2006/main">
            <a:off x="876300" y="3257550"/>
            <a:ext cx="266700" cy="26670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D314C7F8-B8DD-488C-B4FB-6474401A155E}"/>
              </a:ext>
            </a:extLst>
          </p:cNvPr>
          <p:cNvSpPr>
            <a:spLocks xmlns:a="http://schemas.openxmlformats.org/drawingml/2006/main" noGrp="1"/>
          </p:cNvSpPr>
          <p:nvPr/>
        </p:nvSpPr>
        <p:spPr>
          <a:xfrm xmlns:a="http://schemas.openxmlformats.org/drawingml/2006/main">
            <a:off x="781050" y="266700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2D6CDF"/>
                </a:solidFill>
                <a:latin typeface="Arial"/>
                <a:ea typeface="Arial"/>
                <a:cs typeface="Arial"/>
              </a:defRPr>
            </a:pPr>
            <a:r>
              <a:rPr sz="1350" b="1" i="0">
                <a:solidFill>
                  <a:srgbClr val="2D6CDF"/>
                </a:solidFill>
                <a:latin typeface="Arial"/>
                <a:ea typeface="Arial"/>
                <a:cs typeface="Arial"/>
              </a:rPr>
              <a:t>2015</a:t>
            </a:r>
          </a:p>
        </p:txBody>
      </p:sp>
      <p:sp>
        <p:nvSpPr>
          <p:cNvPr id="7" name="">
            <a:extLst xmlns:a="http://schemas.openxmlformats.org/drawingml/2006/main">
              <a:ext uri="{FF2B5EF4-FFF2-40B4-BE49-F238E27FC236}">
                <a16:creationId xmlns:a16="http://schemas.microsoft.com/office/drawing/2014/main" id="{25B019BB-77DB-4B5F-B677-3D1E748E8CFD}"/>
              </a:ext>
            </a:extLst>
          </p:cNvPr>
          <p:cNvSpPr>
            <a:spLocks xmlns:a="http://schemas.openxmlformats.org/drawingml/2006/main" noGrp="1"/>
          </p:cNvSpPr>
          <p:nvPr/>
        </p:nvSpPr>
        <p:spPr>
          <a:xfrm xmlns:a="http://schemas.openxmlformats.org/drawingml/2006/main">
            <a:off x="781050" y="3829050"/>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Core ACMG/AMP terminology and combination rules</a:t>
            </a:r>
          </a:p>
        </p:txBody>
      </p:sp>
      <p:sp>
        <p:nvSpPr>
          <p:cNvPr id="8" name="">
            <a:extLst xmlns:a="http://schemas.openxmlformats.org/drawingml/2006/main">
              <a:ext uri="{FF2B5EF4-FFF2-40B4-BE49-F238E27FC236}">
                <a16:creationId xmlns:a16="http://schemas.microsoft.com/office/drawing/2014/main" id="{A461D032-3D97-410D-B6CB-8859E5342617}"/>
              </a:ext>
            </a:extLst>
          </p:cNvPr>
          <p:cNvSpPr>
            <a:spLocks xmlns:a="http://schemas.openxmlformats.org/drawingml/2006/main" noGrp="1"/>
          </p:cNvSpPr>
          <p:nvPr/>
        </p:nvSpPr>
        <p:spPr>
          <a:xfrm xmlns:a="http://schemas.openxmlformats.org/drawingml/2006/main">
            <a:off x="3714750" y="3257550"/>
            <a:ext cx="266700" cy="266700"/>
          </a:xfrm>
          <a:prstGeom xmlns:a="http://schemas.openxmlformats.org/drawingml/2006/main" prst="roundRect">
            <a:avLst>
              <a:gd name="adj" fmla="val 28571"/>
            </a:avLst>
          </a:prstGeom>
          <a:solidFill xmlns:a="http://schemas.openxmlformats.org/drawingml/2006/main">
            <a:srgbClr val="069C9C"/>
          </a:solidFill>
          <a:ln xmlns:a="http://schemas.openxmlformats.org/drawingml/2006/main" w="0">
            <a:solidFill>
              <a:srgbClr val="069C9C"/>
            </a:solidFill>
            <a:prstDash val="solid"/>
          </a:ln>
        </p:spPr>
      </p:sp>
      <p:sp>
        <p:nvSpPr>
          <p:cNvPr id="9" name="">
            <a:extLst xmlns:a="http://schemas.openxmlformats.org/drawingml/2006/main">
              <a:ext uri="{FF2B5EF4-FFF2-40B4-BE49-F238E27FC236}">
                <a16:creationId xmlns:a16="http://schemas.microsoft.com/office/drawing/2014/main" id="{E00FF262-45B1-4CEF-954C-6E6800A9A653}"/>
              </a:ext>
            </a:extLst>
          </p:cNvPr>
          <p:cNvSpPr>
            <a:spLocks xmlns:a="http://schemas.openxmlformats.org/drawingml/2006/main" noGrp="1"/>
          </p:cNvSpPr>
          <p:nvPr/>
        </p:nvSpPr>
        <p:spPr>
          <a:xfrm xmlns:a="http://schemas.openxmlformats.org/drawingml/2006/main">
            <a:off x="3619500" y="266700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69C9C"/>
                </a:solidFill>
                <a:latin typeface="Arial"/>
                <a:ea typeface="Arial"/>
                <a:cs typeface="Arial"/>
              </a:defRPr>
            </a:pPr>
            <a:r>
              <a:rPr sz="1350" b="1" i="0">
                <a:solidFill>
                  <a:srgbClr val="069C9C"/>
                </a:solidFill>
                <a:latin typeface="Arial"/>
                <a:ea typeface="Arial"/>
                <a:cs typeface="Arial"/>
              </a:rPr>
              <a:t>2018–24</a:t>
            </a:r>
          </a:p>
        </p:txBody>
      </p:sp>
      <p:sp>
        <p:nvSpPr>
          <p:cNvPr id="10" name="">
            <a:extLst xmlns:a="http://schemas.openxmlformats.org/drawingml/2006/main">
              <a:ext uri="{FF2B5EF4-FFF2-40B4-BE49-F238E27FC236}">
                <a16:creationId xmlns:a16="http://schemas.microsoft.com/office/drawing/2014/main" id="{6AF77F98-089B-480F-BA51-FAC060D5154D}"/>
              </a:ext>
            </a:extLst>
          </p:cNvPr>
          <p:cNvSpPr>
            <a:spLocks xmlns:a="http://schemas.openxmlformats.org/drawingml/2006/main" noGrp="1"/>
          </p:cNvSpPr>
          <p:nvPr/>
        </p:nvSpPr>
        <p:spPr>
          <a:xfrm xmlns:a="http://schemas.openxmlformats.org/drawingml/2006/main">
            <a:off x="3619500" y="3829050"/>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ClinGen criteria-specific refinements</a:t>
            </a:r>
          </a:p>
        </p:txBody>
      </p:sp>
      <p:sp>
        <p:nvSpPr>
          <p:cNvPr id="11" name="">
            <a:extLst xmlns:a="http://schemas.openxmlformats.org/drawingml/2006/main">
              <a:ext uri="{FF2B5EF4-FFF2-40B4-BE49-F238E27FC236}">
                <a16:creationId xmlns:a16="http://schemas.microsoft.com/office/drawing/2014/main" id="{708EACAB-A1F3-47E4-958F-ABCC6E80A57F}"/>
              </a:ext>
            </a:extLst>
          </p:cNvPr>
          <p:cNvSpPr>
            <a:spLocks xmlns:a="http://schemas.openxmlformats.org/drawingml/2006/main" noGrp="1"/>
          </p:cNvSpPr>
          <p:nvPr/>
        </p:nvSpPr>
        <p:spPr>
          <a:xfrm xmlns:a="http://schemas.openxmlformats.org/drawingml/2006/main">
            <a:off x="6572250" y="3257550"/>
            <a:ext cx="266700" cy="266700"/>
          </a:xfrm>
          <a:prstGeom xmlns:a="http://schemas.openxmlformats.org/drawingml/2006/main" prst="roundRect">
            <a:avLst>
              <a:gd name="adj" fmla="val 28571"/>
            </a:avLst>
          </a:prstGeom>
          <a:solidFill xmlns:a="http://schemas.openxmlformats.org/drawingml/2006/main">
            <a:srgbClr val="7756C2"/>
          </a:solidFill>
          <a:ln xmlns:a="http://schemas.openxmlformats.org/drawingml/2006/main" w="0">
            <a:solidFill>
              <a:srgbClr val="7756C2"/>
            </a:solidFill>
            <a:prstDash val="solid"/>
          </a:ln>
        </p:spPr>
      </p:sp>
      <p:sp>
        <p:nvSpPr>
          <p:cNvPr id="12" name="">
            <a:extLst xmlns:a="http://schemas.openxmlformats.org/drawingml/2006/main">
              <a:ext uri="{FF2B5EF4-FFF2-40B4-BE49-F238E27FC236}">
                <a16:creationId xmlns:a16="http://schemas.microsoft.com/office/drawing/2014/main" id="{2F82D81A-2974-4643-B886-A2A2B9773BD3}"/>
              </a:ext>
            </a:extLst>
          </p:cNvPr>
          <p:cNvSpPr>
            <a:spLocks xmlns:a="http://schemas.openxmlformats.org/drawingml/2006/main" noGrp="1"/>
          </p:cNvSpPr>
          <p:nvPr/>
        </p:nvSpPr>
        <p:spPr>
          <a:xfrm xmlns:a="http://schemas.openxmlformats.org/drawingml/2006/main">
            <a:off x="6477000" y="266700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7756C2"/>
                </a:solidFill>
                <a:latin typeface="Arial"/>
                <a:ea typeface="Arial"/>
                <a:cs typeface="Arial"/>
              </a:defRPr>
            </a:pPr>
            <a:r>
              <a:rPr sz="1350" b="1" i="0">
                <a:solidFill>
                  <a:srgbClr val="7756C2"/>
                </a:solidFill>
                <a:latin typeface="Arial"/>
                <a:ea typeface="Arial"/>
                <a:cs typeface="Arial"/>
              </a:rPr>
              <a:t>Gene-specific</a:t>
            </a:r>
          </a:p>
        </p:txBody>
      </p:sp>
      <p:sp>
        <p:nvSpPr>
          <p:cNvPr id="13" name="">
            <a:extLst xmlns:a="http://schemas.openxmlformats.org/drawingml/2006/main">
              <a:ext uri="{FF2B5EF4-FFF2-40B4-BE49-F238E27FC236}">
                <a16:creationId xmlns:a16="http://schemas.microsoft.com/office/drawing/2014/main" id="{35CC2042-32EA-4838-98F4-5830F4248865}"/>
              </a:ext>
            </a:extLst>
          </p:cNvPr>
          <p:cNvSpPr>
            <a:spLocks xmlns:a="http://schemas.openxmlformats.org/drawingml/2006/main" noGrp="1"/>
          </p:cNvSpPr>
          <p:nvPr/>
        </p:nvSpPr>
        <p:spPr>
          <a:xfrm xmlns:a="http://schemas.openxmlformats.org/drawingml/2006/main">
            <a:off x="6477000" y="3829050"/>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Variant Curation Expert Panel specifications</a:t>
            </a:r>
          </a:p>
        </p:txBody>
      </p:sp>
      <p:sp>
        <p:nvSpPr>
          <p:cNvPr id="14" name="">
            <a:extLst xmlns:a="http://schemas.openxmlformats.org/drawingml/2006/main">
              <a:ext uri="{FF2B5EF4-FFF2-40B4-BE49-F238E27FC236}">
                <a16:creationId xmlns:a16="http://schemas.microsoft.com/office/drawing/2014/main" id="{EE6FD646-2F3D-41C4-9FF4-4AC4F5F6BED4}"/>
              </a:ext>
            </a:extLst>
          </p:cNvPr>
          <p:cNvSpPr>
            <a:spLocks xmlns:a="http://schemas.openxmlformats.org/drawingml/2006/main" noGrp="1"/>
          </p:cNvSpPr>
          <p:nvPr/>
        </p:nvSpPr>
        <p:spPr>
          <a:xfrm xmlns:a="http://schemas.openxmlformats.org/drawingml/2006/main">
            <a:off x="9429750" y="3257550"/>
            <a:ext cx="266700" cy="266700"/>
          </a:xfrm>
          <a:prstGeom xmlns:a="http://schemas.openxmlformats.org/drawingml/2006/main" prst="roundRect">
            <a:avLst>
              <a:gd name="adj" fmla="val 28571"/>
            </a:avLst>
          </a:prstGeom>
          <a:solidFill xmlns:a="http://schemas.openxmlformats.org/drawingml/2006/main">
            <a:srgbClr val="359B64"/>
          </a:solidFill>
          <a:ln xmlns:a="http://schemas.openxmlformats.org/drawingml/2006/main" w="0">
            <a:solidFill>
              <a:srgbClr val="359B64"/>
            </a:solidFill>
            <a:prstDash val="solid"/>
          </a:ln>
        </p:spPr>
      </p:sp>
      <p:sp>
        <p:nvSpPr>
          <p:cNvPr id="15" name="">
            <a:extLst xmlns:a="http://schemas.openxmlformats.org/drawingml/2006/main">
              <a:ext uri="{FF2B5EF4-FFF2-40B4-BE49-F238E27FC236}">
                <a16:creationId xmlns:a16="http://schemas.microsoft.com/office/drawing/2014/main" id="{7CD2A8A2-28C6-4D92-83D6-F34AD1726234}"/>
              </a:ext>
            </a:extLst>
          </p:cNvPr>
          <p:cNvSpPr>
            <a:spLocks xmlns:a="http://schemas.openxmlformats.org/drawingml/2006/main" noGrp="1"/>
          </p:cNvSpPr>
          <p:nvPr/>
        </p:nvSpPr>
        <p:spPr>
          <a:xfrm xmlns:a="http://schemas.openxmlformats.org/drawingml/2006/main">
            <a:off x="9334500" y="266700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59B64"/>
                </a:solidFill>
                <a:latin typeface="Arial"/>
                <a:ea typeface="Arial"/>
                <a:cs typeface="Arial"/>
              </a:defRPr>
            </a:pPr>
            <a:r>
              <a:rPr sz="1350" b="1" i="0">
                <a:solidFill>
                  <a:srgbClr val="359B64"/>
                </a:solidFill>
                <a:latin typeface="Arial"/>
                <a:ea typeface="Arial"/>
                <a:cs typeface="Arial"/>
              </a:rPr>
              <a:t>Current practice</a:t>
            </a:r>
          </a:p>
        </p:txBody>
      </p:sp>
      <p:sp>
        <p:nvSpPr>
          <p:cNvPr id="16" name="">
            <a:extLst xmlns:a="http://schemas.openxmlformats.org/drawingml/2006/main">
              <a:ext uri="{FF2B5EF4-FFF2-40B4-BE49-F238E27FC236}">
                <a16:creationId xmlns:a16="http://schemas.microsoft.com/office/drawing/2014/main" id="{2957C33D-3DB6-41BE-9063-59878F3EF183}"/>
              </a:ext>
            </a:extLst>
          </p:cNvPr>
          <p:cNvSpPr>
            <a:spLocks xmlns:a="http://schemas.openxmlformats.org/drawingml/2006/main" noGrp="1"/>
          </p:cNvSpPr>
          <p:nvPr/>
        </p:nvSpPr>
        <p:spPr>
          <a:xfrm xmlns:a="http://schemas.openxmlformats.org/drawingml/2006/main">
            <a:off x="9334500" y="3829050"/>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0B1F33"/>
                </a:solidFill>
                <a:latin typeface="Arial"/>
                <a:ea typeface="Arial"/>
                <a:cs typeface="Arial"/>
              </a:defRPr>
            </a:pPr>
            <a:r>
              <a:rPr sz="1350" b="1" i="0">
                <a:solidFill>
                  <a:srgbClr val="0B1F33"/>
                </a:solidFill>
                <a:latin typeface="Arial"/>
                <a:ea typeface="Arial"/>
                <a:cs typeface="Arial"/>
              </a:rPr>
              <a:t>Document strength changes and use updated guidance</a:t>
            </a:r>
          </a:p>
        </p:txBody>
      </p:sp>
      <p:sp>
        <p:nvSpPr>
          <p:cNvPr id="17" name="">
            <a:extLst xmlns:a="http://schemas.openxmlformats.org/drawingml/2006/main">
              <a:ext uri="{FF2B5EF4-FFF2-40B4-BE49-F238E27FC236}">
                <a16:creationId xmlns:a16="http://schemas.microsoft.com/office/drawing/2014/main" id="{6FB84D53-04A9-450D-B15B-B28B71815E59}"/>
              </a:ext>
            </a:extLst>
          </p:cNvPr>
          <p:cNvSpPr>
            <a:spLocks xmlns:a="http://schemas.openxmlformats.org/drawingml/2006/main" noGrp="1"/>
          </p:cNvSpPr>
          <p:nvPr/>
        </p:nvSpPr>
        <p:spPr>
          <a:xfrm xmlns:a="http://schemas.openxmlformats.org/drawingml/2006/main">
            <a:off x="1524000" y="5219700"/>
            <a:ext cx="9144000" cy="533400"/>
          </a:xfrm>
          <a:prstGeom xmlns:a="http://schemas.openxmlformats.org/drawingml/2006/main" prst="roundRect">
            <a:avLst>
              <a:gd name="adj" fmla="val 14286"/>
            </a:avLst>
          </a:prstGeom>
          <a:solidFill xmlns:a="http://schemas.openxmlformats.org/drawingml/2006/main">
            <a:srgbClr val="FFF1CF"/>
          </a:solidFill>
          <a:ln xmlns:a="http://schemas.openxmlformats.org/drawingml/2006/main" w="0">
            <a:solidFill>
              <a:srgbClr val="FFF1CF"/>
            </a:solidFill>
            <a:prstDash val="solid"/>
          </a:ln>
        </p:spPr>
      </p:sp>
      <p:sp>
        <p:nvSpPr>
          <p:cNvPr id="18" name="">
            <a:extLst xmlns:a="http://schemas.openxmlformats.org/drawingml/2006/main">
              <a:ext uri="{FF2B5EF4-FFF2-40B4-BE49-F238E27FC236}">
                <a16:creationId xmlns:a16="http://schemas.microsoft.com/office/drawing/2014/main" id="{AB3C45F6-9BE8-490D-A884-7A37E9DCE5E6}"/>
              </a:ext>
            </a:extLst>
          </p:cNvPr>
          <p:cNvSpPr>
            <a:spLocks xmlns:a="http://schemas.openxmlformats.org/drawingml/2006/main" noGrp="1"/>
          </p:cNvSpPr>
          <p:nvPr/>
        </p:nvSpPr>
        <p:spPr>
          <a:xfrm xmlns:a="http://schemas.openxmlformats.org/drawingml/2006/main">
            <a:off x="1695450" y="5381625"/>
            <a:ext cx="880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E7A62F"/>
                </a:solidFill>
                <a:latin typeface="Arial"/>
                <a:ea typeface="Arial"/>
                <a:cs typeface="Arial"/>
              </a:defRPr>
            </a:pPr>
            <a:r>
              <a:rPr sz="1200" b="1" i="0">
                <a:solidFill>
                  <a:srgbClr val="E7A62F"/>
                </a:solidFill>
                <a:latin typeface="Arial"/>
                <a:ea typeface="Arial"/>
                <a:cs typeface="Arial"/>
              </a:rPr>
              <a:t>Examples: PM2 often supporting • PP5/BP6 avoided • Bayesian points • gene-specific thresholds</a:t>
            </a:r>
          </a:p>
        </p:txBody>
      </p:sp>
      <p:sp>
        <p:nvSpPr>
          <p:cNvPr id="19" name="">
            <a:extLst xmlns:a="http://schemas.openxmlformats.org/drawingml/2006/main">
              <a:ext uri="{FF2B5EF4-FFF2-40B4-BE49-F238E27FC236}">
                <a16:creationId xmlns:a16="http://schemas.microsoft.com/office/drawing/2014/main" id="{A543ED27-38A6-49B8-8F1A-E2CD08A8998E}"/>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ClinGen Variant Classification Guidance, updated July 2025</a:t>
            </a:r>
          </a:p>
        </p:txBody>
      </p:sp>
      <p:sp>
        <p:nvSpPr>
          <p:cNvPr id="20" name="">
            <a:extLst xmlns:a="http://schemas.openxmlformats.org/drawingml/2006/main">
              <a:ext uri="{FF2B5EF4-FFF2-40B4-BE49-F238E27FC236}">
                <a16:creationId xmlns:a16="http://schemas.microsoft.com/office/drawing/2014/main" id="{60659918-B79F-4146-9D62-CF99E96B1FCD}"/>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39</a:t>
            </a:r>
          </a:p>
        </p:txBody>
      </p:sp>
    </p:spTree>
    <p:extLst>
      <p:ext uri="{BB962C8B-B14F-4D97-AF65-F5344CB8AC3E}">
        <p14:creationId xmlns:p14="http://schemas.microsoft.com/office/powerpoint/2010/main" val="43037520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FCD4D3-D921-4AF9-99CD-F22C97400F63}"/>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KNOW THE SCOPE</a:t>
            </a:r>
          </a:p>
        </p:txBody>
      </p:sp>
      <p:sp>
        <p:nvSpPr>
          <p:cNvPr id="2" name="">
            <a:extLst xmlns:a="http://schemas.openxmlformats.org/drawingml/2006/main">
              <a:ext uri="{FF2B5EF4-FFF2-40B4-BE49-F238E27FC236}">
                <a16:creationId xmlns:a16="http://schemas.microsoft.com/office/drawing/2014/main" id="{B4D703C2-1285-4B30-AA66-489EA1FCA1C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18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Germline pathogenicity and somatic cancer significance are different questions</a:t>
            </a:r>
          </a:p>
        </p:txBody>
      </p:sp>
      <p:cxnSp>
        <p:nvCxnSpPr>
          <p:cNvPr id="20"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9DC7698D-1856-49B2-8154-E026C1AB1246}"/>
              </a:ext>
            </a:extLst>
          </p:cNvPr>
          <p:cNvSpPr>
            <a:spLocks xmlns:a="http://schemas.openxmlformats.org/drawingml/2006/main" noGrp="1"/>
          </p:cNvSpPr>
          <p:nvPr/>
        </p:nvSpPr>
        <p:spPr>
          <a:xfrm xmlns:a="http://schemas.openxmlformats.org/drawingml/2006/main">
            <a:off x="514350" y="1809750"/>
            <a:ext cx="3333750" cy="3409950"/>
          </a:xfrm>
          <a:prstGeom xmlns:a="http://schemas.openxmlformats.org/drawingml/2006/main" prst="roundRect">
            <a:avLst>
              <a:gd name="adj" fmla="val 2286"/>
            </a:avLst>
          </a:prstGeom>
          <a:solidFill xmlns:a="http://schemas.openxmlformats.org/drawingml/2006/main">
            <a:srgbClr val="DCE8FF"/>
          </a:solidFill>
          <a:ln xmlns:a="http://schemas.openxmlformats.org/drawingml/2006/main" w="9525">
            <a:solidFill>
              <a:srgbClr val="D6DEE7"/>
            </a:solidFill>
            <a:prstDash val="solid"/>
          </a:ln>
        </p:spPr>
      </p:sp>
      <p:sp>
        <p:nvSpPr>
          <p:cNvPr id="5" name="">
            <a:extLst xmlns:a="http://schemas.openxmlformats.org/drawingml/2006/main">
              <a:ext uri="{FF2B5EF4-FFF2-40B4-BE49-F238E27FC236}">
                <a16:creationId xmlns:a16="http://schemas.microsoft.com/office/drawing/2014/main" id="{573A2697-1104-4609-92D5-B57673829FB7}"/>
              </a:ext>
            </a:extLst>
          </p:cNvPr>
          <p:cNvSpPr>
            <a:spLocks xmlns:a="http://schemas.openxmlformats.org/drawingml/2006/main" noGrp="1"/>
          </p:cNvSpPr>
          <p:nvPr/>
        </p:nvSpPr>
        <p:spPr>
          <a:xfrm xmlns:a="http://schemas.openxmlformats.org/drawingml/2006/main">
            <a:off x="514350" y="1809750"/>
            <a:ext cx="66675" cy="34099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6" name="">
            <a:extLst xmlns:a="http://schemas.openxmlformats.org/drawingml/2006/main">
              <a:ext uri="{FF2B5EF4-FFF2-40B4-BE49-F238E27FC236}">
                <a16:creationId xmlns:a16="http://schemas.microsoft.com/office/drawing/2014/main" id="{19D7AC43-0AA5-4F3B-8C9A-C8AC67F43E40}"/>
              </a:ext>
            </a:extLst>
          </p:cNvPr>
          <p:cNvSpPr>
            <a:spLocks xmlns:a="http://schemas.openxmlformats.org/drawingml/2006/main" noGrp="1"/>
          </p:cNvSpPr>
          <p:nvPr/>
        </p:nvSpPr>
        <p:spPr>
          <a:xfrm xmlns:a="http://schemas.openxmlformats.org/drawingml/2006/main">
            <a:off x="742950" y="20002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GERMLINE MENDELIAN</a:t>
            </a:r>
          </a:p>
        </p:txBody>
      </p:sp>
      <p:sp>
        <p:nvSpPr>
          <p:cNvPr id="7" name="">
            <a:extLst xmlns:a="http://schemas.openxmlformats.org/drawingml/2006/main">
              <a:ext uri="{FF2B5EF4-FFF2-40B4-BE49-F238E27FC236}">
                <a16:creationId xmlns:a16="http://schemas.microsoft.com/office/drawing/2014/main" id="{1B4E7A02-B21D-46E1-BC1E-89541BBA9038}"/>
              </a:ext>
            </a:extLst>
          </p:cNvPr>
          <p:cNvSpPr>
            <a:spLocks xmlns:a="http://schemas.openxmlformats.org/drawingml/2006/main" noGrp="1"/>
          </p:cNvSpPr>
          <p:nvPr/>
        </p:nvSpPr>
        <p:spPr>
          <a:xfrm xmlns:a="http://schemas.openxmlformats.org/drawingml/2006/main">
            <a:off x="742950" y="2400300"/>
            <a:ext cx="29337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Question: Does this variant cause an inherited disorder?</a:t>
            </a:r>
          </a:p>
          <a:p xmlns:a="http://schemas.openxmlformats.org/drawingml/2006/main">
            <a:r>
              <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Framework: ACMG/AMP five classes</a:t>
            </a:r>
          </a:p>
        </p:txBody>
      </p:sp>
      <p:sp>
        <p:nvSpPr>
          <p:cNvPr id="8" name="">
            <a:extLst xmlns:a="http://schemas.openxmlformats.org/drawingml/2006/main">
              <a:ext uri="{FF2B5EF4-FFF2-40B4-BE49-F238E27FC236}">
                <a16:creationId xmlns:a16="http://schemas.microsoft.com/office/drawing/2014/main" id="{0106B5BB-C46A-4BA6-A0D5-BC6AA1BDFB1B}"/>
              </a:ext>
            </a:extLst>
          </p:cNvPr>
          <p:cNvSpPr>
            <a:spLocks xmlns:a="http://schemas.openxmlformats.org/drawingml/2006/main" noGrp="1"/>
          </p:cNvSpPr>
          <p:nvPr/>
        </p:nvSpPr>
        <p:spPr>
          <a:xfrm xmlns:a="http://schemas.openxmlformats.org/drawingml/2006/main">
            <a:off x="4438650" y="1809750"/>
            <a:ext cx="3333750" cy="3409950"/>
          </a:xfrm>
          <a:prstGeom xmlns:a="http://schemas.openxmlformats.org/drawingml/2006/main" prst="roundRect">
            <a:avLst>
              <a:gd name="adj" fmla="val 2286"/>
            </a:avLst>
          </a:prstGeom>
          <a:solidFill xmlns:a="http://schemas.openxmlformats.org/drawingml/2006/main">
            <a:srgbClr val="EEE8FB"/>
          </a:solidFill>
          <a:ln xmlns:a="http://schemas.openxmlformats.org/drawingml/2006/main" w="9525">
            <a:solidFill>
              <a:srgbClr val="D6DEE7"/>
            </a:solidFill>
            <a:prstDash val="solid"/>
          </a:ln>
        </p:spPr>
      </p:sp>
      <p:sp>
        <p:nvSpPr>
          <p:cNvPr id="9" name="">
            <a:extLst xmlns:a="http://schemas.openxmlformats.org/drawingml/2006/main">
              <a:ext uri="{FF2B5EF4-FFF2-40B4-BE49-F238E27FC236}">
                <a16:creationId xmlns:a16="http://schemas.microsoft.com/office/drawing/2014/main" id="{C17598F3-0242-4F81-BC69-C63DE447B497}"/>
              </a:ext>
            </a:extLst>
          </p:cNvPr>
          <p:cNvSpPr>
            <a:spLocks xmlns:a="http://schemas.openxmlformats.org/drawingml/2006/main" noGrp="1"/>
          </p:cNvSpPr>
          <p:nvPr/>
        </p:nvSpPr>
        <p:spPr>
          <a:xfrm xmlns:a="http://schemas.openxmlformats.org/drawingml/2006/main">
            <a:off x="4438650" y="1809750"/>
            <a:ext cx="66675" cy="3409950"/>
          </a:xfrm>
          <a:prstGeom xmlns:a="http://schemas.openxmlformats.org/drawingml/2006/main" prst="roundRect">
            <a:avLst>
              <a:gd name="adj" fmla="val 50000"/>
            </a:avLst>
          </a:prstGeom>
          <a:solidFill xmlns:a="http://schemas.openxmlformats.org/drawingml/2006/main">
            <a:srgbClr val="7756C2"/>
          </a:solidFill>
          <a:ln xmlns:a="http://schemas.openxmlformats.org/drawingml/2006/main" w="0">
            <a:solidFill>
              <a:srgbClr val="7756C2"/>
            </a:solidFill>
            <a:prstDash val="solid"/>
          </a:ln>
        </p:spPr>
      </p:sp>
      <p:sp>
        <p:nvSpPr>
          <p:cNvPr id="10" name="">
            <a:extLst xmlns:a="http://schemas.openxmlformats.org/drawingml/2006/main">
              <a:ext uri="{FF2B5EF4-FFF2-40B4-BE49-F238E27FC236}">
                <a16:creationId xmlns:a16="http://schemas.microsoft.com/office/drawing/2014/main" id="{2EE09AE1-75DA-4E33-A06A-7637A3A10CB4}"/>
              </a:ext>
            </a:extLst>
          </p:cNvPr>
          <p:cNvSpPr>
            <a:spLocks xmlns:a="http://schemas.openxmlformats.org/drawingml/2006/main" noGrp="1"/>
          </p:cNvSpPr>
          <p:nvPr/>
        </p:nvSpPr>
        <p:spPr>
          <a:xfrm xmlns:a="http://schemas.openxmlformats.org/drawingml/2006/main">
            <a:off x="4667250" y="20002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SOMATIC ONCOGENICITY</a:t>
            </a:r>
          </a:p>
        </p:txBody>
      </p:sp>
      <p:sp>
        <p:nvSpPr>
          <p:cNvPr id="11" name="">
            <a:extLst xmlns:a="http://schemas.openxmlformats.org/drawingml/2006/main">
              <a:ext uri="{FF2B5EF4-FFF2-40B4-BE49-F238E27FC236}">
                <a16:creationId xmlns:a16="http://schemas.microsoft.com/office/drawing/2014/main" id="{44A0C5BE-1191-41C5-94F3-C8EA2D0BFB3A}"/>
              </a:ext>
            </a:extLst>
          </p:cNvPr>
          <p:cNvSpPr>
            <a:spLocks xmlns:a="http://schemas.openxmlformats.org/drawingml/2006/main" noGrp="1"/>
          </p:cNvSpPr>
          <p:nvPr/>
        </p:nvSpPr>
        <p:spPr>
          <a:xfrm xmlns:a="http://schemas.openxmlformats.org/drawingml/2006/main">
            <a:off x="4667250" y="2400300"/>
            <a:ext cx="29337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Question: Does this alteration contribute to cancer biology?</a:t>
            </a:r>
          </a:p>
          <a:p xmlns:a="http://schemas.openxmlformats.org/drawingml/2006/main">
            <a:r>
              <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Framework: ClinGen/CGC/VICC</a:t>
            </a:r>
          </a:p>
        </p:txBody>
      </p:sp>
      <p:sp>
        <p:nvSpPr>
          <p:cNvPr id="12" name="">
            <a:extLst xmlns:a="http://schemas.openxmlformats.org/drawingml/2006/main">
              <a:ext uri="{FF2B5EF4-FFF2-40B4-BE49-F238E27FC236}">
                <a16:creationId xmlns:a16="http://schemas.microsoft.com/office/drawing/2014/main" id="{94A14FE3-5CFF-42F2-BABF-D8A4CA6ED810}"/>
              </a:ext>
            </a:extLst>
          </p:cNvPr>
          <p:cNvSpPr>
            <a:spLocks xmlns:a="http://schemas.openxmlformats.org/drawingml/2006/main" noGrp="1"/>
          </p:cNvSpPr>
          <p:nvPr/>
        </p:nvSpPr>
        <p:spPr>
          <a:xfrm xmlns:a="http://schemas.openxmlformats.org/drawingml/2006/main">
            <a:off x="8362950" y="1809750"/>
            <a:ext cx="3333750" cy="3409950"/>
          </a:xfrm>
          <a:prstGeom xmlns:a="http://schemas.openxmlformats.org/drawingml/2006/main" prst="roundRect">
            <a:avLst>
              <a:gd name="adj" fmla="val 2286"/>
            </a:avLst>
          </a:prstGeom>
          <a:solidFill xmlns:a="http://schemas.openxmlformats.org/drawingml/2006/main">
            <a:srgbClr val="FBE3E3"/>
          </a:solidFill>
          <a:ln xmlns:a="http://schemas.openxmlformats.org/drawingml/2006/main" w="9525">
            <a:solidFill>
              <a:srgbClr val="D6DEE7"/>
            </a:solidFill>
            <a:prstDash val="solid"/>
          </a:ln>
        </p:spPr>
      </p:sp>
      <p:sp>
        <p:nvSpPr>
          <p:cNvPr id="13" name="">
            <a:extLst xmlns:a="http://schemas.openxmlformats.org/drawingml/2006/main">
              <a:ext uri="{FF2B5EF4-FFF2-40B4-BE49-F238E27FC236}">
                <a16:creationId xmlns:a16="http://schemas.microsoft.com/office/drawing/2014/main" id="{43AFB69B-9145-4DC6-B8FE-FF03C7AC892D}"/>
              </a:ext>
            </a:extLst>
          </p:cNvPr>
          <p:cNvSpPr>
            <a:spLocks xmlns:a="http://schemas.openxmlformats.org/drawingml/2006/main" noGrp="1"/>
          </p:cNvSpPr>
          <p:nvPr/>
        </p:nvSpPr>
        <p:spPr>
          <a:xfrm xmlns:a="http://schemas.openxmlformats.org/drawingml/2006/main">
            <a:off x="8362950" y="1809750"/>
            <a:ext cx="66675" cy="3409950"/>
          </a:xfrm>
          <a:prstGeom xmlns:a="http://schemas.openxmlformats.org/drawingml/2006/main" prst="roundRect">
            <a:avLst>
              <a:gd name="adj" fmla="val 50000"/>
            </a:avLst>
          </a:prstGeom>
          <a:solidFill xmlns:a="http://schemas.openxmlformats.org/drawingml/2006/main">
            <a:srgbClr val="C94E4E"/>
          </a:solidFill>
          <a:ln xmlns:a="http://schemas.openxmlformats.org/drawingml/2006/main" w="0">
            <a:solidFill>
              <a:srgbClr val="C94E4E"/>
            </a:solidFill>
            <a:prstDash val="solid"/>
          </a:ln>
        </p:spPr>
      </p:sp>
      <p:sp>
        <p:nvSpPr>
          <p:cNvPr id="14" name="">
            <a:extLst xmlns:a="http://schemas.openxmlformats.org/drawingml/2006/main">
              <a:ext uri="{FF2B5EF4-FFF2-40B4-BE49-F238E27FC236}">
                <a16:creationId xmlns:a16="http://schemas.microsoft.com/office/drawing/2014/main" id="{2AE600EF-8739-4903-B760-E31C60B6E3D3}"/>
              </a:ext>
            </a:extLst>
          </p:cNvPr>
          <p:cNvSpPr>
            <a:spLocks xmlns:a="http://schemas.openxmlformats.org/drawingml/2006/main" noGrp="1"/>
          </p:cNvSpPr>
          <p:nvPr/>
        </p:nvSpPr>
        <p:spPr>
          <a:xfrm xmlns:a="http://schemas.openxmlformats.org/drawingml/2006/main">
            <a:off x="8591550" y="20002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437"/>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CANCER CLINICAL SIGNIFICANCE</a:t>
            </a:r>
          </a:p>
        </p:txBody>
      </p:sp>
      <p:sp>
        <p:nvSpPr>
          <p:cNvPr id="15" name="">
            <a:extLst xmlns:a="http://schemas.openxmlformats.org/drawingml/2006/main">
              <a:ext uri="{FF2B5EF4-FFF2-40B4-BE49-F238E27FC236}">
                <a16:creationId xmlns:a16="http://schemas.microsoft.com/office/drawing/2014/main" id="{173CB6A9-83BB-401E-89A2-6FB91D81E9D9}"/>
              </a:ext>
            </a:extLst>
          </p:cNvPr>
          <p:cNvSpPr>
            <a:spLocks xmlns:a="http://schemas.openxmlformats.org/drawingml/2006/main" noGrp="1"/>
          </p:cNvSpPr>
          <p:nvPr/>
        </p:nvSpPr>
        <p:spPr>
          <a:xfrm xmlns:a="http://schemas.openxmlformats.org/drawingml/2006/main">
            <a:off x="8591550" y="2400300"/>
            <a:ext cx="29337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Question: Does it affect diagnosis, prognosis or therapy?</a:t>
            </a:r>
          </a:p>
          <a:p xmlns:a="http://schemas.openxmlformats.org/drawingml/2006/main">
            <a:r>
              <a:t/>
            </a:r>
          </a:p>
          <a:p xmlns:a="http://schemas.openxmlformats.org/drawingml/2006/main">
            <a:pPr algn="l">
              <a:defRPr sz="1575" b="0" i="0">
                <a:solidFill>
                  <a:srgbClr val="536273"/>
                </a:solidFill>
                <a:latin typeface="Arial"/>
                <a:ea typeface="Arial"/>
                <a:cs typeface="Arial"/>
              </a:defRPr>
            </a:pPr>
            <a:r>
              <a:rPr sz="1575" b="0" i="0">
                <a:solidFill>
                  <a:srgbClr val="536273"/>
                </a:solidFill>
                <a:latin typeface="Arial"/>
                <a:ea typeface="Arial"/>
                <a:cs typeface="Arial"/>
              </a:rPr>
              <a:t>Framework: AMP/ASCO/CAP tiers</a:t>
            </a:r>
          </a:p>
        </p:txBody>
      </p:sp>
      <p:sp>
        <p:nvSpPr>
          <p:cNvPr id="16" name="">
            <a:extLst xmlns:a="http://schemas.openxmlformats.org/drawingml/2006/main">
              <a:ext uri="{FF2B5EF4-FFF2-40B4-BE49-F238E27FC236}">
                <a16:creationId xmlns:a16="http://schemas.microsoft.com/office/drawing/2014/main" id="{A99BBE08-60D0-4396-AD27-E2F9C7B94E19}"/>
              </a:ext>
            </a:extLst>
          </p:cNvPr>
          <p:cNvSpPr>
            <a:spLocks xmlns:a="http://schemas.openxmlformats.org/drawingml/2006/main" noGrp="1"/>
          </p:cNvSpPr>
          <p:nvPr/>
        </p:nvSpPr>
        <p:spPr>
          <a:xfrm xmlns:a="http://schemas.openxmlformats.org/drawingml/2006/main">
            <a:off x="495300" y="6324600"/>
            <a:ext cx="962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75" b="0" i="0">
                <a:solidFill>
                  <a:srgbClr val="6D7885"/>
                </a:solidFill>
                <a:latin typeface="Arial"/>
                <a:ea typeface="Arial"/>
                <a:cs typeface="Arial"/>
              </a:defRPr>
            </a:pPr>
            <a:r>
              <a:rPr sz="675" b="0" i="0">
                <a:solidFill>
                  <a:srgbClr val="6D7885"/>
                </a:solidFill>
                <a:latin typeface="Arial"/>
                <a:ea typeface="Arial"/>
                <a:cs typeface="Arial"/>
              </a:rPr>
              <a:t>Richards et al. 2015; Li et al. 2017; Horak et al. 2022</a:t>
            </a:r>
          </a:p>
        </p:txBody>
      </p:sp>
      <p:sp>
        <p:nvSpPr>
          <p:cNvPr id="17" name="">
            <a:extLst xmlns:a="http://schemas.openxmlformats.org/drawingml/2006/main">
              <a:ext uri="{FF2B5EF4-FFF2-40B4-BE49-F238E27FC236}">
                <a16:creationId xmlns:a16="http://schemas.microsoft.com/office/drawing/2014/main" id="{91790C70-ECA2-4F5A-A907-9A5DE5DF518A}"/>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40</a:t>
            </a:r>
          </a:p>
        </p:txBody>
      </p:sp>
    </p:spTree>
    <p:extLst>
      <p:ext uri="{BB962C8B-B14F-4D97-AF65-F5344CB8AC3E}">
        <p14:creationId xmlns:p14="http://schemas.microsoft.com/office/powerpoint/2010/main" val="79408681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4A32C3-E3A2-4134-AFD9-27DF29DC32A2}"/>
              </a:ext>
            </a:extLst>
          </p:cNvPr>
          <p:cNvSpPr>
            <a:spLocks xmlns:a="http://schemas.openxmlformats.org/drawingml/2006/main" noGrp="1"/>
          </p:cNvSpPr>
          <p:nvPr/>
        </p:nvSpPr>
        <p:spPr>
          <a:xfrm xmlns:a="http://schemas.openxmlformats.org/drawingml/2006/main">
            <a:off x="400050" y="400050"/>
            <a:ext cx="171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4500" b="1" i="0">
                <a:solidFill>
                  <a:srgbClr val="7756C2"/>
                </a:solidFill>
                <a:latin typeface="Arial"/>
                <a:ea typeface="Arial"/>
                <a:cs typeface="Arial"/>
              </a:defRPr>
            </a:pPr>
            <a:r>
              <a:rPr sz="4500" b="1" i="0">
                <a:solidFill>
                  <a:srgbClr val="7756C2"/>
                </a:solidFill>
                <a:latin typeface="Arial"/>
                <a:ea typeface="Arial"/>
                <a:cs typeface="Arial"/>
              </a:rPr>
              <a:t>03</a:t>
            </a:r>
          </a:p>
        </p:txBody>
      </p:sp>
      <p:cxnSp>
        <p:nvCxnSpPr>
          <p:cNvPr id="8" name=""/>
          <p:cNvCxnSpPr/>
          <p:nvPr/>
        </p:nvCxnSpPr>
        <p:spPr>
          <a:xfrm xmlns:a="http://schemas.openxmlformats.org/drawingml/2006/main">
            <a:off x="400050" y="13335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3" name="">
            <a:extLst xmlns:a="http://schemas.openxmlformats.org/drawingml/2006/main">
              <a:ext uri="{FF2B5EF4-FFF2-40B4-BE49-F238E27FC236}">
                <a16:creationId xmlns:a16="http://schemas.microsoft.com/office/drawing/2014/main" id="{E148F7EE-088A-4F1E-B0C6-EC80E9C41782}"/>
              </a:ext>
            </a:extLst>
          </p:cNvPr>
          <p:cNvSpPr>
            <a:spLocks xmlns:a="http://schemas.openxmlformats.org/drawingml/2006/main" noGrp="1"/>
          </p:cNvSpPr>
          <p:nvPr/>
        </p:nvSpPr>
        <p:spPr>
          <a:xfrm xmlns:a="http://schemas.openxmlformats.org/drawingml/2006/main">
            <a:off x="400050" y="17145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7756C2"/>
                </a:solidFill>
                <a:latin typeface="Arial"/>
                <a:ea typeface="Arial"/>
                <a:cs typeface="Arial"/>
              </a:defRPr>
            </a:pPr>
            <a:r>
              <a:rPr sz="1125" b="1" i="0">
                <a:solidFill>
                  <a:srgbClr val="7756C2"/>
                </a:solidFill>
                <a:latin typeface="Arial"/>
                <a:ea typeface="Arial"/>
                <a:cs typeface="Arial"/>
              </a:rPr>
              <a:t>THE COMMAND LINE</a:t>
            </a:r>
          </a:p>
        </p:txBody>
      </p:sp>
      <p:sp>
        <p:nvSpPr>
          <p:cNvPr id="4" name="">
            <a:extLst xmlns:a="http://schemas.openxmlformats.org/drawingml/2006/main">
              <a:ext uri="{FF2B5EF4-FFF2-40B4-BE49-F238E27FC236}">
                <a16:creationId xmlns:a16="http://schemas.microsoft.com/office/drawing/2014/main" id="{E678FAB7-71C1-44EF-8884-3C134651F69F}"/>
              </a:ext>
            </a:extLst>
          </p:cNvPr>
          <p:cNvSpPr>
            <a:spLocks xmlns:a="http://schemas.openxmlformats.org/drawingml/2006/main" noGrp="1"/>
          </p:cNvSpPr>
          <p:nvPr/>
        </p:nvSpPr>
        <p:spPr>
          <a:xfrm xmlns:a="http://schemas.openxmlformats.org/drawingml/2006/main">
            <a:off x="400050" y="2286000"/>
            <a:ext cx="10382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0B1F33"/>
                </a:solidFill>
                <a:latin typeface="Arial"/>
                <a:ea typeface="Arial"/>
                <a:cs typeface="Arial"/>
              </a:defRPr>
            </a:pPr>
            <a:r>
              <a:rPr sz="4050" b="1" i="0">
                <a:solidFill>
                  <a:srgbClr val="0B1F33"/>
                </a:solidFill>
                <a:latin typeface="Arial"/>
                <a:ea typeface="Arial"/>
                <a:cs typeface="Arial"/>
              </a:rPr>
              <a:t>A reproducible conversation with the computer</a:t>
            </a:r>
          </a:p>
        </p:txBody>
      </p:sp>
      <p:sp>
        <p:nvSpPr>
          <p:cNvPr id="5" name="">
            <a:extLst xmlns:a="http://schemas.openxmlformats.org/drawingml/2006/main">
              <a:ext uri="{FF2B5EF4-FFF2-40B4-BE49-F238E27FC236}">
                <a16:creationId xmlns:a16="http://schemas.microsoft.com/office/drawing/2014/main" id="{5F65552B-5A4C-4EA4-A5B8-FBC952DC5D1C}"/>
              </a:ext>
            </a:extLst>
          </p:cNvPr>
          <p:cNvSpPr>
            <a:spLocks xmlns:a="http://schemas.openxmlformats.org/drawingml/2006/main" noGrp="1"/>
          </p:cNvSpPr>
          <p:nvPr/>
        </p:nvSpPr>
        <p:spPr>
          <a:xfrm xmlns:a="http://schemas.openxmlformats.org/drawingml/2006/main">
            <a:off x="400050" y="4552950"/>
            <a:ext cx="952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i="0">
                <a:solidFill>
                  <a:srgbClr val="536273"/>
                </a:solidFill>
                <a:latin typeface="Arial"/>
                <a:ea typeface="Arial"/>
                <a:cs typeface="Arial"/>
              </a:defRPr>
            </a:pPr>
            <a:r>
              <a:rPr sz="1800" b="0" i="0">
                <a:solidFill>
                  <a:srgbClr val="536273"/>
                </a:solidFill>
                <a:latin typeface="Arial"/>
                <a:ea typeface="Arial"/>
                <a:cs typeface="Arial"/>
              </a:rPr>
              <a:t>How do we tell the computer exactly what to do?</a:t>
            </a:r>
          </a:p>
        </p:txBody>
      </p:sp>
      <p:sp>
        <p:nvSpPr>
          <p:cNvPr id="6" name="">
            <a:extLst xmlns:a="http://schemas.openxmlformats.org/drawingml/2006/main">
              <a:ext uri="{FF2B5EF4-FFF2-40B4-BE49-F238E27FC236}">
                <a16:creationId xmlns:a16="http://schemas.microsoft.com/office/drawing/2014/main" id="{B8D7E0BC-4C8F-430E-902A-6EB94AA1F13D}"/>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41</a:t>
            </a:r>
          </a:p>
        </p:txBody>
      </p:sp>
    </p:spTree>
    <p:extLst>
      <p:ext uri="{BB962C8B-B14F-4D97-AF65-F5344CB8AC3E}">
        <p14:creationId xmlns:p14="http://schemas.microsoft.com/office/powerpoint/2010/main" val="68343634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9049C4-C191-4ED4-B2EE-FB23316B10ED}"/>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A SIMPLE DEFINITION</a:t>
            </a:r>
          </a:p>
        </p:txBody>
      </p:sp>
      <p:sp>
        <p:nvSpPr>
          <p:cNvPr id="2" name="">
            <a:extLst xmlns:a="http://schemas.openxmlformats.org/drawingml/2006/main">
              <a:ext uri="{FF2B5EF4-FFF2-40B4-BE49-F238E27FC236}">
                <a16:creationId xmlns:a16="http://schemas.microsoft.com/office/drawing/2014/main" id="{D705226F-5F9B-4B06-AFF0-A5C300438CEA}"/>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command line executes written instructions</a:t>
            </a:r>
          </a:p>
        </p:txBody>
      </p:sp>
      <p:cxnSp>
        <p:nvCxnSpPr>
          <p:cNvPr id="17"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AC38ECA5-FC42-49EA-BC6E-3A8E523C23B6}"/>
              </a:ext>
            </a:extLst>
          </p:cNvPr>
          <p:cNvSpPr>
            <a:spLocks xmlns:a="http://schemas.openxmlformats.org/drawingml/2006/main" noGrp="1"/>
          </p:cNvSpPr>
          <p:nvPr/>
        </p:nvSpPr>
        <p:spPr>
          <a:xfrm xmlns:a="http://schemas.openxmlformats.org/drawingml/2006/main">
            <a:off x="666750" y="1771650"/>
            <a:ext cx="10858500" cy="3314700"/>
          </a:xfrm>
          <a:prstGeom xmlns:a="http://schemas.openxmlformats.org/drawingml/2006/main" prst="roundRect">
            <a:avLst>
              <a:gd name="adj" fmla="val 2299"/>
            </a:avLst>
          </a:prstGeom>
          <a:solidFill xmlns:a="http://schemas.openxmlformats.org/drawingml/2006/main">
            <a:srgbClr val="101820"/>
          </a:solidFill>
          <a:ln xmlns:a="http://schemas.openxmlformats.org/drawingml/2006/main" w="0">
            <a:solidFill>
              <a:srgbClr val="101820"/>
            </a:solidFill>
            <a:prstDash val="solid"/>
          </a:ln>
        </p:spPr>
      </p:sp>
      <p:sp>
        <p:nvSpPr>
          <p:cNvPr id="5" name="">
            <a:extLst xmlns:a="http://schemas.openxmlformats.org/drawingml/2006/main">
              <a:ext uri="{FF2B5EF4-FFF2-40B4-BE49-F238E27FC236}">
                <a16:creationId xmlns:a16="http://schemas.microsoft.com/office/drawing/2014/main" id="{BEC7B7E2-90F8-4A5A-AD93-68E7453821C2}"/>
              </a:ext>
            </a:extLst>
          </p:cNvPr>
          <p:cNvSpPr>
            <a:spLocks xmlns:a="http://schemas.openxmlformats.org/drawingml/2006/main" noGrp="1"/>
          </p:cNvSpPr>
          <p:nvPr/>
        </p:nvSpPr>
        <p:spPr>
          <a:xfrm xmlns:a="http://schemas.openxmlformats.org/drawingml/2006/main">
            <a:off x="666750" y="1771650"/>
            <a:ext cx="10858500" cy="400050"/>
          </a:xfrm>
          <a:prstGeom xmlns:a="http://schemas.openxmlformats.org/drawingml/2006/main" prst="roundRect">
            <a:avLst>
              <a:gd name="adj" fmla="val 19048"/>
            </a:avLst>
          </a:prstGeom>
          <a:solidFill xmlns:a="http://schemas.openxmlformats.org/drawingml/2006/main">
            <a:srgbClr val="182532"/>
          </a:solidFill>
          <a:ln xmlns:a="http://schemas.openxmlformats.org/drawingml/2006/main" w="0">
            <a:solidFill>
              <a:srgbClr val="182532"/>
            </a:solidFill>
            <a:prstDash val="solid"/>
          </a:ln>
        </p:spPr>
      </p:sp>
      <p:sp>
        <p:nvSpPr>
          <p:cNvPr id="6" name="">
            <a:extLst xmlns:a="http://schemas.openxmlformats.org/drawingml/2006/main">
              <a:ext uri="{FF2B5EF4-FFF2-40B4-BE49-F238E27FC236}">
                <a16:creationId xmlns:a16="http://schemas.microsoft.com/office/drawing/2014/main" id="{F4660137-1A1F-44D8-A120-C86ACA8A2004}"/>
              </a:ext>
            </a:extLst>
          </p:cNvPr>
          <p:cNvSpPr>
            <a:spLocks xmlns:a="http://schemas.openxmlformats.org/drawingml/2006/main" noGrp="1"/>
          </p:cNvSpPr>
          <p:nvPr/>
        </p:nvSpPr>
        <p:spPr>
          <a:xfrm xmlns:a="http://schemas.openxmlformats.org/drawingml/2006/main">
            <a:off x="876300" y="1914525"/>
            <a:ext cx="133350" cy="133350"/>
          </a:xfrm>
          <a:prstGeom xmlns:a="http://schemas.openxmlformats.org/drawingml/2006/main" prst="roundRect">
            <a:avLst>
              <a:gd name="adj" fmla="val 50000"/>
            </a:avLst>
          </a:prstGeom>
          <a:solidFill xmlns:a="http://schemas.openxmlformats.org/drawingml/2006/main">
            <a:srgbClr val="FF5F57"/>
          </a:solidFill>
          <a:ln xmlns:a="http://schemas.openxmlformats.org/drawingml/2006/main" w="0">
            <a:solidFill>
              <a:srgbClr val="FF5F57"/>
            </a:solidFill>
            <a:prstDash val="solid"/>
          </a:ln>
        </p:spPr>
      </p:sp>
      <p:sp>
        <p:nvSpPr>
          <p:cNvPr id="7" name="">
            <a:extLst xmlns:a="http://schemas.openxmlformats.org/drawingml/2006/main">
              <a:ext uri="{FF2B5EF4-FFF2-40B4-BE49-F238E27FC236}">
                <a16:creationId xmlns:a16="http://schemas.microsoft.com/office/drawing/2014/main" id="{FE40D661-D53D-4526-9F52-2857B0E05558}"/>
              </a:ext>
            </a:extLst>
          </p:cNvPr>
          <p:cNvSpPr>
            <a:spLocks xmlns:a="http://schemas.openxmlformats.org/drawingml/2006/main" noGrp="1"/>
          </p:cNvSpPr>
          <p:nvPr/>
        </p:nvSpPr>
        <p:spPr>
          <a:xfrm xmlns:a="http://schemas.openxmlformats.org/drawingml/2006/main">
            <a:off x="1104900" y="1914525"/>
            <a:ext cx="133350" cy="133350"/>
          </a:xfrm>
          <a:prstGeom xmlns:a="http://schemas.openxmlformats.org/drawingml/2006/main" prst="roundRect">
            <a:avLst>
              <a:gd name="adj" fmla="val 50000"/>
            </a:avLst>
          </a:prstGeom>
          <a:solidFill xmlns:a="http://schemas.openxmlformats.org/drawingml/2006/main">
            <a:srgbClr val="FFBD2E"/>
          </a:solidFill>
          <a:ln xmlns:a="http://schemas.openxmlformats.org/drawingml/2006/main" w="0">
            <a:solidFill>
              <a:srgbClr val="FFBD2E"/>
            </a:solidFill>
            <a:prstDash val="solid"/>
          </a:ln>
        </p:spPr>
      </p:sp>
      <p:sp>
        <p:nvSpPr>
          <p:cNvPr id="8" name="">
            <a:extLst xmlns:a="http://schemas.openxmlformats.org/drawingml/2006/main">
              <a:ext uri="{FF2B5EF4-FFF2-40B4-BE49-F238E27FC236}">
                <a16:creationId xmlns:a16="http://schemas.microsoft.com/office/drawing/2014/main" id="{4961970E-9E14-41F4-A86E-5C46E4AC42C6}"/>
              </a:ext>
            </a:extLst>
          </p:cNvPr>
          <p:cNvSpPr>
            <a:spLocks xmlns:a="http://schemas.openxmlformats.org/drawingml/2006/main" noGrp="1"/>
          </p:cNvSpPr>
          <p:nvPr/>
        </p:nvSpPr>
        <p:spPr>
          <a:xfrm xmlns:a="http://schemas.openxmlformats.org/drawingml/2006/main">
            <a:off x="1333500" y="1914525"/>
            <a:ext cx="133350" cy="133350"/>
          </a:xfrm>
          <a:prstGeom xmlns:a="http://schemas.openxmlformats.org/drawingml/2006/main" prst="roundRect">
            <a:avLst>
              <a:gd name="adj" fmla="val 50000"/>
            </a:avLst>
          </a:prstGeom>
          <a:solidFill xmlns:a="http://schemas.openxmlformats.org/drawingml/2006/main">
            <a:srgbClr val="28C840"/>
          </a:solidFill>
          <a:ln xmlns:a="http://schemas.openxmlformats.org/drawingml/2006/main" w="0">
            <a:solidFill>
              <a:srgbClr val="28C840"/>
            </a:solidFill>
            <a:prstDash val="solid"/>
          </a:ln>
        </p:spPr>
      </p:sp>
      <p:sp>
        <p:nvSpPr>
          <p:cNvPr id="9" name="">
            <a:extLst xmlns:a="http://schemas.openxmlformats.org/drawingml/2006/main">
              <a:ext uri="{FF2B5EF4-FFF2-40B4-BE49-F238E27FC236}">
                <a16:creationId xmlns:a16="http://schemas.microsoft.com/office/drawing/2014/main" id="{999C765E-8573-47F7-BFB4-9E76AA359BF8}"/>
              </a:ext>
            </a:extLst>
          </p:cNvPr>
          <p:cNvSpPr>
            <a:spLocks xmlns:a="http://schemas.openxmlformats.org/drawingml/2006/main" noGrp="1"/>
          </p:cNvSpPr>
          <p:nvPr/>
        </p:nvSpPr>
        <p:spPr>
          <a:xfrm xmlns:a="http://schemas.openxmlformats.org/drawingml/2006/main">
            <a:off x="1009650" y="26860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7EE787"/>
                </a:solidFill>
                <a:latin typeface="Arial"/>
                <a:ea typeface="Arial"/>
                <a:cs typeface="Arial"/>
              </a:defRPr>
            </a:pPr>
            <a:r>
              <a:rPr sz="1725" b="1" i="0">
                <a:solidFill>
                  <a:srgbClr val="7EE787"/>
                </a:solidFill>
                <a:latin typeface="Arial"/>
                <a:ea typeface="Arial"/>
                <a:cs typeface="Arial"/>
              </a:rPr>
              <a:t>mahmood@workshop:~/ngs$</a:t>
            </a:r>
          </a:p>
        </p:txBody>
      </p:sp>
      <p:sp>
        <p:nvSpPr>
          <p:cNvPr id="10" name="">
            <a:extLst xmlns:a="http://schemas.openxmlformats.org/drawingml/2006/main">
              <a:ext uri="{FF2B5EF4-FFF2-40B4-BE49-F238E27FC236}">
                <a16:creationId xmlns:a16="http://schemas.microsoft.com/office/drawing/2014/main" id="{0BFB854D-25A0-4AD8-9F5A-CBD8E4C3C9B2}"/>
              </a:ext>
            </a:extLst>
          </p:cNvPr>
          <p:cNvSpPr>
            <a:spLocks xmlns:a="http://schemas.openxmlformats.org/drawingml/2006/main" noGrp="1"/>
          </p:cNvSpPr>
          <p:nvPr/>
        </p:nvSpPr>
        <p:spPr>
          <a:xfrm xmlns:a="http://schemas.openxmlformats.org/drawingml/2006/main">
            <a:off x="4591050" y="26860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FFFFFF"/>
                </a:solidFill>
                <a:latin typeface="Arial"/>
                <a:ea typeface="Arial"/>
                <a:cs typeface="Arial"/>
              </a:defRPr>
            </a:pPr>
            <a:r>
              <a:rPr sz="1725" b="1" i="0">
                <a:solidFill>
                  <a:srgbClr val="FFFFFF"/>
                </a:solidFill>
                <a:latin typeface="Arial"/>
                <a:ea typeface="Arial"/>
                <a:cs typeface="Arial"/>
              </a:rPr>
              <a:t>head sample.fastq</a:t>
            </a:r>
          </a:p>
        </p:txBody>
      </p:sp>
      <p:sp>
        <p:nvSpPr>
          <p:cNvPr id="11" name="">
            <a:extLst xmlns:a="http://schemas.openxmlformats.org/drawingml/2006/main">
              <a:ext uri="{FF2B5EF4-FFF2-40B4-BE49-F238E27FC236}">
                <a16:creationId xmlns:a16="http://schemas.microsoft.com/office/drawing/2014/main" id="{48E4FA04-2D7E-410E-90EC-8F1472042F32}"/>
              </a:ext>
            </a:extLst>
          </p:cNvPr>
          <p:cNvSpPr>
            <a:spLocks xmlns:a="http://schemas.openxmlformats.org/drawingml/2006/main" noGrp="1"/>
          </p:cNvSpPr>
          <p:nvPr/>
        </p:nvSpPr>
        <p:spPr>
          <a:xfrm xmlns:a="http://schemas.openxmlformats.org/drawingml/2006/main">
            <a:off x="1009650" y="3333750"/>
            <a:ext cx="8572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CAD7E3"/>
                </a:solidFill>
                <a:latin typeface="Arial"/>
                <a:ea typeface="Arial"/>
                <a:cs typeface="Arial"/>
              </a:defRPr>
            </a:pPr>
            <a:r>
              <a:rPr sz="1500" b="0" i="0">
                <a:solidFill>
                  <a:srgbClr val="CAD7E3"/>
                </a:solidFill>
                <a:latin typeface="Arial"/>
                <a:ea typeface="Arial"/>
                <a:cs typeface="Arial"/>
              </a:rPr>
              <a:t>@READ_001</a:t>
            </a:r>
          </a:p>
          <a:p xmlns:a="http://schemas.openxmlformats.org/drawingml/2006/main">
            <a:pPr algn="l">
              <a:defRPr sz="1500" b="0" i="0">
                <a:solidFill>
                  <a:srgbClr val="CAD7E3"/>
                </a:solidFill>
                <a:latin typeface="Arial"/>
                <a:ea typeface="Arial"/>
                <a:cs typeface="Arial"/>
              </a:defRPr>
            </a:pPr>
            <a:r>
              <a:rPr sz="1500" b="0" i="0">
                <a:solidFill>
                  <a:srgbClr val="CAD7E3"/>
                </a:solidFill>
                <a:latin typeface="Arial"/>
                <a:ea typeface="Arial"/>
                <a:cs typeface="Arial"/>
              </a:rPr>
              <a:t>ACGTGCTAGCTAGCTA...</a:t>
            </a:r>
          </a:p>
          <a:p xmlns:a="http://schemas.openxmlformats.org/drawingml/2006/main">
            <a:pPr algn="l">
              <a:defRPr sz="1500" b="0" i="0">
                <a:solidFill>
                  <a:srgbClr val="CAD7E3"/>
                </a:solidFill>
                <a:latin typeface="Arial"/>
                <a:ea typeface="Arial"/>
                <a:cs typeface="Arial"/>
              </a:defRPr>
            </a:pPr>
            <a:r>
              <a:rPr sz="1500" b="0" i="0">
                <a:solidFill>
                  <a:srgbClr val="CAD7E3"/>
                </a:solidFill>
                <a:latin typeface="Arial"/>
                <a:ea typeface="Arial"/>
                <a:cs typeface="Arial"/>
              </a:rPr>
              <a:t>+</a:t>
            </a:r>
          </a:p>
          <a:p xmlns:a="http://schemas.openxmlformats.org/drawingml/2006/main">
            <a:pPr algn="l">
              <a:defRPr sz="1500" b="0" i="0">
                <a:solidFill>
                  <a:srgbClr val="CAD7E3"/>
                </a:solidFill>
                <a:latin typeface="Arial"/>
                <a:ea typeface="Arial"/>
                <a:cs typeface="Arial"/>
              </a:defRPr>
            </a:pPr>
            <a:r>
              <a:rPr sz="1500" b="0" i="0">
                <a:solidFill>
                  <a:srgbClr val="CAD7E3"/>
                </a:solidFill>
                <a:latin typeface="Arial"/>
                <a:ea typeface="Arial"/>
                <a:cs typeface="Arial"/>
              </a:rPr>
              <a:t>FFFFFFFFFFFFFFF...</a:t>
            </a:r>
          </a:p>
        </p:txBody>
      </p:sp>
      <p:sp>
        <p:nvSpPr>
          <p:cNvPr id="12" name="">
            <a:extLst xmlns:a="http://schemas.openxmlformats.org/drawingml/2006/main">
              <a:ext uri="{FF2B5EF4-FFF2-40B4-BE49-F238E27FC236}">
                <a16:creationId xmlns:a16="http://schemas.microsoft.com/office/drawing/2014/main" id="{4DD197AE-9E3F-4522-8FF2-EBC651454B30}"/>
              </a:ext>
            </a:extLst>
          </p:cNvPr>
          <p:cNvSpPr>
            <a:spLocks xmlns:a="http://schemas.openxmlformats.org/drawingml/2006/main" noGrp="1"/>
          </p:cNvSpPr>
          <p:nvPr/>
        </p:nvSpPr>
        <p:spPr>
          <a:xfrm xmlns:a="http://schemas.openxmlformats.org/drawingml/2006/main">
            <a:off x="1009650" y="52578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359B64"/>
                </a:solidFill>
                <a:latin typeface="Arial"/>
                <a:ea typeface="Arial"/>
                <a:cs typeface="Arial"/>
              </a:defRPr>
            </a:pPr>
            <a:r>
              <a:rPr sz="1125" b="1" i="0">
                <a:solidFill>
                  <a:srgbClr val="359B64"/>
                </a:solidFill>
                <a:latin typeface="Arial"/>
                <a:ea typeface="Arial"/>
                <a:cs typeface="Arial"/>
              </a:rPr>
              <a:t>prompt</a:t>
            </a:r>
          </a:p>
        </p:txBody>
      </p:sp>
      <p:sp>
        <p:nvSpPr>
          <p:cNvPr id="13" name="">
            <a:extLst xmlns:a="http://schemas.openxmlformats.org/drawingml/2006/main">
              <a:ext uri="{FF2B5EF4-FFF2-40B4-BE49-F238E27FC236}">
                <a16:creationId xmlns:a16="http://schemas.microsoft.com/office/drawing/2014/main" id="{9E279863-4502-453C-960C-2DAA901BCD8B}"/>
              </a:ext>
            </a:extLst>
          </p:cNvPr>
          <p:cNvSpPr>
            <a:spLocks xmlns:a="http://schemas.openxmlformats.org/drawingml/2006/main" noGrp="1"/>
          </p:cNvSpPr>
          <p:nvPr/>
        </p:nvSpPr>
        <p:spPr>
          <a:xfrm xmlns:a="http://schemas.openxmlformats.org/drawingml/2006/main">
            <a:off x="4591050" y="52578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7756C2"/>
                </a:solidFill>
                <a:latin typeface="Arial"/>
                <a:ea typeface="Arial"/>
                <a:cs typeface="Arial"/>
              </a:defRPr>
            </a:pPr>
            <a:r>
              <a:rPr sz="1125" b="1" i="0">
                <a:solidFill>
                  <a:srgbClr val="7756C2"/>
                </a:solidFill>
                <a:latin typeface="Arial"/>
                <a:ea typeface="Arial"/>
                <a:cs typeface="Arial"/>
              </a:rPr>
              <a:t>command + input</a:t>
            </a:r>
          </a:p>
        </p:txBody>
      </p:sp>
      <p:sp>
        <p:nvSpPr>
          <p:cNvPr id="14" name="">
            <a:extLst xmlns:a="http://schemas.openxmlformats.org/drawingml/2006/main">
              <a:ext uri="{FF2B5EF4-FFF2-40B4-BE49-F238E27FC236}">
                <a16:creationId xmlns:a16="http://schemas.microsoft.com/office/drawing/2014/main" id="{A3F82E58-1099-4CF9-8C1B-476CB8E61692}"/>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42</a:t>
            </a:r>
          </a:p>
        </p:txBody>
      </p:sp>
    </p:spTree>
    <p:extLst>
      <p:ext uri="{BB962C8B-B14F-4D97-AF65-F5344CB8AC3E}">
        <p14:creationId xmlns:p14="http://schemas.microsoft.com/office/powerpoint/2010/main" val="140961834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33757B-5228-413A-836A-C255C24E9656}"/>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WHY NOT ONLY GRAPHICAL INTERFACES?</a:t>
            </a:r>
          </a:p>
        </p:txBody>
      </p:sp>
      <p:sp>
        <p:nvSpPr>
          <p:cNvPr id="2" name="">
            <a:extLst xmlns:a="http://schemas.openxmlformats.org/drawingml/2006/main">
              <a:ext uri="{FF2B5EF4-FFF2-40B4-BE49-F238E27FC236}">
                <a16:creationId xmlns:a16="http://schemas.microsoft.com/office/drawing/2014/main" id="{8E64848F-D248-417B-9EF4-B172CE301C1B}"/>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35"/>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Bioinformatics uses the command line because workflows must scale</a:t>
            </a:r>
          </a:p>
        </p:txBody>
      </p:sp>
      <p:cxnSp>
        <p:nvCxnSpPr>
          <p:cNvPr id="20"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1F78186E-FC34-4C26-A3C9-86F75B1A7A0C}"/>
              </a:ext>
            </a:extLst>
          </p:cNvPr>
          <p:cNvSpPr>
            <a:spLocks xmlns:a="http://schemas.openxmlformats.org/drawingml/2006/main" noGrp="1"/>
          </p:cNvSpPr>
          <p:nvPr/>
        </p:nvSpPr>
        <p:spPr>
          <a:xfrm xmlns:a="http://schemas.openxmlformats.org/drawingml/2006/main">
            <a:off x="514350" y="1790700"/>
            <a:ext cx="5410200" cy="1485900"/>
          </a:xfrm>
          <a:prstGeom xmlns:a="http://schemas.openxmlformats.org/drawingml/2006/main" prst="roundRect">
            <a:avLst>
              <a:gd name="adj" fmla="val 5128"/>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2CF5EBF4-5D01-438C-9624-5087D87AC992}"/>
              </a:ext>
            </a:extLst>
          </p:cNvPr>
          <p:cNvSpPr>
            <a:spLocks xmlns:a="http://schemas.openxmlformats.org/drawingml/2006/main" noGrp="1"/>
          </p:cNvSpPr>
          <p:nvPr/>
        </p:nvSpPr>
        <p:spPr>
          <a:xfrm xmlns:a="http://schemas.openxmlformats.org/drawingml/2006/main">
            <a:off x="742950" y="20193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2D6CDF"/>
                </a:solidFill>
                <a:latin typeface="Arial"/>
                <a:ea typeface="Arial"/>
                <a:cs typeface="Arial"/>
              </a:defRPr>
            </a:pPr>
            <a:r>
              <a:rPr sz="1275" b="1" i="0">
                <a:solidFill>
                  <a:srgbClr val="2D6CDF"/>
                </a:solidFill>
                <a:latin typeface="Arial"/>
                <a:ea typeface="Arial"/>
                <a:cs typeface="Arial"/>
              </a:rPr>
              <a:t>REPEATABLE</a:t>
            </a:r>
          </a:p>
        </p:txBody>
      </p:sp>
      <p:sp>
        <p:nvSpPr>
          <p:cNvPr id="6" name="">
            <a:extLst xmlns:a="http://schemas.openxmlformats.org/drawingml/2006/main">
              <a:ext uri="{FF2B5EF4-FFF2-40B4-BE49-F238E27FC236}">
                <a16:creationId xmlns:a16="http://schemas.microsoft.com/office/drawing/2014/main" id="{331FE97F-C8F5-48FF-A8A9-926C1918DE58}"/>
              </a:ext>
            </a:extLst>
          </p:cNvPr>
          <p:cNvSpPr>
            <a:spLocks xmlns:a="http://schemas.openxmlformats.org/drawingml/2006/main" noGrp="1"/>
          </p:cNvSpPr>
          <p:nvPr/>
        </p:nvSpPr>
        <p:spPr>
          <a:xfrm xmlns:a="http://schemas.openxmlformats.org/drawingml/2006/main">
            <a:off x="742950" y="247650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Run the same operation on every sample</a:t>
            </a:r>
          </a:p>
        </p:txBody>
      </p:sp>
      <p:sp>
        <p:nvSpPr>
          <p:cNvPr id="7" name="">
            <a:extLst xmlns:a="http://schemas.openxmlformats.org/drawingml/2006/main">
              <a:ext uri="{FF2B5EF4-FFF2-40B4-BE49-F238E27FC236}">
                <a16:creationId xmlns:a16="http://schemas.microsoft.com/office/drawing/2014/main" id="{18B5F9EA-AC47-4848-A2C2-38ACD0D21504}"/>
              </a:ext>
            </a:extLst>
          </p:cNvPr>
          <p:cNvSpPr>
            <a:spLocks xmlns:a="http://schemas.openxmlformats.org/drawingml/2006/main" noGrp="1"/>
          </p:cNvSpPr>
          <p:nvPr/>
        </p:nvSpPr>
        <p:spPr>
          <a:xfrm xmlns:a="http://schemas.openxmlformats.org/drawingml/2006/main">
            <a:off x="6267450" y="1790700"/>
            <a:ext cx="5410200" cy="1485900"/>
          </a:xfrm>
          <a:prstGeom xmlns:a="http://schemas.openxmlformats.org/drawingml/2006/main" prst="roundRect">
            <a:avLst>
              <a:gd name="adj" fmla="val 5128"/>
            </a:avLst>
          </a:prstGeom>
          <a:solidFill xmlns:a="http://schemas.openxmlformats.org/drawingml/2006/main">
            <a:srgbClr val="DDF5F3"/>
          </a:solidFill>
          <a:ln xmlns:a="http://schemas.openxmlformats.org/drawingml/2006/main" w="0">
            <a:solidFill>
              <a:srgbClr val="DDF5F3"/>
            </a:solidFill>
            <a:prstDash val="solid"/>
          </a:ln>
        </p:spPr>
      </p:sp>
      <p:sp>
        <p:nvSpPr>
          <p:cNvPr id="8" name="">
            <a:extLst xmlns:a="http://schemas.openxmlformats.org/drawingml/2006/main">
              <a:ext uri="{FF2B5EF4-FFF2-40B4-BE49-F238E27FC236}">
                <a16:creationId xmlns:a16="http://schemas.microsoft.com/office/drawing/2014/main" id="{3C34B930-466C-49E8-9F04-F6251145D28E}"/>
              </a:ext>
            </a:extLst>
          </p:cNvPr>
          <p:cNvSpPr>
            <a:spLocks xmlns:a="http://schemas.openxmlformats.org/drawingml/2006/main" noGrp="1"/>
          </p:cNvSpPr>
          <p:nvPr/>
        </p:nvSpPr>
        <p:spPr>
          <a:xfrm xmlns:a="http://schemas.openxmlformats.org/drawingml/2006/main">
            <a:off x="6496050" y="20193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069C9C"/>
                </a:solidFill>
                <a:latin typeface="Arial"/>
                <a:ea typeface="Arial"/>
                <a:cs typeface="Arial"/>
              </a:defRPr>
            </a:pPr>
            <a:r>
              <a:rPr sz="1275" b="1" i="0">
                <a:solidFill>
                  <a:srgbClr val="069C9C"/>
                </a:solidFill>
                <a:latin typeface="Arial"/>
                <a:ea typeface="Arial"/>
                <a:cs typeface="Arial"/>
              </a:rPr>
              <a:t>TRACEABLE</a:t>
            </a:r>
          </a:p>
        </p:txBody>
      </p:sp>
      <p:sp>
        <p:nvSpPr>
          <p:cNvPr id="9" name="">
            <a:extLst xmlns:a="http://schemas.openxmlformats.org/drawingml/2006/main">
              <a:ext uri="{FF2B5EF4-FFF2-40B4-BE49-F238E27FC236}">
                <a16:creationId xmlns:a16="http://schemas.microsoft.com/office/drawing/2014/main" id="{CCB612E9-B975-494E-9B87-F751A57BD2FA}"/>
              </a:ext>
            </a:extLst>
          </p:cNvPr>
          <p:cNvSpPr>
            <a:spLocks xmlns:a="http://schemas.openxmlformats.org/drawingml/2006/main" noGrp="1"/>
          </p:cNvSpPr>
          <p:nvPr/>
        </p:nvSpPr>
        <p:spPr>
          <a:xfrm xmlns:a="http://schemas.openxmlformats.org/drawingml/2006/main">
            <a:off x="6496050" y="247650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Save commands, versions and parameters</a:t>
            </a:r>
          </a:p>
        </p:txBody>
      </p:sp>
      <p:sp>
        <p:nvSpPr>
          <p:cNvPr id="10" name="">
            <a:extLst xmlns:a="http://schemas.openxmlformats.org/drawingml/2006/main">
              <a:ext uri="{FF2B5EF4-FFF2-40B4-BE49-F238E27FC236}">
                <a16:creationId xmlns:a16="http://schemas.microsoft.com/office/drawing/2014/main" id="{30CE2CC8-40C5-4BAA-B9EA-A28F35D5508C}"/>
              </a:ext>
            </a:extLst>
          </p:cNvPr>
          <p:cNvSpPr>
            <a:spLocks xmlns:a="http://schemas.openxmlformats.org/drawingml/2006/main" noGrp="1"/>
          </p:cNvSpPr>
          <p:nvPr/>
        </p:nvSpPr>
        <p:spPr>
          <a:xfrm xmlns:a="http://schemas.openxmlformats.org/drawingml/2006/main">
            <a:off x="514350" y="3600450"/>
            <a:ext cx="5410200" cy="1485900"/>
          </a:xfrm>
          <a:prstGeom xmlns:a="http://schemas.openxmlformats.org/drawingml/2006/main" prst="roundRect">
            <a:avLst>
              <a:gd name="adj" fmla="val 5128"/>
            </a:avLst>
          </a:prstGeom>
          <a:solidFill xmlns:a="http://schemas.openxmlformats.org/drawingml/2006/main">
            <a:srgbClr val="EEE8FB"/>
          </a:solidFill>
          <a:ln xmlns:a="http://schemas.openxmlformats.org/drawingml/2006/main" w="0">
            <a:solidFill>
              <a:srgbClr val="EEE8FB"/>
            </a:solidFill>
            <a:prstDash val="solid"/>
          </a:ln>
        </p:spPr>
      </p:sp>
      <p:sp>
        <p:nvSpPr>
          <p:cNvPr id="11" name="">
            <a:extLst xmlns:a="http://schemas.openxmlformats.org/drawingml/2006/main">
              <a:ext uri="{FF2B5EF4-FFF2-40B4-BE49-F238E27FC236}">
                <a16:creationId xmlns:a16="http://schemas.microsoft.com/office/drawing/2014/main" id="{6D5D3EAD-DE5B-4458-B1BB-4CE923850232}"/>
              </a:ext>
            </a:extLst>
          </p:cNvPr>
          <p:cNvSpPr>
            <a:spLocks xmlns:a="http://schemas.openxmlformats.org/drawingml/2006/main" noGrp="1"/>
          </p:cNvSpPr>
          <p:nvPr/>
        </p:nvSpPr>
        <p:spPr>
          <a:xfrm xmlns:a="http://schemas.openxmlformats.org/drawingml/2006/main">
            <a:off x="742950" y="3829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7756C2"/>
                </a:solidFill>
                <a:latin typeface="Arial"/>
                <a:ea typeface="Arial"/>
                <a:cs typeface="Arial"/>
              </a:defRPr>
            </a:pPr>
            <a:r>
              <a:rPr sz="1275" b="1" i="0">
                <a:solidFill>
                  <a:srgbClr val="7756C2"/>
                </a:solidFill>
                <a:latin typeface="Arial"/>
                <a:ea typeface="Arial"/>
                <a:cs typeface="Arial"/>
              </a:rPr>
              <a:t>AUTOMATABLE</a:t>
            </a:r>
          </a:p>
        </p:txBody>
      </p:sp>
      <p:sp>
        <p:nvSpPr>
          <p:cNvPr id="12" name="">
            <a:extLst xmlns:a="http://schemas.openxmlformats.org/drawingml/2006/main">
              <a:ext uri="{FF2B5EF4-FFF2-40B4-BE49-F238E27FC236}">
                <a16:creationId xmlns:a16="http://schemas.microsoft.com/office/drawing/2014/main" id="{BE61FBE1-C945-464F-A54D-43FDFEF3D768}"/>
              </a:ext>
            </a:extLst>
          </p:cNvPr>
          <p:cNvSpPr>
            <a:spLocks xmlns:a="http://schemas.openxmlformats.org/drawingml/2006/main" noGrp="1"/>
          </p:cNvSpPr>
          <p:nvPr/>
        </p:nvSpPr>
        <p:spPr>
          <a:xfrm xmlns:a="http://schemas.openxmlformats.org/drawingml/2006/main">
            <a:off x="742950" y="42862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Connect many tools into a pipeline</a:t>
            </a:r>
          </a:p>
        </p:txBody>
      </p:sp>
      <p:sp>
        <p:nvSpPr>
          <p:cNvPr id="13" name="">
            <a:extLst xmlns:a="http://schemas.openxmlformats.org/drawingml/2006/main">
              <a:ext uri="{FF2B5EF4-FFF2-40B4-BE49-F238E27FC236}">
                <a16:creationId xmlns:a16="http://schemas.microsoft.com/office/drawing/2014/main" id="{FBCEB8E4-E628-42E6-BF07-569E66902431}"/>
              </a:ext>
            </a:extLst>
          </p:cNvPr>
          <p:cNvSpPr>
            <a:spLocks xmlns:a="http://schemas.openxmlformats.org/drawingml/2006/main" noGrp="1"/>
          </p:cNvSpPr>
          <p:nvPr/>
        </p:nvSpPr>
        <p:spPr>
          <a:xfrm xmlns:a="http://schemas.openxmlformats.org/drawingml/2006/main">
            <a:off x="6267450" y="3600450"/>
            <a:ext cx="5410200" cy="1485900"/>
          </a:xfrm>
          <a:prstGeom xmlns:a="http://schemas.openxmlformats.org/drawingml/2006/main" prst="roundRect">
            <a:avLst>
              <a:gd name="adj" fmla="val 5128"/>
            </a:avLst>
          </a:prstGeom>
          <a:solidFill xmlns:a="http://schemas.openxmlformats.org/drawingml/2006/main">
            <a:srgbClr val="DEF3E7"/>
          </a:solidFill>
          <a:ln xmlns:a="http://schemas.openxmlformats.org/drawingml/2006/main" w="0">
            <a:solidFill>
              <a:srgbClr val="DEF3E7"/>
            </a:solidFill>
            <a:prstDash val="solid"/>
          </a:ln>
        </p:spPr>
      </p:sp>
      <p:sp>
        <p:nvSpPr>
          <p:cNvPr id="14" name="">
            <a:extLst xmlns:a="http://schemas.openxmlformats.org/drawingml/2006/main">
              <a:ext uri="{FF2B5EF4-FFF2-40B4-BE49-F238E27FC236}">
                <a16:creationId xmlns:a16="http://schemas.microsoft.com/office/drawing/2014/main" id="{472F9B13-F37B-4AE8-8B29-F09EE51BFFD4}"/>
              </a:ext>
            </a:extLst>
          </p:cNvPr>
          <p:cNvSpPr>
            <a:spLocks xmlns:a="http://schemas.openxmlformats.org/drawingml/2006/main" noGrp="1"/>
          </p:cNvSpPr>
          <p:nvPr/>
        </p:nvSpPr>
        <p:spPr>
          <a:xfrm xmlns:a="http://schemas.openxmlformats.org/drawingml/2006/main">
            <a:off x="6496050" y="3829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359B64"/>
                </a:solidFill>
                <a:latin typeface="Arial"/>
                <a:ea typeface="Arial"/>
                <a:cs typeface="Arial"/>
              </a:defRPr>
            </a:pPr>
            <a:r>
              <a:rPr sz="1275" b="1" i="0">
                <a:solidFill>
                  <a:srgbClr val="359B64"/>
                </a:solidFill>
                <a:latin typeface="Arial"/>
                <a:ea typeface="Arial"/>
                <a:cs typeface="Arial"/>
              </a:rPr>
              <a:t>REMOTE</a:t>
            </a:r>
          </a:p>
        </p:txBody>
      </p:sp>
      <p:sp>
        <p:nvSpPr>
          <p:cNvPr id="15" name="">
            <a:extLst xmlns:a="http://schemas.openxmlformats.org/drawingml/2006/main">
              <a:ext uri="{FF2B5EF4-FFF2-40B4-BE49-F238E27FC236}">
                <a16:creationId xmlns:a16="http://schemas.microsoft.com/office/drawing/2014/main" id="{44C35505-6A0C-4029-8589-4B51B43F6973}"/>
              </a:ext>
            </a:extLst>
          </p:cNvPr>
          <p:cNvSpPr>
            <a:spLocks xmlns:a="http://schemas.openxmlformats.org/drawingml/2006/main" noGrp="1"/>
          </p:cNvSpPr>
          <p:nvPr/>
        </p:nvSpPr>
        <p:spPr>
          <a:xfrm xmlns:a="http://schemas.openxmlformats.org/drawingml/2006/main">
            <a:off x="6496050" y="42862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i="0">
                <a:solidFill>
                  <a:srgbClr val="0B1F33"/>
                </a:solidFill>
                <a:latin typeface="Arial"/>
                <a:ea typeface="Arial"/>
                <a:cs typeface="Arial"/>
              </a:defRPr>
            </a:pPr>
            <a:r>
              <a:rPr sz="1725" b="1" i="0">
                <a:solidFill>
                  <a:srgbClr val="0B1F33"/>
                </a:solidFill>
                <a:latin typeface="Arial"/>
                <a:ea typeface="Arial"/>
                <a:cs typeface="Arial"/>
              </a:rPr>
              <a:t>Work on servers and high-performance computers</a:t>
            </a:r>
          </a:p>
        </p:txBody>
      </p:sp>
      <p:sp>
        <p:nvSpPr>
          <p:cNvPr id="16" name="">
            <a:extLst xmlns:a="http://schemas.openxmlformats.org/drawingml/2006/main">
              <a:ext uri="{FF2B5EF4-FFF2-40B4-BE49-F238E27FC236}">
                <a16:creationId xmlns:a16="http://schemas.microsoft.com/office/drawing/2014/main" id="{C0DBEB42-AB1D-46A2-B43C-B687F55BE8DF}"/>
              </a:ext>
            </a:extLst>
          </p:cNvPr>
          <p:cNvSpPr>
            <a:spLocks xmlns:a="http://schemas.openxmlformats.org/drawingml/2006/main" noGrp="1"/>
          </p:cNvSpPr>
          <p:nvPr/>
        </p:nvSpPr>
        <p:spPr>
          <a:xfrm xmlns:a="http://schemas.openxmlformats.org/drawingml/2006/main">
            <a:off x="1600200" y="5600700"/>
            <a:ext cx="899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i="0">
                <a:solidFill>
                  <a:srgbClr val="536273"/>
                </a:solidFill>
                <a:latin typeface="Arial"/>
                <a:ea typeface="Arial"/>
                <a:cs typeface="Arial"/>
              </a:defRPr>
            </a:pPr>
            <a:r>
              <a:rPr sz="1500" b="0" i="0">
                <a:solidFill>
                  <a:srgbClr val="536273"/>
                </a:solidFill>
                <a:latin typeface="Arial"/>
                <a:ea typeface="Arial"/>
                <a:cs typeface="Arial"/>
              </a:rPr>
              <a:t>Graphical tools remain useful—the command line is valuable when precision and scale matter.</a:t>
            </a:r>
          </a:p>
        </p:txBody>
      </p:sp>
      <p:sp>
        <p:nvSpPr>
          <p:cNvPr id="17" name="">
            <a:extLst xmlns:a="http://schemas.openxmlformats.org/drawingml/2006/main">
              <a:ext uri="{FF2B5EF4-FFF2-40B4-BE49-F238E27FC236}">
                <a16:creationId xmlns:a16="http://schemas.microsoft.com/office/drawing/2014/main" id="{8B1765F5-7F9C-4757-BFC5-4CFAA5787FAB}"/>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43</a:t>
            </a:r>
          </a:p>
        </p:txBody>
      </p:sp>
    </p:spTree>
    <p:extLst>
      <p:ext uri="{BB962C8B-B14F-4D97-AF65-F5344CB8AC3E}">
        <p14:creationId xmlns:p14="http://schemas.microsoft.com/office/powerpoint/2010/main" val="147248546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558C1C-2DF6-4816-BE72-C38F8D5CA118}"/>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READ A COMMAND BEFORE RUNNING IT</a:t>
            </a:r>
          </a:p>
        </p:txBody>
      </p:sp>
      <p:sp>
        <p:nvSpPr>
          <p:cNvPr id="2" name="">
            <a:extLst xmlns:a="http://schemas.openxmlformats.org/drawingml/2006/main">
              <a:ext uri="{FF2B5EF4-FFF2-40B4-BE49-F238E27FC236}">
                <a16:creationId xmlns:a16="http://schemas.microsoft.com/office/drawing/2014/main" id="{110E0D09-DD82-4E96-B8CC-0A640A5866F2}"/>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Every command has a small grammar</a:t>
            </a:r>
          </a:p>
        </p:txBody>
      </p:sp>
      <p:cxnSp>
        <p:nvCxnSpPr>
          <p:cNvPr id="26"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15D96797-C484-4624-9981-ED320926BDA0}"/>
              </a:ext>
            </a:extLst>
          </p:cNvPr>
          <p:cNvSpPr>
            <a:spLocks xmlns:a="http://schemas.openxmlformats.org/drawingml/2006/main" noGrp="1"/>
          </p:cNvSpPr>
          <p:nvPr/>
        </p:nvSpPr>
        <p:spPr>
          <a:xfrm xmlns:a="http://schemas.openxmlformats.org/drawingml/2006/main">
            <a:off x="685800" y="2095500"/>
            <a:ext cx="10820400" cy="1104900"/>
          </a:xfrm>
          <a:prstGeom xmlns:a="http://schemas.openxmlformats.org/drawingml/2006/main" prst="roundRect">
            <a:avLst>
              <a:gd name="adj" fmla="val 6897"/>
            </a:avLst>
          </a:prstGeom>
          <a:solidFill xmlns:a="http://schemas.openxmlformats.org/drawingml/2006/main">
            <a:srgbClr val="101820"/>
          </a:solidFill>
          <a:ln xmlns:a="http://schemas.openxmlformats.org/drawingml/2006/main" w="0">
            <a:solidFill>
              <a:srgbClr val="101820"/>
            </a:solidFill>
            <a:prstDash val="solid"/>
          </a:ln>
        </p:spPr>
      </p:sp>
      <p:sp>
        <p:nvSpPr>
          <p:cNvPr id="5" name="">
            <a:extLst xmlns:a="http://schemas.openxmlformats.org/drawingml/2006/main">
              <a:ext uri="{FF2B5EF4-FFF2-40B4-BE49-F238E27FC236}">
                <a16:creationId xmlns:a16="http://schemas.microsoft.com/office/drawing/2014/main" id="{384BECD6-8BF3-4C9C-898F-3F90E0043D7C}"/>
              </a:ext>
            </a:extLst>
          </p:cNvPr>
          <p:cNvSpPr>
            <a:spLocks xmlns:a="http://schemas.openxmlformats.org/drawingml/2006/main" noGrp="1"/>
          </p:cNvSpPr>
          <p:nvPr/>
        </p:nvSpPr>
        <p:spPr>
          <a:xfrm xmlns:a="http://schemas.openxmlformats.org/drawingml/2006/main">
            <a:off x="990600" y="2457450"/>
            <a:ext cx="1021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FFFFFF"/>
                </a:solidFill>
                <a:latin typeface="Arial"/>
                <a:ea typeface="Arial"/>
                <a:cs typeface="Arial"/>
              </a:defRPr>
            </a:pPr>
            <a:r>
              <a:rPr sz="1800" b="1" i="0">
                <a:solidFill>
                  <a:srgbClr val="FFFFFF"/>
                </a:solidFill>
                <a:latin typeface="Arial"/>
                <a:ea typeface="Arial"/>
                <a:cs typeface="Arial"/>
              </a:rPr>
              <a:t>bcftools view  -i  'QUAL&gt;30 &amp;&amp; INFO/DP&gt;10'  sample.vcf.gz</a:t>
            </a:r>
          </a:p>
        </p:txBody>
      </p:sp>
      <p:cxnSp>
        <p:nvCxnSpPr>
          <p:cNvPr id="29" name=""/>
          <p:cNvCxnSpPr/>
          <p:nvPr/>
        </p:nvCxnSpPr>
        <p:spPr>
          <a:xfrm xmlns:a="http://schemas.openxmlformats.org/drawingml/2006/main">
            <a:off x="914400" y="3219450"/>
            <a:ext cx="0" cy="647700"/>
          </a:xfrm>
          <a:prstGeom xmlns:a="http://schemas.openxmlformats.org/drawingml/2006/main" prst="straightConnector1">
            <a:avLst/>
          </a:prstGeom>
          <a:ln xmlns:a="http://schemas.openxmlformats.org/drawingml/2006/main" w="19050">
            <a:solidFill>
              <a:srgbClr val="2D6CDF"/>
            </a:solidFill>
            <a:prstDash val="solid"/>
          </a:ln>
        </p:spPr>
      </p:cxnSp>
      <p:sp>
        <p:nvSpPr>
          <p:cNvPr id="7" name="">
            <a:extLst xmlns:a="http://schemas.openxmlformats.org/drawingml/2006/main">
              <a:ext uri="{FF2B5EF4-FFF2-40B4-BE49-F238E27FC236}">
                <a16:creationId xmlns:a16="http://schemas.microsoft.com/office/drawing/2014/main" id="{CB4D5DF3-DC56-45EA-A8D2-A59DADFE71FE}"/>
              </a:ext>
            </a:extLst>
          </p:cNvPr>
          <p:cNvSpPr>
            <a:spLocks xmlns:a="http://schemas.openxmlformats.org/drawingml/2006/main" noGrp="1"/>
          </p:cNvSpPr>
          <p:nvPr/>
        </p:nvSpPr>
        <p:spPr>
          <a:xfrm xmlns:a="http://schemas.openxmlformats.org/drawingml/2006/main">
            <a:off x="400050" y="40576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PROGRAM</a:t>
            </a:r>
          </a:p>
        </p:txBody>
      </p:sp>
      <p:sp>
        <p:nvSpPr>
          <p:cNvPr id="8" name="">
            <a:extLst xmlns:a="http://schemas.openxmlformats.org/drawingml/2006/main">
              <a:ext uri="{FF2B5EF4-FFF2-40B4-BE49-F238E27FC236}">
                <a16:creationId xmlns:a16="http://schemas.microsoft.com/office/drawing/2014/main" id="{EC7373FB-1654-4415-B8EA-52718DCEA415}"/>
              </a:ext>
            </a:extLst>
          </p:cNvPr>
          <p:cNvSpPr>
            <a:spLocks xmlns:a="http://schemas.openxmlformats.org/drawingml/2006/main" noGrp="1"/>
          </p:cNvSpPr>
          <p:nvPr/>
        </p:nvSpPr>
        <p:spPr>
          <a:xfrm xmlns:a="http://schemas.openxmlformats.org/drawingml/2006/main">
            <a:off x="228600" y="43815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B1F33"/>
                </a:solidFill>
                <a:latin typeface="Arial"/>
                <a:ea typeface="Arial"/>
                <a:cs typeface="Arial"/>
              </a:defRPr>
            </a:pPr>
            <a:r>
              <a:rPr sz="1275" b="1" i="0">
                <a:solidFill>
                  <a:srgbClr val="0B1F33"/>
                </a:solidFill>
                <a:latin typeface="Arial"/>
                <a:ea typeface="Arial"/>
                <a:cs typeface="Arial"/>
              </a:rPr>
              <a:t>bcftools</a:t>
            </a:r>
          </a:p>
        </p:txBody>
      </p:sp>
      <p:cxnSp>
        <p:nvCxnSpPr>
          <p:cNvPr id="32" name=""/>
          <p:cNvCxnSpPr/>
          <p:nvPr/>
        </p:nvCxnSpPr>
        <p:spPr>
          <a:xfrm xmlns:a="http://schemas.openxmlformats.org/drawingml/2006/main">
            <a:off x="3105150" y="3219450"/>
            <a:ext cx="0" cy="647700"/>
          </a:xfrm>
          <a:prstGeom xmlns:a="http://schemas.openxmlformats.org/drawingml/2006/main" prst="straightConnector1">
            <a:avLst/>
          </a:prstGeom>
          <a:ln xmlns:a="http://schemas.openxmlformats.org/drawingml/2006/main" w="19050">
            <a:solidFill>
              <a:srgbClr val="069C9C"/>
            </a:solidFill>
            <a:prstDash val="solid"/>
          </a:ln>
        </p:spPr>
      </p:cxnSp>
      <p:sp>
        <p:nvSpPr>
          <p:cNvPr id="10" name="">
            <a:extLst xmlns:a="http://schemas.openxmlformats.org/drawingml/2006/main">
              <a:ext uri="{FF2B5EF4-FFF2-40B4-BE49-F238E27FC236}">
                <a16:creationId xmlns:a16="http://schemas.microsoft.com/office/drawing/2014/main" id="{6986F942-4C30-4140-8319-1C79B048267A}"/>
              </a:ext>
            </a:extLst>
          </p:cNvPr>
          <p:cNvSpPr>
            <a:spLocks xmlns:a="http://schemas.openxmlformats.org/drawingml/2006/main" noGrp="1"/>
          </p:cNvSpPr>
          <p:nvPr/>
        </p:nvSpPr>
        <p:spPr>
          <a:xfrm xmlns:a="http://schemas.openxmlformats.org/drawingml/2006/main">
            <a:off x="2590800" y="40576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069C9C"/>
                </a:solidFill>
                <a:latin typeface="Arial"/>
                <a:ea typeface="Arial"/>
                <a:cs typeface="Arial"/>
              </a:defRPr>
            </a:pPr>
            <a:r>
              <a:rPr sz="975" b="1" i="0">
                <a:solidFill>
                  <a:srgbClr val="069C9C"/>
                </a:solidFill>
                <a:latin typeface="Arial"/>
                <a:ea typeface="Arial"/>
                <a:cs typeface="Arial"/>
              </a:rPr>
              <a:t>SUBCOMMAND</a:t>
            </a:r>
          </a:p>
        </p:txBody>
      </p:sp>
      <p:sp>
        <p:nvSpPr>
          <p:cNvPr id="11" name="">
            <a:extLst xmlns:a="http://schemas.openxmlformats.org/drawingml/2006/main">
              <a:ext uri="{FF2B5EF4-FFF2-40B4-BE49-F238E27FC236}">
                <a16:creationId xmlns:a16="http://schemas.microsoft.com/office/drawing/2014/main" id="{85A97E5B-ECF4-46B9-8772-568F3B4F7E48}"/>
              </a:ext>
            </a:extLst>
          </p:cNvPr>
          <p:cNvSpPr>
            <a:spLocks xmlns:a="http://schemas.openxmlformats.org/drawingml/2006/main" noGrp="1"/>
          </p:cNvSpPr>
          <p:nvPr/>
        </p:nvSpPr>
        <p:spPr>
          <a:xfrm xmlns:a="http://schemas.openxmlformats.org/drawingml/2006/main">
            <a:off x="2419350" y="43815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B1F33"/>
                </a:solidFill>
                <a:latin typeface="Arial"/>
                <a:ea typeface="Arial"/>
                <a:cs typeface="Arial"/>
              </a:defRPr>
            </a:pPr>
            <a:r>
              <a:rPr sz="1275" b="1" i="0">
                <a:solidFill>
                  <a:srgbClr val="0B1F33"/>
                </a:solidFill>
                <a:latin typeface="Arial"/>
                <a:ea typeface="Arial"/>
                <a:cs typeface="Arial"/>
              </a:rPr>
              <a:t>view</a:t>
            </a:r>
          </a:p>
        </p:txBody>
      </p:sp>
      <p:cxnSp>
        <p:nvCxnSpPr>
          <p:cNvPr id="35" name=""/>
          <p:cNvCxnSpPr/>
          <p:nvPr/>
        </p:nvCxnSpPr>
        <p:spPr>
          <a:xfrm xmlns:a="http://schemas.openxmlformats.org/drawingml/2006/main">
            <a:off x="5010150" y="3219450"/>
            <a:ext cx="0" cy="647700"/>
          </a:xfrm>
          <a:prstGeom xmlns:a="http://schemas.openxmlformats.org/drawingml/2006/main" prst="straightConnector1">
            <a:avLst/>
          </a:prstGeom>
          <a:ln xmlns:a="http://schemas.openxmlformats.org/drawingml/2006/main" w="19050">
            <a:solidFill>
              <a:srgbClr val="7756C2"/>
            </a:solidFill>
            <a:prstDash val="solid"/>
          </a:ln>
        </p:spPr>
      </p:cxnSp>
      <p:sp>
        <p:nvSpPr>
          <p:cNvPr id="13" name="">
            <a:extLst xmlns:a="http://schemas.openxmlformats.org/drawingml/2006/main">
              <a:ext uri="{FF2B5EF4-FFF2-40B4-BE49-F238E27FC236}">
                <a16:creationId xmlns:a16="http://schemas.microsoft.com/office/drawing/2014/main" id="{801FCFA7-7A66-454D-9B76-58E36114EF2F}"/>
              </a:ext>
            </a:extLst>
          </p:cNvPr>
          <p:cNvSpPr>
            <a:spLocks xmlns:a="http://schemas.openxmlformats.org/drawingml/2006/main" noGrp="1"/>
          </p:cNvSpPr>
          <p:nvPr/>
        </p:nvSpPr>
        <p:spPr>
          <a:xfrm xmlns:a="http://schemas.openxmlformats.org/drawingml/2006/main">
            <a:off x="4495800" y="40576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7756C2"/>
                </a:solidFill>
                <a:latin typeface="Arial"/>
                <a:ea typeface="Arial"/>
                <a:cs typeface="Arial"/>
              </a:defRPr>
            </a:pPr>
            <a:r>
              <a:rPr sz="975" b="1" i="0">
                <a:solidFill>
                  <a:srgbClr val="7756C2"/>
                </a:solidFill>
                <a:latin typeface="Arial"/>
                <a:ea typeface="Arial"/>
                <a:cs typeface="Arial"/>
              </a:rPr>
              <a:t>OPTION</a:t>
            </a:r>
          </a:p>
        </p:txBody>
      </p:sp>
      <p:sp>
        <p:nvSpPr>
          <p:cNvPr id="14" name="">
            <a:extLst xmlns:a="http://schemas.openxmlformats.org/drawingml/2006/main">
              <a:ext uri="{FF2B5EF4-FFF2-40B4-BE49-F238E27FC236}">
                <a16:creationId xmlns:a16="http://schemas.microsoft.com/office/drawing/2014/main" id="{6557ACA8-97D5-40F6-9A8E-4E98DB76893F}"/>
              </a:ext>
            </a:extLst>
          </p:cNvPr>
          <p:cNvSpPr>
            <a:spLocks xmlns:a="http://schemas.openxmlformats.org/drawingml/2006/main" noGrp="1"/>
          </p:cNvSpPr>
          <p:nvPr/>
        </p:nvSpPr>
        <p:spPr>
          <a:xfrm xmlns:a="http://schemas.openxmlformats.org/drawingml/2006/main">
            <a:off x="4324350" y="43815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B1F33"/>
                </a:solidFill>
                <a:latin typeface="Arial"/>
                <a:ea typeface="Arial"/>
                <a:cs typeface="Arial"/>
              </a:defRPr>
            </a:pPr>
            <a:r>
              <a:rPr sz="1275" b="1" i="0">
                <a:solidFill>
                  <a:srgbClr val="0B1F33"/>
                </a:solidFill>
                <a:latin typeface="Arial"/>
                <a:ea typeface="Arial"/>
                <a:cs typeface="Arial"/>
              </a:rPr>
              <a:t>-i</a:t>
            </a:r>
          </a:p>
        </p:txBody>
      </p:sp>
      <p:cxnSp>
        <p:nvCxnSpPr>
          <p:cNvPr id="38" name=""/>
          <p:cNvCxnSpPr/>
          <p:nvPr/>
        </p:nvCxnSpPr>
        <p:spPr>
          <a:xfrm xmlns:a="http://schemas.openxmlformats.org/drawingml/2006/main">
            <a:off x="6648450" y="3219450"/>
            <a:ext cx="0" cy="647700"/>
          </a:xfrm>
          <a:prstGeom xmlns:a="http://schemas.openxmlformats.org/drawingml/2006/main" prst="straightConnector1">
            <a:avLst/>
          </a:prstGeom>
          <a:ln xmlns:a="http://schemas.openxmlformats.org/drawingml/2006/main" w="19050">
            <a:solidFill>
              <a:srgbClr val="E7A62F"/>
            </a:solidFill>
            <a:prstDash val="solid"/>
          </a:ln>
        </p:spPr>
      </p:cxnSp>
      <p:sp>
        <p:nvSpPr>
          <p:cNvPr id="16" name="">
            <a:extLst xmlns:a="http://schemas.openxmlformats.org/drawingml/2006/main">
              <a:ext uri="{FF2B5EF4-FFF2-40B4-BE49-F238E27FC236}">
                <a16:creationId xmlns:a16="http://schemas.microsoft.com/office/drawing/2014/main" id="{D7B2108A-9950-4466-99C1-7BA4194E60AB}"/>
              </a:ext>
            </a:extLst>
          </p:cNvPr>
          <p:cNvSpPr>
            <a:spLocks xmlns:a="http://schemas.openxmlformats.org/drawingml/2006/main" noGrp="1"/>
          </p:cNvSpPr>
          <p:nvPr/>
        </p:nvSpPr>
        <p:spPr>
          <a:xfrm xmlns:a="http://schemas.openxmlformats.org/drawingml/2006/main">
            <a:off x="6134100" y="40576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E7A62F"/>
                </a:solidFill>
                <a:latin typeface="Arial"/>
                <a:ea typeface="Arial"/>
                <a:cs typeface="Arial"/>
              </a:defRPr>
            </a:pPr>
            <a:r>
              <a:rPr sz="975" b="1" i="0">
                <a:solidFill>
                  <a:srgbClr val="E7A62F"/>
                </a:solidFill>
                <a:latin typeface="Arial"/>
                <a:ea typeface="Arial"/>
                <a:cs typeface="Arial"/>
              </a:rPr>
              <a:t>EXPRESSION</a:t>
            </a:r>
          </a:p>
        </p:txBody>
      </p:sp>
      <p:sp>
        <p:nvSpPr>
          <p:cNvPr id="17" name="">
            <a:extLst xmlns:a="http://schemas.openxmlformats.org/drawingml/2006/main">
              <a:ext uri="{FF2B5EF4-FFF2-40B4-BE49-F238E27FC236}">
                <a16:creationId xmlns:a16="http://schemas.microsoft.com/office/drawing/2014/main" id="{DFB6A94F-B42B-424E-82E7-534A611C2E40}"/>
              </a:ext>
            </a:extLst>
          </p:cNvPr>
          <p:cNvSpPr>
            <a:spLocks xmlns:a="http://schemas.openxmlformats.org/drawingml/2006/main" noGrp="1"/>
          </p:cNvSpPr>
          <p:nvPr/>
        </p:nvSpPr>
        <p:spPr>
          <a:xfrm xmlns:a="http://schemas.openxmlformats.org/drawingml/2006/main">
            <a:off x="5962650" y="43815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B1F33"/>
                </a:solidFill>
                <a:latin typeface="Arial"/>
                <a:ea typeface="Arial"/>
                <a:cs typeface="Arial"/>
              </a:defRPr>
            </a:pPr>
            <a:r>
              <a:rPr sz="1275" b="1" i="0">
                <a:solidFill>
                  <a:srgbClr val="0B1F33"/>
                </a:solidFill>
                <a:latin typeface="Arial"/>
                <a:ea typeface="Arial"/>
                <a:cs typeface="Arial"/>
              </a:rPr>
              <a:t>quality and depth rule</a:t>
            </a:r>
          </a:p>
        </p:txBody>
      </p:sp>
      <p:cxnSp>
        <p:nvCxnSpPr>
          <p:cNvPr id="41" name=""/>
          <p:cNvCxnSpPr/>
          <p:nvPr/>
        </p:nvCxnSpPr>
        <p:spPr>
          <a:xfrm xmlns:a="http://schemas.openxmlformats.org/drawingml/2006/main">
            <a:off x="9582150" y="3219450"/>
            <a:ext cx="0" cy="647700"/>
          </a:xfrm>
          <a:prstGeom xmlns:a="http://schemas.openxmlformats.org/drawingml/2006/main" prst="straightConnector1">
            <a:avLst/>
          </a:prstGeom>
          <a:ln xmlns:a="http://schemas.openxmlformats.org/drawingml/2006/main" w="19050">
            <a:solidFill>
              <a:srgbClr val="359B64"/>
            </a:solidFill>
            <a:prstDash val="solid"/>
          </a:ln>
        </p:spPr>
      </p:cxnSp>
      <p:sp>
        <p:nvSpPr>
          <p:cNvPr id="19" name="">
            <a:extLst xmlns:a="http://schemas.openxmlformats.org/drawingml/2006/main">
              <a:ext uri="{FF2B5EF4-FFF2-40B4-BE49-F238E27FC236}">
                <a16:creationId xmlns:a16="http://schemas.microsoft.com/office/drawing/2014/main" id="{C9FEBC63-C505-4BE2-8DE1-DE81B07534CB}"/>
              </a:ext>
            </a:extLst>
          </p:cNvPr>
          <p:cNvSpPr>
            <a:spLocks xmlns:a="http://schemas.openxmlformats.org/drawingml/2006/main" noGrp="1"/>
          </p:cNvSpPr>
          <p:nvPr/>
        </p:nvSpPr>
        <p:spPr>
          <a:xfrm xmlns:a="http://schemas.openxmlformats.org/drawingml/2006/main">
            <a:off x="9067800" y="4057650"/>
            <a:ext cx="146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359B64"/>
                </a:solidFill>
                <a:latin typeface="Arial"/>
                <a:ea typeface="Arial"/>
                <a:cs typeface="Arial"/>
              </a:defRPr>
            </a:pPr>
            <a:r>
              <a:rPr sz="975" b="1" i="0">
                <a:solidFill>
                  <a:srgbClr val="359B64"/>
                </a:solidFill>
                <a:latin typeface="Arial"/>
                <a:ea typeface="Arial"/>
                <a:cs typeface="Arial"/>
              </a:rPr>
              <a:t>INPUT</a:t>
            </a:r>
          </a:p>
        </p:txBody>
      </p:sp>
      <p:sp>
        <p:nvSpPr>
          <p:cNvPr id="20" name="">
            <a:extLst xmlns:a="http://schemas.openxmlformats.org/drawingml/2006/main">
              <a:ext uri="{FF2B5EF4-FFF2-40B4-BE49-F238E27FC236}">
                <a16:creationId xmlns:a16="http://schemas.microsoft.com/office/drawing/2014/main" id="{74111B12-B558-4312-B53F-7C7D2E4FBADB}"/>
              </a:ext>
            </a:extLst>
          </p:cNvPr>
          <p:cNvSpPr>
            <a:spLocks xmlns:a="http://schemas.openxmlformats.org/drawingml/2006/main" noGrp="1"/>
          </p:cNvSpPr>
          <p:nvPr/>
        </p:nvSpPr>
        <p:spPr>
          <a:xfrm xmlns:a="http://schemas.openxmlformats.org/drawingml/2006/main">
            <a:off x="8896350" y="43815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0B1F33"/>
                </a:solidFill>
                <a:latin typeface="Arial"/>
                <a:ea typeface="Arial"/>
                <a:cs typeface="Arial"/>
              </a:defRPr>
            </a:pPr>
            <a:r>
              <a:rPr sz="1275" b="1" i="0">
                <a:solidFill>
                  <a:srgbClr val="0B1F33"/>
                </a:solidFill>
                <a:latin typeface="Arial"/>
                <a:ea typeface="Arial"/>
                <a:cs typeface="Arial"/>
              </a:rPr>
              <a:t>sample.vcf.gz</a:t>
            </a:r>
          </a:p>
        </p:txBody>
      </p:sp>
      <p:sp>
        <p:nvSpPr>
          <p:cNvPr id="21" name="">
            <a:extLst xmlns:a="http://schemas.openxmlformats.org/drawingml/2006/main">
              <a:ext uri="{FF2B5EF4-FFF2-40B4-BE49-F238E27FC236}">
                <a16:creationId xmlns:a16="http://schemas.microsoft.com/office/drawing/2014/main" id="{83F77F41-752B-41FC-8E35-FDC63C1E2FAE}"/>
              </a:ext>
            </a:extLst>
          </p:cNvPr>
          <p:cNvSpPr>
            <a:spLocks xmlns:a="http://schemas.openxmlformats.org/drawingml/2006/main" noGrp="1"/>
          </p:cNvSpPr>
          <p:nvPr/>
        </p:nvSpPr>
        <p:spPr>
          <a:xfrm xmlns:a="http://schemas.openxmlformats.org/drawingml/2006/main">
            <a:off x="2476500" y="5391150"/>
            <a:ext cx="7239000" cy="495300"/>
          </a:xfrm>
          <a:prstGeom xmlns:a="http://schemas.openxmlformats.org/drawingml/2006/main" prst="roundRect">
            <a:avLst>
              <a:gd name="adj" fmla="val 15385"/>
            </a:avLst>
          </a:prstGeom>
          <a:solidFill xmlns:a="http://schemas.openxmlformats.org/drawingml/2006/main">
            <a:srgbClr val="FBE3E3"/>
          </a:solidFill>
          <a:ln xmlns:a="http://schemas.openxmlformats.org/drawingml/2006/main" w="0">
            <a:solidFill>
              <a:srgbClr val="FBE3E3"/>
            </a:solidFill>
            <a:prstDash val="solid"/>
          </a:ln>
        </p:spPr>
      </p:sp>
      <p:sp>
        <p:nvSpPr>
          <p:cNvPr id="22" name="">
            <a:extLst xmlns:a="http://schemas.openxmlformats.org/drawingml/2006/main">
              <a:ext uri="{FF2B5EF4-FFF2-40B4-BE49-F238E27FC236}">
                <a16:creationId xmlns:a16="http://schemas.microsoft.com/office/drawing/2014/main" id="{BF38C89A-A301-4531-BBF0-188C35290052}"/>
              </a:ext>
            </a:extLst>
          </p:cNvPr>
          <p:cNvSpPr>
            <a:spLocks xmlns:a="http://schemas.openxmlformats.org/drawingml/2006/main" noGrp="1"/>
          </p:cNvSpPr>
          <p:nvPr/>
        </p:nvSpPr>
        <p:spPr>
          <a:xfrm xmlns:a="http://schemas.openxmlformats.org/drawingml/2006/main">
            <a:off x="2647950" y="5534025"/>
            <a:ext cx="689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C94E4E"/>
                </a:solidFill>
                <a:latin typeface="Arial"/>
                <a:ea typeface="Arial"/>
                <a:cs typeface="Arial"/>
              </a:defRPr>
            </a:pPr>
            <a:r>
              <a:rPr sz="1200" b="1" i="0">
                <a:solidFill>
                  <a:srgbClr val="C94E4E"/>
                </a:solidFill>
                <a:latin typeface="Arial"/>
                <a:ea typeface="Arial"/>
                <a:cs typeface="Arial"/>
              </a:rPr>
              <a:t>Do not copy a command until you can identify its input, output and assumptions.</a:t>
            </a:r>
          </a:p>
        </p:txBody>
      </p:sp>
      <p:sp>
        <p:nvSpPr>
          <p:cNvPr id="23" name="">
            <a:extLst xmlns:a="http://schemas.openxmlformats.org/drawingml/2006/main">
              <a:ext uri="{FF2B5EF4-FFF2-40B4-BE49-F238E27FC236}">
                <a16:creationId xmlns:a16="http://schemas.microsoft.com/office/drawing/2014/main" id="{792D70B7-8BE5-47A4-931D-C6D41177F8D4}"/>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44</a:t>
            </a:r>
          </a:p>
        </p:txBody>
      </p:sp>
    </p:spTree>
    <p:extLst>
      <p:ext uri="{BB962C8B-B14F-4D97-AF65-F5344CB8AC3E}">
        <p14:creationId xmlns:p14="http://schemas.microsoft.com/office/powerpoint/2010/main" val="93023703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2D8F9E-0874-4702-8846-CC1252314E08}"/>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FIRST COMMANDS</a:t>
            </a:r>
          </a:p>
        </p:txBody>
      </p:sp>
      <p:sp>
        <p:nvSpPr>
          <p:cNvPr id="2" name="">
            <a:extLst xmlns:a="http://schemas.openxmlformats.org/drawingml/2006/main">
              <a:ext uri="{FF2B5EF4-FFF2-40B4-BE49-F238E27FC236}">
                <a16:creationId xmlns:a16="http://schemas.microsoft.com/office/drawing/2014/main" id="{73386D83-292E-4DA0-8E45-81A14C8D43BF}"/>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Six commands are enough to begin exploring NGS files</a:t>
            </a:r>
          </a:p>
        </p:txBody>
      </p:sp>
      <p:cxnSp>
        <p:nvCxnSpPr>
          <p:cNvPr id="26"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F1FB154D-C1D5-4767-A9C0-6B61BB834302}"/>
              </a:ext>
            </a:extLst>
          </p:cNvPr>
          <p:cNvSpPr>
            <a:spLocks xmlns:a="http://schemas.openxmlformats.org/drawingml/2006/main" noGrp="1"/>
          </p:cNvSpPr>
          <p:nvPr/>
        </p:nvSpPr>
        <p:spPr>
          <a:xfrm xmlns:a="http://schemas.openxmlformats.org/drawingml/2006/main">
            <a:off x="495300" y="1581150"/>
            <a:ext cx="5410200" cy="952500"/>
          </a:xfrm>
          <a:prstGeom xmlns:a="http://schemas.openxmlformats.org/drawingml/2006/main" prst="roundRect">
            <a:avLst>
              <a:gd name="adj" fmla="val 8000"/>
            </a:avLst>
          </a:prstGeom>
          <a:solidFill xmlns:a="http://schemas.openxmlformats.org/drawingml/2006/main">
            <a:srgbClr val="101820"/>
          </a:solidFill>
          <a:ln xmlns:a="http://schemas.openxmlformats.org/drawingml/2006/main" w="0">
            <a:solidFill>
              <a:srgbClr val="101820"/>
            </a:solidFill>
            <a:prstDash val="solid"/>
          </a:ln>
        </p:spPr>
      </p:sp>
      <p:sp>
        <p:nvSpPr>
          <p:cNvPr id="5" name="">
            <a:extLst xmlns:a="http://schemas.openxmlformats.org/drawingml/2006/main">
              <a:ext uri="{FF2B5EF4-FFF2-40B4-BE49-F238E27FC236}">
                <a16:creationId xmlns:a16="http://schemas.microsoft.com/office/drawing/2014/main" id="{D5618F97-67E1-48E2-B36D-F0FB80D408FA}"/>
              </a:ext>
            </a:extLst>
          </p:cNvPr>
          <p:cNvSpPr>
            <a:spLocks xmlns:a="http://schemas.openxmlformats.org/drawingml/2006/main" noGrp="1"/>
          </p:cNvSpPr>
          <p:nvPr/>
        </p:nvSpPr>
        <p:spPr>
          <a:xfrm xmlns:a="http://schemas.openxmlformats.org/drawingml/2006/main">
            <a:off x="704850" y="1762125"/>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7EE787"/>
                </a:solidFill>
                <a:latin typeface="Arial"/>
                <a:ea typeface="Arial"/>
                <a:cs typeface="Arial"/>
              </a:defRPr>
            </a:pPr>
            <a:r>
              <a:rPr sz="1500" b="1" i="0">
                <a:solidFill>
                  <a:srgbClr val="7EE787"/>
                </a:solidFill>
                <a:latin typeface="Arial"/>
                <a:ea typeface="Arial"/>
                <a:cs typeface="Arial"/>
              </a:rPr>
              <a:t>pwd</a:t>
            </a:r>
          </a:p>
        </p:txBody>
      </p:sp>
      <p:sp>
        <p:nvSpPr>
          <p:cNvPr id="6" name="">
            <a:extLst xmlns:a="http://schemas.openxmlformats.org/drawingml/2006/main">
              <a:ext uri="{FF2B5EF4-FFF2-40B4-BE49-F238E27FC236}">
                <a16:creationId xmlns:a16="http://schemas.microsoft.com/office/drawing/2014/main" id="{08A2EE52-1653-43DE-9D0B-EBDB7F8AA39D}"/>
              </a:ext>
            </a:extLst>
          </p:cNvPr>
          <p:cNvSpPr>
            <a:spLocks xmlns:a="http://schemas.openxmlformats.org/drawingml/2006/main" noGrp="1"/>
          </p:cNvSpPr>
          <p:nvPr/>
        </p:nvSpPr>
        <p:spPr>
          <a:xfrm xmlns:a="http://schemas.openxmlformats.org/drawingml/2006/main">
            <a:off x="3771900" y="17716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0">
                <a:solidFill>
                  <a:srgbClr val="FFFFFF"/>
                </a:solidFill>
                <a:latin typeface="Arial"/>
                <a:ea typeface="Arial"/>
                <a:cs typeface="Arial"/>
              </a:defRPr>
            </a:pPr>
            <a:r>
              <a:rPr sz="1275" b="0" i="0">
                <a:solidFill>
                  <a:srgbClr val="FFFFFF"/>
                </a:solidFill>
                <a:latin typeface="Arial"/>
                <a:ea typeface="Arial"/>
                <a:cs typeface="Arial"/>
              </a:rPr>
              <a:t>Where am I?</a:t>
            </a:r>
          </a:p>
        </p:txBody>
      </p:sp>
      <p:sp>
        <p:nvSpPr>
          <p:cNvPr id="7" name="">
            <a:extLst xmlns:a="http://schemas.openxmlformats.org/drawingml/2006/main">
              <a:ext uri="{FF2B5EF4-FFF2-40B4-BE49-F238E27FC236}">
                <a16:creationId xmlns:a16="http://schemas.microsoft.com/office/drawing/2014/main" id="{C7FEF416-A303-4989-ADD6-FE6B1339B233}"/>
              </a:ext>
            </a:extLst>
          </p:cNvPr>
          <p:cNvSpPr>
            <a:spLocks xmlns:a="http://schemas.openxmlformats.org/drawingml/2006/main" noGrp="1"/>
          </p:cNvSpPr>
          <p:nvPr/>
        </p:nvSpPr>
        <p:spPr>
          <a:xfrm xmlns:a="http://schemas.openxmlformats.org/drawingml/2006/main">
            <a:off x="6305550" y="1581150"/>
            <a:ext cx="5410200" cy="952500"/>
          </a:xfrm>
          <a:prstGeom xmlns:a="http://schemas.openxmlformats.org/drawingml/2006/main" prst="roundRect">
            <a:avLst>
              <a:gd name="adj" fmla="val 8000"/>
            </a:avLst>
          </a:prstGeom>
          <a:solidFill xmlns:a="http://schemas.openxmlformats.org/drawingml/2006/main">
            <a:srgbClr val="101820"/>
          </a:solidFill>
          <a:ln xmlns:a="http://schemas.openxmlformats.org/drawingml/2006/main" w="0">
            <a:solidFill>
              <a:srgbClr val="101820"/>
            </a:solidFill>
            <a:prstDash val="solid"/>
          </a:ln>
        </p:spPr>
      </p:sp>
      <p:sp>
        <p:nvSpPr>
          <p:cNvPr id="8" name="">
            <a:extLst xmlns:a="http://schemas.openxmlformats.org/drawingml/2006/main">
              <a:ext uri="{FF2B5EF4-FFF2-40B4-BE49-F238E27FC236}">
                <a16:creationId xmlns:a16="http://schemas.microsoft.com/office/drawing/2014/main" id="{A118A1BD-0A62-4CBE-8584-985D6E21B5C5}"/>
              </a:ext>
            </a:extLst>
          </p:cNvPr>
          <p:cNvSpPr>
            <a:spLocks xmlns:a="http://schemas.openxmlformats.org/drawingml/2006/main" noGrp="1"/>
          </p:cNvSpPr>
          <p:nvPr/>
        </p:nvSpPr>
        <p:spPr>
          <a:xfrm xmlns:a="http://schemas.openxmlformats.org/drawingml/2006/main">
            <a:off x="6515100" y="1762125"/>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7EE787"/>
                </a:solidFill>
                <a:latin typeface="Arial"/>
                <a:ea typeface="Arial"/>
                <a:cs typeface="Arial"/>
              </a:defRPr>
            </a:pPr>
            <a:r>
              <a:rPr sz="1500" b="1" i="0">
                <a:solidFill>
                  <a:srgbClr val="7EE787"/>
                </a:solidFill>
                <a:latin typeface="Arial"/>
                <a:ea typeface="Arial"/>
                <a:cs typeface="Arial"/>
              </a:rPr>
              <a:t>ls -lh</a:t>
            </a:r>
          </a:p>
        </p:txBody>
      </p:sp>
      <p:sp>
        <p:nvSpPr>
          <p:cNvPr id="9" name="">
            <a:extLst xmlns:a="http://schemas.openxmlformats.org/drawingml/2006/main">
              <a:ext uri="{FF2B5EF4-FFF2-40B4-BE49-F238E27FC236}">
                <a16:creationId xmlns:a16="http://schemas.microsoft.com/office/drawing/2014/main" id="{CB3AD33E-44C9-49D4-8A7D-98E95ECDCA94}"/>
              </a:ext>
            </a:extLst>
          </p:cNvPr>
          <p:cNvSpPr>
            <a:spLocks xmlns:a="http://schemas.openxmlformats.org/drawingml/2006/main" noGrp="1"/>
          </p:cNvSpPr>
          <p:nvPr/>
        </p:nvSpPr>
        <p:spPr>
          <a:xfrm xmlns:a="http://schemas.openxmlformats.org/drawingml/2006/main">
            <a:off x="9582150" y="17716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0">
                <a:solidFill>
                  <a:srgbClr val="FFFFFF"/>
                </a:solidFill>
                <a:latin typeface="Arial"/>
                <a:ea typeface="Arial"/>
                <a:cs typeface="Arial"/>
              </a:defRPr>
            </a:pPr>
            <a:r>
              <a:rPr sz="1275" b="0" i="0">
                <a:solidFill>
                  <a:srgbClr val="FFFFFF"/>
                </a:solidFill>
                <a:latin typeface="Arial"/>
                <a:ea typeface="Arial"/>
                <a:cs typeface="Arial"/>
              </a:rPr>
              <a:t>What files are here?</a:t>
            </a:r>
          </a:p>
        </p:txBody>
      </p:sp>
      <p:sp>
        <p:nvSpPr>
          <p:cNvPr id="10" name="">
            <a:extLst xmlns:a="http://schemas.openxmlformats.org/drawingml/2006/main">
              <a:ext uri="{FF2B5EF4-FFF2-40B4-BE49-F238E27FC236}">
                <a16:creationId xmlns:a16="http://schemas.microsoft.com/office/drawing/2014/main" id="{EC85DA14-5E99-489B-8F48-7B8A09BBDC61}"/>
              </a:ext>
            </a:extLst>
          </p:cNvPr>
          <p:cNvSpPr>
            <a:spLocks xmlns:a="http://schemas.openxmlformats.org/drawingml/2006/main" noGrp="1"/>
          </p:cNvSpPr>
          <p:nvPr/>
        </p:nvSpPr>
        <p:spPr>
          <a:xfrm xmlns:a="http://schemas.openxmlformats.org/drawingml/2006/main">
            <a:off x="495300" y="2838450"/>
            <a:ext cx="5410200" cy="952500"/>
          </a:xfrm>
          <a:prstGeom xmlns:a="http://schemas.openxmlformats.org/drawingml/2006/main" prst="roundRect">
            <a:avLst>
              <a:gd name="adj" fmla="val 8000"/>
            </a:avLst>
          </a:prstGeom>
          <a:solidFill xmlns:a="http://schemas.openxmlformats.org/drawingml/2006/main">
            <a:srgbClr val="101820"/>
          </a:solidFill>
          <a:ln xmlns:a="http://schemas.openxmlformats.org/drawingml/2006/main" w="0">
            <a:solidFill>
              <a:srgbClr val="101820"/>
            </a:solidFill>
            <a:prstDash val="solid"/>
          </a:ln>
        </p:spPr>
      </p:sp>
      <p:sp>
        <p:nvSpPr>
          <p:cNvPr id="11" name="">
            <a:extLst xmlns:a="http://schemas.openxmlformats.org/drawingml/2006/main">
              <a:ext uri="{FF2B5EF4-FFF2-40B4-BE49-F238E27FC236}">
                <a16:creationId xmlns:a16="http://schemas.microsoft.com/office/drawing/2014/main" id="{BF921ED9-E43F-472C-A5F7-3212D016C16C}"/>
              </a:ext>
            </a:extLst>
          </p:cNvPr>
          <p:cNvSpPr>
            <a:spLocks xmlns:a="http://schemas.openxmlformats.org/drawingml/2006/main" noGrp="1"/>
          </p:cNvSpPr>
          <p:nvPr/>
        </p:nvSpPr>
        <p:spPr>
          <a:xfrm xmlns:a="http://schemas.openxmlformats.org/drawingml/2006/main">
            <a:off x="704850" y="3019425"/>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7EE787"/>
                </a:solidFill>
                <a:latin typeface="Arial"/>
                <a:ea typeface="Arial"/>
                <a:cs typeface="Arial"/>
              </a:defRPr>
            </a:pPr>
            <a:r>
              <a:rPr sz="1500" b="1" i="0">
                <a:solidFill>
                  <a:srgbClr val="7EE787"/>
                </a:solidFill>
                <a:latin typeface="Arial"/>
                <a:ea typeface="Arial"/>
                <a:cs typeface="Arial"/>
              </a:rPr>
              <a:t>cd data</a:t>
            </a:r>
          </a:p>
        </p:txBody>
      </p:sp>
      <p:sp>
        <p:nvSpPr>
          <p:cNvPr id="12" name="">
            <a:extLst xmlns:a="http://schemas.openxmlformats.org/drawingml/2006/main">
              <a:ext uri="{FF2B5EF4-FFF2-40B4-BE49-F238E27FC236}">
                <a16:creationId xmlns:a16="http://schemas.microsoft.com/office/drawing/2014/main" id="{696D0914-DD86-4D14-B51B-1ADBAA340BD3}"/>
              </a:ext>
            </a:extLst>
          </p:cNvPr>
          <p:cNvSpPr>
            <a:spLocks xmlns:a="http://schemas.openxmlformats.org/drawingml/2006/main" noGrp="1"/>
          </p:cNvSpPr>
          <p:nvPr/>
        </p:nvSpPr>
        <p:spPr>
          <a:xfrm xmlns:a="http://schemas.openxmlformats.org/drawingml/2006/main">
            <a:off x="3771900" y="30289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0">
                <a:solidFill>
                  <a:srgbClr val="FFFFFF"/>
                </a:solidFill>
                <a:latin typeface="Arial"/>
                <a:ea typeface="Arial"/>
                <a:cs typeface="Arial"/>
              </a:defRPr>
            </a:pPr>
            <a:r>
              <a:rPr sz="1275" b="0" i="0">
                <a:solidFill>
                  <a:srgbClr val="FFFFFF"/>
                </a:solidFill>
                <a:latin typeface="Arial"/>
                <a:ea typeface="Arial"/>
                <a:cs typeface="Arial"/>
              </a:rPr>
              <a:t>Move into a folder</a:t>
            </a:r>
          </a:p>
        </p:txBody>
      </p:sp>
      <p:sp>
        <p:nvSpPr>
          <p:cNvPr id="13" name="">
            <a:extLst xmlns:a="http://schemas.openxmlformats.org/drawingml/2006/main">
              <a:ext uri="{FF2B5EF4-FFF2-40B4-BE49-F238E27FC236}">
                <a16:creationId xmlns:a16="http://schemas.microsoft.com/office/drawing/2014/main" id="{AE9356BE-E08B-41E3-A76B-78697DF2B0B6}"/>
              </a:ext>
            </a:extLst>
          </p:cNvPr>
          <p:cNvSpPr>
            <a:spLocks xmlns:a="http://schemas.openxmlformats.org/drawingml/2006/main" noGrp="1"/>
          </p:cNvSpPr>
          <p:nvPr/>
        </p:nvSpPr>
        <p:spPr>
          <a:xfrm xmlns:a="http://schemas.openxmlformats.org/drawingml/2006/main">
            <a:off x="6305550" y="2838450"/>
            <a:ext cx="5410200" cy="952500"/>
          </a:xfrm>
          <a:prstGeom xmlns:a="http://schemas.openxmlformats.org/drawingml/2006/main" prst="roundRect">
            <a:avLst>
              <a:gd name="adj" fmla="val 8000"/>
            </a:avLst>
          </a:prstGeom>
          <a:solidFill xmlns:a="http://schemas.openxmlformats.org/drawingml/2006/main">
            <a:srgbClr val="101820"/>
          </a:solidFill>
          <a:ln xmlns:a="http://schemas.openxmlformats.org/drawingml/2006/main" w="0">
            <a:solidFill>
              <a:srgbClr val="101820"/>
            </a:solidFill>
            <a:prstDash val="solid"/>
          </a:ln>
        </p:spPr>
      </p:sp>
      <p:sp>
        <p:nvSpPr>
          <p:cNvPr id="14" name="">
            <a:extLst xmlns:a="http://schemas.openxmlformats.org/drawingml/2006/main">
              <a:ext uri="{FF2B5EF4-FFF2-40B4-BE49-F238E27FC236}">
                <a16:creationId xmlns:a16="http://schemas.microsoft.com/office/drawing/2014/main" id="{E189F07E-F98B-419D-AC37-E3EA08A04197}"/>
              </a:ext>
            </a:extLst>
          </p:cNvPr>
          <p:cNvSpPr>
            <a:spLocks xmlns:a="http://schemas.openxmlformats.org/drawingml/2006/main" noGrp="1"/>
          </p:cNvSpPr>
          <p:nvPr/>
        </p:nvSpPr>
        <p:spPr>
          <a:xfrm xmlns:a="http://schemas.openxmlformats.org/drawingml/2006/main">
            <a:off x="6515100" y="3019425"/>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7EE787"/>
                </a:solidFill>
                <a:latin typeface="Arial"/>
                <a:ea typeface="Arial"/>
                <a:cs typeface="Arial"/>
              </a:defRPr>
            </a:pPr>
            <a:r>
              <a:rPr sz="1500" b="1" i="0">
                <a:solidFill>
                  <a:srgbClr val="7EE787"/>
                </a:solidFill>
                <a:latin typeface="Arial"/>
                <a:ea typeface="Arial"/>
                <a:cs typeface="Arial"/>
              </a:rPr>
              <a:t>head sample.fastq</a:t>
            </a:r>
          </a:p>
        </p:txBody>
      </p:sp>
      <p:sp>
        <p:nvSpPr>
          <p:cNvPr id="15" name="">
            <a:extLst xmlns:a="http://schemas.openxmlformats.org/drawingml/2006/main">
              <a:ext uri="{FF2B5EF4-FFF2-40B4-BE49-F238E27FC236}">
                <a16:creationId xmlns:a16="http://schemas.microsoft.com/office/drawing/2014/main" id="{37286E55-D20D-4810-8683-566ED7265A6F}"/>
              </a:ext>
            </a:extLst>
          </p:cNvPr>
          <p:cNvSpPr>
            <a:spLocks xmlns:a="http://schemas.openxmlformats.org/drawingml/2006/main" noGrp="1"/>
          </p:cNvSpPr>
          <p:nvPr/>
        </p:nvSpPr>
        <p:spPr>
          <a:xfrm xmlns:a="http://schemas.openxmlformats.org/drawingml/2006/main">
            <a:off x="9582150" y="30289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0">
                <a:solidFill>
                  <a:srgbClr val="FFFFFF"/>
                </a:solidFill>
                <a:latin typeface="Arial"/>
                <a:ea typeface="Arial"/>
                <a:cs typeface="Arial"/>
              </a:defRPr>
            </a:pPr>
            <a:r>
              <a:rPr sz="1275" b="0" i="0">
                <a:solidFill>
                  <a:srgbClr val="FFFFFF"/>
                </a:solidFill>
                <a:latin typeface="Arial"/>
                <a:ea typeface="Arial"/>
                <a:cs typeface="Arial"/>
              </a:rPr>
              <a:t>Show the first lines</a:t>
            </a:r>
          </a:p>
        </p:txBody>
      </p:sp>
      <p:sp>
        <p:nvSpPr>
          <p:cNvPr id="16" name="">
            <a:extLst xmlns:a="http://schemas.openxmlformats.org/drawingml/2006/main">
              <a:ext uri="{FF2B5EF4-FFF2-40B4-BE49-F238E27FC236}">
                <a16:creationId xmlns:a16="http://schemas.microsoft.com/office/drawing/2014/main" id="{0B72BA9B-88BF-4854-9F3C-E18435821412}"/>
              </a:ext>
            </a:extLst>
          </p:cNvPr>
          <p:cNvSpPr>
            <a:spLocks xmlns:a="http://schemas.openxmlformats.org/drawingml/2006/main" noGrp="1"/>
          </p:cNvSpPr>
          <p:nvPr/>
        </p:nvSpPr>
        <p:spPr>
          <a:xfrm xmlns:a="http://schemas.openxmlformats.org/drawingml/2006/main">
            <a:off x="495300" y="4095750"/>
            <a:ext cx="5410200" cy="952500"/>
          </a:xfrm>
          <a:prstGeom xmlns:a="http://schemas.openxmlformats.org/drawingml/2006/main" prst="roundRect">
            <a:avLst>
              <a:gd name="adj" fmla="val 8000"/>
            </a:avLst>
          </a:prstGeom>
          <a:solidFill xmlns:a="http://schemas.openxmlformats.org/drawingml/2006/main">
            <a:srgbClr val="101820"/>
          </a:solidFill>
          <a:ln xmlns:a="http://schemas.openxmlformats.org/drawingml/2006/main" w="0">
            <a:solidFill>
              <a:srgbClr val="101820"/>
            </a:solidFill>
            <a:prstDash val="solid"/>
          </a:ln>
        </p:spPr>
      </p:sp>
      <p:sp>
        <p:nvSpPr>
          <p:cNvPr id="17" name="">
            <a:extLst xmlns:a="http://schemas.openxmlformats.org/drawingml/2006/main">
              <a:ext uri="{FF2B5EF4-FFF2-40B4-BE49-F238E27FC236}">
                <a16:creationId xmlns:a16="http://schemas.microsoft.com/office/drawing/2014/main" id="{1B61AD0B-9738-42D3-8F01-0A6CAF8DCE20}"/>
              </a:ext>
            </a:extLst>
          </p:cNvPr>
          <p:cNvSpPr>
            <a:spLocks xmlns:a="http://schemas.openxmlformats.org/drawingml/2006/main" noGrp="1"/>
          </p:cNvSpPr>
          <p:nvPr/>
        </p:nvSpPr>
        <p:spPr>
          <a:xfrm xmlns:a="http://schemas.openxmlformats.org/drawingml/2006/main">
            <a:off x="704850" y="4276725"/>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7EE787"/>
                </a:solidFill>
                <a:latin typeface="Arial"/>
                <a:ea typeface="Arial"/>
                <a:cs typeface="Arial"/>
              </a:defRPr>
            </a:pPr>
            <a:r>
              <a:rPr sz="1500" b="1" i="0">
                <a:solidFill>
                  <a:srgbClr val="7EE787"/>
                </a:solidFill>
                <a:latin typeface="Arial"/>
                <a:ea typeface="Arial"/>
                <a:cs typeface="Arial"/>
              </a:rPr>
              <a:t>wc -l sample.fastq</a:t>
            </a:r>
          </a:p>
        </p:txBody>
      </p:sp>
      <p:sp>
        <p:nvSpPr>
          <p:cNvPr id="18" name="">
            <a:extLst xmlns:a="http://schemas.openxmlformats.org/drawingml/2006/main">
              <a:ext uri="{FF2B5EF4-FFF2-40B4-BE49-F238E27FC236}">
                <a16:creationId xmlns:a16="http://schemas.microsoft.com/office/drawing/2014/main" id="{A48984FE-CF3B-4574-B9AD-3C57EF54AAEE}"/>
              </a:ext>
            </a:extLst>
          </p:cNvPr>
          <p:cNvSpPr>
            <a:spLocks xmlns:a="http://schemas.openxmlformats.org/drawingml/2006/main" noGrp="1"/>
          </p:cNvSpPr>
          <p:nvPr/>
        </p:nvSpPr>
        <p:spPr>
          <a:xfrm xmlns:a="http://schemas.openxmlformats.org/drawingml/2006/main">
            <a:off x="3771900" y="42862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0">
                <a:solidFill>
                  <a:srgbClr val="FFFFFF"/>
                </a:solidFill>
                <a:latin typeface="Arial"/>
                <a:ea typeface="Arial"/>
                <a:cs typeface="Arial"/>
              </a:defRPr>
            </a:pPr>
            <a:r>
              <a:rPr sz="1275" b="0" i="0">
                <a:solidFill>
                  <a:srgbClr val="FFFFFF"/>
                </a:solidFill>
                <a:latin typeface="Arial"/>
                <a:ea typeface="Arial"/>
                <a:cs typeface="Arial"/>
              </a:rPr>
              <a:t>Count lines</a:t>
            </a:r>
          </a:p>
        </p:txBody>
      </p:sp>
      <p:sp>
        <p:nvSpPr>
          <p:cNvPr id="19" name="">
            <a:extLst xmlns:a="http://schemas.openxmlformats.org/drawingml/2006/main">
              <a:ext uri="{FF2B5EF4-FFF2-40B4-BE49-F238E27FC236}">
                <a16:creationId xmlns:a16="http://schemas.microsoft.com/office/drawing/2014/main" id="{011AF109-FA1A-4EA8-BAB6-8A9CE726C5E1}"/>
              </a:ext>
            </a:extLst>
          </p:cNvPr>
          <p:cNvSpPr>
            <a:spLocks xmlns:a="http://schemas.openxmlformats.org/drawingml/2006/main" noGrp="1"/>
          </p:cNvSpPr>
          <p:nvPr/>
        </p:nvSpPr>
        <p:spPr>
          <a:xfrm xmlns:a="http://schemas.openxmlformats.org/drawingml/2006/main">
            <a:off x="6305550" y="4095750"/>
            <a:ext cx="5410200" cy="952500"/>
          </a:xfrm>
          <a:prstGeom xmlns:a="http://schemas.openxmlformats.org/drawingml/2006/main" prst="roundRect">
            <a:avLst>
              <a:gd name="adj" fmla="val 8000"/>
            </a:avLst>
          </a:prstGeom>
          <a:solidFill xmlns:a="http://schemas.openxmlformats.org/drawingml/2006/main">
            <a:srgbClr val="101820"/>
          </a:solidFill>
          <a:ln xmlns:a="http://schemas.openxmlformats.org/drawingml/2006/main" w="0">
            <a:solidFill>
              <a:srgbClr val="101820"/>
            </a:solidFill>
            <a:prstDash val="solid"/>
          </a:ln>
        </p:spPr>
      </p:sp>
      <p:sp>
        <p:nvSpPr>
          <p:cNvPr id="20" name="">
            <a:extLst xmlns:a="http://schemas.openxmlformats.org/drawingml/2006/main">
              <a:ext uri="{FF2B5EF4-FFF2-40B4-BE49-F238E27FC236}">
                <a16:creationId xmlns:a16="http://schemas.microsoft.com/office/drawing/2014/main" id="{E20EFC88-58AE-4FDB-96C5-91F6F146317D}"/>
              </a:ext>
            </a:extLst>
          </p:cNvPr>
          <p:cNvSpPr>
            <a:spLocks xmlns:a="http://schemas.openxmlformats.org/drawingml/2006/main" noGrp="1"/>
          </p:cNvSpPr>
          <p:nvPr/>
        </p:nvSpPr>
        <p:spPr>
          <a:xfrm xmlns:a="http://schemas.openxmlformats.org/drawingml/2006/main">
            <a:off x="6515100" y="4276725"/>
            <a:ext cx="293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7EE787"/>
                </a:solidFill>
                <a:latin typeface="Arial"/>
                <a:ea typeface="Arial"/>
                <a:cs typeface="Arial"/>
              </a:defRPr>
            </a:pPr>
            <a:r>
              <a:rPr sz="1500" b="1" i="0">
                <a:solidFill>
                  <a:srgbClr val="7EE787"/>
                </a:solidFill>
                <a:latin typeface="Arial"/>
                <a:ea typeface="Arial"/>
                <a:cs typeface="Arial"/>
              </a:rPr>
              <a:t>grep '^#' sample.vcf</a:t>
            </a:r>
          </a:p>
        </p:txBody>
      </p:sp>
      <p:sp>
        <p:nvSpPr>
          <p:cNvPr id="21" name="">
            <a:extLst xmlns:a="http://schemas.openxmlformats.org/drawingml/2006/main">
              <a:ext uri="{FF2B5EF4-FFF2-40B4-BE49-F238E27FC236}">
                <a16:creationId xmlns:a16="http://schemas.microsoft.com/office/drawing/2014/main" id="{18BED2FC-DDAF-47C6-988A-B0814AB13B85}"/>
              </a:ext>
            </a:extLst>
          </p:cNvPr>
          <p:cNvSpPr>
            <a:spLocks xmlns:a="http://schemas.openxmlformats.org/drawingml/2006/main" noGrp="1"/>
          </p:cNvSpPr>
          <p:nvPr/>
        </p:nvSpPr>
        <p:spPr>
          <a:xfrm xmlns:a="http://schemas.openxmlformats.org/drawingml/2006/main">
            <a:off x="9582150" y="428625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i="0">
                <a:solidFill>
                  <a:srgbClr val="FFFFFF"/>
                </a:solidFill>
                <a:latin typeface="Arial"/>
                <a:ea typeface="Arial"/>
                <a:cs typeface="Arial"/>
              </a:defRPr>
            </a:pPr>
            <a:r>
              <a:rPr sz="1275" b="0" i="0">
                <a:solidFill>
                  <a:srgbClr val="FFFFFF"/>
                </a:solidFill>
                <a:latin typeface="Arial"/>
                <a:ea typeface="Arial"/>
                <a:cs typeface="Arial"/>
              </a:rPr>
              <a:t>Find VCF header lines</a:t>
            </a:r>
          </a:p>
        </p:txBody>
      </p:sp>
      <p:sp>
        <p:nvSpPr>
          <p:cNvPr id="22" name="">
            <a:extLst xmlns:a="http://schemas.openxmlformats.org/drawingml/2006/main">
              <a:ext uri="{FF2B5EF4-FFF2-40B4-BE49-F238E27FC236}">
                <a16:creationId xmlns:a16="http://schemas.microsoft.com/office/drawing/2014/main" id="{8A6046C5-9125-4B12-9929-F8AB1EA9E830}"/>
              </a:ext>
            </a:extLst>
          </p:cNvPr>
          <p:cNvSpPr>
            <a:spLocks xmlns:a="http://schemas.openxmlformats.org/drawingml/2006/main" noGrp="1"/>
          </p:cNvSpPr>
          <p:nvPr/>
        </p:nvSpPr>
        <p:spPr>
          <a:xfrm xmlns:a="http://schemas.openxmlformats.org/drawingml/2006/main">
            <a:off x="2000250" y="56388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2D6CDF"/>
                </a:solidFill>
                <a:latin typeface="Arial"/>
                <a:ea typeface="Arial"/>
                <a:cs typeface="Arial"/>
              </a:defRPr>
            </a:pPr>
            <a:r>
              <a:rPr sz="1350" b="1" i="0">
                <a:solidFill>
                  <a:srgbClr val="2D6CDF"/>
                </a:solidFill>
                <a:latin typeface="Arial"/>
                <a:ea typeface="Arial"/>
                <a:cs typeface="Arial"/>
              </a:rPr>
              <a:t>FASTQ reminder: four lines per record—so line count ÷ 4 estimates record count.</a:t>
            </a:r>
          </a:p>
        </p:txBody>
      </p:sp>
      <p:sp>
        <p:nvSpPr>
          <p:cNvPr id="23" name="">
            <a:extLst xmlns:a="http://schemas.openxmlformats.org/drawingml/2006/main">
              <a:ext uri="{FF2B5EF4-FFF2-40B4-BE49-F238E27FC236}">
                <a16:creationId xmlns:a16="http://schemas.microsoft.com/office/drawing/2014/main" id="{CDC3C429-EDCD-451B-87F6-50A660BB054E}"/>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45</a:t>
            </a:r>
          </a:p>
        </p:txBody>
      </p:sp>
    </p:spTree>
    <p:extLst>
      <p:ext uri="{BB962C8B-B14F-4D97-AF65-F5344CB8AC3E}">
        <p14:creationId xmlns:p14="http://schemas.microsoft.com/office/powerpoint/2010/main" val="74214952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EE57ED-AE6D-4B6E-8D1D-785FFD6697F9}"/>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MAHMOOD: SWITCH TO TERMINAL</a:t>
            </a:r>
          </a:p>
        </p:txBody>
      </p:sp>
      <p:sp>
        <p:nvSpPr>
          <p:cNvPr id="2" name="">
            <a:extLst xmlns:a="http://schemas.openxmlformats.org/drawingml/2006/main">
              <a:ext uri="{FF2B5EF4-FFF2-40B4-BE49-F238E27FC236}">
                <a16:creationId xmlns:a16="http://schemas.microsoft.com/office/drawing/2014/main" id="{06F3DB7B-C7A3-40F6-A71B-41406BA17FED}"/>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live demonstration should tell one continuous story</a:t>
            </a:r>
          </a:p>
        </p:txBody>
      </p:sp>
      <p:cxnSp>
        <p:nvCxnSpPr>
          <p:cNvPr id="38"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D1F3B403-2BA3-46FE-8345-68A512B91832}"/>
              </a:ext>
            </a:extLst>
          </p:cNvPr>
          <p:cNvSpPr>
            <a:spLocks xmlns:a="http://schemas.openxmlformats.org/drawingml/2006/main" noGrp="1"/>
          </p:cNvSpPr>
          <p:nvPr/>
        </p:nvSpPr>
        <p:spPr>
          <a:xfrm xmlns:a="http://schemas.openxmlformats.org/drawingml/2006/main">
            <a:off x="1019175" y="1847850"/>
            <a:ext cx="685800" cy="685800"/>
          </a:xfrm>
          <a:prstGeom xmlns:a="http://schemas.openxmlformats.org/drawingml/2006/main" prst="roundRect">
            <a:avLst>
              <a:gd name="adj" fmla="val 11111"/>
            </a:avLst>
          </a:prstGeom>
          <a:solidFill xmlns:a="http://schemas.openxmlformats.org/drawingml/2006/main">
            <a:srgbClr val="2D6CDF"/>
          </a:solidFill>
          <a:ln xmlns:a="http://schemas.openxmlformats.org/drawingml/2006/main" w="0">
            <a:solidFill>
              <a:srgbClr val="2D6CDF"/>
            </a:solidFill>
            <a:prstDash val="solid"/>
          </a:ln>
        </p:spPr>
      </p:sp>
      <p:sp>
        <p:nvSpPr>
          <p:cNvPr id="5" name="">
            <a:extLst xmlns:a="http://schemas.openxmlformats.org/drawingml/2006/main">
              <a:ext uri="{FF2B5EF4-FFF2-40B4-BE49-F238E27FC236}">
                <a16:creationId xmlns:a16="http://schemas.microsoft.com/office/drawing/2014/main" id="{BE3A8685-AEE0-47A4-9F27-E9AB479A952B}"/>
              </a:ext>
            </a:extLst>
          </p:cNvPr>
          <p:cNvSpPr>
            <a:spLocks xmlns:a="http://schemas.openxmlformats.org/drawingml/2006/main" noGrp="1"/>
          </p:cNvSpPr>
          <p:nvPr/>
        </p:nvSpPr>
        <p:spPr>
          <a:xfrm xmlns:a="http://schemas.openxmlformats.org/drawingml/2006/main">
            <a:off x="1019175" y="1857375"/>
            <a:ext cx="68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14F1F27F-3A61-4D3D-8BA8-FBEBD838D453}"/>
              </a:ext>
            </a:extLst>
          </p:cNvPr>
          <p:cNvSpPr>
            <a:spLocks xmlns:a="http://schemas.openxmlformats.org/drawingml/2006/main" noGrp="1"/>
          </p:cNvSpPr>
          <p:nvPr/>
        </p:nvSpPr>
        <p:spPr>
          <a:xfrm xmlns:a="http://schemas.openxmlformats.org/drawingml/2006/main">
            <a:off x="495300" y="28575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2D6CDF"/>
                </a:solidFill>
                <a:latin typeface="Arial"/>
                <a:ea typeface="Arial"/>
                <a:cs typeface="Arial"/>
              </a:defRPr>
            </a:pPr>
            <a:r>
              <a:rPr sz="1350" b="1" i="0">
                <a:solidFill>
                  <a:srgbClr val="2D6CDF"/>
                </a:solidFill>
                <a:latin typeface="Arial"/>
                <a:ea typeface="Arial"/>
                <a:cs typeface="Arial"/>
              </a:rPr>
              <a:t>Orient</a:t>
            </a:r>
          </a:p>
        </p:txBody>
      </p:sp>
      <p:sp>
        <p:nvSpPr>
          <p:cNvPr id="7" name="">
            <a:extLst xmlns:a="http://schemas.openxmlformats.org/drawingml/2006/main">
              <a:ext uri="{FF2B5EF4-FFF2-40B4-BE49-F238E27FC236}">
                <a16:creationId xmlns:a16="http://schemas.microsoft.com/office/drawing/2014/main" id="{898D1B78-E1B6-46AE-A47F-447B9157AE72}"/>
              </a:ext>
            </a:extLst>
          </p:cNvPr>
          <p:cNvSpPr>
            <a:spLocks xmlns:a="http://schemas.openxmlformats.org/drawingml/2006/main" noGrp="1"/>
          </p:cNvSpPr>
          <p:nvPr/>
        </p:nvSpPr>
        <p:spPr>
          <a:xfrm xmlns:a="http://schemas.openxmlformats.org/drawingml/2006/main">
            <a:off x="495300" y="33337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36273"/>
                </a:solidFill>
                <a:latin typeface="Arial"/>
                <a:ea typeface="Arial"/>
                <a:cs typeface="Arial"/>
              </a:defRPr>
            </a:pPr>
            <a:r>
              <a:rPr sz="1200" b="0" i="0">
                <a:solidFill>
                  <a:srgbClr val="536273"/>
                </a:solidFill>
                <a:latin typeface="Arial"/>
                <a:ea typeface="Arial"/>
                <a:cs typeface="Arial"/>
              </a:rPr>
              <a:t>pwd • ls -lh</a:t>
            </a:r>
          </a:p>
        </p:txBody>
      </p:sp>
      <p:sp>
        <p:nvSpPr>
          <p:cNvPr id="8" name="">
            <a:extLst xmlns:a="http://schemas.openxmlformats.org/drawingml/2006/main">
              <a:ext uri="{FF2B5EF4-FFF2-40B4-BE49-F238E27FC236}">
                <a16:creationId xmlns:a16="http://schemas.microsoft.com/office/drawing/2014/main" id="{639E8194-FBB0-4964-9A38-6D9990920692}"/>
              </a:ext>
            </a:extLst>
          </p:cNvPr>
          <p:cNvSpPr>
            <a:spLocks xmlns:a="http://schemas.openxmlformats.org/drawingml/2006/main" noGrp="1"/>
          </p:cNvSpPr>
          <p:nvPr/>
        </p:nvSpPr>
        <p:spPr>
          <a:xfrm xmlns:a="http://schemas.openxmlformats.org/drawingml/2006/main">
            <a:off x="2152650" y="2038350"/>
            <a:ext cx="32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D6DEE7"/>
                </a:solidFill>
                <a:latin typeface="Arial"/>
                <a:ea typeface="Arial"/>
                <a:cs typeface="Arial"/>
              </a:defRPr>
            </a:pPr>
            <a:r>
              <a:rPr sz="2550" b="1" i="0">
                <a:solidFill>
                  <a:srgbClr val="D6DEE7"/>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8393DAAB-5214-4A61-AF82-2D8D233BE201}"/>
              </a:ext>
            </a:extLst>
          </p:cNvPr>
          <p:cNvSpPr>
            <a:spLocks xmlns:a="http://schemas.openxmlformats.org/drawingml/2006/main" noGrp="1"/>
          </p:cNvSpPr>
          <p:nvPr/>
        </p:nvSpPr>
        <p:spPr>
          <a:xfrm xmlns:a="http://schemas.openxmlformats.org/drawingml/2006/main">
            <a:off x="2905125" y="1847850"/>
            <a:ext cx="685800" cy="685800"/>
          </a:xfrm>
          <a:prstGeom xmlns:a="http://schemas.openxmlformats.org/drawingml/2006/main" prst="roundRect">
            <a:avLst>
              <a:gd name="adj" fmla="val 11111"/>
            </a:avLst>
          </a:prstGeom>
          <a:solidFill xmlns:a="http://schemas.openxmlformats.org/drawingml/2006/main">
            <a:srgbClr val="069C9C"/>
          </a:solidFill>
          <a:ln xmlns:a="http://schemas.openxmlformats.org/drawingml/2006/main" w="0">
            <a:solidFill>
              <a:srgbClr val="069C9C"/>
            </a:solidFill>
            <a:prstDash val="solid"/>
          </a:ln>
        </p:spPr>
      </p:sp>
      <p:sp>
        <p:nvSpPr>
          <p:cNvPr id="10" name="">
            <a:extLst xmlns:a="http://schemas.openxmlformats.org/drawingml/2006/main">
              <a:ext uri="{FF2B5EF4-FFF2-40B4-BE49-F238E27FC236}">
                <a16:creationId xmlns:a16="http://schemas.microsoft.com/office/drawing/2014/main" id="{AADC96D8-2382-4A32-BE0E-F40F8BB99FB5}"/>
              </a:ext>
            </a:extLst>
          </p:cNvPr>
          <p:cNvSpPr>
            <a:spLocks xmlns:a="http://schemas.openxmlformats.org/drawingml/2006/main" noGrp="1"/>
          </p:cNvSpPr>
          <p:nvPr/>
        </p:nvSpPr>
        <p:spPr>
          <a:xfrm xmlns:a="http://schemas.openxmlformats.org/drawingml/2006/main">
            <a:off x="2905125" y="1857375"/>
            <a:ext cx="68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99A76F54-ADF7-42B8-875D-67842B23AC49}"/>
              </a:ext>
            </a:extLst>
          </p:cNvPr>
          <p:cNvSpPr>
            <a:spLocks xmlns:a="http://schemas.openxmlformats.org/drawingml/2006/main" noGrp="1"/>
          </p:cNvSpPr>
          <p:nvPr/>
        </p:nvSpPr>
        <p:spPr>
          <a:xfrm xmlns:a="http://schemas.openxmlformats.org/drawingml/2006/main">
            <a:off x="2381250" y="28575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069C9C"/>
                </a:solidFill>
                <a:latin typeface="Arial"/>
                <a:ea typeface="Arial"/>
                <a:cs typeface="Arial"/>
              </a:defRPr>
            </a:pPr>
            <a:r>
              <a:rPr sz="1350" b="1" i="0">
                <a:solidFill>
                  <a:srgbClr val="069C9C"/>
                </a:solidFill>
                <a:latin typeface="Arial"/>
                <a:ea typeface="Arial"/>
                <a:cs typeface="Arial"/>
              </a:rPr>
              <a:t>Inspect FASTQ</a:t>
            </a:r>
          </a:p>
        </p:txBody>
      </p:sp>
      <p:sp>
        <p:nvSpPr>
          <p:cNvPr id="12" name="">
            <a:extLst xmlns:a="http://schemas.openxmlformats.org/drawingml/2006/main">
              <a:ext uri="{FF2B5EF4-FFF2-40B4-BE49-F238E27FC236}">
                <a16:creationId xmlns:a16="http://schemas.microsoft.com/office/drawing/2014/main" id="{A4EAB91A-AE34-4E2A-8AD5-576A467E65B6}"/>
              </a:ext>
            </a:extLst>
          </p:cNvPr>
          <p:cNvSpPr>
            <a:spLocks xmlns:a="http://schemas.openxmlformats.org/drawingml/2006/main" noGrp="1"/>
          </p:cNvSpPr>
          <p:nvPr/>
        </p:nvSpPr>
        <p:spPr>
          <a:xfrm xmlns:a="http://schemas.openxmlformats.org/drawingml/2006/main">
            <a:off x="2381250" y="33337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36273"/>
                </a:solidFill>
                <a:latin typeface="Arial"/>
                <a:ea typeface="Arial"/>
                <a:cs typeface="Arial"/>
              </a:defRPr>
            </a:pPr>
            <a:r>
              <a:rPr sz="1200" b="0" i="0">
                <a:solidFill>
                  <a:srgbClr val="536273"/>
                </a:solidFill>
                <a:latin typeface="Arial"/>
                <a:ea typeface="Arial"/>
                <a:cs typeface="Arial"/>
              </a:rPr>
              <a:t>head • count records</a:t>
            </a:r>
          </a:p>
        </p:txBody>
      </p:sp>
      <p:sp>
        <p:nvSpPr>
          <p:cNvPr id="13" name="">
            <a:extLst xmlns:a="http://schemas.openxmlformats.org/drawingml/2006/main">
              <a:ext uri="{FF2B5EF4-FFF2-40B4-BE49-F238E27FC236}">
                <a16:creationId xmlns:a16="http://schemas.microsoft.com/office/drawing/2014/main" id="{5887A5E1-5103-4CFE-8684-B8799E24C363}"/>
              </a:ext>
            </a:extLst>
          </p:cNvPr>
          <p:cNvSpPr>
            <a:spLocks xmlns:a="http://schemas.openxmlformats.org/drawingml/2006/main" noGrp="1"/>
          </p:cNvSpPr>
          <p:nvPr/>
        </p:nvSpPr>
        <p:spPr>
          <a:xfrm xmlns:a="http://schemas.openxmlformats.org/drawingml/2006/main">
            <a:off x="4038600" y="2038350"/>
            <a:ext cx="32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D6DEE7"/>
                </a:solidFill>
                <a:latin typeface="Arial"/>
                <a:ea typeface="Arial"/>
                <a:cs typeface="Arial"/>
              </a:defRPr>
            </a:pPr>
            <a:r>
              <a:rPr sz="2550" b="1" i="0">
                <a:solidFill>
                  <a:srgbClr val="D6DEE7"/>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6A875E2F-0581-43F0-A086-8C7159B5163F}"/>
              </a:ext>
            </a:extLst>
          </p:cNvPr>
          <p:cNvSpPr>
            <a:spLocks xmlns:a="http://schemas.openxmlformats.org/drawingml/2006/main" noGrp="1"/>
          </p:cNvSpPr>
          <p:nvPr/>
        </p:nvSpPr>
        <p:spPr>
          <a:xfrm xmlns:a="http://schemas.openxmlformats.org/drawingml/2006/main">
            <a:off x="4791075" y="1847850"/>
            <a:ext cx="685800" cy="685800"/>
          </a:xfrm>
          <a:prstGeom xmlns:a="http://schemas.openxmlformats.org/drawingml/2006/main" prst="roundRect">
            <a:avLst>
              <a:gd name="adj" fmla="val 11111"/>
            </a:avLst>
          </a:prstGeom>
          <a:solidFill xmlns:a="http://schemas.openxmlformats.org/drawingml/2006/main">
            <a:srgbClr val="E7A62F"/>
          </a:solidFill>
          <a:ln xmlns:a="http://schemas.openxmlformats.org/drawingml/2006/main" w="0">
            <a:solidFill>
              <a:srgbClr val="E7A62F"/>
            </a:solidFill>
            <a:prstDash val="solid"/>
          </a:ln>
        </p:spPr>
      </p:sp>
      <p:sp>
        <p:nvSpPr>
          <p:cNvPr id="15" name="">
            <a:extLst xmlns:a="http://schemas.openxmlformats.org/drawingml/2006/main">
              <a:ext uri="{FF2B5EF4-FFF2-40B4-BE49-F238E27FC236}">
                <a16:creationId xmlns:a16="http://schemas.microsoft.com/office/drawing/2014/main" id="{7F71514D-0BCC-4498-9CBB-7F572AFF1924}"/>
              </a:ext>
            </a:extLst>
          </p:cNvPr>
          <p:cNvSpPr>
            <a:spLocks xmlns:a="http://schemas.openxmlformats.org/drawingml/2006/main" noGrp="1"/>
          </p:cNvSpPr>
          <p:nvPr/>
        </p:nvSpPr>
        <p:spPr>
          <a:xfrm xmlns:a="http://schemas.openxmlformats.org/drawingml/2006/main">
            <a:off x="4791075" y="1857375"/>
            <a:ext cx="68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6B1AECC0-A94E-419A-9EB7-619A61F30065}"/>
              </a:ext>
            </a:extLst>
          </p:cNvPr>
          <p:cNvSpPr>
            <a:spLocks xmlns:a="http://schemas.openxmlformats.org/drawingml/2006/main" noGrp="1"/>
          </p:cNvSpPr>
          <p:nvPr/>
        </p:nvSpPr>
        <p:spPr>
          <a:xfrm xmlns:a="http://schemas.openxmlformats.org/drawingml/2006/main">
            <a:off x="4267200" y="28575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E7A62F"/>
                </a:solidFill>
                <a:latin typeface="Arial"/>
                <a:ea typeface="Arial"/>
                <a:cs typeface="Arial"/>
              </a:defRPr>
            </a:pPr>
            <a:r>
              <a:rPr sz="1350" b="1" i="0">
                <a:solidFill>
                  <a:srgbClr val="E7A62F"/>
                </a:solidFill>
                <a:latin typeface="Arial"/>
                <a:ea typeface="Arial"/>
                <a:cs typeface="Arial"/>
              </a:rPr>
              <a:t>Show checkpoints</a:t>
            </a:r>
          </a:p>
        </p:txBody>
      </p:sp>
      <p:sp>
        <p:nvSpPr>
          <p:cNvPr id="17" name="">
            <a:extLst xmlns:a="http://schemas.openxmlformats.org/drawingml/2006/main">
              <a:ext uri="{FF2B5EF4-FFF2-40B4-BE49-F238E27FC236}">
                <a16:creationId xmlns:a16="http://schemas.microsoft.com/office/drawing/2014/main" id="{1CB15FFB-48CD-40D9-8E04-A53947406FD2}"/>
              </a:ext>
            </a:extLst>
          </p:cNvPr>
          <p:cNvSpPr>
            <a:spLocks xmlns:a="http://schemas.openxmlformats.org/drawingml/2006/main" noGrp="1"/>
          </p:cNvSpPr>
          <p:nvPr/>
        </p:nvSpPr>
        <p:spPr>
          <a:xfrm xmlns:a="http://schemas.openxmlformats.org/drawingml/2006/main">
            <a:off x="4267200" y="33337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36273"/>
                </a:solidFill>
                <a:latin typeface="Arial"/>
                <a:ea typeface="Arial"/>
                <a:cs typeface="Arial"/>
              </a:defRPr>
            </a:pPr>
            <a:r>
              <a:rPr sz="1200" b="0" i="0">
                <a:solidFill>
                  <a:srgbClr val="536273"/>
                </a:solidFill>
                <a:latin typeface="Arial"/>
                <a:ea typeface="Arial"/>
                <a:cs typeface="Arial"/>
              </a:rPr>
              <a:t>FASTQ → BAM → VCF</a:t>
            </a:r>
          </a:p>
        </p:txBody>
      </p:sp>
      <p:sp>
        <p:nvSpPr>
          <p:cNvPr id="18" name="">
            <a:extLst xmlns:a="http://schemas.openxmlformats.org/drawingml/2006/main">
              <a:ext uri="{FF2B5EF4-FFF2-40B4-BE49-F238E27FC236}">
                <a16:creationId xmlns:a16="http://schemas.microsoft.com/office/drawing/2014/main" id="{FFEE60BE-FB35-40BB-A597-4D1121738F12}"/>
              </a:ext>
            </a:extLst>
          </p:cNvPr>
          <p:cNvSpPr>
            <a:spLocks xmlns:a="http://schemas.openxmlformats.org/drawingml/2006/main" noGrp="1"/>
          </p:cNvSpPr>
          <p:nvPr/>
        </p:nvSpPr>
        <p:spPr>
          <a:xfrm xmlns:a="http://schemas.openxmlformats.org/drawingml/2006/main">
            <a:off x="5924550" y="2038350"/>
            <a:ext cx="32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D6DEE7"/>
                </a:solidFill>
                <a:latin typeface="Arial"/>
                <a:ea typeface="Arial"/>
                <a:cs typeface="Arial"/>
              </a:defRPr>
            </a:pPr>
            <a:r>
              <a:rPr sz="2550" b="1" i="0">
                <a:solidFill>
                  <a:srgbClr val="D6DEE7"/>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7008B802-75E4-4C08-A3C3-D6BDB994D21D}"/>
              </a:ext>
            </a:extLst>
          </p:cNvPr>
          <p:cNvSpPr>
            <a:spLocks xmlns:a="http://schemas.openxmlformats.org/drawingml/2006/main" noGrp="1"/>
          </p:cNvSpPr>
          <p:nvPr/>
        </p:nvSpPr>
        <p:spPr>
          <a:xfrm xmlns:a="http://schemas.openxmlformats.org/drawingml/2006/main">
            <a:off x="6677025" y="1847850"/>
            <a:ext cx="685800" cy="685800"/>
          </a:xfrm>
          <a:prstGeom xmlns:a="http://schemas.openxmlformats.org/drawingml/2006/main" prst="roundRect">
            <a:avLst>
              <a:gd name="adj" fmla="val 11111"/>
            </a:avLst>
          </a:prstGeom>
          <a:solidFill xmlns:a="http://schemas.openxmlformats.org/drawingml/2006/main">
            <a:srgbClr val="7756C2"/>
          </a:solidFill>
          <a:ln xmlns:a="http://schemas.openxmlformats.org/drawingml/2006/main" w="0">
            <a:solidFill>
              <a:srgbClr val="7756C2"/>
            </a:solidFill>
            <a:prstDash val="solid"/>
          </a:ln>
        </p:spPr>
      </p:sp>
      <p:sp>
        <p:nvSpPr>
          <p:cNvPr id="20" name="">
            <a:extLst xmlns:a="http://schemas.openxmlformats.org/drawingml/2006/main">
              <a:ext uri="{FF2B5EF4-FFF2-40B4-BE49-F238E27FC236}">
                <a16:creationId xmlns:a16="http://schemas.microsoft.com/office/drawing/2014/main" id="{BC91F83B-1649-492C-8F9A-20A72BADD7E0}"/>
              </a:ext>
            </a:extLst>
          </p:cNvPr>
          <p:cNvSpPr>
            <a:spLocks xmlns:a="http://schemas.openxmlformats.org/drawingml/2006/main" noGrp="1"/>
          </p:cNvSpPr>
          <p:nvPr/>
        </p:nvSpPr>
        <p:spPr>
          <a:xfrm xmlns:a="http://schemas.openxmlformats.org/drawingml/2006/main">
            <a:off x="6677025" y="1857375"/>
            <a:ext cx="68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137A4ACE-CB54-4B0F-8A1F-819DC0D8211C}"/>
              </a:ext>
            </a:extLst>
          </p:cNvPr>
          <p:cNvSpPr>
            <a:spLocks xmlns:a="http://schemas.openxmlformats.org/drawingml/2006/main" noGrp="1"/>
          </p:cNvSpPr>
          <p:nvPr/>
        </p:nvSpPr>
        <p:spPr>
          <a:xfrm xmlns:a="http://schemas.openxmlformats.org/drawingml/2006/main">
            <a:off x="6153150" y="28575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7756C2"/>
                </a:solidFill>
                <a:latin typeface="Arial"/>
                <a:ea typeface="Arial"/>
                <a:cs typeface="Arial"/>
              </a:defRPr>
            </a:pPr>
            <a:r>
              <a:rPr sz="1350" b="1" i="0">
                <a:solidFill>
                  <a:srgbClr val="7756C2"/>
                </a:solidFill>
                <a:latin typeface="Arial"/>
                <a:ea typeface="Arial"/>
                <a:cs typeface="Arial"/>
              </a:rPr>
              <a:t>Inspect VCF</a:t>
            </a:r>
          </a:p>
        </p:txBody>
      </p:sp>
      <p:sp>
        <p:nvSpPr>
          <p:cNvPr id="22" name="">
            <a:extLst xmlns:a="http://schemas.openxmlformats.org/drawingml/2006/main">
              <a:ext uri="{FF2B5EF4-FFF2-40B4-BE49-F238E27FC236}">
                <a16:creationId xmlns:a16="http://schemas.microsoft.com/office/drawing/2014/main" id="{CC0D5A86-344B-412F-858E-29316906127E}"/>
              </a:ext>
            </a:extLst>
          </p:cNvPr>
          <p:cNvSpPr>
            <a:spLocks xmlns:a="http://schemas.openxmlformats.org/drawingml/2006/main" noGrp="1"/>
          </p:cNvSpPr>
          <p:nvPr/>
        </p:nvSpPr>
        <p:spPr>
          <a:xfrm xmlns:a="http://schemas.openxmlformats.org/drawingml/2006/main">
            <a:off x="6153150" y="33337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36273"/>
                </a:solidFill>
                <a:latin typeface="Arial"/>
                <a:ea typeface="Arial"/>
                <a:cs typeface="Arial"/>
              </a:defRPr>
            </a:pPr>
            <a:r>
              <a:rPr sz="1200" b="0" i="0">
                <a:solidFill>
                  <a:srgbClr val="536273"/>
                </a:solidFill>
                <a:latin typeface="Arial"/>
                <a:ea typeface="Arial"/>
                <a:cs typeface="Arial"/>
              </a:rPr>
              <a:t>header + one variant row</a:t>
            </a:r>
          </a:p>
        </p:txBody>
      </p:sp>
      <p:sp>
        <p:nvSpPr>
          <p:cNvPr id="23" name="">
            <a:extLst xmlns:a="http://schemas.openxmlformats.org/drawingml/2006/main">
              <a:ext uri="{FF2B5EF4-FFF2-40B4-BE49-F238E27FC236}">
                <a16:creationId xmlns:a16="http://schemas.microsoft.com/office/drawing/2014/main" id="{6FBBAD97-7DA6-4935-95EC-D9D64568AB15}"/>
              </a:ext>
            </a:extLst>
          </p:cNvPr>
          <p:cNvSpPr>
            <a:spLocks xmlns:a="http://schemas.openxmlformats.org/drawingml/2006/main" noGrp="1"/>
          </p:cNvSpPr>
          <p:nvPr/>
        </p:nvSpPr>
        <p:spPr>
          <a:xfrm xmlns:a="http://schemas.openxmlformats.org/drawingml/2006/main">
            <a:off x="7810500" y="2038350"/>
            <a:ext cx="32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D6DEE7"/>
                </a:solidFill>
                <a:latin typeface="Arial"/>
                <a:ea typeface="Arial"/>
                <a:cs typeface="Arial"/>
              </a:defRPr>
            </a:pPr>
            <a:r>
              <a:rPr sz="2550" b="1" i="0">
                <a:solidFill>
                  <a:srgbClr val="D6DEE7"/>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82C19365-A5D4-4C50-95D5-C251C3E5D8B0}"/>
              </a:ext>
            </a:extLst>
          </p:cNvPr>
          <p:cNvSpPr>
            <a:spLocks xmlns:a="http://schemas.openxmlformats.org/drawingml/2006/main" noGrp="1"/>
          </p:cNvSpPr>
          <p:nvPr/>
        </p:nvSpPr>
        <p:spPr>
          <a:xfrm xmlns:a="http://schemas.openxmlformats.org/drawingml/2006/main">
            <a:off x="8562975" y="1847850"/>
            <a:ext cx="685800" cy="685800"/>
          </a:xfrm>
          <a:prstGeom xmlns:a="http://schemas.openxmlformats.org/drawingml/2006/main" prst="roundRect">
            <a:avLst>
              <a:gd name="adj" fmla="val 11111"/>
            </a:avLst>
          </a:prstGeom>
          <a:solidFill xmlns:a="http://schemas.openxmlformats.org/drawingml/2006/main">
            <a:srgbClr val="C94E4E"/>
          </a:solidFill>
          <a:ln xmlns:a="http://schemas.openxmlformats.org/drawingml/2006/main" w="0">
            <a:solidFill>
              <a:srgbClr val="C94E4E"/>
            </a:solidFill>
            <a:prstDash val="solid"/>
          </a:ln>
        </p:spPr>
      </p:sp>
      <p:sp>
        <p:nvSpPr>
          <p:cNvPr id="25" name="">
            <a:extLst xmlns:a="http://schemas.openxmlformats.org/drawingml/2006/main">
              <a:ext uri="{FF2B5EF4-FFF2-40B4-BE49-F238E27FC236}">
                <a16:creationId xmlns:a16="http://schemas.microsoft.com/office/drawing/2014/main" id="{7CEA15C1-4119-446F-A9AF-331A41092062}"/>
              </a:ext>
            </a:extLst>
          </p:cNvPr>
          <p:cNvSpPr>
            <a:spLocks xmlns:a="http://schemas.openxmlformats.org/drawingml/2006/main" noGrp="1"/>
          </p:cNvSpPr>
          <p:nvPr/>
        </p:nvSpPr>
        <p:spPr>
          <a:xfrm xmlns:a="http://schemas.openxmlformats.org/drawingml/2006/main">
            <a:off x="8562975" y="1857375"/>
            <a:ext cx="68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CF663D63-56A7-47FF-9747-3835AA1F25B8}"/>
              </a:ext>
            </a:extLst>
          </p:cNvPr>
          <p:cNvSpPr>
            <a:spLocks xmlns:a="http://schemas.openxmlformats.org/drawingml/2006/main" noGrp="1"/>
          </p:cNvSpPr>
          <p:nvPr/>
        </p:nvSpPr>
        <p:spPr>
          <a:xfrm xmlns:a="http://schemas.openxmlformats.org/drawingml/2006/main">
            <a:off x="8039100" y="28575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C94E4E"/>
                </a:solidFill>
                <a:latin typeface="Arial"/>
                <a:ea typeface="Arial"/>
                <a:cs typeface="Arial"/>
              </a:defRPr>
            </a:pPr>
            <a:r>
              <a:rPr sz="1350" b="1" i="0">
                <a:solidFill>
                  <a:srgbClr val="C94E4E"/>
                </a:solidFill>
                <a:latin typeface="Arial"/>
                <a:ea typeface="Arial"/>
                <a:cs typeface="Arial"/>
              </a:rPr>
              <a:t>Apply one filter</a:t>
            </a:r>
          </a:p>
        </p:txBody>
      </p:sp>
      <p:sp>
        <p:nvSpPr>
          <p:cNvPr id="27" name="">
            <a:extLst xmlns:a="http://schemas.openxmlformats.org/drawingml/2006/main">
              <a:ext uri="{FF2B5EF4-FFF2-40B4-BE49-F238E27FC236}">
                <a16:creationId xmlns:a16="http://schemas.microsoft.com/office/drawing/2014/main" id="{1C7F3E4B-C332-4696-AE93-3F63C10CFAC8}"/>
              </a:ext>
            </a:extLst>
          </p:cNvPr>
          <p:cNvSpPr>
            <a:spLocks xmlns:a="http://schemas.openxmlformats.org/drawingml/2006/main" noGrp="1"/>
          </p:cNvSpPr>
          <p:nvPr/>
        </p:nvSpPr>
        <p:spPr>
          <a:xfrm xmlns:a="http://schemas.openxmlformats.org/drawingml/2006/main">
            <a:off x="8039100" y="33337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36273"/>
                </a:solidFill>
                <a:latin typeface="Arial"/>
                <a:ea typeface="Arial"/>
                <a:cs typeface="Arial"/>
              </a:defRPr>
            </a:pPr>
            <a:r>
              <a:rPr sz="1200" b="0" i="0">
                <a:solidFill>
                  <a:srgbClr val="536273"/>
                </a:solidFill>
                <a:latin typeface="Arial"/>
                <a:ea typeface="Arial"/>
                <a:cs typeface="Arial"/>
              </a:rPr>
              <a:t>quality or depth</a:t>
            </a:r>
          </a:p>
        </p:txBody>
      </p:sp>
      <p:sp>
        <p:nvSpPr>
          <p:cNvPr id="28" name="">
            <a:extLst xmlns:a="http://schemas.openxmlformats.org/drawingml/2006/main">
              <a:ext uri="{FF2B5EF4-FFF2-40B4-BE49-F238E27FC236}">
                <a16:creationId xmlns:a16="http://schemas.microsoft.com/office/drawing/2014/main" id="{1D90F7E5-E7C9-45FC-AC30-198C73A2FF4F}"/>
              </a:ext>
            </a:extLst>
          </p:cNvPr>
          <p:cNvSpPr>
            <a:spLocks xmlns:a="http://schemas.openxmlformats.org/drawingml/2006/main" noGrp="1"/>
          </p:cNvSpPr>
          <p:nvPr/>
        </p:nvSpPr>
        <p:spPr>
          <a:xfrm xmlns:a="http://schemas.openxmlformats.org/drawingml/2006/main">
            <a:off x="9696450" y="2038350"/>
            <a:ext cx="32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D6DEE7"/>
                </a:solidFill>
                <a:latin typeface="Arial"/>
                <a:ea typeface="Arial"/>
                <a:cs typeface="Arial"/>
              </a:defRPr>
            </a:pPr>
            <a:r>
              <a:rPr sz="2550" b="1" i="0">
                <a:solidFill>
                  <a:srgbClr val="D6DEE7"/>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DB8A9D72-B2C0-4268-A8F4-2E69C2A70839}"/>
              </a:ext>
            </a:extLst>
          </p:cNvPr>
          <p:cNvSpPr>
            <a:spLocks xmlns:a="http://schemas.openxmlformats.org/drawingml/2006/main" noGrp="1"/>
          </p:cNvSpPr>
          <p:nvPr/>
        </p:nvSpPr>
        <p:spPr>
          <a:xfrm xmlns:a="http://schemas.openxmlformats.org/drawingml/2006/main">
            <a:off x="10448925" y="1847850"/>
            <a:ext cx="685800" cy="685800"/>
          </a:xfrm>
          <a:prstGeom xmlns:a="http://schemas.openxmlformats.org/drawingml/2006/main" prst="roundRect">
            <a:avLst>
              <a:gd name="adj" fmla="val 11111"/>
            </a:avLst>
          </a:prstGeom>
          <a:solidFill xmlns:a="http://schemas.openxmlformats.org/drawingml/2006/main">
            <a:srgbClr val="359B64"/>
          </a:solidFill>
          <a:ln xmlns:a="http://schemas.openxmlformats.org/drawingml/2006/main" w="0">
            <a:solidFill>
              <a:srgbClr val="359B64"/>
            </a:solidFill>
            <a:prstDash val="solid"/>
          </a:ln>
        </p:spPr>
      </p:sp>
      <p:sp>
        <p:nvSpPr>
          <p:cNvPr id="30" name="">
            <a:extLst xmlns:a="http://schemas.openxmlformats.org/drawingml/2006/main">
              <a:ext uri="{FF2B5EF4-FFF2-40B4-BE49-F238E27FC236}">
                <a16:creationId xmlns:a16="http://schemas.microsoft.com/office/drawing/2014/main" id="{D12F392C-4383-4239-9E89-B5272636F08B}"/>
              </a:ext>
            </a:extLst>
          </p:cNvPr>
          <p:cNvSpPr>
            <a:spLocks xmlns:a="http://schemas.openxmlformats.org/drawingml/2006/main" noGrp="1"/>
          </p:cNvSpPr>
          <p:nvPr/>
        </p:nvSpPr>
        <p:spPr>
          <a:xfrm xmlns:a="http://schemas.openxmlformats.org/drawingml/2006/main">
            <a:off x="10448925" y="1857375"/>
            <a:ext cx="68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i="0">
                <a:solidFill>
                  <a:srgbClr val="FFFFFF"/>
                </a:solidFill>
                <a:latin typeface="Arial"/>
                <a:ea typeface="Arial"/>
                <a:cs typeface="Arial"/>
              </a:defRPr>
            </a:pPr>
            <a:r>
              <a:rPr sz="1875" b="1" i="0">
                <a:solidFill>
                  <a:srgbClr val="FFFFFF"/>
                </a:solidFill>
                <a:latin typeface="Arial"/>
                <a:ea typeface="Arial"/>
                <a:cs typeface="Arial"/>
              </a:rPr>
              <a:t>6</a:t>
            </a:r>
          </a:p>
        </p:txBody>
      </p:sp>
      <p:sp>
        <p:nvSpPr>
          <p:cNvPr id="31" name="">
            <a:extLst xmlns:a="http://schemas.openxmlformats.org/drawingml/2006/main">
              <a:ext uri="{FF2B5EF4-FFF2-40B4-BE49-F238E27FC236}">
                <a16:creationId xmlns:a16="http://schemas.microsoft.com/office/drawing/2014/main" id="{D7A7ABC0-F2F8-4057-93A2-1D4A11D336CA}"/>
              </a:ext>
            </a:extLst>
          </p:cNvPr>
          <p:cNvSpPr>
            <a:spLocks xmlns:a="http://schemas.openxmlformats.org/drawingml/2006/main" noGrp="1"/>
          </p:cNvSpPr>
          <p:nvPr/>
        </p:nvSpPr>
        <p:spPr>
          <a:xfrm xmlns:a="http://schemas.openxmlformats.org/drawingml/2006/main">
            <a:off x="9925050" y="28575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59B64"/>
                </a:solidFill>
                <a:latin typeface="Arial"/>
                <a:ea typeface="Arial"/>
                <a:cs typeface="Arial"/>
              </a:defRPr>
            </a:pPr>
            <a:r>
              <a:rPr sz="1350" b="1" i="0">
                <a:solidFill>
                  <a:srgbClr val="359B64"/>
                </a:solidFill>
                <a:latin typeface="Arial"/>
                <a:ea typeface="Arial"/>
                <a:cs typeface="Arial"/>
              </a:rPr>
              <a:t>Connect back</a:t>
            </a:r>
          </a:p>
        </p:txBody>
      </p:sp>
      <p:sp>
        <p:nvSpPr>
          <p:cNvPr id="32" name="">
            <a:extLst xmlns:a="http://schemas.openxmlformats.org/drawingml/2006/main">
              <a:ext uri="{FF2B5EF4-FFF2-40B4-BE49-F238E27FC236}">
                <a16:creationId xmlns:a16="http://schemas.microsoft.com/office/drawing/2014/main" id="{7A8A6C57-371F-4E53-9900-83A85644CEB9}"/>
              </a:ext>
            </a:extLst>
          </p:cNvPr>
          <p:cNvSpPr>
            <a:spLocks xmlns:a="http://schemas.openxmlformats.org/drawingml/2006/main" noGrp="1"/>
          </p:cNvSpPr>
          <p:nvPr/>
        </p:nvSpPr>
        <p:spPr>
          <a:xfrm xmlns:a="http://schemas.openxmlformats.org/drawingml/2006/main">
            <a:off x="9925050" y="333375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i="0">
                <a:solidFill>
                  <a:srgbClr val="536273"/>
                </a:solidFill>
                <a:latin typeface="Arial"/>
                <a:ea typeface="Arial"/>
                <a:cs typeface="Arial"/>
              </a:defRPr>
            </a:pPr>
            <a:r>
              <a:rPr sz="1200" b="0" i="0">
                <a:solidFill>
                  <a:srgbClr val="536273"/>
                </a:solidFill>
                <a:latin typeface="Arial"/>
                <a:ea typeface="Arial"/>
                <a:cs typeface="Arial"/>
              </a:rPr>
              <a:t>candidate ≠ classification</a:t>
            </a:r>
          </a:p>
        </p:txBody>
      </p:sp>
      <p:sp>
        <p:nvSpPr>
          <p:cNvPr id="33" name="">
            <a:extLst xmlns:a="http://schemas.openxmlformats.org/drawingml/2006/main">
              <a:ext uri="{FF2B5EF4-FFF2-40B4-BE49-F238E27FC236}">
                <a16:creationId xmlns:a16="http://schemas.microsoft.com/office/drawing/2014/main" id="{85EB3D0B-E3E5-4C4D-8CAE-1D76B88C3B09}"/>
              </a:ext>
            </a:extLst>
          </p:cNvPr>
          <p:cNvSpPr>
            <a:spLocks xmlns:a="http://schemas.openxmlformats.org/drawingml/2006/main" noGrp="1"/>
          </p:cNvSpPr>
          <p:nvPr/>
        </p:nvSpPr>
        <p:spPr>
          <a:xfrm xmlns:a="http://schemas.openxmlformats.org/drawingml/2006/main">
            <a:off x="1714500" y="4762500"/>
            <a:ext cx="8763000" cy="762000"/>
          </a:xfrm>
          <a:prstGeom xmlns:a="http://schemas.openxmlformats.org/drawingml/2006/main" prst="roundRect">
            <a:avLst>
              <a:gd name="adj" fmla="val 10000"/>
            </a:avLst>
          </a:prstGeom>
          <a:solidFill xmlns:a="http://schemas.openxmlformats.org/drawingml/2006/main">
            <a:srgbClr val="FBE3E3"/>
          </a:solidFill>
          <a:ln xmlns:a="http://schemas.openxmlformats.org/drawingml/2006/main" w="0">
            <a:solidFill>
              <a:srgbClr val="FBE3E3"/>
            </a:solidFill>
            <a:prstDash val="solid"/>
          </a:ln>
        </p:spPr>
      </p:sp>
      <p:sp>
        <p:nvSpPr>
          <p:cNvPr id="34" name="">
            <a:extLst xmlns:a="http://schemas.openxmlformats.org/drawingml/2006/main">
              <a:ext uri="{FF2B5EF4-FFF2-40B4-BE49-F238E27FC236}">
                <a16:creationId xmlns:a16="http://schemas.microsoft.com/office/drawing/2014/main" id="{EAA74E8E-8A97-4782-9134-5040D736CCC3}"/>
              </a:ext>
            </a:extLst>
          </p:cNvPr>
          <p:cNvSpPr>
            <a:spLocks xmlns:a="http://schemas.openxmlformats.org/drawingml/2006/main" noGrp="1"/>
          </p:cNvSpPr>
          <p:nvPr/>
        </p:nvSpPr>
        <p:spPr>
          <a:xfrm xmlns:a="http://schemas.openxmlformats.org/drawingml/2006/main">
            <a:off x="1905000" y="4981575"/>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C94E4E"/>
                </a:solidFill>
                <a:latin typeface="Arial"/>
                <a:ea typeface="Arial"/>
                <a:cs typeface="Arial"/>
              </a:defRPr>
            </a:pPr>
            <a:r>
              <a:rPr sz="1575" b="1" i="0">
                <a:solidFill>
                  <a:srgbClr val="C94E4E"/>
                </a:solidFill>
                <a:latin typeface="Arial"/>
                <a:ea typeface="Arial"/>
                <a:cs typeface="Arial"/>
              </a:rPr>
              <a:t>Use a tiny dataset and prepared checkpoints. Do not run a full exome live.</a:t>
            </a:r>
          </a:p>
        </p:txBody>
      </p:sp>
      <p:sp>
        <p:nvSpPr>
          <p:cNvPr id="35" name="">
            <a:extLst xmlns:a="http://schemas.openxmlformats.org/drawingml/2006/main">
              <a:ext uri="{FF2B5EF4-FFF2-40B4-BE49-F238E27FC236}">
                <a16:creationId xmlns:a16="http://schemas.microsoft.com/office/drawing/2014/main" id="{DF58F6EC-6531-4BA2-A707-779B9453B9F0}"/>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46</a:t>
            </a:r>
          </a:p>
        </p:txBody>
      </p:sp>
    </p:spTree>
    <p:extLst>
      <p:ext uri="{BB962C8B-B14F-4D97-AF65-F5344CB8AC3E}">
        <p14:creationId xmlns:p14="http://schemas.microsoft.com/office/powerpoint/2010/main" val="76051082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C989CB-FEA8-4C5D-9374-C164FEB8A9D5}"/>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SYNTHESIS</a:t>
            </a:r>
          </a:p>
        </p:txBody>
      </p:sp>
      <p:sp>
        <p:nvSpPr>
          <p:cNvPr id="2" name="">
            <a:extLst xmlns:a="http://schemas.openxmlformats.org/drawingml/2006/main">
              <a:ext uri="{FF2B5EF4-FFF2-40B4-BE49-F238E27FC236}">
                <a16:creationId xmlns:a16="http://schemas.microsoft.com/office/drawing/2014/main" id="{0976FB84-A5BE-4413-8540-BC6911D54065}"/>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The complete logic now fits on one page</a:t>
            </a:r>
          </a:p>
        </p:txBody>
      </p:sp>
      <p:cxnSp>
        <p:nvCxnSpPr>
          <p:cNvPr id="27"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ADC50BA2-635C-4C20-A0B3-6FD884BA4803}"/>
              </a:ext>
            </a:extLst>
          </p:cNvPr>
          <p:cNvSpPr>
            <a:spLocks xmlns:a="http://schemas.openxmlformats.org/drawingml/2006/main" noGrp="1"/>
          </p:cNvSpPr>
          <p:nvPr/>
        </p:nvSpPr>
        <p:spPr>
          <a:xfrm xmlns:a="http://schemas.openxmlformats.org/drawingml/2006/main">
            <a:off x="400050" y="2133600"/>
            <a:ext cx="1962150" cy="1752600"/>
          </a:xfrm>
          <a:prstGeom xmlns:a="http://schemas.openxmlformats.org/drawingml/2006/main" prst="roundRect">
            <a:avLst>
              <a:gd name="adj" fmla="val 4348"/>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8747A63E-EF4A-4B04-9D45-5CC9127496A5}"/>
              </a:ext>
            </a:extLst>
          </p:cNvPr>
          <p:cNvSpPr>
            <a:spLocks xmlns:a="http://schemas.openxmlformats.org/drawingml/2006/main" noGrp="1"/>
          </p:cNvSpPr>
          <p:nvPr/>
        </p:nvSpPr>
        <p:spPr>
          <a:xfrm xmlns:a="http://schemas.openxmlformats.org/drawingml/2006/main">
            <a:off x="533400" y="24193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2D6CDF"/>
                </a:solidFill>
                <a:latin typeface="Arial"/>
                <a:ea typeface="Arial"/>
                <a:cs typeface="Arial"/>
              </a:defRPr>
            </a:pPr>
            <a:r>
              <a:rPr sz="1050" b="1" i="0">
                <a:solidFill>
                  <a:srgbClr val="2D6CDF"/>
                </a:solidFill>
                <a:latin typeface="Arial"/>
                <a:ea typeface="Arial"/>
                <a:cs typeface="Arial"/>
              </a:rPr>
              <a:t>RAW DATA</a:t>
            </a:r>
          </a:p>
        </p:txBody>
      </p:sp>
      <p:sp>
        <p:nvSpPr>
          <p:cNvPr id="6" name="">
            <a:extLst xmlns:a="http://schemas.openxmlformats.org/drawingml/2006/main">
              <a:ext uri="{FF2B5EF4-FFF2-40B4-BE49-F238E27FC236}">
                <a16:creationId xmlns:a16="http://schemas.microsoft.com/office/drawing/2014/main" id="{E6BC0923-C1C3-40E1-9901-D175293DD603}"/>
              </a:ext>
            </a:extLst>
          </p:cNvPr>
          <p:cNvSpPr>
            <a:spLocks xmlns:a="http://schemas.openxmlformats.org/drawingml/2006/main" noGrp="1"/>
          </p:cNvSpPr>
          <p:nvPr/>
        </p:nvSpPr>
        <p:spPr>
          <a:xfrm xmlns:a="http://schemas.openxmlformats.org/drawingml/2006/main">
            <a:off x="533400" y="3048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0B1F33"/>
                </a:solidFill>
                <a:latin typeface="Arial"/>
                <a:ea typeface="Arial"/>
                <a:cs typeface="Arial"/>
              </a:defRPr>
            </a:pPr>
            <a:r>
              <a:rPr sz="1800" b="1" i="0">
                <a:solidFill>
                  <a:srgbClr val="0B1F33"/>
                </a:solidFill>
                <a:latin typeface="Arial"/>
                <a:ea typeface="Arial"/>
                <a:cs typeface="Arial"/>
              </a:rPr>
              <a:t>FASTQ</a:t>
            </a:r>
          </a:p>
        </p:txBody>
      </p:sp>
      <p:sp>
        <p:nvSpPr>
          <p:cNvPr id="7" name="">
            <a:extLst xmlns:a="http://schemas.openxmlformats.org/drawingml/2006/main">
              <a:ext uri="{FF2B5EF4-FFF2-40B4-BE49-F238E27FC236}">
                <a16:creationId xmlns:a16="http://schemas.microsoft.com/office/drawing/2014/main" id="{6F8BC553-30BB-459D-92B1-B30E7F1788A8}"/>
              </a:ext>
            </a:extLst>
          </p:cNvPr>
          <p:cNvSpPr>
            <a:spLocks xmlns:a="http://schemas.openxmlformats.org/drawingml/2006/main" noGrp="1"/>
          </p:cNvSpPr>
          <p:nvPr/>
        </p:nvSpPr>
        <p:spPr>
          <a:xfrm xmlns:a="http://schemas.openxmlformats.org/drawingml/2006/main">
            <a:off x="2362200" y="2724150"/>
            <a:ext cx="38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D6DEE7"/>
                </a:solidFill>
                <a:latin typeface="Arial"/>
                <a:ea typeface="Arial"/>
                <a:cs typeface="Arial"/>
              </a:defRPr>
            </a:pPr>
            <a:r>
              <a:rPr sz="2850" b="1" i="0">
                <a:solidFill>
                  <a:srgbClr val="D6DEE7"/>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C6EF5F5F-52DE-4F04-9067-741BD76BAE04}"/>
              </a:ext>
            </a:extLst>
          </p:cNvPr>
          <p:cNvSpPr>
            <a:spLocks xmlns:a="http://schemas.openxmlformats.org/drawingml/2006/main" noGrp="1"/>
          </p:cNvSpPr>
          <p:nvPr/>
        </p:nvSpPr>
        <p:spPr>
          <a:xfrm xmlns:a="http://schemas.openxmlformats.org/drawingml/2006/main">
            <a:off x="2743200" y="2133600"/>
            <a:ext cx="1962150" cy="1752600"/>
          </a:xfrm>
          <a:prstGeom xmlns:a="http://schemas.openxmlformats.org/drawingml/2006/main" prst="roundRect">
            <a:avLst>
              <a:gd name="adj" fmla="val 4348"/>
            </a:avLst>
          </a:prstGeom>
          <a:solidFill xmlns:a="http://schemas.openxmlformats.org/drawingml/2006/main">
            <a:srgbClr val="DDF5F3"/>
          </a:solidFill>
          <a:ln xmlns:a="http://schemas.openxmlformats.org/drawingml/2006/main" w="0">
            <a:solidFill>
              <a:srgbClr val="DDF5F3"/>
            </a:solidFill>
            <a:prstDash val="solid"/>
          </a:ln>
        </p:spPr>
      </p:sp>
      <p:sp>
        <p:nvSpPr>
          <p:cNvPr id="9" name="">
            <a:extLst xmlns:a="http://schemas.openxmlformats.org/drawingml/2006/main">
              <a:ext uri="{FF2B5EF4-FFF2-40B4-BE49-F238E27FC236}">
                <a16:creationId xmlns:a16="http://schemas.microsoft.com/office/drawing/2014/main" id="{D875BFEF-B23B-4662-A661-82EC4B95C041}"/>
              </a:ext>
            </a:extLst>
          </p:cNvPr>
          <p:cNvSpPr>
            <a:spLocks xmlns:a="http://schemas.openxmlformats.org/drawingml/2006/main" noGrp="1"/>
          </p:cNvSpPr>
          <p:nvPr/>
        </p:nvSpPr>
        <p:spPr>
          <a:xfrm xmlns:a="http://schemas.openxmlformats.org/drawingml/2006/main">
            <a:off x="2876550" y="24193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069C9C"/>
                </a:solidFill>
                <a:latin typeface="Arial"/>
                <a:ea typeface="Arial"/>
                <a:cs typeface="Arial"/>
              </a:defRPr>
            </a:pPr>
            <a:r>
              <a:rPr sz="1050" b="1" i="0">
                <a:solidFill>
                  <a:srgbClr val="069C9C"/>
                </a:solidFill>
                <a:latin typeface="Arial"/>
                <a:ea typeface="Arial"/>
                <a:cs typeface="Arial"/>
              </a:rPr>
              <a:t>PROCESS</a:t>
            </a:r>
          </a:p>
        </p:txBody>
      </p:sp>
      <p:sp>
        <p:nvSpPr>
          <p:cNvPr id="10" name="">
            <a:extLst xmlns:a="http://schemas.openxmlformats.org/drawingml/2006/main">
              <a:ext uri="{FF2B5EF4-FFF2-40B4-BE49-F238E27FC236}">
                <a16:creationId xmlns:a16="http://schemas.microsoft.com/office/drawing/2014/main" id="{926FB6CA-B23F-4664-A262-97FB86EBA534}"/>
              </a:ext>
            </a:extLst>
          </p:cNvPr>
          <p:cNvSpPr>
            <a:spLocks xmlns:a="http://schemas.openxmlformats.org/drawingml/2006/main" noGrp="1"/>
          </p:cNvSpPr>
          <p:nvPr/>
        </p:nvSpPr>
        <p:spPr>
          <a:xfrm xmlns:a="http://schemas.openxmlformats.org/drawingml/2006/main">
            <a:off x="2876550" y="3048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0B1F33"/>
                </a:solidFill>
                <a:latin typeface="Arial"/>
                <a:ea typeface="Arial"/>
                <a:cs typeface="Arial"/>
              </a:defRPr>
            </a:pPr>
            <a:r>
              <a:rPr sz="1800" b="1" i="0">
                <a:solidFill>
                  <a:srgbClr val="0B1F33"/>
                </a:solidFill>
                <a:latin typeface="Arial"/>
                <a:ea typeface="Arial"/>
                <a:cs typeface="Arial"/>
              </a:rPr>
              <a:t>BAM / VCF</a:t>
            </a:r>
          </a:p>
        </p:txBody>
      </p:sp>
      <p:sp>
        <p:nvSpPr>
          <p:cNvPr id="11" name="">
            <a:extLst xmlns:a="http://schemas.openxmlformats.org/drawingml/2006/main">
              <a:ext uri="{FF2B5EF4-FFF2-40B4-BE49-F238E27FC236}">
                <a16:creationId xmlns:a16="http://schemas.microsoft.com/office/drawing/2014/main" id="{110B809F-2317-417A-A837-72FDC70A5627}"/>
              </a:ext>
            </a:extLst>
          </p:cNvPr>
          <p:cNvSpPr>
            <a:spLocks xmlns:a="http://schemas.openxmlformats.org/drawingml/2006/main" noGrp="1"/>
          </p:cNvSpPr>
          <p:nvPr/>
        </p:nvSpPr>
        <p:spPr>
          <a:xfrm xmlns:a="http://schemas.openxmlformats.org/drawingml/2006/main">
            <a:off x="4705350" y="2724150"/>
            <a:ext cx="38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D6DEE7"/>
                </a:solidFill>
                <a:latin typeface="Arial"/>
                <a:ea typeface="Arial"/>
                <a:cs typeface="Arial"/>
              </a:defRPr>
            </a:pPr>
            <a:r>
              <a:rPr sz="2850" b="1" i="0">
                <a:solidFill>
                  <a:srgbClr val="D6DEE7"/>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AE721C57-5DA3-4FE3-93E8-61638BA776D1}"/>
              </a:ext>
            </a:extLst>
          </p:cNvPr>
          <p:cNvSpPr>
            <a:spLocks xmlns:a="http://schemas.openxmlformats.org/drawingml/2006/main" noGrp="1"/>
          </p:cNvSpPr>
          <p:nvPr/>
        </p:nvSpPr>
        <p:spPr>
          <a:xfrm xmlns:a="http://schemas.openxmlformats.org/drawingml/2006/main">
            <a:off x="5086350" y="2133600"/>
            <a:ext cx="1962150" cy="1752600"/>
          </a:xfrm>
          <a:prstGeom xmlns:a="http://schemas.openxmlformats.org/drawingml/2006/main" prst="roundRect">
            <a:avLst>
              <a:gd name="adj" fmla="val 4348"/>
            </a:avLst>
          </a:prstGeom>
          <a:solidFill xmlns:a="http://schemas.openxmlformats.org/drawingml/2006/main">
            <a:srgbClr val="FFF1CF"/>
          </a:solidFill>
          <a:ln xmlns:a="http://schemas.openxmlformats.org/drawingml/2006/main" w="0">
            <a:solidFill>
              <a:srgbClr val="FFF1CF"/>
            </a:solidFill>
            <a:prstDash val="solid"/>
          </a:ln>
        </p:spPr>
      </p:sp>
      <p:sp>
        <p:nvSpPr>
          <p:cNvPr id="13" name="">
            <a:extLst xmlns:a="http://schemas.openxmlformats.org/drawingml/2006/main">
              <a:ext uri="{FF2B5EF4-FFF2-40B4-BE49-F238E27FC236}">
                <a16:creationId xmlns:a16="http://schemas.microsoft.com/office/drawing/2014/main" id="{130FE7C9-9D0F-41D3-B8CE-56C234837C79}"/>
              </a:ext>
            </a:extLst>
          </p:cNvPr>
          <p:cNvSpPr>
            <a:spLocks xmlns:a="http://schemas.openxmlformats.org/drawingml/2006/main" noGrp="1"/>
          </p:cNvSpPr>
          <p:nvPr/>
        </p:nvSpPr>
        <p:spPr>
          <a:xfrm xmlns:a="http://schemas.openxmlformats.org/drawingml/2006/main">
            <a:off x="5219700" y="24193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E7A62F"/>
                </a:solidFill>
                <a:latin typeface="Arial"/>
                <a:ea typeface="Arial"/>
                <a:cs typeface="Arial"/>
              </a:defRPr>
            </a:pPr>
            <a:r>
              <a:rPr sz="1050" b="1" i="0">
                <a:solidFill>
                  <a:srgbClr val="E7A62F"/>
                </a:solidFill>
                <a:latin typeface="Arial"/>
                <a:ea typeface="Arial"/>
                <a:cs typeface="Arial"/>
              </a:rPr>
              <a:t>PRIORITIZE</a:t>
            </a:r>
          </a:p>
        </p:txBody>
      </p:sp>
      <p:sp>
        <p:nvSpPr>
          <p:cNvPr id="14" name="">
            <a:extLst xmlns:a="http://schemas.openxmlformats.org/drawingml/2006/main">
              <a:ext uri="{FF2B5EF4-FFF2-40B4-BE49-F238E27FC236}">
                <a16:creationId xmlns:a16="http://schemas.microsoft.com/office/drawing/2014/main" id="{6731D027-B7F3-4F42-9E6E-1F60289C0F6B}"/>
              </a:ext>
            </a:extLst>
          </p:cNvPr>
          <p:cNvSpPr>
            <a:spLocks xmlns:a="http://schemas.openxmlformats.org/drawingml/2006/main" noGrp="1"/>
          </p:cNvSpPr>
          <p:nvPr/>
        </p:nvSpPr>
        <p:spPr>
          <a:xfrm xmlns:a="http://schemas.openxmlformats.org/drawingml/2006/main">
            <a:off x="5219700" y="3048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0B1F33"/>
                </a:solidFill>
                <a:latin typeface="Arial"/>
                <a:ea typeface="Arial"/>
                <a:cs typeface="Arial"/>
              </a:defRPr>
            </a:pPr>
            <a:r>
              <a:rPr sz="1800" b="1" i="0">
                <a:solidFill>
                  <a:srgbClr val="0B1F33"/>
                </a:solidFill>
                <a:latin typeface="Arial"/>
                <a:ea typeface="Arial"/>
                <a:cs typeface="Arial"/>
              </a:rPr>
              <a:t>candidate list</a:t>
            </a:r>
          </a:p>
        </p:txBody>
      </p:sp>
      <p:sp>
        <p:nvSpPr>
          <p:cNvPr id="15" name="">
            <a:extLst xmlns:a="http://schemas.openxmlformats.org/drawingml/2006/main">
              <a:ext uri="{FF2B5EF4-FFF2-40B4-BE49-F238E27FC236}">
                <a16:creationId xmlns:a16="http://schemas.microsoft.com/office/drawing/2014/main" id="{167EE617-A623-41BC-A87E-960A4C58FA15}"/>
              </a:ext>
            </a:extLst>
          </p:cNvPr>
          <p:cNvSpPr>
            <a:spLocks xmlns:a="http://schemas.openxmlformats.org/drawingml/2006/main" noGrp="1"/>
          </p:cNvSpPr>
          <p:nvPr/>
        </p:nvSpPr>
        <p:spPr>
          <a:xfrm xmlns:a="http://schemas.openxmlformats.org/drawingml/2006/main">
            <a:off x="7048500" y="2724150"/>
            <a:ext cx="38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D6DEE7"/>
                </a:solidFill>
                <a:latin typeface="Arial"/>
                <a:ea typeface="Arial"/>
                <a:cs typeface="Arial"/>
              </a:defRPr>
            </a:pPr>
            <a:r>
              <a:rPr sz="2850" b="1" i="0">
                <a:solidFill>
                  <a:srgbClr val="D6DEE7"/>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934075D-01E8-4870-87E0-FD8FAD63C93E}"/>
              </a:ext>
            </a:extLst>
          </p:cNvPr>
          <p:cNvSpPr>
            <a:spLocks xmlns:a="http://schemas.openxmlformats.org/drawingml/2006/main" noGrp="1"/>
          </p:cNvSpPr>
          <p:nvPr/>
        </p:nvSpPr>
        <p:spPr>
          <a:xfrm xmlns:a="http://schemas.openxmlformats.org/drawingml/2006/main">
            <a:off x="7429500" y="2133600"/>
            <a:ext cx="1962150" cy="1752600"/>
          </a:xfrm>
          <a:prstGeom xmlns:a="http://schemas.openxmlformats.org/drawingml/2006/main" prst="roundRect">
            <a:avLst>
              <a:gd name="adj" fmla="val 4348"/>
            </a:avLst>
          </a:prstGeom>
          <a:solidFill xmlns:a="http://schemas.openxmlformats.org/drawingml/2006/main">
            <a:srgbClr val="EEE8FB"/>
          </a:solidFill>
          <a:ln xmlns:a="http://schemas.openxmlformats.org/drawingml/2006/main" w="0">
            <a:solidFill>
              <a:srgbClr val="EEE8FB"/>
            </a:solidFill>
            <a:prstDash val="solid"/>
          </a:ln>
        </p:spPr>
      </p:sp>
      <p:sp>
        <p:nvSpPr>
          <p:cNvPr id="17" name="">
            <a:extLst xmlns:a="http://schemas.openxmlformats.org/drawingml/2006/main">
              <a:ext uri="{FF2B5EF4-FFF2-40B4-BE49-F238E27FC236}">
                <a16:creationId xmlns:a16="http://schemas.microsoft.com/office/drawing/2014/main" id="{D5EB7C29-59D2-4FFC-AC51-CD976C428535}"/>
              </a:ext>
            </a:extLst>
          </p:cNvPr>
          <p:cNvSpPr>
            <a:spLocks xmlns:a="http://schemas.openxmlformats.org/drawingml/2006/main" noGrp="1"/>
          </p:cNvSpPr>
          <p:nvPr/>
        </p:nvSpPr>
        <p:spPr>
          <a:xfrm xmlns:a="http://schemas.openxmlformats.org/drawingml/2006/main">
            <a:off x="7562850" y="24193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7756C2"/>
                </a:solidFill>
                <a:latin typeface="Arial"/>
                <a:ea typeface="Arial"/>
                <a:cs typeface="Arial"/>
              </a:defRPr>
            </a:pPr>
            <a:r>
              <a:rPr sz="1050" b="1" i="0">
                <a:solidFill>
                  <a:srgbClr val="7756C2"/>
                </a:solidFill>
                <a:latin typeface="Arial"/>
                <a:ea typeface="Arial"/>
                <a:cs typeface="Arial"/>
              </a:rPr>
              <a:t>CLASSIFY</a:t>
            </a:r>
          </a:p>
        </p:txBody>
      </p:sp>
      <p:sp>
        <p:nvSpPr>
          <p:cNvPr id="18" name="">
            <a:extLst xmlns:a="http://schemas.openxmlformats.org/drawingml/2006/main">
              <a:ext uri="{FF2B5EF4-FFF2-40B4-BE49-F238E27FC236}">
                <a16:creationId xmlns:a16="http://schemas.microsoft.com/office/drawing/2014/main" id="{A55D4729-D7B6-420D-91CE-46F0260709D0}"/>
              </a:ext>
            </a:extLst>
          </p:cNvPr>
          <p:cNvSpPr>
            <a:spLocks xmlns:a="http://schemas.openxmlformats.org/drawingml/2006/main" noGrp="1"/>
          </p:cNvSpPr>
          <p:nvPr/>
        </p:nvSpPr>
        <p:spPr>
          <a:xfrm xmlns:a="http://schemas.openxmlformats.org/drawingml/2006/main">
            <a:off x="7562850" y="3048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460"/>
          </a:bodyPr>
          <a:lstStyle xmlns:a="http://schemas.openxmlformats.org/drawingml/2006/main"/>
          <a:p xmlns:a="http://schemas.openxmlformats.org/drawingml/2006/main">
            <a:pPr algn="ctr">
              <a:defRPr sz="1800" b="1" i="0">
                <a:solidFill>
                  <a:srgbClr val="0B1F33"/>
                </a:solidFill>
                <a:latin typeface="Arial"/>
                <a:ea typeface="Arial"/>
                <a:cs typeface="Arial"/>
              </a:defRPr>
            </a:pPr>
            <a:r>
              <a:rPr sz="1800" b="1" i="0">
                <a:solidFill>
                  <a:srgbClr val="0B1F33"/>
                </a:solidFill>
                <a:latin typeface="Arial"/>
                <a:ea typeface="Arial"/>
                <a:cs typeface="Arial"/>
              </a:rPr>
              <a:t>ACMG evidence</a:t>
            </a:r>
          </a:p>
        </p:txBody>
      </p:sp>
      <p:sp>
        <p:nvSpPr>
          <p:cNvPr id="19" name="">
            <a:extLst xmlns:a="http://schemas.openxmlformats.org/drawingml/2006/main">
              <a:ext uri="{FF2B5EF4-FFF2-40B4-BE49-F238E27FC236}">
                <a16:creationId xmlns:a16="http://schemas.microsoft.com/office/drawing/2014/main" id="{A51C6BCB-EF9A-4C09-BF62-EA68B12395B8}"/>
              </a:ext>
            </a:extLst>
          </p:cNvPr>
          <p:cNvSpPr>
            <a:spLocks xmlns:a="http://schemas.openxmlformats.org/drawingml/2006/main" noGrp="1"/>
          </p:cNvSpPr>
          <p:nvPr/>
        </p:nvSpPr>
        <p:spPr>
          <a:xfrm xmlns:a="http://schemas.openxmlformats.org/drawingml/2006/main">
            <a:off x="9391650" y="2724150"/>
            <a:ext cx="38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i="0">
                <a:solidFill>
                  <a:srgbClr val="D6DEE7"/>
                </a:solidFill>
                <a:latin typeface="Arial"/>
                <a:ea typeface="Arial"/>
                <a:cs typeface="Arial"/>
              </a:defRPr>
            </a:pPr>
            <a:r>
              <a:rPr sz="2850" b="1" i="0">
                <a:solidFill>
                  <a:srgbClr val="D6DEE7"/>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9EBFEB3F-7CA4-4E73-A3ED-4B126D5D9252}"/>
              </a:ext>
            </a:extLst>
          </p:cNvPr>
          <p:cNvSpPr>
            <a:spLocks xmlns:a="http://schemas.openxmlformats.org/drawingml/2006/main" noGrp="1"/>
          </p:cNvSpPr>
          <p:nvPr/>
        </p:nvSpPr>
        <p:spPr>
          <a:xfrm xmlns:a="http://schemas.openxmlformats.org/drawingml/2006/main">
            <a:off x="9772650" y="2133600"/>
            <a:ext cx="1962150" cy="1752600"/>
          </a:xfrm>
          <a:prstGeom xmlns:a="http://schemas.openxmlformats.org/drawingml/2006/main" prst="roundRect">
            <a:avLst>
              <a:gd name="adj" fmla="val 4348"/>
            </a:avLst>
          </a:prstGeom>
          <a:solidFill xmlns:a="http://schemas.openxmlformats.org/drawingml/2006/main">
            <a:srgbClr val="DEF3E7"/>
          </a:solidFill>
          <a:ln xmlns:a="http://schemas.openxmlformats.org/drawingml/2006/main" w="0">
            <a:solidFill>
              <a:srgbClr val="DEF3E7"/>
            </a:solidFill>
            <a:prstDash val="solid"/>
          </a:ln>
        </p:spPr>
      </p:sp>
      <p:sp>
        <p:nvSpPr>
          <p:cNvPr id="21" name="">
            <a:extLst xmlns:a="http://schemas.openxmlformats.org/drawingml/2006/main">
              <a:ext uri="{FF2B5EF4-FFF2-40B4-BE49-F238E27FC236}">
                <a16:creationId xmlns:a16="http://schemas.microsoft.com/office/drawing/2014/main" id="{2BBBEED8-417E-46D7-93E5-90B47B54D18E}"/>
              </a:ext>
            </a:extLst>
          </p:cNvPr>
          <p:cNvSpPr>
            <a:spLocks xmlns:a="http://schemas.openxmlformats.org/drawingml/2006/main" noGrp="1"/>
          </p:cNvSpPr>
          <p:nvPr/>
        </p:nvSpPr>
        <p:spPr>
          <a:xfrm xmlns:a="http://schemas.openxmlformats.org/drawingml/2006/main">
            <a:off x="9906000" y="241935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i="0">
                <a:solidFill>
                  <a:srgbClr val="359B64"/>
                </a:solidFill>
                <a:latin typeface="Arial"/>
                <a:ea typeface="Arial"/>
                <a:cs typeface="Arial"/>
              </a:defRPr>
            </a:pPr>
            <a:r>
              <a:rPr sz="1050" b="1" i="0">
                <a:solidFill>
                  <a:srgbClr val="359B64"/>
                </a:solidFill>
                <a:latin typeface="Arial"/>
                <a:ea typeface="Arial"/>
                <a:cs typeface="Arial"/>
              </a:rPr>
              <a:t>COMMUNICATE</a:t>
            </a:r>
          </a:p>
        </p:txBody>
      </p:sp>
      <p:sp>
        <p:nvSpPr>
          <p:cNvPr id="22" name="">
            <a:extLst xmlns:a="http://schemas.openxmlformats.org/drawingml/2006/main">
              <a:ext uri="{FF2B5EF4-FFF2-40B4-BE49-F238E27FC236}">
                <a16:creationId xmlns:a16="http://schemas.microsoft.com/office/drawing/2014/main" id="{FF467584-42A0-4C82-B02D-9529DED08CF5}"/>
              </a:ext>
            </a:extLst>
          </p:cNvPr>
          <p:cNvSpPr>
            <a:spLocks xmlns:a="http://schemas.openxmlformats.org/drawingml/2006/main" noGrp="1"/>
          </p:cNvSpPr>
          <p:nvPr/>
        </p:nvSpPr>
        <p:spPr>
          <a:xfrm xmlns:a="http://schemas.openxmlformats.org/drawingml/2006/main">
            <a:off x="9906000" y="3048000"/>
            <a:ext cx="1695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0B1F33"/>
                </a:solidFill>
                <a:latin typeface="Arial"/>
                <a:ea typeface="Arial"/>
                <a:cs typeface="Arial"/>
              </a:defRPr>
            </a:pPr>
            <a:r>
              <a:rPr sz="1800" b="1" i="0">
                <a:solidFill>
                  <a:srgbClr val="0B1F33"/>
                </a:solidFill>
                <a:latin typeface="Arial"/>
                <a:ea typeface="Arial"/>
                <a:cs typeface="Arial"/>
              </a:rPr>
              <a:t>clinical report</a:t>
            </a:r>
          </a:p>
        </p:txBody>
      </p:sp>
      <p:sp>
        <p:nvSpPr>
          <p:cNvPr id="23" name="">
            <a:extLst xmlns:a="http://schemas.openxmlformats.org/drawingml/2006/main">
              <a:ext uri="{FF2B5EF4-FFF2-40B4-BE49-F238E27FC236}">
                <a16:creationId xmlns:a16="http://schemas.microsoft.com/office/drawing/2014/main" id="{A3FBA2E5-0C56-4998-81D4-B31671F32A50}"/>
              </a:ext>
            </a:extLst>
          </p:cNvPr>
          <p:cNvSpPr>
            <a:spLocks xmlns:a="http://schemas.openxmlformats.org/drawingml/2006/main" noGrp="1"/>
          </p:cNvSpPr>
          <p:nvPr/>
        </p:nvSpPr>
        <p:spPr>
          <a:xfrm xmlns:a="http://schemas.openxmlformats.org/drawingml/2006/main">
            <a:off x="1200150" y="4705350"/>
            <a:ext cx="9791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0B1F33"/>
                </a:solidFill>
                <a:latin typeface="Arial"/>
                <a:ea typeface="Arial"/>
                <a:cs typeface="Arial"/>
              </a:defRPr>
            </a:pPr>
            <a:r>
              <a:rPr sz="2025" b="1" i="0">
                <a:solidFill>
                  <a:srgbClr val="0B1F33"/>
                </a:solidFill>
                <a:latin typeface="Arial"/>
                <a:ea typeface="Arial"/>
                <a:cs typeface="Arial"/>
              </a:rPr>
              <a:t>Bioinformatics finds and organizes evidence. Classification explains what the evidence supports.</a:t>
            </a:r>
          </a:p>
        </p:txBody>
      </p:sp>
      <p:sp>
        <p:nvSpPr>
          <p:cNvPr id="24" name="">
            <a:extLst xmlns:a="http://schemas.openxmlformats.org/drawingml/2006/main">
              <a:ext uri="{FF2B5EF4-FFF2-40B4-BE49-F238E27FC236}">
                <a16:creationId xmlns:a16="http://schemas.microsoft.com/office/drawing/2014/main" id="{F8641EA2-2EB2-435A-979D-1EC2955FFA59}"/>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47</a:t>
            </a:r>
          </a:p>
        </p:txBody>
      </p:sp>
    </p:spTree>
    <p:extLst>
      <p:ext uri="{BB962C8B-B14F-4D97-AF65-F5344CB8AC3E}">
        <p14:creationId xmlns:p14="http://schemas.microsoft.com/office/powerpoint/2010/main" val="52796345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6DEFF6-3DBC-4E01-AC4B-C6FEC96E6AA0}"/>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TAKE-HOME MESSAGES</a:t>
            </a:r>
          </a:p>
        </p:txBody>
      </p:sp>
      <p:sp>
        <p:nvSpPr>
          <p:cNvPr id="2" name="">
            <a:extLst xmlns:a="http://schemas.openxmlformats.org/drawingml/2006/main">
              <a:ext uri="{FF2B5EF4-FFF2-40B4-BE49-F238E27FC236}">
                <a16:creationId xmlns:a16="http://schemas.microsoft.com/office/drawing/2014/main" id="{A080E41F-4D97-4064-AE8F-77E8BA9D8C13}"/>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Remember these seven ideas</a:t>
            </a:r>
          </a:p>
        </p:txBody>
      </p:sp>
      <p:cxnSp>
        <p:nvCxnSpPr>
          <p:cNvPr id="21"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D84800E6-72C0-4969-9638-C09CB8699447}"/>
              </a:ext>
            </a:extLst>
          </p:cNvPr>
          <p:cNvSpPr>
            <a:spLocks xmlns:a="http://schemas.openxmlformats.org/drawingml/2006/main" noGrp="1"/>
          </p:cNvSpPr>
          <p:nvPr/>
        </p:nvSpPr>
        <p:spPr>
          <a:xfrm xmlns:a="http://schemas.openxmlformats.org/drawingml/2006/main">
            <a:off x="857250" y="16287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5" name="">
            <a:extLst xmlns:a="http://schemas.openxmlformats.org/drawingml/2006/main">
              <a:ext uri="{FF2B5EF4-FFF2-40B4-BE49-F238E27FC236}">
                <a16:creationId xmlns:a16="http://schemas.microsoft.com/office/drawing/2014/main" id="{169925D4-3F96-49E3-BA71-D6C091F4FDEF}"/>
              </a:ext>
            </a:extLst>
          </p:cNvPr>
          <p:cNvSpPr>
            <a:spLocks xmlns:a="http://schemas.openxmlformats.org/drawingml/2006/main" noGrp="1"/>
          </p:cNvSpPr>
          <p:nvPr/>
        </p:nvSpPr>
        <p:spPr>
          <a:xfrm xmlns:a="http://schemas.openxmlformats.org/drawingml/2006/main">
            <a:off x="1085850" y="15621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A sequencer generates data—not a diagnosis.</a:t>
            </a:r>
          </a:p>
        </p:txBody>
      </p:sp>
      <p:sp>
        <p:nvSpPr>
          <p:cNvPr id="6" name="">
            <a:extLst xmlns:a="http://schemas.openxmlformats.org/drawingml/2006/main">
              <a:ext uri="{FF2B5EF4-FFF2-40B4-BE49-F238E27FC236}">
                <a16:creationId xmlns:a16="http://schemas.microsoft.com/office/drawing/2014/main" id="{CC2CCF0B-7B9C-4F86-880C-3BB6AF404E12}"/>
              </a:ext>
            </a:extLst>
          </p:cNvPr>
          <p:cNvSpPr>
            <a:spLocks xmlns:a="http://schemas.openxmlformats.org/drawingml/2006/main" noGrp="1"/>
          </p:cNvSpPr>
          <p:nvPr/>
        </p:nvSpPr>
        <p:spPr>
          <a:xfrm xmlns:a="http://schemas.openxmlformats.org/drawingml/2006/main">
            <a:off x="857250" y="22383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7" name="">
            <a:extLst xmlns:a="http://schemas.openxmlformats.org/drawingml/2006/main">
              <a:ext uri="{FF2B5EF4-FFF2-40B4-BE49-F238E27FC236}">
                <a16:creationId xmlns:a16="http://schemas.microsoft.com/office/drawing/2014/main" id="{23A9F236-0799-4854-888E-D3C5ED0C0DDC}"/>
              </a:ext>
            </a:extLst>
          </p:cNvPr>
          <p:cNvSpPr>
            <a:spLocks xmlns:a="http://schemas.openxmlformats.org/drawingml/2006/main" noGrp="1"/>
          </p:cNvSpPr>
          <p:nvPr/>
        </p:nvSpPr>
        <p:spPr>
          <a:xfrm xmlns:a="http://schemas.openxmlformats.org/drawingml/2006/main">
            <a:off x="1085850" y="21717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FASTQ, BAM/CRAM and VCF answer different questions.</a:t>
            </a:r>
          </a:p>
        </p:txBody>
      </p:sp>
      <p:sp>
        <p:nvSpPr>
          <p:cNvPr id="8" name="">
            <a:extLst xmlns:a="http://schemas.openxmlformats.org/drawingml/2006/main">
              <a:ext uri="{FF2B5EF4-FFF2-40B4-BE49-F238E27FC236}">
                <a16:creationId xmlns:a16="http://schemas.microsoft.com/office/drawing/2014/main" id="{88A8C2A4-AC70-44F6-9DCF-56684256CD53}"/>
              </a:ext>
            </a:extLst>
          </p:cNvPr>
          <p:cNvSpPr>
            <a:spLocks xmlns:a="http://schemas.openxmlformats.org/drawingml/2006/main" noGrp="1"/>
          </p:cNvSpPr>
          <p:nvPr/>
        </p:nvSpPr>
        <p:spPr>
          <a:xfrm xmlns:a="http://schemas.openxmlformats.org/drawingml/2006/main">
            <a:off x="857250" y="28479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9" name="">
            <a:extLst xmlns:a="http://schemas.openxmlformats.org/drawingml/2006/main">
              <a:ext uri="{FF2B5EF4-FFF2-40B4-BE49-F238E27FC236}">
                <a16:creationId xmlns:a16="http://schemas.microsoft.com/office/drawing/2014/main" id="{E22AA30D-54EC-49BD-B21B-BF6BC117734A}"/>
              </a:ext>
            </a:extLst>
          </p:cNvPr>
          <p:cNvSpPr>
            <a:spLocks xmlns:a="http://schemas.openxmlformats.org/drawingml/2006/main" noGrp="1"/>
          </p:cNvSpPr>
          <p:nvPr/>
        </p:nvSpPr>
        <p:spPr>
          <a:xfrm xmlns:a="http://schemas.openxmlformats.org/drawingml/2006/main">
            <a:off x="1085850" y="27813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Filtering, prioritization and classification are different steps.</a:t>
            </a:r>
          </a:p>
        </p:txBody>
      </p:sp>
      <p:sp>
        <p:nvSpPr>
          <p:cNvPr id="10" name="">
            <a:extLst xmlns:a="http://schemas.openxmlformats.org/drawingml/2006/main">
              <a:ext uri="{FF2B5EF4-FFF2-40B4-BE49-F238E27FC236}">
                <a16:creationId xmlns:a16="http://schemas.microsoft.com/office/drawing/2014/main" id="{3FB0E6BB-3842-46DA-A14D-4D9D2548815E}"/>
              </a:ext>
            </a:extLst>
          </p:cNvPr>
          <p:cNvSpPr>
            <a:spLocks xmlns:a="http://schemas.openxmlformats.org/drawingml/2006/main" noGrp="1"/>
          </p:cNvSpPr>
          <p:nvPr/>
        </p:nvSpPr>
        <p:spPr>
          <a:xfrm xmlns:a="http://schemas.openxmlformats.org/drawingml/2006/main">
            <a:off x="857250" y="34575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1" name="">
            <a:extLst xmlns:a="http://schemas.openxmlformats.org/drawingml/2006/main">
              <a:ext uri="{FF2B5EF4-FFF2-40B4-BE49-F238E27FC236}">
                <a16:creationId xmlns:a16="http://schemas.microsoft.com/office/drawing/2014/main" id="{192D0C61-B03E-4F8A-B7CE-228B20F899EB}"/>
              </a:ext>
            </a:extLst>
          </p:cNvPr>
          <p:cNvSpPr>
            <a:spLocks xmlns:a="http://schemas.openxmlformats.org/drawingml/2006/main" noGrp="1"/>
          </p:cNvSpPr>
          <p:nvPr/>
        </p:nvSpPr>
        <p:spPr>
          <a:xfrm xmlns:a="http://schemas.openxmlformats.org/drawingml/2006/main">
            <a:off x="1085850" y="33909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ACMG/AMP uses five final germline classes.</a:t>
            </a:r>
          </a:p>
        </p:txBody>
      </p:sp>
      <p:sp>
        <p:nvSpPr>
          <p:cNvPr id="12" name="">
            <a:extLst xmlns:a="http://schemas.openxmlformats.org/drawingml/2006/main">
              <a:ext uri="{FF2B5EF4-FFF2-40B4-BE49-F238E27FC236}">
                <a16:creationId xmlns:a16="http://schemas.microsoft.com/office/drawing/2014/main" id="{A3E5595A-6EA3-4FB1-82ED-96ABAEFC9DED}"/>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3" name="">
            <a:extLst xmlns:a="http://schemas.openxmlformats.org/drawingml/2006/main">
              <a:ext uri="{FF2B5EF4-FFF2-40B4-BE49-F238E27FC236}">
                <a16:creationId xmlns:a16="http://schemas.microsoft.com/office/drawing/2014/main" id="{3A233F9D-5BCF-4BDF-ACFD-D1FEA2FC4EC1}"/>
              </a:ext>
            </a:extLst>
          </p:cNvPr>
          <p:cNvSpPr>
            <a:spLocks xmlns:a="http://schemas.openxmlformats.org/drawingml/2006/main" noGrp="1"/>
          </p:cNvSpPr>
          <p:nvPr/>
        </p:nvSpPr>
        <p:spPr>
          <a:xfrm xmlns:a="http://schemas.openxmlformats.org/drawingml/2006/main">
            <a:off x="1085850" y="40005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PVS/PS/PM/PP and BA/BS/BP are weighted evidence codes.</a:t>
            </a:r>
          </a:p>
        </p:txBody>
      </p:sp>
      <p:sp>
        <p:nvSpPr>
          <p:cNvPr id="14" name="">
            <a:extLst xmlns:a="http://schemas.openxmlformats.org/drawingml/2006/main">
              <a:ext uri="{FF2B5EF4-FFF2-40B4-BE49-F238E27FC236}">
                <a16:creationId xmlns:a16="http://schemas.microsoft.com/office/drawing/2014/main" id="{B380023B-F0C1-4E37-84DD-F54E300D6D01}"/>
              </a:ext>
            </a:extLst>
          </p:cNvPr>
          <p:cNvSpPr>
            <a:spLocks xmlns:a="http://schemas.openxmlformats.org/drawingml/2006/main" noGrp="1"/>
          </p:cNvSpPr>
          <p:nvPr/>
        </p:nvSpPr>
        <p:spPr>
          <a:xfrm xmlns:a="http://schemas.openxmlformats.org/drawingml/2006/main">
            <a:off x="857250" y="46767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5" name="">
            <a:extLst xmlns:a="http://schemas.openxmlformats.org/drawingml/2006/main">
              <a:ext uri="{FF2B5EF4-FFF2-40B4-BE49-F238E27FC236}">
                <a16:creationId xmlns:a16="http://schemas.microsoft.com/office/drawing/2014/main" id="{047435F5-246B-4188-8476-D36874BE0F41}"/>
              </a:ext>
            </a:extLst>
          </p:cNvPr>
          <p:cNvSpPr>
            <a:spLocks xmlns:a="http://schemas.openxmlformats.org/drawingml/2006/main" noGrp="1"/>
          </p:cNvSpPr>
          <p:nvPr/>
        </p:nvSpPr>
        <p:spPr>
          <a:xfrm xmlns:a="http://schemas.openxmlformats.org/drawingml/2006/main">
            <a:off x="1085850" y="46101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Current ClinGen and gene-specific refinements must be consulted.</a:t>
            </a:r>
          </a:p>
        </p:txBody>
      </p:sp>
      <p:sp>
        <p:nvSpPr>
          <p:cNvPr id="16" name="">
            <a:extLst xmlns:a="http://schemas.openxmlformats.org/drawingml/2006/main">
              <a:ext uri="{FF2B5EF4-FFF2-40B4-BE49-F238E27FC236}">
                <a16:creationId xmlns:a16="http://schemas.microsoft.com/office/drawing/2014/main" id="{AF4B1518-EB4D-4BCF-9A18-59B401314A06}"/>
              </a:ext>
            </a:extLst>
          </p:cNvPr>
          <p:cNvSpPr>
            <a:spLocks xmlns:a="http://schemas.openxmlformats.org/drawingml/2006/main" noGrp="1"/>
          </p:cNvSpPr>
          <p:nvPr/>
        </p:nvSpPr>
        <p:spPr>
          <a:xfrm xmlns:a="http://schemas.openxmlformats.org/drawingml/2006/main">
            <a:off x="857250" y="5286375"/>
            <a:ext cx="95250" cy="9525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0">
            <a:solidFill>
              <a:srgbClr val="2D6CDF"/>
            </a:solidFill>
            <a:prstDash val="solid"/>
          </a:ln>
        </p:spPr>
      </p:sp>
      <p:sp>
        <p:nvSpPr>
          <p:cNvPr id="17" name="">
            <a:extLst xmlns:a="http://schemas.openxmlformats.org/drawingml/2006/main">
              <a:ext uri="{FF2B5EF4-FFF2-40B4-BE49-F238E27FC236}">
                <a16:creationId xmlns:a16="http://schemas.microsoft.com/office/drawing/2014/main" id="{477C9379-25B4-48CB-8282-5DDC9A288866}"/>
              </a:ext>
            </a:extLst>
          </p:cNvPr>
          <p:cNvSpPr>
            <a:spLocks xmlns:a="http://schemas.openxmlformats.org/drawingml/2006/main" noGrp="1"/>
          </p:cNvSpPr>
          <p:nvPr/>
        </p:nvSpPr>
        <p:spPr>
          <a:xfrm xmlns:a="http://schemas.openxmlformats.org/drawingml/2006/main">
            <a:off x="1085850" y="5219700"/>
            <a:ext cx="10058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i="0">
                <a:solidFill>
                  <a:srgbClr val="0B1F33"/>
                </a:solidFill>
                <a:latin typeface="Arial"/>
                <a:ea typeface="Arial"/>
                <a:cs typeface="Arial"/>
              </a:defRPr>
            </a:pPr>
            <a:r>
              <a:rPr sz="1500" b="0" i="0">
                <a:solidFill>
                  <a:srgbClr val="0B1F33"/>
                </a:solidFill>
                <a:latin typeface="Arial"/>
                <a:ea typeface="Arial"/>
                <a:cs typeface="Arial"/>
              </a:rPr>
              <a:t>The command line makes analysis scalable, traceable and reproducible.</a:t>
            </a:r>
          </a:p>
        </p:txBody>
      </p:sp>
      <p:sp>
        <p:nvSpPr>
          <p:cNvPr id="18" name="">
            <a:extLst xmlns:a="http://schemas.openxmlformats.org/drawingml/2006/main">
              <a:ext uri="{FF2B5EF4-FFF2-40B4-BE49-F238E27FC236}">
                <a16:creationId xmlns:a16="http://schemas.microsoft.com/office/drawing/2014/main" id="{D26D6182-769D-4C92-8E9E-AD7279D7C9F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48</a:t>
            </a:r>
          </a:p>
        </p:txBody>
      </p:sp>
    </p:spTree>
    <p:extLst>
      <p:ext uri="{BB962C8B-B14F-4D97-AF65-F5344CB8AC3E}">
        <p14:creationId xmlns:p14="http://schemas.microsoft.com/office/powerpoint/2010/main" val="154507413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DEE904-B906-462B-B618-C0B5A56044D0}"/>
              </a:ext>
            </a:extLst>
          </p:cNvPr>
          <p:cNvSpPr>
            <a:spLocks xmlns:a="http://schemas.openxmlformats.org/drawingml/2006/main" noGrp="1"/>
          </p:cNvSpPr>
          <p:nvPr/>
        </p:nvSpPr>
        <p:spPr>
          <a:xfrm xmlns:a="http://schemas.openxmlformats.org/drawingml/2006/main">
            <a:off x="400050" y="2667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 b="1" i="0">
                <a:solidFill>
                  <a:srgbClr val="2D6CDF"/>
                </a:solidFill>
                <a:latin typeface="Arial"/>
                <a:ea typeface="Arial"/>
                <a:cs typeface="Arial"/>
              </a:defRPr>
            </a:pPr>
            <a:r>
              <a:rPr sz="825" b="1" i="0">
                <a:solidFill>
                  <a:srgbClr val="2D6CDF"/>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E3AAE967-F7FD-4B74-8645-92B88C3A2483}"/>
              </a:ext>
            </a:extLst>
          </p:cNvPr>
          <p:cNvSpPr>
            <a:spLocks xmlns:a="http://schemas.openxmlformats.org/drawingml/2006/main" noGrp="1"/>
          </p:cNvSpPr>
          <p:nvPr/>
        </p:nvSpPr>
        <p:spPr>
          <a:xfrm xmlns:a="http://schemas.openxmlformats.org/drawingml/2006/main">
            <a:off x="400050" y="514350"/>
            <a:ext cx="11391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B1F33"/>
                </a:solidFill>
                <a:latin typeface="Arial"/>
                <a:ea typeface="Arial"/>
                <a:cs typeface="Arial"/>
              </a:defRPr>
            </a:pPr>
            <a:r>
              <a:rPr sz="2850" b="1" i="0">
                <a:solidFill>
                  <a:srgbClr val="0B1F33"/>
                </a:solidFill>
                <a:latin typeface="Arial"/>
                <a:ea typeface="Arial"/>
                <a:cs typeface="Arial"/>
              </a:rPr>
              <a:t>Core scientific sources</a:t>
            </a:r>
          </a:p>
        </p:txBody>
      </p:sp>
      <p:cxnSp>
        <p:nvCxnSpPr>
          <p:cNvPr id="22" name=""/>
          <p:cNvCxnSpPr/>
          <p:nvPr/>
        </p:nvCxnSpPr>
        <p:spPr>
          <a:xfrm xmlns:a="http://schemas.openxmlformats.org/drawingml/2006/main">
            <a:off x="400050" y="1295400"/>
            <a:ext cx="11391900" cy="0"/>
          </a:xfrm>
          <a:prstGeom xmlns:a="http://schemas.openxmlformats.org/drawingml/2006/main" prst="straightConnector1">
            <a:avLst/>
          </a:prstGeom>
          <a:ln xmlns:a="http://schemas.openxmlformats.org/drawingml/2006/main" w="9525">
            <a:solidFill>
              <a:srgbClr val="D6DEE7"/>
            </a:solidFill>
            <a:prstDash val="solid"/>
          </a:ln>
        </p:spPr>
      </p:cxnSp>
      <p:sp>
        <p:nvSpPr>
          <p:cNvPr id="4" name="">
            <a:extLst xmlns:a="http://schemas.openxmlformats.org/drawingml/2006/main">
              <a:ext uri="{FF2B5EF4-FFF2-40B4-BE49-F238E27FC236}">
                <a16:creationId xmlns:a16="http://schemas.microsoft.com/office/drawing/2014/main" id="{05A0889A-DDB1-41EB-9F8C-0D9ECEECD015}"/>
              </a:ext>
            </a:extLst>
          </p:cNvPr>
          <p:cNvSpPr>
            <a:spLocks xmlns:a="http://schemas.openxmlformats.org/drawingml/2006/main" noGrp="1"/>
          </p:cNvSpPr>
          <p:nvPr/>
        </p:nvSpPr>
        <p:spPr>
          <a:xfrm xmlns:a="http://schemas.openxmlformats.org/drawingml/2006/main">
            <a:off x="571500" y="1676400"/>
            <a:ext cx="3238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5" name="">
            <a:extLst xmlns:a="http://schemas.openxmlformats.org/drawingml/2006/main">
              <a:ext uri="{FF2B5EF4-FFF2-40B4-BE49-F238E27FC236}">
                <a16:creationId xmlns:a16="http://schemas.microsoft.com/office/drawing/2014/main" id="{70BD1565-E26B-4A16-9597-034DDEFF9580}"/>
              </a:ext>
            </a:extLst>
          </p:cNvPr>
          <p:cNvSpPr>
            <a:spLocks xmlns:a="http://schemas.openxmlformats.org/drawingml/2006/main" noGrp="1"/>
          </p:cNvSpPr>
          <p:nvPr/>
        </p:nvSpPr>
        <p:spPr>
          <a:xfrm xmlns:a="http://schemas.openxmlformats.org/drawingml/2006/main">
            <a:off x="571500" y="1685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D6CDF"/>
                </a:solidFill>
                <a:latin typeface="Arial"/>
                <a:ea typeface="Arial"/>
                <a:cs typeface="Arial"/>
              </a:defRPr>
            </a:pPr>
            <a:r>
              <a:rPr sz="1050" b="1" i="0">
                <a:solidFill>
                  <a:srgbClr val="2D6CD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B4B7BFF4-0874-4BA1-A41F-278C4CD26F48}"/>
              </a:ext>
            </a:extLst>
          </p:cNvPr>
          <p:cNvSpPr>
            <a:spLocks xmlns:a="http://schemas.openxmlformats.org/drawingml/2006/main" noGrp="1"/>
          </p:cNvSpPr>
          <p:nvPr/>
        </p:nvSpPr>
        <p:spPr>
          <a:xfrm xmlns:a="http://schemas.openxmlformats.org/drawingml/2006/main">
            <a:off x="1104900" y="16287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0B1F33"/>
                </a:solidFill>
                <a:latin typeface="Arial"/>
                <a:ea typeface="Arial"/>
                <a:cs typeface="Arial"/>
              </a:defRPr>
            </a:pPr>
            <a:r>
              <a:rPr sz="1425" b="0" i="0">
                <a:solidFill>
                  <a:srgbClr val="0B1F33"/>
                </a:solidFill>
                <a:latin typeface="Arial"/>
                <a:ea typeface="Arial"/>
                <a:cs typeface="Arial"/>
              </a:rPr>
              <a:t>Richards S, Aziz N, Bale S, et al. Genetics in Medicine. 2015;17:405–424. doi:10.1038/gim.2015.30.</a:t>
            </a:r>
          </a:p>
        </p:txBody>
      </p:sp>
      <p:sp>
        <p:nvSpPr>
          <p:cNvPr id="7" name="">
            <a:extLst xmlns:a="http://schemas.openxmlformats.org/drawingml/2006/main">
              <a:ext uri="{FF2B5EF4-FFF2-40B4-BE49-F238E27FC236}">
                <a16:creationId xmlns:a16="http://schemas.microsoft.com/office/drawing/2014/main" id="{D33FEA84-17C0-42E1-A274-F5208E3FAF5F}"/>
              </a:ext>
            </a:extLst>
          </p:cNvPr>
          <p:cNvSpPr>
            <a:spLocks xmlns:a="http://schemas.openxmlformats.org/drawingml/2006/main" noGrp="1"/>
          </p:cNvSpPr>
          <p:nvPr/>
        </p:nvSpPr>
        <p:spPr>
          <a:xfrm xmlns:a="http://schemas.openxmlformats.org/drawingml/2006/main">
            <a:off x="571500" y="2552700"/>
            <a:ext cx="3238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8" name="">
            <a:extLst xmlns:a="http://schemas.openxmlformats.org/drawingml/2006/main">
              <a:ext uri="{FF2B5EF4-FFF2-40B4-BE49-F238E27FC236}">
                <a16:creationId xmlns:a16="http://schemas.microsoft.com/office/drawing/2014/main" id="{A200EB4E-564E-4E21-9550-9837131C6557}"/>
              </a:ext>
            </a:extLst>
          </p:cNvPr>
          <p:cNvSpPr>
            <a:spLocks xmlns:a="http://schemas.openxmlformats.org/drawingml/2006/main" noGrp="1"/>
          </p:cNvSpPr>
          <p:nvPr/>
        </p:nvSpPr>
        <p:spPr>
          <a:xfrm xmlns:a="http://schemas.openxmlformats.org/drawingml/2006/main">
            <a:off x="571500" y="25622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D6CDF"/>
                </a:solidFill>
                <a:latin typeface="Arial"/>
                <a:ea typeface="Arial"/>
                <a:cs typeface="Arial"/>
              </a:defRPr>
            </a:pPr>
            <a:r>
              <a:rPr sz="1050" b="1" i="0">
                <a:solidFill>
                  <a:srgbClr val="2D6CD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E37B938A-25C0-4E42-B8D0-D9423B088869}"/>
              </a:ext>
            </a:extLst>
          </p:cNvPr>
          <p:cNvSpPr>
            <a:spLocks xmlns:a="http://schemas.openxmlformats.org/drawingml/2006/main" noGrp="1"/>
          </p:cNvSpPr>
          <p:nvPr/>
        </p:nvSpPr>
        <p:spPr>
          <a:xfrm xmlns:a="http://schemas.openxmlformats.org/drawingml/2006/main">
            <a:off x="1104900" y="25050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0B1F33"/>
                </a:solidFill>
                <a:latin typeface="Arial"/>
                <a:ea typeface="Arial"/>
                <a:cs typeface="Arial"/>
              </a:defRPr>
            </a:pPr>
            <a:r>
              <a:rPr sz="1425" b="0" i="0">
                <a:solidFill>
                  <a:srgbClr val="0B1F33"/>
                </a:solidFill>
                <a:latin typeface="Arial"/>
                <a:ea typeface="Arial"/>
                <a:cs typeface="Arial"/>
              </a:rPr>
              <a:t>ClinGen Variant Classification Guidance. Updated July 2025. clinicalgenome.org/tools/clingen-variant-classification-guidance/</a:t>
            </a:r>
          </a:p>
        </p:txBody>
      </p:sp>
      <p:sp>
        <p:nvSpPr>
          <p:cNvPr id="10" name="">
            <a:extLst xmlns:a="http://schemas.openxmlformats.org/drawingml/2006/main">
              <a:ext uri="{FF2B5EF4-FFF2-40B4-BE49-F238E27FC236}">
                <a16:creationId xmlns:a16="http://schemas.microsoft.com/office/drawing/2014/main" id="{639FA4E6-A7BA-4EFF-8F62-B47575513DF4}"/>
              </a:ext>
            </a:extLst>
          </p:cNvPr>
          <p:cNvSpPr>
            <a:spLocks xmlns:a="http://schemas.openxmlformats.org/drawingml/2006/main" noGrp="1"/>
          </p:cNvSpPr>
          <p:nvPr/>
        </p:nvSpPr>
        <p:spPr>
          <a:xfrm xmlns:a="http://schemas.openxmlformats.org/drawingml/2006/main">
            <a:off x="571500" y="3429000"/>
            <a:ext cx="3238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11" name="">
            <a:extLst xmlns:a="http://schemas.openxmlformats.org/drawingml/2006/main">
              <a:ext uri="{FF2B5EF4-FFF2-40B4-BE49-F238E27FC236}">
                <a16:creationId xmlns:a16="http://schemas.microsoft.com/office/drawing/2014/main" id="{44AADBF2-59D0-44F9-88E1-14CDBDB4C2C0}"/>
              </a:ext>
            </a:extLst>
          </p:cNvPr>
          <p:cNvSpPr>
            <a:spLocks xmlns:a="http://schemas.openxmlformats.org/drawingml/2006/main" noGrp="1"/>
          </p:cNvSpPr>
          <p:nvPr/>
        </p:nvSpPr>
        <p:spPr>
          <a:xfrm xmlns:a="http://schemas.openxmlformats.org/drawingml/2006/main">
            <a:off x="571500" y="34385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D6CDF"/>
                </a:solidFill>
                <a:latin typeface="Arial"/>
                <a:ea typeface="Arial"/>
                <a:cs typeface="Arial"/>
              </a:defRPr>
            </a:pPr>
            <a:r>
              <a:rPr sz="1050" b="1" i="0">
                <a:solidFill>
                  <a:srgbClr val="2D6CD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41879427-2CEF-4E90-865E-D7FDBFC7C6E8}"/>
              </a:ext>
            </a:extLst>
          </p:cNvPr>
          <p:cNvSpPr>
            <a:spLocks xmlns:a="http://schemas.openxmlformats.org/drawingml/2006/main" noGrp="1"/>
          </p:cNvSpPr>
          <p:nvPr/>
        </p:nvSpPr>
        <p:spPr>
          <a:xfrm xmlns:a="http://schemas.openxmlformats.org/drawingml/2006/main">
            <a:off x="1104900" y="33813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0B1F33"/>
                </a:solidFill>
                <a:latin typeface="Arial"/>
                <a:ea typeface="Arial"/>
                <a:cs typeface="Arial"/>
              </a:defRPr>
            </a:pPr>
            <a:r>
              <a:rPr sz="1425" b="0" i="0">
                <a:solidFill>
                  <a:srgbClr val="0B1F33"/>
                </a:solidFill>
                <a:latin typeface="Arial"/>
                <a:ea typeface="Arial"/>
                <a:cs typeface="Arial"/>
              </a:rPr>
              <a:t>Li MM, Datto M, Duncavage EJ, et al. Journal of Molecular Diagnostics. 2017;19:4–23. doi:10.1016/j.jmoldx.2016.10.002.</a:t>
            </a:r>
          </a:p>
        </p:txBody>
      </p:sp>
      <p:sp>
        <p:nvSpPr>
          <p:cNvPr id="13" name="">
            <a:extLst xmlns:a="http://schemas.openxmlformats.org/drawingml/2006/main">
              <a:ext uri="{FF2B5EF4-FFF2-40B4-BE49-F238E27FC236}">
                <a16:creationId xmlns:a16="http://schemas.microsoft.com/office/drawing/2014/main" id="{ACF8B5ED-613B-4623-9CD6-29295D6149C4}"/>
              </a:ext>
            </a:extLst>
          </p:cNvPr>
          <p:cNvSpPr>
            <a:spLocks xmlns:a="http://schemas.openxmlformats.org/drawingml/2006/main" noGrp="1"/>
          </p:cNvSpPr>
          <p:nvPr/>
        </p:nvSpPr>
        <p:spPr>
          <a:xfrm xmlns:a="http://schemas.openxmlformats.org/drawingml/2006/main">
            <a:off x="571500" y="4305300"/>
            <a:ext cx="3238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14" name="">
            <a:extLst xmlns:a="http://schemas.openxmlformats.org/drawingml/2006/main">
              <a:ext uri="{FF2B5EF4-FFF2-40B4-BE49-F238E27FC236}">
                <a16:creationId xmlns:a16="http://schemas.microsoft.com/office/drawing/2014/main" id="{12703CB0-71B2-4CF1-9818-379896C19241}"/>
              </a:ext>
            </a:extLst>
          </p:cNvPr>
          <p:cNvSpPr>
            <a:spLocks xmlns:a="http://schemas.openxmlformats.org/drawingml/2006/main" noGrp="1"/>
          </p:cNvSpPr>
          <p:nvPr/>
        </p:nvSpPr>
        <p:spPr>
          <a:xfrm xmlns:a="http://schemas.openxmlformats.org/drawingml/2006/main">
            <a:off x="571500" y="43148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D6CDF"/>
                </a:solidFill>
                <a:latin typeface="Arial"/>
                <a:ea typeface="Arial"/>
                <a:cs typeface="Arial"/>
              </a:defRPr>
            </a:pPr>
            <a:r>
              <a:rPr sz="1050" b="1" i="0">
                <a:solidFill>
                  <a:srgbClr val="2D6CDF"/>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F262E22F-D99B-449C-BB42-3D9F7E3392BC}"/>
              </a:ext>
            </a:extLst>
          </p:cNvPr>
          <p:cNvSpPr>
            <a:spLocks xmlns:a="http://schemas.openxmlformats.org/drawingml/2006/main" noGrp="1"/>
          </p:cNvSpPr>
          <p:nvPr/>
        </p:nvSpPr>
        <p:spPr>
          <a:xfrm xmlns:a="http://schemas.openxmlformats.org/drawingml/2006/main">
            <a:off x="1104900" y="42576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0B1F33"/>
                </a:solidFill>
                <a:latin typeface="Arial"/>
                <a:ea typeface="Arial"/>
                <a:cs typeface="Arial"/>
              </a:defRPr>
            </a:pPr>
            <a:r>
              <a:rPr sz="1425" b="0" i="0">
                <a:solidFill>
                  <a:srgbClr val="0B1F33"/>
                </a:solidFill>
                <a:latin typeface="Arial"/>
                <a:ea typeface="Arial"/>
                <a:cs typeface="Arial"/>
              </a:rPr>
              <a:t>Horak P, Griffith M, Danos AM, et al. Genetics in Medicine. 2022;24:986–998. doi:10.1016/j.gim.2022.01.001.</a:t>
            </a:r>
          </a:p>
        </p:txBody>
      </p:sp>
      <p:sp>
        <p:nvSpPr>
          <p:cNvPr id="16" name="">
            <a:extLst xmlns:a="http://schemas.openxmlformats.org/drawingml/2006/main">
              <a:ext uri="{FF2B5EF4-FFF2-40B4-BE49-F238E27FC236}">
                <a16:creationId xmlns:a16="http://schemas.microsoft.com/office/drawing/2014/main" id="{ED5A434C-D8C7-4105-A17D-031EE6081193}"/>
              </a:ext>
            </a:extLst>
          </p:cNvPr>
          <p:cNvSpPr>
            <a:spLocks xmlns:a="http://schemas.openxmlformats.org/drawingml/2006/main" noGrp="1"/>
          </p:cNvSpPr>
          <p:nvPr/>
        </p:nvSpPr>
        <p:spPr>
          <a:xfrm xmlns:a="http://schemas.openxmlformats.org/drawingml/2006/main">
            <a:off x="571500" y="5181600"/>
            <a:ext cx="32385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17" name="">
            <a:extLst xmlns:a="http://schemas.openxmlformats.org/drawingml/2006/main">
              <a:ext uri="{FF2B5EF4-FFF2-40B4-BE49-F238E27FC236}">
                <a16:creationId xmlns:a16="http://schemas.microsoft.com/office/drawing/2014/main" id="{4226CC19-BDB8-4841-B5D5-0F8BA5A34F37}"/>
              </a:ext>
            </a:extLst>
          </p:cNvPr>
          <p:cNvSpPr>
            <a:spLocks xmlns:a="http://schemas.openxmlformats.org/drawingml/2006/main" noGrp="1"/>
          </p:cNvSpPr>
          <p:nvPr/>
        </p:nvSpPr>
        <p:spPr>
          <a:xfrm xmlns:a="http://schemas.openxmlformats.org/drawingml/2006/main">
            <a:off x="571500" y="51911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1" i="0">
                <a:solidFill>
                  <a:srgbClr val="2D6CDF"/>
                </a:solidFill>
                <a:latin typeface="Arial"/>
                <a:ea typeface="Arial"/>
                <a:cs typeface="Arial"/>
              </a:defRPr>
            </a:pPr>
            <a:r>
              <a:rPr sz="1050" b="1" i="0">
                <a:solidFill>
                  <a:srgbClr val="2D6CDF"/>
                </a:solidFill>
                <a:latin typeface="Arial"/>
                <a:ea typeface="Arial"/>
                <a:cs typeface="Arial"/>
              </a:rPr>
              <a:t>5</a:t>
            </a:r>
          </a:p>
        </p:txBody>
      </p:sp>
      <p:sp>
        <p:nvSpPr>
          <p:cNvPr id="18" name="">
            <a:extLst xmlns:a="http://schemas.openxmlformats.org/drawingml/2006/main">
              <a:ext uri="{FF2B5EF4-FFF2-40B4-BE49-F238E27FC236}">
                <a16:creationId xmlns:a16="http://schemas.microsoft.com/office/drawing/2014/main" id="{544614F5-A3CC-48DE-8E44-FF3109DC3B38}"/>
              </a:ext>
            </a:extLst>
          </p:cNvPr>
          <p:cNvSpPr>
            <a:spLocks xmlns:a="http://schemas.openxmlformats.org/drawingml/2006/main" noGrp="1"/>
          </p:cNvSpPr>
          <p:nvPr/>
        </p:nvSpPr>
        <p:spPr>
          <a:xfrm xmlns:a="http://schemas.openxmlformats.org/drawingml/2006/main">
            <a:off x="1104900" y="5133975"/>
            <a:ext cx="1000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i="0">
                <a:solidFill>
                  <a:srgbClr val="0B1F33"/>
                </a:solidFill>
                <a:latin typeface="Arial"/>
                <a:ea typeface="Arial"/>
                <a:cs typeface="Arial"/>
              </a:defRPr>
            </a:pPr>
            <a:r>
              <a:rPr sz="1425" b="0" i="0">
                <a:solidFill>
                  <a:srgbClr val="0B1F33"/>
                </a:solidFill>
                <a:latin typeface="Arial"/>
                <a:ea typeface="Arial"/>
                <a:cs typeface="Arial"/>
              </a:rPr>
              <a:t>Official mission and professional information pages: acmg.net • amp.org • asco.org • cap.org • clinicalgenome.org</a:t>
            </a:r>
          </a:p>
        </p:txBody>
      </p:sp>
      <p:sp>
        <p:nvSpPr>
          <p:cNvPr id="19" name="">
            <a:extLst xmlns:a="http://schemas.openxmlformats.org/drawingml/2006/main">
              <a:ext uri="{FF2B5EF4-FFF2-40B4-BE49-F238E27FC236}">
                <a16:creationId xmlns:a16="http://schemas.microsoft.com/office/drawing/2014/main" id="{52FBA9D0-639E-412B-9B73-760A0713CE43}"/>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49</a:t>
            </a:r>
          </a:p>
        </p:txBody>
      </p:sp>
    </p:spTree>
    <p:extLst>
      <p:ext uri="{BB962C8B-B14F-4D97-AF65-F5344CB8AC3E}">
        <p14:creationId xmlns:p14="http://schemas.microsoft.com/office/powerpoint/2010/main" val="156593721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760DE0-DDF0-41EC-BCD8-193B13C11C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D6CDF"/>
          </a:solidFill>
          <a:ln xmlns:a="http://schemas.openxmlformats.org/drawingml/2006/main" w="0">
            <a:solidFill>
              <a:srgbClr val="2D6CDF"/>
            </a:solidFill>
            <a:prstDash val="solid"/>
          </a:ln>
        </p:spPr>
      </p:sp>
      <p:sp>
        <p:nvSpPr>
          <p:cNvPr id="2" name="">
            <a:extLst xmlns:a="http://schemas.openxmlformats.org/drawingml/2006/main">
              <a:ext uri="{FF2B5EF4-FFF2-40B4-BE49-F238E27FC236}">
                <a16:creationId xmlns:a16="http://schemas.microsoft.com/office/drawing/2014/main" id="{2B9B028B-DE83-4F73-8102-9791A82B63C8}"/>
              </a:ext>
            </a:extLst>
          </p:cNvPr>
          <p:cNvSpPr>
            <a:spLocks xmlns:a="http://schemas.openxmlformats.org/drawingml/2006/main" noGrp="1"/>
          </p:cNvSpPr>
          <p:nvPr/>
        </p:nvSpPr>
        <p:spPr>
          <a:xfrm xmlns:a="http://schemas.openxmlformats.org/drawingml/2006/main">
            <a:off x="552450" y="6286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2D6CDF"/>
                </a:solidFill>
                <a:latin typeface="Arial"/>
                <a:ea typeface="Arial"/>
                <a:cs typeface="Arial"/>
              </a:defRPr>
            </a:pPr>
            <a:r>
              <a:rPr sz="1050" b="1" i="0">
                <a:solidFill>
                  <a:srgbClr val="2D6CDF"/>
                </a:solidFill>
                <a:latin typeface="Arial"/>
                <a:ea typeface="Arial"/>
                <a:cs typeface="Arial"/>
              </a:rPr>
              <a:t>ONE FINAL QUESTION</a:t>
            </a:r>
          </a:p>
        </p:txBody>
      </p:sp>
      <p:sp>
        <p:nvSpPr>
          <p:cNvPr id="3" name="">
            <a:extLst xmlns:a="http://schemas.openxmlformats.org/drawingml/2006/main">
              <a:ext uri="{FF2B5EF4-FFF2-40B4-BE49-F238E27FC236}">
                <a16:creationId xmlns:a16="http://schemas.microsoft.com/office/drawing/2014/main" id="{FF075A69-3BC3-4982-B258-254027A25F24}"/>
              </a:ext>
            </a:extLst>
          </p:cNvPr>
          <p:cNvSpPr>
            <a:spLocks xmlns:a="http://schemas.openxmlformats.org/drawingml/2006/main" noGrp="1"/>
          </p:cNvSpPr>
          <p:nvPr/>
        </p:nvSpPr>
        <p:spPr>
          <a:xfrm xmlns:a="http://schemas.openxmlformats.org/drawingml/2006/main">
            <a:off x="552450" y="1771650"/>
            <a:ext cx="10287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0B1F33"/>
                </a:solidFill>
                <a:latin typeface="Arial"/>
                <a:ea typeface="Arial"/>
                <a:cs typeface="Arial"/>
              </a:defRPr>
            </a:pPr>
            <a:r>
              <a:rPr sz="4050" b="1" i="0">
                <a:solidFill>
                  <a:srgbClr val="0B1F33"/>
                </a:solidFill>
                <a:latin typeface="Arial"/>
                <a:ea typeface="Arial"/>
                <a:cs typeface="Arial"/>
              </a:rPr>
              <a:t>What evidence would change your classification?</a:t>
            </a:r>
          </a:p>
        </p:txBody>
      </p:sp>
      <p:sp>
        <p:nvSpPr>
          <p:cNvPr id="4" name="">
            <a:extLst xmlns:a="http://schemas.openxmlformats.org/drawingml/2006/main">
              <a:ext uri="{FF2B5EF4-FFF2-40B4-BE49-F238E27FC236}">
                <a16:creationId xmlns:a16="http://schemas.microsoft.com/office/drawing/2014/main" id="{4446B99B-F20E-47E1-9274-3C04A5549DBC}"/>
              </a:ext>
            </a:extLst>
          </p:cNvPr>
          <p:cNvSpPr>
            <a:spLocks xmlns:a="http://schemas.openxmlformats.org/drawingml/2006/main" noGrp="1"/>
          </p:cNvSpPr>
          <p:nvPr/>
        </p:nvSpPr>
        <p:spPr>
          <a:xfrm xmlns:a="http://schemas.openxmlformats.org/drawingml/2006/main">
            <a:off x="552450" y="3733800"/>
            <a:ext cx="971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536273"/>
                </a:solidFill>
                <a:latin typeface="Arial"/>
                <a:ea typeface="Arial"/>
                <a:cs typeface="Arial"/>
              </a:defRPr>
            </a:pPr>
            <a:r>
              <a:rPr sz="2025" b="0" i="0">
                <a:solidFill>
                  <a:srgbClr val="536273"/>
                </a:solidFill>
                <a:latin typeface="Arial"/>
                <a:ea typeface="Arial"/>
                <a:cs typeface="Arial"/>
              </a:rPr>
              <a:t>If you cannot answer that question, the classification is not yet transparent.</a:t>
            </a:r>
          </a:p>
        </p:txBody>
      </p:sp>
      <p:sp>
        <p:nvSpPr>
          <p:cNvPr id="5" name="">
            <a:extLst xmlns:a="http://schemas.openxmlformats.org/drawingml/2006/main">
              <a:ext uri="{FF2B5EF4-FFF2-40B4-BE49-F238E27FC236}">
                <a16:creationId xmlns:a16="http://schemas.microsoft.com/office/drawing/2014/main" id="{7890802E-9B9A-423E-A961-2DB711262B24}"/>
              </a:ext>
            </a:extLst>
          </p:cNvPr>
          <p:cNvSpPr>
            <a:spLocks xmlns:a="http://schemas.openxmlformats.org/drawingml/2006/main" noGrp="1"/>
          </p:cNvSpPr>
          <p:nvPr/>
        </p:nvSpPr>
        <p:spPr>
          <a:xfrm xmlns:a="http://schemas.openxmlformats.org/drawingml/2006/main">
            <a:off x="552450" y="5429250"/>
            <a:ext cx="2476500" cy="323850"/>
          </a:xfrm>
          <a:prstGeom xmlns:a="http://schemas.openxmlformats.org/drawingml/2006/main" prst="roundRect">
            <a:avLst>
              <a:gd name="adj" fmla="val 23529"/>
            </a:avLst>
          </a:prstGeom>
          <a:solidFill xmlns:a="http://schemas.openxmlformats.org/drawingml/2006/main">
            <a:srgbClr val="DCE8FF"/>
          </a:solidFill>
          <a:ln xmlns:a="http://schemas.openxmlformats.org/drawingml/2006/main" w="0">
            <a:solidFill>
              <a:srgbClr val="DCE8FF"/>
            </a:solidFill>
            <a:prstDash val="solid"/>
          </a:ln>
        </p:spPr>
      </p:sp>
      <p:sp>
        <p:nvSpPr>
          <p:cNvPr id="6" name="">
            <a:extLst xmlns:a="http://schemas.openxmlformats.org/drawingml/2006/main">
              <a:ext uri="{FF2B5EF4-FFF2-40B4-BE49-F238E27FC236}">
                <a16:creationId xmlns:a16="http://schemas.microsoft.com/office/drawing/2014/main" id="{754D2F9D-F8B7-40B1-B3A3-71E461FD01A7}"/>
              </a:ext>
            </a:extLst>
          </p:cNvPr>
          <p:cNvSpPr>
            <a:spLocks xmlns:a="http://schemas.openxmlformats.org/drawingml/2006/main" noGrp="1"/>
          </p:cNvSpPr>
          <p:nvPr/>
        </p:nvSpPr>
        <p:spPr>
          <a:xfrm xmlns:a="http://schemas.openxmlformats.org/drawingml/2006/main">
            <a:off x="552450" y="54959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975" b="1" i="0">
                <a:solidFill>
                  <a:srgbClr val="2D6CDF"/>
                </a:solidFill>
                <a:latin typeface="Arial"/>
                <a:ea typeface="Arial"/>
                <a:cs typeface="Arial"/>
              </a:defRPr>
            </a:pPr>
            <a:r>
              <a:rPr sz="975" b="1" i="0">
                <a:solidFill>
                  <a:srgbClr val="2D6CDF"/>
                </a:solidFill>
                <a:latin typeface="Arial"/>
                <a:ea typeface="Arial"/>
                <a:cs typeface="Arial"/>
              </a:rPr>
              <a:t>QUESTIONS &amp; DISCUSSION</a:t>
            </a:r>
          </a:p>
        </p:txBody>
      </p:sp>
      <p:sp>
        <p:nvSpPr>
          <p:cNvPr id="7" name="">
            <a:extLst xmlns:a="http://schemas.openxmlformats.org/drawingml/2006/main">
              <a:ext uri="{FF2B5EF4-FFF2-40B4-BE49-F238E27FC236}">
                <a16:creationId xmlns:a16="http://schemas.microsoft.com/office/drawing/2014/main" id="{8288E693-D0C6-48CC-89AC-C930B6444437}"/>
              </a:ext>
            </a:extLst>
          </p:cNvPr>
          <p:cNvSpPr>
            <a:spLocks xmlns:a="http://schemas.openxmlformats.org/drawingml/2006/main" noGrp="1"/>
          </p:cNvSpPr>
          <p:nvPr/>
        </p:nvSpPr>
        <p:spPr>
          <a:xfrm xmlns:a="http://schemas.openxmlformats.org/drawingml/2006/main">
            <a:off x="11258550" y="6343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825" b="0" i="0">
                <a:solidFill>
                  <a:srgbClr val="536273"/>
                </a:solidFill>
                <a:latin typeface="Arial"/>
                <a:ea typeface="Arial"/>
                <a:cs typeface="Arial"/>
              </a:defRPr>
            </a:pPr>
            <a:r>
              <a:rPr sz="825" b="0" i="0">
                <a:solidFill>
                  <a:srgbClr val="536273"/>
                </a:solidFill>
                <a:latin typeface="Arial"/>
                <a:ea typeface="Arial"/>
                <a:cs typeface="Arial"/>
              </a:rPr>
              <a:t>50</a:t>
            </a:r>
          </a:p>
        </p:txBody>
      </p:sp>
    </p:spTree>
    <p:extLst>
      <p:ext uri="{BB962C8B-B14F-4D97-AF65-F5344CB8AC3E}">
        <p14:creationId xmlns:p14="http://schemas.microsoft.com/office/powerpoint/2010/main" val="1214736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2026-07-11T10:10:33.4930000Z</dcterms:created>
  <dcterms:modified xsi:type="dcterms:W3CDTF">2026-07-11T10:10:33.4930000Z</dcterms:modified>
</coreProperties>
</file>